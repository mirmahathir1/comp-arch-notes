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826" r:id="rId2"/>
    <p:sldId id="827" r:id="rId3"/>
    <p:sldId id="828" r:id="rId4"/>
    <p:sldId id="829" r:id="rId5"/>
    <p:sldId id="830" r:id="rId6"/>
    <p:sldId id="853" r:id="rId7"/>
    <p:sldId id="854" r:id="rId8"/>
    <p:sldId id="855" r:id="rId9"/>
    <p:sldId id="831" r:id="rId10"/>
    <p:sldId id="832" r:id="rId11"/>
    <p:sldId id="833" r:id="rId12"/>
    <p:sldId id="834" r:id="rId13"/>
    <p:sldId id="835" r:id="rId14"/>
    <p:sldId id="836" r:id="rId15"/>
    <p:sldId id="837" r:id="rId16"/>
    <p:sldId id="838" r:id="rId17"/>
    <p:sldId id="839" r:id="rId18"/>
    <p:sldId id="840" r:id="rId19"/>
    <p:sldId id="841" r:id="rId20"/>
    <p:sldId id="856" r:id="rId21"/>
    <p:sldId id="843" r:id="rId22"/>
    <p:sldId id="844" r:id="rId23"/>
    <p:sldId id="845" r:id="rId24"/>
    <p:sldId id="846" r:id="rId25"/>
    <p:sldId id="847" r:id="rId26"/>
    <p:sldId id="848" r:id="rId27"/>
    <p:sldId id="849" r:id="rId28"/>
    <p:sldId id="850" r:id="rId29"/>
    <p:sldId id="851" r:id="rId30"/>
    <p:sldId id="852" r:id="rId31"/>
    <p:sldId id="284" r:id="rId32"/>
    <p:sldId id="285" r:id="rId33"/>
    <p:sldId id="288" r:id="rId34"/>
    <p:sldId id="857" r:id="rId3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606060"/>
    <a:srgbClr val="339933"/>
    <a:srgbClr val="0000FF"/>
    <a:srgbClr val="FF00FF"/>
    <a:srgbClr val="00FFFF"/>
    <a:srgbClr val="00FF00"/>
    <a:srgbClr val="000000"/>
    <a:srgbClr val="A80500"/>
    <a:srgbClr val="781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1027" autoAdjust="0"/>
  </p:normalViewPr>
  <p:slideViewPr>
    <p:cSldViewPr>
      <p:cViewPr varScale="1">
        <p:scale>
          <a:sx n="102" d="100"/>
          <a:sy n="102" d="100"/>
        </p:scale>
        <p:origin x="145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4736" y="20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view3D>
      <c:rotX val="15"/>
      <c:hPercent val="54"/>
      <c:rotY val="20"/>
      <c:depthPercent val="5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</c:v>
                </c:pt>
              </c:strCache>
            </c:strRef>
          </c:tx>
          <c:spPr>
            <a:solidFill>
              <a:srgbClr val="63AAFE"/>
            </a:solidFill>
            <a:ln w="12700" cap="flat">
              <a:noFill/>
              <a:prstDash val="solid"/>
              <a:round/>
            </a:ln>
            <a:effectLst/>
            <a:sp3d prstMaterial="matte"/>
          </c:spPr>
          <c:invertIfNegative val="0"/>
          <c:cat>
            <c:strRef>
              <c:f>Sheet1!$A$2:$A$23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8to11</c:v>
                </c:pt>
                <c:pt idx="9">
                  <c:v>12to15</c:v>
                </c:pt>
                <c:pt idx="10">
                  <c:v>16to19</c:v>
                </c:pt>
                <c:pt idx="11">
                  <c:v>20to23</c:v>
                </c:pt>
                <c:pt idx="12">
                  <c:v>24to27</c:v>
                </c:pt>
                <c:pt idx="13">
                  <c:v>28to31</c:v>
                </c:pt>
                <c:pt idx="14">
                  <c:v>32to35</c:v>
                </c:pt>
                <c:pt idx="15">
                  <c:v>36to39</c:v>
                </c:pt>
                <c:pt idx="16">
                  <c:v>40to43</c:v>
                </c:pt>
                <c:pt idx="17">
                  <c:v>44to47</c:v>
                </c:pt>
                <c:pt idx="18">
                  <c:v>48to51</c:v>
                </c:pt>
                <c:pt idx="19">
                  <c:v>52to55</c:v>
                </c:pt>
                <c:pt idx="20">
                  <c:v>56to59</c:v>
                </c:pt>
                <c:pt idx="21">
                  <c:v>60to63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10</c:v>
                </c:pt>
                <c:pt idx="1">
                  <c:v>90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3D-EE43-B31B-325E0CB31F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Radix</c:v>
                </c:pt>
              </c:strCache>
            </c:strRef>
          </c:tx>
          <c:spPr>
            <a:solidFill>
              <a:srgbClr val="DD2D32"/>
            </a:solidFill>
            <a:ln w="12700" cap="flat">
              <a:noFill/>
              <a:prstDash val="solid"/>
              <a:round/>
            </a:ln>
            <a:effectLst/>
            <a:sp3d prstMaterial="matte"/>
          </c:spPr>
          <c:invertIfNegative val="0"/>
          <c:cat>
            <c:strRef>
              <c:f>Sheet1!$A$2:$A$23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8to11</c:v>
                </c:pt>
                <c:pt idx="9">
                  <c:v>12to15</c:v>
                </c:pt>
                <c:pt idx="10">
                  <c:v>16to19</c:v>
                </c:pt>
                <c:pt idx="11">
                  <c:v>20to23</c:v>
                </c:pt>
                <c:pt idx="12">
                  <c:v>24to27</c:v>
                </c:pt>
                <c:pt idx="13">
                  <c:v>28to31</c:v>
                </c:pt>
                <c:pt idx="14">
                  <c:v>32to35</c:v>
                </c:pt>
                <c:pt idx="15">
                  <c:v>36to39</c:v>
                </c:pt>
                <c:pt idx="16">
                  <c:v>40to43</c:v>
                </c:pt>
                <c:pt idx="17">
                  <c:v>44to47</c:v>
                </c:pt>
                <c:pt idx="18">
                  <c:v>48to51</c:v>
                </c:pt>
                <c:pt idx="19">
                  <c:v>52to55</c:v>
                </c:pt>
                <c:pt idx="20">
                  <c:v>56to59</c:v>
                </c:pt>
                <c:pt idx="21">
                  <c:v>60to63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28</c:v>
                </c:pt>
                <c:pt idx="1">
                  <c:v>72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3D-EE43-B31B-325E0CB31F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Ocean</c:v>
                </c:pt>
              </c:strCache>
            </c:strRef>
          </c:tx>
          <c:spPr>
            <a:solidFill>
              <a:srgbClr val="FFF58C"/>
            </a:solidFill>
            <a:ln w="12700" cap="flat">
              <a:noFill/>
              <a:prstDash val="solid"/>
              <a:round/>
            </a:ln>
            <a:effectLst/>
            <a:sp3d prstMaterial="matte"/>
          </c:spPr>
          <c:invertIfNegative val="0"/>
          <c:cat>
            <c:strRef>
              <c:f>Sheet1!$A$2:$A$23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8to11</c:v>
                </c:pt>
                <c:pt idx="9">
                  <c:v>12to15</c:v>
                </c:pt>
                <c:pt idx="10">
                  <c:v>16to19</c:v>
                </c:pt>
                <c:pt idx="11">
                  <c:v>20to23</c:v>
                </c:pt>
                <c:pt idx="12">
                  <c:v>24to27</c:v>
                </c:pt>
                <c:pt idx="13">
                  <c:v>28to31</c:v>
                </c:pt>
                <c:pt idx="14">
                  <c:v>32to35</c:v>
                </c:pt>
                <c:pt idx="15">
                  <c:v>36to39</c:v>
                </c:pt>
                <c:pt idx="16">
                  <c:v>40to43</c:v>
                </c:pt>
                <c:pt idx="17">
                  <c:v>44to47</c:v>
                </c:pt>
                <c:pt idx="18">
                  <c:v>48to51</c:v>
                </c:pt>
                <c:pt idx="19">
                  <c:v>52to55</c:v>
                </c:pt>
                <c:pt idx="20">
                  <c:v>56to59</c:v>
                </c:pt>
                <c:pt idx="21">
                  <c:v>60to63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0</c:v>
                </c:pt>
                <c:pt idx="1">
                  <c:v>80</c:v>
                </c:pt>
                <c:pt idx="2">
                  <c:v>15</c:v>
                </c:pt>
                <c:pt idx="3">
                  <c:v>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3D-EE43-B31B-325E0CB31F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Raytrace</c:v>
                </c:pt>
              </c:strCache>
            </c:strRef>
          </c:tx>
          <c:spPr>
            <a:solidFill>
              <a:srgbClr val="4EE257"/>
            </a:solidFill>
            <a:ln w="12700" cap="flat">
              <a:noFill/>
              <a:prstDash val="solid"/>
              <a:round/>
            </a:ln>
            <a:effectLst/>
            <a:sp3d prstMaterial="matte"/>
          </c:spPr>
          <c:invertIfNegative val="0"/>
          <c:cat>
            <c:strRef>
              <c:f>Sheet1!$A$2:$A$23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8to11</c:v>
                </c:pt>
                <c:pt idx="9">
                  <c:v>12to15</c:v>
                </c:pt>
                <c:pt idx="10">
                  <c:v>16to19</c:v>
                </c:pt>
                <c:pt idx="11">
                  <c:v>20to23</c:v>
                </c:pt>
                <c:pt idx="12">
                  <c:v>24to27</c:v>
                </c:pt>
                <c:pt idx="13">
                  <c:v>28to31</c:v>
                </c:pt>
                <c:pt idx="14">
                  <c:v>32to35</c:v>
                </c:pt>
                <c:pt idx="15">
                  <c:v>36to39</c:v>
                </c:pt>
                <c:pt idx="16">
                  <c:v>40to43</c:v>
                </c:pt>
                <c:pt idx="17">
                  <c:v>44to47</c:v>
                </c:pt>
                <c:pt idx="18">
                  <c:v>48to51</c:v>
                </c:pt>
                <c:pt idx="19">
                  <c:v>52to55</c:v>
                </c:pt>
                <c:pt idx="20">
                  <c:v>56to59</c:v>
                </c:pt>
                <c:pt idx="21">
                  <c:v>60to63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2</c:v>
                </c:pt>
                <c:pt idx="1">
                  <c:v>72</c:v>
                </c:pt>
                <c:pt idx="2">
                  <c:v>20</c:v>
                </c:pt>
                <c:pt idx="3">
                  <c:v>5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3D-EE43-B31B-325E0CB31F7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Barnes-Hut</c:v>
                </c:pt>
              </c:strCache>
            </c:strRef>
          </c:tx>
          <c:spPr>
            <a:solidFill>
              <a:srgbClr val="6711FF"/>
            </a:solidFill>
            <a:ln w="12700" cap="flat">
              <a:noFill/>
              <a:prstDash val="solid"/>
              <a:round/>
            </a:ln>
            <a:effectLst/>
            <a:sp3d prstMaterial="matte"/>
          </c:spPr>
          <c:invertIfNegative val="0"/>
          <c:cat>
            <c:strRef>
              <c:f>Sheet1!$A$2:$A$23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8to11</c:v>
                </c:pt>
                <c:pt idx="9">
                  <c:v>12to15</c:v>
                </c:pt>
                <c:pt idx="10">
                  <c:v>16to19</c:v>
                </c:pt>
                <c:pt idx="11">
                  <c:v>20to23</c:v>
                </c:pt>
                <c:pt idx="12">
                  <c:v>24to27</c:v>
                </c:pt>
                <c:pt idx="13">
                  <c:v>28to31</c:v>
                </c:pt>
                <c:pt idx="14">
                  <c:v>32to35</c:v>
                </c:pt>
                <c:pt idx="15">
                  <c:v>36to39</c:v>
                </c:pt>
                <c:pt idx="16">
                  <c:v>40to43</c:v>
                </c:pt>
                <c:pt idx="17">
                  <c:v>44to47</c:v>
                </c:pt>
                <c:pt idx="18">
                  <c:v>48to51</c:v>
                </c:pt>
                <c:pt idx="19">
                  <c:v>52to55</c:v>
                </c:pt>
                <c:pt idx="20">
                  <c:v>56to59</c:v>
                </c:pt>
                <c:pt idx="21">
                  <c:v>60to63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2</c:v>
                </c:pt>
                <c:pt idx="1">
                  <c:v>48</c:v>
                </c:pt>
                <c:pt idx="2">
                  <c:v>23</c:v>
                </c:pt>
                <c:pt idx="3">
                  <c:v>10</c:v>
                </c:pt>
                <c:pt idx="4">
                  <c:v>6</c:v>
                </c:pt>
                <c:pt idx="5">
                  <c:v>3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3D-EE43-B31B-325E0CB31F7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Radiosity</c:v>
                </c:pt>
              </c:strCache>
            </c:strRef>
          </c:tx>
          <c:spPr>
            <a:solidFill>
              <a:srgbClr val="FEA746"/>
            </a:solidFill>
            <a:ln w="12700" cap="flat">
              <a:noFill/>
              <a:prstDash val="solid"/>
              <a:round/>
            </a:ln>
            <a:effectLst/>
            <a:sp3d prstMaterial="matte"/>
          </c:spPr>
          <c:invertIfNegative val="0"/>
          <c:cat>
            <c:strRef>
              <c:f>Sheet1!$A$2:$A$23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8to11</c:v>
                </c:pt>
                <c:pt idx="9">
                  <c:v>12to15</c:v>
                </c:pt>
                <c:pt idx="10">
                  <c:v>16to19</c:v>
                </c:pt>
                <c:pt idx="11">
                  <c:v>20to23</c:v>
                </c:pt>
                <c:pt idx="12">
                  <c:v>24to27</c:v>
                </c:pt>
                <c:pt idx="13">
                  <c:v>28to31</c:v>
                </c:pt>
                <c:pt idx="14">
                  <c:v>32to35</c:v>
                </c:pt>
                <c:pt idx="15">
                  <c:v>36to39</c:v>
                </c:pt>
                <c:pt idx="16">
                  <c:v>40to43</c:v>
                </c:pt>
                <c:pt idx="17">
                  <c:v>44to47</c:v>
                </c:pt>
                <c:pt idx="18">
                  <c:v>48to51</c:v>
                </c:pt>
                <c:pt idx="19">
                  <c:v>52to55</c:v>
                </c:pt>
                <c:pt idx="20">
                  <c:v>56to59</c:v>
                </c:pt>
                <c:pt idx="21">
                  <c:v>60to63</c:v>
                </c:pt>
              </c:strCache>
            </c:strRef>
          </c:cat>
          <c:val>
            <c:numRef>
              <c:f>Sheet1!$G$2:$G$23</c:f>
              <c:numCache>
                <c:formatCode>General</c:formatCode>
                <c:ptCount val="22"/>
                <c:pt idx="0">
                  <c:v>6</c:v>
                </c:pt>
                <c:pt idx="1">
                  <c:v>58</c:v>
                </c:pt>
                <c:pt idx="2">
                  <c:v>11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23D-EE43-B31B-325E0CB31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94734552"/>
        <c:axId val="2094734553"/>
        <c:axId val="2094734554"/>
      </c:bar3D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5400000"/>
          <a:lstStyle/>
          <a:p>
            <a:pPr>
              <a:defRPr sz="167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tickLblSkip val="3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0000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high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67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between"/>
        <c:majorUnit val="22.5"/>
        <c:minorUnit val="11.25"/>
      </c:valAx>
      <c:serAx>
        <c:axId val="209473455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 w="12700" cap="flat">
            <a:noFill/>
            <a:prstDash val="solid"/>
            <a:round/>
          </a:ln>
        </c:spPr>
        <c:crossAx val="2094734553"/>
        <c:crosses val="autoZero"/>
        <c:tickLblSkip val="1"/>
      </c:ser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47877199999999998"/>
          <c:y val="0.17598"/>
          <c:w val="0.245699"/>
          <c:h val="0.37720500000000001"/>
        </c:manualLayout>
      </c:layout>
      <c:overlay val="1"/>
      <c:spPr>
        <a:solidFill>
          <a:srgbClr val="FFFFFF"/>
        </a:solidFill>
        <a:ln w="3175" cap="flat">
          <a:solidFill>
            <a:srgbClr val="000000"/>
          </a:solidFill>
          <a:prstDash val="solid"/>
          <a:round/>
        </a:ln>
        <a:effectLst/>
      </c:spPr>
      <c:txPr>
        <a:bodyPr rot="0"/>
        <a:lstStyle/>
        <a:p>
          <a:pPr>
            <a:defRPr sz="1530" b="0" i="0" u="none" strike="noStrike">
              <a:solidFill>
                <a:srgbClr val="000000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12700" cap="flat">
      <a:solidFill>
        <a:srgbClr val="000000"/>
      </a:solidFill>
      <a:prstDash val="solid"/>
      <a:round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5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2008-2009</a:t>
            </a:r>
          </a:p>
        </p:txBody>
      </p:sp>
      <p:sp>
        <p:nvSpPr>
          <p:cNvPr id="575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Informatics 3   -   Computer Architecture</a:t>
            </a:r>
          </a:p>
        </p:txBody>
      </p:sp>
      <p:sp>
        <p:nvSpPr>
          <p:cNvPr id="575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fld id="{BE1F0884-5E63-6845-9E6A-12C0C70E00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817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2008-2009</a:t>
            </a:r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5800" y="533400"/>
            <a:ext cx="6172200" cy="434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953000"/>
            <a:ext cx="6172200" cy="1905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Informatics 3   -   Computer Architecture</a:t>
            </a:r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fld id="{3ACFF632-C89B-E148-8D44-977E94A395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40968" name="Group 17"/>
          <p:cNvGrpSpPr>
            <a:grpSpLocks/>
          </p:cNvGrpSpPr>
          <p:nvPr/>
        </p:nvGrpSpPr>
        <p:grpSpPr bwMode="auto">
          <a:xfrm>
            <a:off x="714375" y="7191375"/>
            <a:ext cx="6143625" cy="1981200"/>
            <a:chOff x="450" y="4530"/>
            <a:chExt cx="3389" cy="1248"/>
          </a:xfrm>
        </p:grpSpPr>
        <p:sp>
          <p:nvSpPr>
            <p:cNvPr id="63496" name="Line 8"/>
            <p:cNvSpPr>
              <a:spLocks noChangeShapeType="1"/>
            </p:cNvSpPr>
            <p:nvPr/>
          </p:nvSpPr>
          <p:spPr bwMode="auto">
            <a:xfrm>
              <a:off x="450" y="4530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497" name="Line 9"/>
            <p:cNvSpPr>
              <a:spLocks noChangeShapeType="1"/>
            </p:cNvSpPr>
            <p:nvPr/>
          </p:nvSpPr>
          <p:spPr bwMode="auto">
            <a:xfrm>
              <a:off x="450" y="4709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498" name="Line 10"/>
            <p:cNvSpPr>
              <a:spLocks noChangeShapeType="1"/>
            </p:cNvSpPr>
            <p:nvPr/>
          </p:nvSpPr>
          <p:spPr bwMode="auto">
            <a:xfrm>
              <a:off x="450" y="4886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499" name="Line 11"/>
            <p:cNvSpPr>
              <a:spLocks noChangeShapeType="1"/>
            </p:cNvSpPr>
            <p:nvPr/>
          </p:nvSpPr>
          <p:spPr bwMode="auto">
            <a:xfrm>
              <a:off x="450" y="5065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0" name="Line 12"/>
            <p:cNvSpPr>
              <a:spLocks noChangeShapeType="1"/>
            </p:cNvSpPr>
            <p:nvPr/>
          </p:nvSpPr>
          <p:spPr bwMode="auto">
            <a:xfrm>
              <a:off x="450" y="5243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1" name="Line 13"/>
            <p:cNvSpPr>
              <a:spLocks noChangeShapeType="1"/>
            </p:cNvSpPr>
            <p:nvPr/>
          </p:nvSpPr>
          <p:spPr bwMode="auto">
            <a:xfrm>
              <a:off x="450" y="5421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2" name="Line 14"/>
            <p:cNvSpPr>
              <a:spLocks noChangeShapeType="1"/>
            </p:cNvSpPr>
            <p:nvPr/>
          </p:nvSpPr>
          <p:spPr bwMode="auto">
            <a:xfrm>
              <a:off x="450" y="5600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3" name="Line 15"/>
            <p:cNvSpPr>
              <a:spLocks noChangeShapeType="1"/>
            </p:cNvSpPr>
            <p:nvPr/>
          </p:nvSpPr>
          <p:spPr bwMode="auto">
            <a:xfrm>
              <a:off x="450" y="5778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63504" name="Text Box 16"/>
          <p:cNvSpPr txBox="1">
            <a:spLocks noChangeArrowheads="1"/>
          </p:cNvSpPr>
          <p:nvPr/>
        </p:nvSpPr>
        <p:spPr bwMode="auto">
          <a:xfrm>
            <a:off x="609600" y="6858000"/>
            <a:ext cx="13144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94" tIns="46497" rIns="92994" bIns="46497">
            <a:prstTxWarp prst="textNoShape">
              <a:avLst/>
            </a:prstTxWarp>
            <a:spAutoFit/>
          </a:bodyPr>
          <a:lstStyle/>
          <a:p>
            <a:pPr defTabSz="930275" eaLnBrk="1" hangingPunct="1">
              <a:defRPr/>
            </a:pPr>
            <a:r>
              <a:rPr lang="en-GB" sz="1200" b="0">
                <a:latin typeface="Arial" pitchFamily="-112" charset="0"/>
              </a:rPr>
              <a:t>Additional notes:</a:t>
            </a:r>
          </a:p>
        </p:txBody>
      </p:sp>
    </p:spTree>
    <p:extLst>
      <p:ext uri="{BB962C8B-B14F-4D97-AF65-F5344CB8AC3E}">
        <p14:creationId xmlns:p14="http://schemas.microsoft.com/office/powerpoint/2010/main" val="6547758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533400"/>
            <a:ext cx="5791200" cy="4343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CFF632-C89B-E148-8D44-977E94A3955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02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533400"/>
            <a:ext cx="5791200" cy="4343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CFF632-C89B-E148-8D44-977E94A3955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69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5A1BC-01A2-461A-2F6C-299036B1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9980F-1283-C353-0E33-0B354057D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533400"/>
            <a:ext cx="5791200" cy="43434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D6DAC-5030-BFBD-AF50-44F43F287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7AB94-1884-C934-0EF2-156F72C1FBA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3BB79-97FF-CF24-A1F5-680F207B8C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5FDAD-5A32-7540-62C2-0C2A7648A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CFF632-C89B-E148-8D44-977E94A3955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07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533400"/>
            <a:ext cx="5791200" cy="4343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CFF632-C89B-E148-8D44-977E94A3955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5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685800" y="3657600"/>
            <a:ext cx="77724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685800" y="403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-112" charset="2"/>
              <a:buNone/>
              <a:defRPr/>
            </a:pPr>
            <a:r>
              <a:rPr lang="en-GB" sz="2000" b="0" baseline="0" dirty="0">
                <a:latin typeface="Geneva" pitchFamily="-112" charset="0"/>
              </a:rPr>
              <a:t>Prof. Vijay Nagarajan</a:t>
            </a:r>
            <a:endParaRPr lang="en-GB" sz="2000" b="0" dirty="0">
              <a:latin typeface="Geneva" pitchFamily="-112" charset="0"/>
            </a:endParaRP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-112" charset="2"/>
              <a:buNone/>
              <a:defRPr/>
            </a:pPr>
            <a:endParaRPr lang="en-GB" sz="1600" b="0" dirty="0">
              <a:latin typeface="Geneva" pitchFamily="-112" charset="0"/>
            </a:endParaRPr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6764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red and white logo&#10;&#10;Description automatically generated">
            <a:extLst>
              <a:ext uri="{FF2B5EF4-FFF2-40B4-BE49-F238E27FC236}">
                <a16:creationId xmlns:a16="http://schemas.microsoft.com/office/drawing/2014/main" id="{D59D87F7-4D95-717A-4D8A-3EFA7D55EE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0" y="173383"/>
            <a:ext cx="685800" cy="635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F10D8AA-72FC-054E-A724-04FB34D4ED2D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9F0767-F541-5C44-BC09-F876CE08E507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438400" y="6553200"/>
            <a:ext cx="3810000" cy="304800"/>
          </a:xfrm>
        </p:spPr>
        <p:txBody>
          <a:bodyPr/>
          <a:lstStyle>
            <a:lvl1pPr>
              <a:defRPr sz="1400" baseline="0" smtClean="0"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latin typeface="Garamond" pitchFamily="-112" charset="0"/>
              </a:rPr>
              <a:t>CS/ECE  Computer Architecture – Fall’23</a:t>
            </a:r>
          </a:p>
          <a:p>
            <a:pPr>
              <a:defRPr/>
            </a:pPr>
            <a:endParaRPr lang="en-US" dirty="0">
              <a:latin typeface="Garamond" pitchFamily="-112" charset="0"/>
            </a:endParaRPr>
          </a:p>
          <a:p>
            <a:pPr>
              <a:defRPr/>
            </a:pPr>
            <a:endParaRPr lang="en-US" dirty="0">
              <a:latin typeface="Garamond" pitchFamily="-11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A40ACE-8BC5-0B40-BBA1-EF9CE833121F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59B5E2-87DD-EB43-872A-3E0EACCB644F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26977E-680E-ED4B-94F0-141655F29872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1CA570-A426-4944-B7E4-1239F68B4EC3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467544" y="836712"/>
            <a:ext cx="8136904" cy="36004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E4FD61-08EC-3449-AF81-7DDFB2B32A47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54976B5-A97D-9348-B219-18176D30763E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6EB67F5-B818-A947-B3C0-F7774BB8DB12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248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248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6F58A6-734F-3F40-8ACC-F1E1F9649C4A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7F90CF-3290-294A-AFFA-BABFD9F61AFD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524000"/>
            <a:ext cx="77724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5C3F736-FD0F-AA45-8F37-A57BE49B46B7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47927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620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34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553200"/>
            <a:ext cx="335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 smtClean="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CS/ECE Computer Architecture – Fall’23</a:t>
            </a:r>
            <a:endParaRPr lang="en-US" sz="1400" dirty="0"/>
          </a:p>
        </p:txBody>
      </p:sp>
      <p:sp>
        <p:nvSpPr>
          <p:cNvPr id="233477" name="Line 5"/>
          <p:cNvSpPr>
            <a:spLocks noChangeShapeType="1"/>
          </p:cNvSpPr>
          <p:nvPr/>
        </p:nvSpPr>
        <p:spPr bwMode="auto">
          <a:xfrm>
            <a:off x="685800" y="990600"/>
            <a:ext cx="7772400" cy="0"/>
          </a:xfrm>
          <a:prstGeom prst="line">
            <a:avLst/>
          </a:prstGeom>
          <a:noFill/>
          <a:ln w="38100">
            <a:solidFill>
              <a:schemeClr val="accent2">
                <a:alpha val="89000"/>
              </a:schemeClr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34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153BAC1E-BB0B-A049-B56D-74AA82B13E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Picture 2" descr="A red and white logo&#10;&#10;Description automatically generated">
            <a:extLst>
              <a:ext uri="{FF2B5EF4-FFF2-40B4-BE49-F238E27FC236}">
                <a16:creationId xmlns:a16="http://schemas.microsoft.com/office/drawing/2014/main" id="{7BA18FEC-871B-E19F-0632-FE1098BEDAA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305800" y="139700"/>
            <a:ext cx="685800" cy="635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-112" charset="2"/>
        <a:buChar char="§"/>
        <a:defRPr sz="24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§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52" name="Snooping coherence…"/>
          <p:cNvSpPr txBox="1">
            <a:spLocks noGrp="1"/>
          </p:cNvSpPr>
          <p:nvPr>
            <p:ph type="body" idx="4294967295"/>
          </p:nvPr>
        </p:nvSpPr>
        <p:spPr>
          <a:xfrm>
            <a:off x="457200" y="139065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t>Snooping coherence </a:t>
            </a:r>
          </a:p>
          <a:p>
            <a:pPr>
              <a:spcBef>
                <a:spcPts val="500"/>
              </a:spcBef>
              <a:buChar char="▪"/>
              <a:defRPr sz="2400"/>
            </a:pPr>
            <a:endParaRPr/>
          </a:p>
          <a:p>
            <a:pPr>
              <a:spcBef>
                <a:spcPts val="500"/>
              </a:spcBef>
              <a:buChar char="▪"/>
              <a:defRPr sz="2400"/>
            </a:pPr>
            <a:endParaRPr/>
          </a:p>
          <a:p>
            <a:pPr>
              <a:spcBef>
                <a:spcPts val="500"/>
              </a:spcBef>
              <a:buChar char="▪"/>
              <a:defRPr sz="2400"/>
            </a:pPr>
            <a:r>
              <a:t>Directory coherence</a:t>
            </a:r>
          </a:p>
        </p:txBody>
      </p:sp>
      <p:sp>
        <p:nvSpPr>
          <p:cNvPr id="53" name="Lect. 4:  Coherence Protocols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rgbClr val="FF0000"/>
                </a:solidFill>
              </a:defRPr>
            </a:lvl1pPr>
          </a:lstStyle>
          <a:p>
            <a:r>
              <a:rPr dirty="0"/>
              <a:t>Lect. </a:t>
            </a:r>
            <a:r>
              <a:rPr lang="en-US" dirty="0"/>
              <a:t>12</a:t>
            </a:r>
            <a:r>
              <a:rPr dirty="0"/>
              <a:t>:  Coherence Protocols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57" name="Snooping coherence on simple shared bus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322325" indent="-322325" defTabSz="859536">
              <a:spcBef>
                <a:spcPts val="500"/>
              </a:spcBef>
              <a:buChar char="▪"/>
              <a:defRPr sz="2256"/>
            </a:pPr>
            <a:r>
              <a:rPr dirty="0"/>
              <a:t>Snooping coherence on simple shared bus</a:t>
            </a:r>
          </a:p>
          <a:p>
            <a:pPr marL="322325" indent="-322325" defTabSz="859536">
              <a:buChar char="▪"/>
              <a:defRPr sz="2256"/>
            </a:pPr>
            <a:endParaRPr dirty="0"/>
          </a:p>
          <a:p>
            <a:pPr marL="322325" indent="-322325" defTabSz="859536">
              <a:buChar char="▪"/>
              <a:defRPr sz="2256"/>
            </a:pPr>
            <a:endParaRPr dirty="0"/>
          </a:p>
          <a:p>
            <a:pPr marL="322325" indent="-322325" defTabSz="859536">
              <a:buChar char="▪"/>
              <a:defRPr sz="2256"/>
            </a:pPr>
            <a:endParaRPr dirty="0"/>
          </a:p>
          <a:p>
            <a:pPr marL="322325" indent="-322325" defTabSz="859536">
              <a:buChar char="▪"/>
              <a:defRPr sz="2256"/>
            </a:pPr>
            <a:endParaRPr dirty="0"/>
          </a:p>
          <a:p>
            <a:pPr marL="698373" lvl="1" indent="-268604" defTabSz="859536">
              <a:spcBef>
                <a:spcPts val="0"/>
              </a:spcBef>
              <a:buClrTx/>
              <a:defRPr sz="2256"/>
            </a:pPr>
            <a:endParaRPr dirty="0"/>
          </a:p>
          <a:p>
            <a:pPr marL="698373" lvl="1" indent="-268604" defTabSz="859536">
              <a:spcBef>
                <a:spcPts val="0"/>
              </a:spcBef>
              <a:buClrTx/>
              <a:defRPr sz="2256"/>
            </a:pPr>
            <a:endParaRPr dirty="0"/>
          </a:p>
          <a:p>
            <a:pPr marL="698373" lvl="1" indent="-268604" defTabSz="859536">
              <a:spcBef>
                <a:spcPts val="0"/>
              </a:spcBef>
              <a:buClrTx/>
              <a:defRPr sz="1879"/>
            </a:pPr>
            <a:endParaRPr lang="en-US"/>
          </a:p>
          <a:p>
            <a:pPr marL="698373" lvl="1" indent="-268604" defTabSz="859536">
              <a:spcBef>
                <a:spcPts val="0"/>
              </a:spcBef>
              <a:buClrTx/>
              <a:defRPr sz="1879"/>
            </a:pPr>
            <a:r>
              <a:t>“Easy” as all processors and memory controller can observe all transactions</a:t>
            </a:r>
          </a:p>
          <a:p>
            <a:pPr marL="698373" lvl="1" indent="-268604" defTabSz="859536">
              <a:spcBef>
                <a:spcPts val="0"/>
              </a:spcBef>
              <a:buClrTx/>
              <a:defRPr sz="1879"/>
            </a:pPr>
            <a:r>
              <a:rPr dirty="0"/>
              <a:t>Bus-side cache controller monitors the tags of the lines involved and reacts if necessary by checking the contents and state of the local cache</a:t>
            </a:r>
          </a:p>
          <a:p>
            <a:pPr marL="698373" lvl="1" indent="-268604" defTabSz="859536">
              <a:spcBef>
                <a:spcPts val="0"/>
              </a:spcBef>
              <a:buClrTx/>
              <a:defRPr sz="1879"/>
            </a:pPr>
            <a:r>
              <a:rPr dirty="0"/>
              <a:t>Bus provides a serialization point (i.e., any transaction A is either before or after another transaction B)</a:t>
            </a:r>
          </a:p>
          <a:p>
            <a:pPr marL="1074419" lvl="2" indent="-214884" defTabSz="859536">
              <a:spcBef>
                <a:spcPts val="0"/>
              </a:spcBef>
              <a:buClrTx/>
              <a:defRPr sz="1692"/>
            </a:pPr>
            <a:r>
              <a:rPr dirty="0"/>
              <a:t>More complex with split transaction buses</a:t>
            </a:r>
          </a:p>
        </p:txBody>
      </p:sp>
      <p:sp>
        <p:nvSpPr>
          <p:cNvPr id="58" name="P1"/>
          <p:cNvSpPr txBox="1"/>
          <p:nvPr/>
        </p:nvSpPr>
        <p:spPr>
          <a:xfrm>
            <a:off x="3933745" y="1676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59" name="Oval"/>
          <p:cNvSpPr/>
          <p:nvPr/>
        </p:nvSpPr>
        <p:spPr>
          <a:xfrm>
            <a:off x="3835400" y="1630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" name="Rectangle"/>
          <p:cNvSpPr/>
          <p:nvPr/>
        </p:nvSpPr>
        <p:spPr>
          <a:xfrm>
            <a:off x="3657600" y="2209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1" name="Rectangle"/>
          <p:cNvSpPr/>
          <p:nvPr/>
        </p:nvSpPr>
        <p:spPr>
          <a:xfrm>
            <a:off x="3657600" y="2362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2" name="L1"/>
          <p:cNvSpPr txBox="1"/>
          <p:nvPr/>
        </p:nvSpPr>
        <p:spPr>
          <a:xfrm>
            <a:off x="4534236" y="1828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63" name="0"/>
          <p:cNvSpPr txBox="1"/>
          <p:nvPr/>
        </p:nvSpPr>
        <p:spPr>
          <a:xfrm>
            <a:off x="2866151" y="2362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4" name="Rectangle"/>
          <p:cNvSpPr/>
          <p:nvPr/>
        </p:nvSpPr>
        <p:spPr>
          <a:xfrm>
            <a:off x="2792412" y="2362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5" name="0"/>
          <p:cNvSpPr txBox="1"/>
          <p:nvPr/>
        </p:nvSpPr>
        <p:spPr>
          <a:xfrm>
            <a:off x="3170951" y="2362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6" name="Rectangle"/>
          <p:cNvSpPr/>
          <p:nvPr/>
        </p:nvSpPr>
        <p:spPr>
          <a:xfrm>
            <a:off x="3097212" y="2362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7" name="Line state"/>
          <p:cNvSpPr txBox="1"/>
          <p:nvPr/>
        </p:nvSpPr>
        <p:spPr>
          <a:xfrm>
            <a:off x="2604722" y="1981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68" name="P2"/>
          <p:cNvSpPr txBox="1"/>
          <p:nvPr/>
        </p:nvSpPr>
        <p:spPr>
          <a:xfrm>
            <a:off x="6523751" y="1676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P2</a:t>
            </a:r>
          </a:p>
        </p:txBody>
      </p:sp>
      <p:sp>
        <p:nvSpPr>
          <p:cNvPr id="69" name="Oval"/>
          <p:cNvSpPr/>
          <p:nvPr/>
        </p:nvSpPr>
        <p:spPr>
          <a:xfrm>
            <a:off x="6426200" y="1630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0" name="Rectangle"/>
          <p:cNvSpPr/>
          <p:nvPr/>
        </p:nvSpPr>
        <p:spPr>
          <a:xfrm>
            <a:off x="6248400" y="2209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1" name="Rectangle"/>
          <p:cNvSpPr/>
          <p:nvPr/>
        </p:nvSpPr>
        <p:spPr>
          <a:xfrm>
            <a:off x="6248400" y="2362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2" name="L1"/>
          <p:cNvSpPr txBox="1"/>
          <p:nvPr/>
        </p:nvSpPr>
        <p:spPr>
          <a:xfrm>
            <a:off x="7125036" y="1828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73" name="0"/>
          <p:cNvSpPr txBox="1"/>
          <p:nvPr/>
        </p:nvSpPr>
        <p:spPr>
          <a:xfrm>
            <a:off x="5456951" y="2362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4" name="Rectangle"/>
          <p:cNvSpPr/>
          <p:nvPr/>
        </p:nvSpPr>
        <p:spPr>
          <a:xfrm>
            <a:off x="5383212" y="2362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5" name="0"/>
          <p:cNvSpPr txBox="1"/>
          <p:nvPr/>
        </p:nvSpPr>
        <p:spPr>
          <a:xfrm>
            <a:off x="5761751" y="2362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6" name="Rectangle"/>
          <p:cNvSpPr/>
          <p:nvPr/>
        </p:nvSpPr>
        <p:spPr>
          <a:xfrm>
            <a:off x="5688012" y="2362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7" name="Line state"/>
          <p:cNvSpPr txBox="1"/>
          <p:nvPr/>
        </p:nvSpPr>
        <p:spPr>
          <a:xfrm>
            <a:off x="5195522" y="1981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78" name="Cache states:…"/>
          <p:cNvSpPr txBox="1"/>
          <p:nvPr/>
        </p:nvSpPr>
        <p:spPr>
          <a:xfrm>
            <a:off x="7391400" y="2362200"/>
            <a:ext cx="109671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Cache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invalid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79" name="Rectangle"/>
          <p:cNvSpPr/>
          <p:nvPr/>
        </p:nvSpPr>
        <p:spPr>
          <a:xfrm>
            <a:off x="1752600" y="3352800"/>
            <a:ext cx="5181600" cy="228600"/>
          </a:xfrm>
          <a:prstGeom prst="rect">
            <a:avLst/>
          </a:prstGeom>
          <a:solidFill>
            <a:srgbClr val="000000">
              <a:alpha val="50195"/>
            </a:srgbClr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0" name="Line"/>
          <p:cNvSpPr/>
          <p:nvPr/>
        </p:nvSpPr>
        <p:spPr>
          <a:xfrm>
            <a:off x="4114800" y="30480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Line"/>
          <p:cNvSpPr/>
          <p:nvPr/>
        </p:nvSpPr>
        <p:spPr>
          <a:xfrm>
            <a:off x="6705600" y="30480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" name="Line"/>
          <p:cNvSpPr/>
          <p:nvPr/>
        </p:nvSpPr>
        <p:spPr>
          <a:xfrm>
            <a:off x="4267200" y="1981199"/>
            <a:ext cx="1" cy="1143002"/>
          </a:xfrm>
          <a:prstGeom prst="line">
            <a:avLst/>
          </a:prstGeom>
          <a:ln w="38100"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Line"/>
          <p:cNvSpPr/>
          <p:nvPr/>
        </p:nvSpPr>
        <p:spPr>
          <a:xfrm>
            <a:off x="2285999" y="3124200"/>
            <a:ext cx="1986090" cy="4176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9" h="20296" extrusionOk="0">
                <a:moveTo>
                  <a:pt x="21327" y="0"/>
                </a:moveTo>
                <a:cubicBezTo>
                  <a:pt x="21463" y="7714"/>
                  <a:pt x="21600" y="15429"/>
                  <a:pt x="18046" y="18514"/>
                </a:cubicBezTo>
                <a:cubicBezTo>
                  <a:pt x="14491" y="21600"/>
                  <a:pt x="7246" y="20057"/>
                  <a:pt x="0" y="18514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84" name="Line"/>
          <p:cNvSpPr/>
          <p:nvPr/>
        </p:nvSpPr>
        <p:spPr>
          <a:xfrm flipH="1">
            <a:off x="4251199" y="3124200"/>
            <a:ext cx="1986089" cy="4176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9" h="20296" extrusionOk="0">
                <a:moveTo>
                  <a:pt x="21327" y="0"/>
                </a:moveTo>
                <a:cubicBezTo>
                  <a:pt x="21463" y="7714"/>
                  <a:pt x="21600" y="15429"/>
                  <a:pt x="18046" y="18514"/>
                </a:cubicBezTo>
                <a:cubicBezTo>
                  <a:pt x="14491" y="21600"/>
                  <a:pt x="7246" y="20057"/>
                  <a:pt x="0" y="18514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85" name="Snooping Coherence Protocol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t>Snooping Coherence Protocol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89" name="Read/Write miss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SzTx/>
              <a:buFont typeface="Wingdings"/>
              <a:buNone/>
              <a:defRPr sz="2000"/>
            </a:pPr>
            <a:endParaRPr/>
          </a:p>
          <a:p>
            <a:pPr>
              <a:lnSpc>
                <a:spcPct val="80000"/>
              </a:lnSpc>
              <a:buChar char="▪"/>
              <a:defRPr sz="2000"/>
            </a:pPr>
            <a:endParaRPr/>
          </a:p>
          <a:p>
            <a:pPr>
              <a:lnSpc>
                <a:spcPct val="80000"/>
              </a:lnSpc>
              <a:buChar char="▪"/>
              <a:defRPr sz="2000"/>
            </a:pPr>
            <a:endParaRPr/>
          </a:p>
          <a:p>
            <a:pPr>
              <a:lnSpc>
                <a:spcPct val="80000"/>
              </a:lnSpc>
              <a:buChar char="▪"/>
              <a:defRPr sz="2000"/>
            </a:pPr>
            <a:endParaRPr/>
          </a:p>
          <a:p>
            <a:pPr marL="742950" lvl="1" indent="-285750">
              <a:lnSpc>
                <a:spcPct val="80000"/>
              </a:lnSpc>
              <a:spcBef>
                <a:spcPts val="0"/>
              </a:spcBef>
              <a:buClrTx/>
              <a:defRPr sz="2000"/>
            </a:pPr>
            <a:endParaRPr/>
          </a:p>
          <a:p>
            <a:pPr>
              <a:lnSpc>
                <a:spcPct val="80000"/>
              </a:lnSpc>
              <a:buChar char="▪"/>
              <a:defRPr sz="2700"/>
            </a:pPr>
            <a:endParaRPr/>
          </a:p>
          <a:p>
            <a:pPr>
              <a:lnSpc>
                <a:spcPct val="80000"/>
              </a:lnSpc>
              <a:buChar char="▪"/>
              <a:defRPr sz="2700"/>
            </a:pPr>
            <a:endParaRPr/>
          </a:p>
          <a:p>
            <a:pPr>
              <a:lnSpc>
                <a:spcPct val="80000"/>
              </a:lnSpc>
              <a:spcBef>
                <a:spcPts val="600"/>
              </a:spcBef>
              <a:buChar char="▪"/>
              <a:defRPr sz="2700"/>
            </a:pPr>
            <a:endParaRPr/>
          </a:p>
          <a:p>
            <a:pPr>
              <a:lnSpc>
                <a:spcPct val="80000"/>
              </a:lnSpc>
              <a:spcBef>
                <a:spcPts val="600"/>
              </a:spcBef>
              <a:buChar char="▪"/>
              <a:defRPr sz="2700"/>
            </a:pPr>
            <a:r>
              <a:t>Read/Write miss</a:t>
            </a:r>
          </a:p>
          <a:p>
            <a:pPr marL="742950" lvl="1" indent="-285750">
              <a:lnSpc>
                <a:spcPct val="80000"/>
              </a:lnSpc>
              <a:spcBef>
                <a:spcPts val="0"/>
              </a:spcBef>
              <a:buClrTx/>
              <a:defRPr sz="2400"/>
            </a:pPr>
            <a:r>
              <a:t>When should memory provide data?</a:t>
            </a:r>
          </a:p>
          <a:p>
            <a:pPr marL="1143000" lvl="2" indent="-228600">
              <a:lnSpc>
                <a:spcPct val="80000"/>
              </a:lnSpc>
              <a:spcBef>
                <a:spcPts val="0"/>
              </a:spcBef>
              <a:buClrTx/>
              <a:defRPr sz="2000"/>
            </a:pPr>
            <a:r>
              <a:t>Wait until inhibit is deasserted</a:t>
            </a:r>
          </a:p>
          <a:p>
            <a:pPr marL="1143000" lvl="2" indent="-228600">
              <a:lnSpc>
                <a:spcPct val="80000"/>
              </a:lnSpc>
              <a:spcBef>
                <a:spcPts val="0"/>
              </a:spcBef>
              <a:buClrTx/>
              <a:defRPr sz="2000"/>
            </a:pPr>
            <a:r>
              <a:t>If Wired OR (sharers, modified) is false, then provides data. </a:t>
            </a:r>
          </a:p>
          <a:p>
            <a:pPr marL="1143000" lvl="2" indent="-228600">
              <a:lnSpc>
                <a:spcPct val="80000"/>
              </a:lnSpc>
              <a:spcBef>
                <a:spcPts val="0"/>
              </a:spcBef>
              <a:buClrTx/>
              <a:defRPr sz="2000"/>
            </a:pPr>
            <a:endParaRPr/>
          </a:p>
          <a:p>
            <a:pPr marL="742950" lvl="1" indent="-285750">
              <a:lnSpc>
                <a:spcPct val="80000"/>
              </a:lnSpc>
              <a:spcBef>
                <a:spcPts val="0"/>
              </a:spcBef>
              <a:buClrTx/>
              <a:defRPr sz="2400"/>
            </a:pPr>
            <a:r>
              <a:t>Write-backs?</a:t>
            </a:r>
          </a:p>
          <a:p>
            <a:pPr marL="1143000" lvl="2" indent="-228600">
              <a:lnSpc>
                <a:spcPct val="80000"/>
              </a:lnSpc>
              <a:spcBef>
                <a:spcPts val="0"/>
              </a:spcBef>
              <a:buClrTx/>
              <a:defRPr sz="2000"/>
            </a:pPr>
            <a:r>
              <a:t>Don’t want to wait for writes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t> Write-back buffer</a:t>
            </a:r>
          </a:p>
        </p:txBody>
      </p:sp>
      <p:sp>
        <p:nvSpPr>
          <p:cNvPr id="90" name="P1"/>
          <p:cNvSpPr txBox="1"/>
          <p:nvPr/>
        </p:nvSpPr>
        <p:spPr>
          <a:xfrm>
            <a:off x="3933745" y="1676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91" name="Oval"/>
          <p:cNvSpPr/>
          <p:nvPr/>
        </p:nvSpPr>
        <p:spPr>
          <a:xfrm>
            <a:off x="3835400" y="1630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2" name="Rectangle"/>
          <p:cNvSpPr/>
          <p:nvPr/>
        </p:nvSpPr>
        <p:spPr>
          <a:xfrm>
            <a:off x="3657600" y="2209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3" name="Rectangle"/>
          <p:cNvSpPr/>
          <p:nvPr/>
        </p:nvSpPr>
        <p:spPr>
          <a:xfrm>
            <a:off x="3657600" y="2362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4" name="L1"/>
          <p:cNvSpPr txBox="1"/>
          <p:nvPr/>
        </p:nvSpPr>
        <p:spPr>
          <a:xfrm>
            <a:off x="4534236" y="1828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95" name="0"/>
          <p:cNvSpPr txBox="1"/>
          <p:nvPr/>
        </p:nvSpPr>
        <p:spPr>
          <a:xfrm>
            <a:off x="2866151" y="2362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96" name="Rectangle"/>
          <p:cNvSpPr/>
          <p:nvPr/>
        </p:nvSpPr>
        <p:spPr>
          <a:xfrm>
            <a:off x="2792412" y="2362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7" name="0"/>
          <p:cNvSpPr txBox="1"/>
          <p:nvPr/>
        </p:nvSpPr>
        <p:spPr>
          <a:xfrm>
            <a:off x="3170951" y="2362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98" name="Rectangle"/>
          <p:cNvSpPr/>
          <p:nvPr/>
        </p:nvSpPr>
        <p:spPr>
          <a:xfrm>
            <a:off x="3097212" y="2362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9" name="Line state"/>
          <p:cNvSpPr txBox="1"/>
          <p:nvPr/>
        </p:nvSpPr>
        <p:spPr>
          <a:xfrm>
            <a:off x="2604722" y="1981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100" name="P2"/>
          <p:cNvSpPr txBox="1"/>
          <p:nvPr/>
        </p:nvSpPr>
        <p:spPr>
          <a:xfrm>
            <a:off x="6523751" y="1676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P2</a:t>
            </a:r>
          </a:p>
        </p:txBody>
      </p:sp>
      <p:sp>
        <p:nvSpPr>
          <p:cNvPr id="101" name="Oval"/>
          <p:cNvSpPr/>
          <p:nvPr/>
        </p:nvSpPr>
        <p:spPr>
          <a:xfrm>
            <a:off x="6426200" y="1630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2" name="Rectangle"/>
          <p:cNvSpPr/>
          <p:nvPr/>
        </p:nvSpPr>
        <p:spPr>
          <a:xfrm>
            <a:off x="6248400" y="2209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3" name="Rectangle"/>
          <p:cNvSpPr/>
          <p:nvPr/>
        </p:nvSpPr>
        <p:spPr>
          <a:xfrm>
            <a:off x="6248400" y="2362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4" name="L1"/>
          <p:cNvSpPr txBox="1"/>
          <p:nvPr/>
        </p:nvSpPr>
        <p:spPr>
          <a:xfrm>
            <a:off x="7125036" y="1828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105" name="0"/>
          <p:cNvSpPr txBox="1"/>
          <p:nvPr/>
        </p:nvSpPr>
        <p:spPr>
          <a:xfrm>
            <a:off x="5456951" y="2362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106" name="Rectangle"/>
          <p:cNvSpPr/>
          <p:nvPr/>
        </p:nvSpPr>
        <p:spPr>
          <a:xfrm>
            <a:off x="5383212" y="2362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7" name="0"/>
          <p:cNvSpPr txBox="1"/>
          <p:nvPr/>
        </p:nvSpPr>
        <p:spPr>
          <a:xfrm>
            <a:off x="5761751" y="2362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108" name="Rectangle"/>
          <p:cNvSpPr/>
          <p:nvPr/>
        </p:nvSpPr>
        <p:spPr>
          <a:xfrm>
            <a:off x="5688012" y="2362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9" name="Line state"/>
          <p:cNvSpPr txBox="1"/>
          <p:nvPr/>
        </p:nvSpPr>
        <p:spPr>
          <a:xfrm>
            <a:off x="5195522" y="1981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110" name="Cache states:…"/>
          <p:cNvSpPr txBox="1"/>
          <p:nvPr/>
        </p:nvSpPr>
        <p:spPr>
          <a:xfrm>
            <a:off x="7391400" y="2362200"/>
            <a:ext cx="109671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Cache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invalid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111" name="Rectangle"/>
          <p:cNvSpPr/>
          <p:nvPr/>
        </p:nvSpPr>
        <p:spPr>
          <a:xfrm>
            <a:off x="1752600" y="3352800"/>
            <a:ext cx="5181600" cy="228600"/>
          </a:xfrm>
          <a:prstGeom prst="rect">
            <a:avLst/>
          </a:prstGeom>
          <a:solidFill>
            <a:srgbClr val="000000">
              <a:alpha val="50195"/>
            </a:srgbClr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2" name="Line"/>
          <p:cNvSpPr/>
          <p:nvPr/>
        </p:nvSpPr>
        <p:spPr>
          <a:xfrm>
            <a:off x="4114800" y="30480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" name="Line"/>
          <p:cNvSpPr/>
          <p:nvPr/>
        </p:nvSpPr>
        <p:spPr>
          <a:xfrm>
            <a:off x="6705600" y="30480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Line"/>
          <p:cNvSpPr/>
          <p:nvPr/>
        </p:nvSpPr>
        <p:spPr>
          <a:xfrm>
            <a:off x="4267200" y="1981199"/>
            <a:ext cx="1" cy="1143002"/>
          </a:xfrm>
          <a:prstGeom prst="line">
            <a:avLst/>
          </a:prstGeom>
          <a:ln w="38100"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Line"/>
          <p:cNvSpPr/>
          <p:nvPr/>
        </p:nvSpPr>
        <p:spPr>
          <a:xfrm>
            <a:off x="2285999" y="3124200"/>
            <a:ext cx="1986090" cy="4176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9" h="20296" extrusionOk="0">
                <a:moveTo>
                  <a:pt x="21327" y="0"/>
                </a:moveTo>
                <a:cubicBezTo>
                  <a:pt x="21463" y="7714"/>
                  <a:pt x="21600" y="15429"/>
                  <a:pt x="18046" y="18514"/>
                </a:cubicBezTo>
                <a:cubicBezTo>
                  <a:pt x="14491" y="21600"/>
                  <a:pt x="7246" y="20057"/>
                  <a:pt x="0" y="18514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116" name="Line"/>
          <p:cNvSpPr/>
          <p:nvPr/>
        </p:nvSpPr>
        <p:spPr>
          <a:xfrm flipH="1">
            <a:off x="4251199" y="3124200"/>
            <a:ext cx="1986089" cy="4176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9" h="20296" extrusionOk="0">
                <a:moveTo>
                  <a:pt x="21327" y="0"/>
                </a:moveTo>
                <a:cubicBezTo>
                  <a:pt x="21463" y="7714"/>
                  <a:pt x="21600" y="15429"/>
                  <a:pt x="18046" y="18514"/>
                </a:cubicBezTo>
                <a:cubicBezTo>
                  <a:pt x="14491" y="21600"/>
                  <a:pt x="7246" y="20057"/>
                  <a:pt x="0" y="18514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117" name="Snooping on a simple bus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t>Snooping on a simple bus</a:t>
            </a:r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21" name="“The devil is in the details”, Classic Proverb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5257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Bef>
                <a:spcPts val="500"/>
              </a:spcBef>
              <a:buSzTx/>
              <a:buFont typeface="Wingdings"/>
              <a:buNone/>
              <a:defRPr sz="2400" i="1"/>
            </a:pPr>
            <a:r>
              <a:t>“The devil is in the details”, Classic Proverb</a:t>
            </a:r>
          </a:p>
          <a:p>
            <a:pPr>
              <a:lnSpc>
                <a:spcPct val="90000"/>
              </a:lnSpc>
              <a:buSzTx/>
              <a:buFont typeface="Wingdings"/>
              <a:buNone/>
              <a:defRPr sz="1200" i="1"/>
            </a:pPr>
            <a:endParaRPr/>
          </a:p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400"/>
            </a:pPr>
            <a:r>
              <a:t>Problem: conflict when processor and bus-side controller must check the cache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2000"/>
            </a:pPr>
            <a:endParaRPr/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2000"/>
            </a:pPr>
            <a:endParaRPr/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2000"/>
            </a:pPr>
            <a:endParaRPr/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2000"/>
            </a:pPr>
            <a:endParaRPr/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2000"/>
            </a:pPr>
            <a:endParaRPr/>
          </a:p>
          <a:p>
            <a:pPr>
              <a:lnSpc>
                <a:spcPct val="90000"/>
              </a:lnSpc>
              <a:buChar char="▪"/>
              <a:defRPr sz="2400"/>
            </a:pPr>
            <a:endParaRPr/>
          </a:p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400"/>
            </a:pPr>
            <a:r>
              <a:t>Solutions: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2000"/>
            </a:pPr>
            <a:r>
              <a:t>Use dual-ported modules for the tag and state array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2000"/>
            </a:pPr>
            <a:r>
              <a:t>Or, duplicate tag and state array</a:t>
            </a:r>
          </a:p>
          <a:p>
            <a:pPr marL="1143000" lvl="2" indent="-228600">
              <a:lnSpc>
                <a:spcPct val="90000"/>
              </a:lnSpc>
              <a:spcBef>
                <a:spcPts val="0"/>
              </a:spcBef>
              <a:buClrTx/>
              <a:defRPr sz="1800"/>
            </a:pPr>
            <a:r>
              <a:t>Both must be kept consistent when one is changed</a:t>
            </a:r>
          </a:p>
        </p:txBody>
      </p:sp>
      <p:sp>
        <p:nvSpPr>
          <p:cNvPr id="122" name="P1"/>
          <p:cNvSpPr txBox="1"/>
          <p:nvPr/>
        </p:nvSpPr>
        <p:spPr>
          <a:xfrm>
            <a:off x="3933745" y="2362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123" name="Oval"/>
          <p:cNvSpPr/>
          <p:nvPr/>
        </p:nvSpPr>
        <p:spPr>
          <a:xfrm>
            <a:off x="3835400" y="2316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24" name="Rectangle"/>
          <p:cNvSpPr/>
          <p:nvPr/>
        </p:nvSpPr>
        <p:spPr>
          <a:xfrm>
            <a:off x="3657600" y="28956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25" name="Rectangle"/>
          <p:cNvSpPr/>
          <p:nvPr/>
        </p:nvSpPr>
        <p:spPr>
          <a:xfrm>
            <a:off x="3657600" y="3048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26" name="L1"/>
          <p:cNvSpPr txBox="1"/>
          <p:nvPr/>
        </p:nvSpPr>
        <p:spPr>
          <a:xfrm>
            <a:off x="4534236" y="25146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127" name="0"/>
          <p:cNvSpPr txBox="1"/>
          <p:nvPr/>
        </p:nvSpPr>
        <p:spPr>
          <a:xfrm>
            <a:off x="2866151" y="3048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128" name="Rectangle"/>
          <p:cNvSpPr/>
          <p:nvPr/>
        </p:nvSpPr>
        <p:spPr>
          <a:xfrm>
            <a:off x="2792412" y="3048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29" name="0"/>
          <p:cNvSpPr txBox="1"/>
          <p:nvPr/>
        </p:nvSpPr>
        <p:spPr>
          <a:xfrm>
            <a:off x="3170951" y="3048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130" name="Rectangle"/>
          <p:cNvSpPr/>
          <p:nvPr/>
        </p:nvSpPr>
        <p:spPr>
          <a:xfrm>
            <a:off x="3097212" y="3048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31" name="Line state"/>
          <p:cNvSpPr txBox="1"/>
          <p:nvPr/>
        </p:nvSpPr>
        <p:spPr>
          <a:xfrm>
            <a:off x="2604722" y="2667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132" name="P2"/>
          <p:cNvSpPr txBox="1"/>
          <p:nvPr/>
        </p:nvSpPr>
        <p:spPr>
          <a:xfrm>
            <a:off x="6523751" y="2362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P2</a:t>
            </a:r>
          </a:p>
        </p:txBody>
      </p:sp>
      <p:sp>
        <p:nvSpPr>
          <p:cNvPr id="133" name="Oval"/>
          <p:cNvSpPr/>
          <p:nvPr/>
        </p:nvSpPr>
        <p:spPr>
          <a:xfrm>
            <a:off x="6426200" y="2316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34" name="Rectangle"/>
          <p:cNvSpPr/>
          <p:nvPr/>
        </p:nvSpPr>
        <p:spPr>
          <a:xfrm>
            <a:off x="6248400" y="28956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35" name="Rectangle"/>
          <p:cNvSpPr/>
          <p:nvPr/>
        </p:nvSpPr>
        <p:spPr>
          <a:xfrm>
            <a:off x="6248400" y="3048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36" name="L1"/>
          <p:cNvSpPr txBox="1"/>
          <p:nvPr/>
        </p:nvSpPr>
        <p:spPr>
          <a:xfrm>
            <a:off x="7125036" y="25146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137" name="0"/>
          <p:cNvSpPr txBox="1"/>
          <p:nvPr/>
        </p:nvSpPr>
        <p:spPr>
          <a:xfrm>
            <a:off x="5456951" y="3048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138" name="Rectangle"/>
          <p:cNvSpPr/>
          <p:nvPr/>
        </p:nvSpPr>
        <p:spPr>
          <a:xfrm>
            <a:off x="5383212" y="3048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39" name="0"/>
          <p:cNvSpPr txBox="1"/>
          <p:nvPr/>
        </p:nvSpPr>
        <p:spPr>
          <a:xfrm>
            <a:off x="5761751" y="3048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140" name="Rectangle"/>
          <p:cNvSpPr/>
          <p:nvPr/>
        </p:nvSpPr>
        <p:spPr>
          <a:xfrm>
            <a:off x="5688012" y="3048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41" name="Line state"/>
          <p:cNvSpPr txBox="1"/>
          <p:nvPr/>
        </p:nvSpPr>
        <p:spPr>
          <a:xfrm>
            <a:off x="5195522" y="2667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142" name="Cache states:…"/>
          <p:cNvSpPr txBox="1"/>
          <p:nvPr/>
        </p:nvSpPr>
        <p:spPr>
          <a:xfrm>
            <a:off x="7391400" y="3048000"/>
            <a:ext cx="109671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Cache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invalid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143" name="Rectangle"/>
          <p:cNvSpPr/>
          <p:nvPr/>
        </p:nvSpPr>
        <p:spPr>
          <a:xfrm>
            <a:off x="1752600" y="4038600"/>
            <a:ext cx="5181600" cy="228600"/>
          </a:xfrm>
          <a:prstGeom prst="rect">
            <a:avLst/>
          </a:prstGeom>
          <a:solidFill>
            <a:srgbClr val="000000">
              <a:alpha val="50195"/>
            </a:srgbClr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44" name="Line"/>
          <p:cNvSpPr/>
          <p:nvPr/>
        </p:nvSpPr>
        <p:spPr>
          <a:xfrm>
            <a:off x="4114800" y="37338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Line"/>
          <p:cNvSpPr/>
          <p:nvPr/>
        </p:nvSpPr>
        <p:spPr>
          <a:xfrm>
            <a:off x="6705600" y="37338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" name="Line"/>
          <p:cNvSpPr/>
          <p:nvPr/>
        </p:nvSpPr>
        <p:spPr>
          <a:xfrm>
            <a:off x="4267200" y="2666999"/>
            <a:ext cx="1" cy="1143002"/>
          </a:xfrm>
          <a:prstGeom prst="line">
            <a:avLst/>
          </a:prstGeom>
          <a:ln w="38100"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Line"/>
          <p:cNvSpPr/>
          <p:nvPr/>
        </p:nvSpPr>
        <p:spPr>
          <a:xfrm>
            <a:off x="2285999" y="3810000"/>
            <a:ext cx="1986090" cy="4176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9" h="20296" extrusionOk="0">
                <a:moveTo>
                  <a:pt x="21327" y="0"/>
                </a:moveTo>
                <a:cubicBezTo>
                  <a:pt x="21463" y="7714"/>
                  <a:pt x="21600" y="15429"/>
                  <a:pt x="18046" y="18514"/>
                </a:cubicBezTo>
                <a:cubicBezTo>
                  <a:pt x="14491" y="21600"/>
                  <a:pt x="7246" y="20057"/>
                  <a:pt x="0" y="18514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148" name="Line"/>
          <p:cNvSpPr/>
          <p:nvPr/>
        </p:nvSpPr>
        <p:spPr>
          <a:xfrm flipH="1">
            <a:off x="4251199" y="3810000"/>
            <a:ext cx="1986089" cy="4176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9" h="20296" extrusionOk="0">
                <a:moveTo>
                  <a:pt x="21327" y="0"/>
                </a:moveTo>
                <a:cubicBezTo>
                  <a:pt x="21463" y="7714"/>
                  <a:pt x="21600" y="15429"/>
                  <a:pt x="18046" y="18514"/>
                </a:cubicBezTo>
                <a:cubicBezTo>
                  <a:pt x="14491" y="21600"/>
                  <a:pt x="7246" y="20057"/>
                  <a:pt x="0" y="18514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149" name="Snooping on Simple Bus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Snooping on Simple Bus</a:t>
            </a:r>
          </a:p>
        </p:txBody>
      </p:sp>
      <p:sp>
        <p:nvSpPr>
          <p:cNvPr id="150" name="Oval"/>
          <p:cNvSpPr/>
          <p:nvPr/>
        </p:nvSpPr>
        <p:spPr>
          <a:xfrm>
            <a:off x="5867400" y="3886200"/>
            <a:ext cx="152400" cy="533400"/>
          </a:xfrm>
          <a:prstGeom prst="ellipse">
            <a:avLst/>
          </a:prstGeom>
          <a:ln w="38100">
            <a:solidFill>
              <a:srgbClr val="FF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51" name="Line"/>
          <p:cNvSpPr/>
          <p:nvPr/>
        </p:nvSpPr>
        <p:spPr>
          <a:xfrm flipV="1">
            <a:off x="5943600" y="3429000"/>
            <a:ext cx="0" cy="45720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" name="Line"/>
          <p:cNvSpPr/>
          <p:nvPr/>
        </p:nvSpPr>
        <p:spPr>
          <a:xfrm>
            <a:off x="5613209" y="2403607"/>
            <a:ext cx="787592" cy="6443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96" h="20296" extrusionOk="0">
                <a:moveTo>
                  <a:pt x="20296" y="1782"/>
                </a:moveTo>
                <a:cubicBezTo>
                  <a:pt x="12582" y="239"/>
                  <a:pt x="4867" y="-1304"/>
                  <a:pt x="1782" y="1782"/>
                </a:cubicBezTo>
                <a:cubicBezTo>
                  <a:pt x="-1304" y="4867"/>
                  <a:pt x="239" y="12582"/>
                  <a:pt x="1782" y="20296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153" name="Ld/St"/>
          <p:cNvSpPr txBox="1"/>
          <p:nvPr/>
        </p:nvSpPr>
        <p:spPr>
          <a:xfrm>
            <a:off x="4899001" y="2286000"/>
            <a:ext cx="63981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Ld/St</a:t>
            </a:r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nooping on Simple Bus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77724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Snooping on Simple Bus</a:t>
            </a:r>
          </a:p>
        </p:txBody>
      </p:sp>
      <p:sp>
        <p:nvSpPr>
          <p:cNvPr id="157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pic>
        <p:nvPicPr>
          <p:cNvPr id="158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43000"/>
            <a:ext cx="7010400" cy="5124450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Fig 6.4…"/>
          <p:cNvSpPr txBox="1"/>
          <p:nvPr/>
        </p:nvSpPr>
        <p:spPr>
          <a:xfrm>
            <a:off x="304800" y="1447800"/>
            <a:ext cx="1108842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800" b="0"/>
            </a:pPr>
            <a:r>
              <a:rPr dirty="0"/>
              <a:t>Fig 6.4</a:t>
            </a:r>
          </a:p>
          <a:p>
            <a:pPr>
              <a:defRPr sz="1800" b="0"/>
            </a:pPr>
            <a:r>
              <a:rPr dirty="0"/>
              <a:t>Culler et al.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56BB-E90E-00CA-7EF7-2A60A71F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arallel Architectures - 2021-22">
            <a:extLst>
              <a:ext uri="{FF2B5EF4-FFF2-40B4-BE49-F238E27FC236}">
                <a16:creationId xmlns:a16="http://schemas.microsoft.com/office/drawing/2014/main" id="{F94D7903-7AB6-11CF-2E6D-DE9FADD83C39}"/>
              </a:ext>
            </a:extLst>
          </p:cNvPr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63" name="Problem: even if bus is atomic, state transitions are not instantaneous and may require several steps → transitions are not atomic…">
            <a:extLst>
              <a:ext uri="{FF2B5EF4-FFF2-40B4-BE49-F238E27FC236}">
                <a16:creationId xmlns:a16="http://schemas.microsoft.com/office/drawing/2014/main" id="{7863D09F-5DA2-523C-A09F-E3493976DEC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2613" indent="-332613" defTabSz="886968">
              <a:spcBef>
                <a:spcPts val="500"/>
              </a:spcBef>
              <a:buChar char="▪"/>
              <a:defRPr sz="2328"/>
            </a:pPr>
            <a:r>
              <a:rPr dirty="0"/>
              <a:t>Problem: even if bus is atomic, state transitions are not instantaneous and may require several steps → transitions are not atomic</a:t>
            </a:r>
          </a:p>
          <a:p>
            <a:pPr marL="720661" lvl="1" indent="-277177" defTabSz="886968">
              <a:spcBef>
                <a:spcPts val="0"/>
              </a:spcBef>
              <a:buClrTx/>
              <a:defRPr sz="1940"/>
            </a:pPr>
            <a:r>
              <a:rPr dirty="0"/>
              <a:t>E.g., read- miss transaction = wait for bus + [wait for bus-side controllers to check cache + data response (or memory response)]</a:t>
            </a:r>
          </a:p>
          <a:p>
            <a:pPr marL="720661" lvl="1" indent="-277177" defTabSz="886968">
              <a:spcBef>
                <a:spcPts val="0"/>
              </a:spcBef>
              <a:buClrTx/>
              <a:defRPr sz="1940"/>
            </a:pPr>
            <a:r>
              <a:rPr dirty="0"/>
              <a:t>E.g. write-upgrade transactions = wait for bus + [wait for bus-side controllers to invalidate] </a:t>
            </a:r>
          </a:p>
          <a:p>
            <a:pPr marL="332613" indent="-332613" defTabSz="886968">
              <a:spcBef>
                <a:spcPts val="500"/>
              </a:spcBef>
              <a:buChar char="▪"/>
              <a:defRPr sz="2328"/>
            </a:pPr>
            <a:r>
              <a:rPr dirty="0"/>
              <a:t>What to do if there are conflicting requests on the bus to same cache line?</a:t>
            </a:r>
          </a:p>
        </p:txBody>
      </p:sp>
      <p:sp>
        <p:nvSpPr>
          <p:cNvPr id="164" name="Snooping on Simple Bus">
            <a:extLst>
              <a:ext uri="{FF2B5EF4-FFF2-40B4-BE49-F238E27FC236}">
                <a16:creationId xmlns:a16="http://schemas.microsoft.com/office/drawing/2014/main" id="{4B4AABAC-43DE-5B6C-7BEE-8723E094B2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dirty="0"/>
              <a:t>Snooping on Simple Bus</a:t>
            </a:r>
          </a:p>
        </p:txBody>
      </p:sp>
      <p:sp>
        <p:nvSpPr>
          <p:cNvPr id="165" name="Slide Number">
            <a:extLst>
              <a:ext uri="{FF2B5EF4-FFF2-40B4-BE49-F238E27FC236}">
                <a16:creationId xmlns:a16="http://schemas.microsoft.com/office/drawing/2014/main" id="{83296C0B-822B-833E-6978-90E97B7472C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98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7263-C090-F89B-65C5-7C9512CB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arallel Architectures - 2021-22">
            <a:extLst>
              <a:ext uri="{FF2B5EF4-FFF2-40B4-BE49-F238E27FC236}">
                <a16:creationId xmlns:a16="http://schemas.microsoft.com/office/drawing/2014/main" id="{F3CDD4FE-9731-511D-90CC-EB8EB1E443B2}"/>
              </a:ext>
            </a:extLst>
          </p:cNvPr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63" name="Problem: even if bus is atomic, state transitions are not instantaneous and may require several steps → transitions are not atomic…">
            <a:extLst>
              <a:ext uri="{FF2B5EF4-FFF2-40B4-BE49-F238E27FC236}">
                <a16:creationId xmlns:a16="http://schemas.microsoft.com/office/drawing/2014/main" id="{C8280492-1547-DC33-E878-BAE6EAC41A9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2613" indent="-332613" defTabSz="886968">
              <a:spcBef>
                <a:spcPts val="500"/>
              </a:spcBef>
              <a:buChar char="▪"/>
              <a:defRPr sz="2328"/>
            </a:pPr>
            <a:r>
              <a:rPr dirty="0"/>
              <a:t>What to do if there are conflicting requests on the bus to same cache line?</a:t>
            </a:r>
            <a:endParaRPr lang="en-US" dirty="0"/>
          </a:p>
          <a:p>
            <a:pPr marL="857250" lvl="1" indent="-457200" defTabSz="886968">
              <a:spcBef>
                <a:spcPts val="500"/>
              </a:spcBef>
              <a:defRPr sz="2328"/>
            </a:pPr>
            <a:r>
              <a:rPr lang="en-US" dirty="0"/>
              <a:t>Suppose to processors with local caches for a block in state S</a:t>
            </a:r>
          </a:p>
          <a:p>
            <a:pPr marL="857250" lvl="1" indent="-457200" defTabSz="886968">
              <a:spcBef>
                <a:spcPts val="500"/>
              </a:spcBef>
              <a:defRPr sz="2328"/>
            </a:pPr>
            <a:r>
              <a:rPr lang="en-US" dirty="0"/>
              <a:t>Both of them want to write, which is an upgrade transaction</a:t>
            </a:r>
          </a:p>
          <a:p>
            <a:pPr marL="1257300" lvl="2" indent="-457200" defTabSz="886968">
              <a:spcBef>
                <a:spcPts val="500"/>
              </a:spcBef>
              <a:defRPr sz="2328"/>
            </a:pPr>
            <a:r>
              <a:rPr lang="en-US" dirty="0"/>
              <a:t>Upgrade transaction waits for the bus; then sends invalidation messages and once that is complete; the write happens.</a:t>
            </a:r>
          </a:p>
          <a:p>
            <a:pPr marL="857250" lvl="1" indent="-457200" defTabSz="886968">
              <a:spcBef>
                <a:spcPts val="500"/>
              </a:spcBef>
              <a:defRPr sz="2328"/>
            </a:pPr>
            <a:r>
              <a:rPr lang="en-US" dirty="0"/>
              <a:t>How do we deal with this race condition?</a:t>
            </a:r>
          </a:p>
          <a:p>
            <a:pPr marL="857250" lvl="1" indent="-457200" defTabSz="886968">
              <a:spcBef>
                <a:spcPts val="500"/>
              </a:spcBef>
              <a:defRPr sz="2328"/>
            </a:pPr>
            <a:endParaRPr lang="en-US" dirty="0"/>
          </a:p>
        </p:txBody>
      </p:sp>
      <p:sp>
        <p:nvSpPr>
          <p:cNvPr id="164" name="Snooping on Simple Bus">
            <a:extLst>
              <a:ext uri="{FF2B5EF4-FFF2-40B4-BE49-F238E27FC236}">
                <a16:creationId xmlns:a16="http://schemas.microsoft.com/office/drawing/2014/main" id="{10E41BA4-4FB3-4DA2-EFE0-EEC8CF02F4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dirty="0"/>
              <a:t>Snooping on Simple Bus</a:t>
            </a:r>
          </a:p>
        </p:txBody>
      </p:sp>
      <p:sp>
        <p:nvSpPr>
          <p:cNvPr id="165" name="Slide Number">
            <a:extLst>
              <a:ext uri="{FF2B5EF4-FFF2-40B4-BE49-F238E27FC236}">
                <a16:creationId xmlns:a16="http://schemas.microsoft.com/office/drawing/2014/main" id="{00D77576-280B-2B3A-E989-A2F4306169E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3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5B1F-28ED-A731-A35B-3B0E0940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arallel Architectures - 2021-22">
            <a:extLst>
              <a:ext uri="{FF2B5EF4-FFF2-40B4-BE49-F238E27FC236}">
                <a16:creationId xmlns:a16="http://schemas.microsoft.com/office/drawing/2014/main" id="{3DB7B573-FDE5-F28E-D59C-671773AB7FA4}"/>
              </a:ext>
            </a:extLst>
          </p:cNvPr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63" name="Problem: even if bus is atomic, state transitions are not instantaneous and may require several steps → transitions are not atomic…">
            <a:extLst>
              <a:ext uri="{FF2B5EF4-FFF2-40B4-BE49-F238E27FC236}">
                <a16:creationId xmlns:a16="http://schemas.microsoft.com/office/drawing/2014/main" id="{68924ED0-7023-8F78-44F5-37E44B511DC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2613" indent="-332613" defTabSz="886968">
              <a:spcBef>
                <a:spcPts val="500"/>
              </a:spcBef>
              <a:buChar char="▪"/>
              <a:defRPr sz="2328"/>
            </a:pPr>
            <a:r>
              <a:rPr lang="en-US" dirty="0"/>
              <a:t>How do we deal with the race condition? </a:t>
            </a:r>
          </a:p>
          <a:p>
            <a:pPr marL="332613" indent="-332613" defTabSz="886968">
              <a:spcBef>
                <a:spcPts val="500"/>
              </a:spcBef>
              <a:buChar char="▪"/>
              <a:defRPr sz="2328"/>
            </a:pPr>
            <a:endParaRPr lang="en-US" dirty="0"/>
          </a:p>
          <a:p>
            <a:pPr lvl="1" indent="-342900" defTabSz="886968">
              <a:spcBef>
                <a:spcPts val="500"/>
              </a:spcBef>
              <a:buFontTx/>
              <a:buChar char="-"/>
              <a:defRPr sz="2328"/>
            </a:pPr>
            <a:r>
              <a:rPr lang="en-US" dirty="0"/>
              <a:t>The winning bus transaction invalidates the cache line of the loser cache</a:t>
            </a:r>
          </a:p>
          <a:p>
            <a:pPr lvl="1" indent="-342900" defTabSz="886968">
              <a:spcBef>
                <a:spcPts val="500"/>
              </a:spcBef>
              <a:buFontTx/>
              <a:buChar char="-"/>
              <a:defRPr sz="2328"/>
            </a:pPr>
            <a:r>
              <a:rPr lang="en-US" dirty="0"/>
              <a:t>What should the loser cache now do? Cannot simply issue an </a:t>
            </a:r>
            <a:r>
              <a:rPr lang="en-US" dirty="0" err="1"/>
              <a:t>updrade</a:t>
            </a:r>
            <a:r>
              <a:rPr lang="en-US" dirty="0"/>
              <a:t>. Must now issue a write miss.</a:t>
            </a:r>
          </a:p>
          <a:p>
            <a:pPr lvl="1" indent="-342900" defTabSz="886968">
              <a:spcBef>
                <a:spcPts val="500"/>
              </a:spcBef>
              <a:buFontTx/>
              <a:buChar char="-"/>
              <a:defRPr sz="2328"/>
            </a:pPr>
            <a:r>
              <a:rPr lang="en-US" dirty="0"/>
              <a:t>In other words, race conditions like these need to be caught and dealt with correctly. </a:t>
            </a:r>
          </a:p>
        </p:txBody>
      </p:sp>
      <p:sp>
        <p:nvSpPr>
          <p:cNvPr id="164" name="Snooping on Simple Bus">
            <a:extLst>
              <a:ext uri="{FF2B5EF4-FFF2-40B4-BE49-F238E27FC236}">
                <a16:creationId xmlns:a16="http://schemas.microsoft.com/office/drawing/2014/main" id="{C38CDFA4-7EF4-6E98-FF46-1726AC38215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dirty="0"/>
              <a:t>Snooping on Simple Bus</a:t>
            </a:r>
          </a:p>
        </p:txBody>
      </p:sp>
      <p:sp>
        <p:nvSpPr>
          <p:cNvPr id="165" name="Slide Number">
            <a:extLst>
              <a:ext uri="{FF2B5EF4-FFF2-40B4-BE49-F238E27FC236}">
                <a16:creationId xmlns:a16="http://schemas.microsoft.com/office/drawing/2014/main" id="{FCD2380F-9AEA-24A8-9E71-CE22149C484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116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63" name="Problem: even if bus is atomic, state transitions are not instantaneous and may require several steps → transitions are not atomic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332613" indent="-332613" defTabSz="886968">
              <a:spcBef>
                <a:spcPts val="500"/>
              </a:spcBef>
              <a:buChar char="▪"/>
              <a:defRPr sz="2328"/>
            </a:pPr>
            <a:r>
              <a:t>Problem: even if bus is atomic, state transitions are not instantaneous and may require several steps → transitions are not atomic</a:t>
            </a:r>
          </a:p>
          <a:p>
            <a:pPr marL="720661" lvl="1" indent="-277177" defTabSz="886968">
              <a:spcBef>
                <a:spcPts val="0"/>
              </a:spcBef>
              <a:buClrTx/>
              <a:defRPr sz="1940"/>
            </a:pPr>
            <a:r>
              <a:t>E.g., read- miss transaction = wait for bus + [wait for bus-side controllers to check cache + data response (or memory response)]</a:t>
            </a:r>
          </a:p>
          <a:p>
            <a:pPr marL="720661" lvl="1" indent="-277177" defTabSz="886968">
              <a:spcBef>
                <a:spcPts val="0"/>
              </a:spcBef>
              <a:buClrTx/>
              <a:defRPr sz="1940"/>
            </a:pPr>
            <a:r>
              <a:t>E.g. write-upgrade transactions = wait for bus + [wait for bus-side controllers to invalidate] </a:t>
            </a:r>
          </a:p>
          <a:p>
            <a:pPr marL="332613" indent="-332613" defTabSz="886968">
              <a:spcBef>
                <a:spcPts val="500"/>
              </a:spcBef>
              <a:buChar char="▪"/>
              <a:defRPr sz="2328"/>
            </a:pPr>
            <a:r>
              <a:t>What to do if there are conflicting requests on the bus to same cache line?</a:t>
            </a:r>
          </a:p>
          <a:p>
            <a:pPr marL="720661" lvl="1" indent="-277177" defTabSz="886968">
              <a:spcBef>
                <a:spcPts val="0"/>
              </a:spcBef>
              <a:buClrTx/>
              <a:defRPr sz="1940"/>
            </a:pPr>
            <a:r>
              <a:t>E.g., an upgrade request may lose bus arbitration to another processor’s and may have to be re-issued as a full write miss (due to the intervening invalidation)</a:t>
            </a:r>
          </a:p>
          <a:p>
            <a:pPr marL="332613" indent="-332613" defTabSz="886968">
              <a:spcBef>
                <a:spcPts val="500"/>
              </a:spcBef>
              <a:buChar char="▪"/>
              <a:defRPr sz="2328"/>
            </a:pPr>
            <a:r>
              <a:t>Solution:</a:t>
            </a:r>
          </a:p>
          <a:p>
            <a:pPr marL="720661" lvl="1" indent="-277177" defTabSz="886968">
              <a:spcBef>
                <a:spcPts val="0"/>
              </a:spcBef>
              <a:buClrTx/>
              <a:defRPr sz="1940"/>
            </a:pPr>
            <a:r>
              <a:t>Introduce </a:t>
            </a:r>
            <a:r>
              <a:rPr u="sng">
                <a:solidFill>
                  <a:srgbClr val="FF0000"/>
                </a:solidFill>
              </a:rPr>
              <a:t>transient states</a:t>
            </a:r>
            <a:r>
              <a:t> to cache lines and the protocol (the I, S, M, etc states seen in Lecture 3 are then called the </a:t>
            </a:r>
            <a:r>
              <a:rPr u="sng">
                <a:solidFill>
                  <a:srgbClr val="FF0000"/>
                </a:solidFill>
              </a:rPr>
              <a:t>stable states</a:t>
            </a:r>
            <a:r>
              <a:t>)</a:t>
            </a:r>
          </a:p>
        </p:txBody>
      </p:sp>
      <p:sp>
        <p:nvSpPr>
          <p:cNvPr id="164" name="Snooping on Simple Bus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Snooping on Simple Bus</a:t>
            </a:r>
          </a:p>
        </p:txBody>
      </p:sp>
      <p:sp>
        <p:nvSpPr>
          <p:cNvPr id="1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68" name="Example: Extended MESI Protocol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77724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Example: Extended MESI Protocol</a:t>
            </a:r>
          </a:p>
        </p:txBody>
      </p:sp>
      <p:sp>
        <p:nvSpPr>
          <p:cNvPr id="169" name="Transactions originating at this CPU:"/>
          <p:cNvSpPr txBox="1">
            <a:spLocks noGrp="1"/>
          </p:cNvSpPr>
          <p:nvPr>
            <p:ph type="body" idx="4294967295"/>
          </p:nvPr>
        </p:nvSpPr>
        <p:spPr>
          <a:xfrm>
            <a:off x="101600" y="391150"/>
            <a:ext cx="8382000" cy="43434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endParaRPr/>
          </a:p>
          <a:p>
            <a:pPr>
              <a:spcBef>
                <a:spcPts val="500"/>
              </a:spcBef>
              <a:buChar char="▪"/>
              <a:defRPr sz="2400"/>
            </a:pPr>
            <a:endParaRPr/>
          </a:p>
          <a:p>
            <a:pPr>
              <a:spcBef>
                <a:spcPts val="500"/>
              </a:spcBef>
              <a:buChar char="▪"/>
              <a:defRPr sz="2400"/>
            </a:pPr>
            <a:r>
              <a:t>Transactions originating at this CPU:</a:t>
            </a:r>
          </a:p>
        </p:txBody>
      </p:sp>
      <p:sp>
        <p:nvSpPr>
          <p:cNvPr id="170" name="Invalid"/>
          <p:cNvSpPr txBox="1"/>
          <p:nvPr/>
        </p:nvSpPr>
        <p:spPr>
          <a:xfrm>
            <a:off x="2506595" y="2971800"/>
            <a:ext cx="577985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Invalid</a:t>
            </a:r>
          </a:p>
        </p:txBody>
      </p:sp>
      <p:sp>
        <p:nvSpPr>
          <p:cNvPr id="171" name="Oval"/>
          <p:cNvSpPr/>
          <p:nvPr/>
        </p:nvSpPr>
        <p:spPr>
          <a:xfrm>
            <a:off x="2416175" y="2767012"/>
            <a:ext cx="849313" cy="7239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72" name="Shared"/>
          <p:cNvSpPr txBox="1"/>
          <p:nvPr/>
        </p:nvSpPr>
        <p:spPr>
          <a:xfrm>
            <a:off x="5931775" y="2971800"/>
            <a:ext cx="5745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Shared</a:t>
            </a:r>
          </a:p>
        </p:txBody>
      </p:sp>
      <p:sp>
        <p:nvSpPr>
          <p:cNvPr id="173" name="Oval"/>
          <p:cNvSpPr/>
          <p:nvPr/>
        </p:nvSpPr>
        <p:spPr>
          <a:xfrm>
            <a:off x="5813425" y="2767012"/>
            <a:ext cx="849313" cy="7239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74" name="Modified"/>
          <p:cNvSpPr txBox="1"/>
          <p:nvPr/>
        </p:nvSpPr>
        <p:spPr>
          <a:xfrm>
            <a:off x="2509683" y="4800600"/>
            <a:ext cx="733734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Modified</a:t>
            </a:r>
          </a:p>
        </p:txBody>
      </p:sp>
      <p:sp>
        <p:nvSpPr>
          <p:cNvPr id="175" name="Oval"/>
          <p:cNvSpPr/>
          <p:nvPr/>
        </p:nvSpPr>
        <p:spPr>
          <a:xfrm>
            <a:off x="2416175" y="4549775"/>
            <a:ext cx="849313" cy="7239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grpSp>
        <p:nvGrpSpPr>
          <p:cNvPr id="178" name="Group"/>
          <p:cNvGrpSpPr/>
          <p:nvPr/>
        </p:nvGrpSpPr>
        <p:grpSpPr>
          <a:xfrm>
            <a:off x="1315313" y="3490912"/>
            <a:ext cx="1440588" cy="1058863"/>
            <a:chOff x="0" y="0"/>
            <a:chExt cx="1440586" cy="1058862"/>
          </a:xfrm>
        </p:grpSpPr>
        <p:sp>
          <p:nvSpPr>
            <p:cNvPr id="176" name="Line"/>
            <p:cNvSpPr/>
            <p:nvPr/>
          </p:nvSpPr>
          <p:spPr>
            <a:xfrm flipH="1">
              <a:off x="1440586" y="0"/>
              <a:ext cx="1" cy="1058863"/>
            </a:xfrm>
            <a:prstGeom prst="line">
              <a:avLst/>
            </a:prstGeom>
            <a:noFill/>
            <a:ln w="254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7" name="CPU write miss"/>
            <p:cNvSpPr txBox="1"/>
            <p:nvPr/>
          </p:nvSpPr>
          <p:spPr>
            <a:xfrm>
              <a:off x="-1" y="319087"/>
              <a:ext cx="1338125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0000FF"/>
                  </a:solidFill>
                </a:defRPr>
              </a:lvl1pPr>
            </a:lstStyle>
            <a:p>
              <a:r>
                <a:t>CPU write miss</a:t>
              </a:r>
            </a:p>
          </p:txBody>
        </p:sp>
      </p:grpSp>
      <p:grpSp>
        <p:nvGrpSpPr>
          <p:cNvPr id="181" name="Group"/>
          <p:cNvGrpSpPr/>
          <p:nvPr/>
        </p:nvGrpSpPr>
        <p:grpSpPr>
          <a:xfrm>
            <a:off x="3208337" y="3490912"/>
            <a:ext cx="2830513" cy="1345566"/>
            <a:chOff x="0" y="0"/>
            <a:chExt cx="2830512" cy="1345565"/>
          </a:xfrm>
        </p:grpSpPr>
        <p:sp>
          <p:nvSpPr>
            <p:cNvPr id="179" name="Line"/>
            <p:cNvSpPr/>
            <p:nvPr/>
          </p:nvSpPr>
          <p:spPr>
            <a:xfrm flipH="1">
              <a:off x="0" y="-1"/>
              <a:ext cx="2830513" cy="1225552"/>
            </a:xfrm>
            <a:prstGeom prst="line">
              <a:avLst/>
            </a:prstGeom>
            <a:noFill/>
            <a:ln w="254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0" name="CPU write"/>
            <p:cNvSpPr txBox="1"/>
            <p:nvPr/>
          </p:nvSpPr>
          <p:spPr>
            <a:xfrm>
              <a:off x="375017" y="1025525"/>
              <a:ext cx="935891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0000FF"/>
                  </a:solidFill>
                </a:defRPr>
              </a:lvl1pPr>
            </a:lstStyle>
            <a:p>
              <a:r>
                <a:t>CPU write</a:t>
              </a:r>
            </a:p>
          </p:txBody>
        </p:sp>
      </p:grpSp>
      <p:sp>
        <p:nvSpPr>
          <p:cNvPr id="182" name="CPU write hit"/>
          <p:cNvSpPr txBox="1"/>
          <p:nvPr/>
        </p:nvSpPr>
        <p:spPr>
          <a:xfrm>
            <a:off x="1914147" y="5562600"/>
            <a:ext cx="1196143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600" b="0">
                <a:solidFill>
                  <a:srgbClr val="0000FF"/>
                </a:solidFill>
              </a:defRPr>
            </a:lvl1pPr>
          </a:lstStyle>
          <a:p>
            <a:r>
              <a:t>CPU write hit</a:t>
            </a:r>
          </a:p>
        </p:txBody>
      </p:sp>
      <p:sp>
        <p:nvSpPr>
          <p:cNvPr id="183" name="CPU read hit"/>
          <p:cNvSpPr txBox="1"/>
          <p:nvPr/>
        </p:nvSpPr>
        <p:spPr>
          <a:xfrm>
            <a:off x="1946642" y="5295900"/>
            <a:ext cx="113909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600" b="0">
                <a:solidFill>
                  <a:srgbClr val="0000FF"/>
                </a:solidFill>
              </a:defRPr>
            </a:lvl1pPr>
          </a:lstStyle>
          <a:p>
            <a:r>
              <a:t>CPU read hit</a:t>
            </a:r>
          </a:p>
        </p:txBody>
      </p:sp>
      <p:sp>
        <p:nvSpPr>
          <p:cNvPr id="184" name="Line"/>
          <p:cNvSpPr/>
          <p:nvPr/>
        </p:nvSpPr>
        <p:spPr>
          <a:xfrm>
            <a:off x="2080328" y="4698649"/>
            <a:ext cx="404110" cy="5787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6" h="20087" extrusionOk="0">
                <a:moveTo>
                  <a:pt x="18041" y="2566"/>
                </a:moveTo>
                <a:cubicBezTo>
                  <a:pt x="12150" y="793"/>
                  <a:pt x="6259" y="-980"/>
                  <a:pt x="3313" y="632"/>
                </a:cubicBezTo>
                <a:cubicBezTo>
                  <a:pt x="368" y="2244"/>
                  <a:pt x="-614" y="9014"/>
                  <a:pt x="368" y="12238"/>
                </a:cubicBezTo>
                <a:cubicBezTo>
                  <a:pt x="1350" y="15462"/>
                  <a:pt x="5768" y="19330"/>
                  <a:pt x="9204" y="19975"/>
                </a:cubicBezTo>
                <a:cubicBezTo>
                  <a:pt x="12641" y="20620"/>
                  <a:pt x="16813" y="18363"/>
                  <a:pt x="20986" y="16107"/>
                </a:cubicBezTo>
              </a:path>
            </a:pathLst>
          </a:custGeom>
          <a:ln w="254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185" name="Exclusive"/>
          <p:cNvSpPr txBox="1"/>
          <p:nvPr/>
        </p:nvSpPr>
        <p:spPr>
          <a:xfrm>
            <a:off x="5871487" y="4800600"/>
            <a:ext cx="75700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Exclusive</a:t>
            </a:r>
          </a:p>
        </p:txBody>
      </p:sp>
      <p:sp>
        <p:nvSpPr>
          <p:cNvPr id="186" name="Oval"/>
          <p:cNvSpPr/>
          <p:nvPr/>
        </p:nvSpPr>
        <p:spPr>
          <a:xfrm>
            <a:off x="5813425" y="4549775"/>
            <a:ext cx="849313" cy="7239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87" name="CPU read hit"/>
          <p:cNvSpPr txBox="1"/>
          <p:nvPr/>
        </p:nvSpPr>
        <p:spPr>
          <a:xfrm>
            <a:off x="6932612" y="4940300"/>
            <a:ext cx="121920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0">
                <a:solidFill>
                  <a:srgbClr val="0000FF"/>
                </a:solidFill>
              </a:defRPr>
            </a:lvl1pPr>
          </a:lstStyle>
          <a:p>
            <a:r>
              <a:t>CPU read hit</a:t>
            </a:r>
          </a:p>
        </p:txBody>
      </p:sp>
      <p:sp>
        <p:nvSpPr>
          <p:cNvPr id="188" name="Line"/>
          <p:cNvSpPr/>
          <p:nvPr/>
        </p:nvSpPr>
        <p:spPr>
          <a:xfrm flipH="1">
            <a:off x="6605587" y="4689124"/>
            <a:ext cx="402568" cy="5787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6" h="20087" extrusionOk="0">
                <a:moveTo>
                  <a:pt x="18041" y="2566"/>
                </a:moveTo>
                <a:cubicBezTo>
                  <a:pt x="12150" y="793"/>
                  <a:pt x="6259" y="-980"/>
                  <a:pt x="3313" y="632"/>
                </a:cubicBezTo>
                <a:cubicBezTo>
                  <a:pt x="368" y="2244"/>
                  <a:pt x="-614" y="9014"/>
                  <a:pt x="368" y="12238"/>
                </a:cubicBezTo>
                <a:cubicBezTo>
                  <a:pt x="1350" y="15462"/>
                  <a:pt x="5768" y="19330"/>
                  <a:pt x="9204" y="19975"/>
                </a:cubicBezTo>
                <a:cubicBezTo>
                  <a:pt x="12641" y="20620"/>
                  <a:pt x="16813" y="18363"/>
                  <a:pt x="20986" y="16107"/>
                </a:cubicBezTo>
              </a:path>
            </a:pathLst>
          </a:custGeom>
          <a:ln w="254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grpSp>
        <p:nvGrpSpPr>
          <p:cNvPr id="193" name="Group"/>
          <p:cNvGrpSpPr/>
          <p:nvPr/>
        </p:nvGrpSpPr>
        <p:grpSpPr>
          <a:xfrm>
            <a:off x="3038475" y="2743199"/>
            <a:ext cx="2830513" cy="1973264"/>
            <a:chOff x="0" y="0"/>
            <a:chExt cx="2830512" cy="1973262"/>
          </a:xfrm>
        </p:grpSpPr>
        <p:sp>
          <p:nvSpPr>
            <p:cNvPr id="189" name="Line"/>
            <p:cNvSpPr/>
            <p:nvPr/>
          </p:nvSpPr>
          <p:spPr>
            <a:xfrm>
              <a:off x="227012" y="303212"/>
              <a:ext cx="2547938" cy="1"/>
            </a:xfrm>
            <a:prstGeom prst="line">
              <a:avLst/>
            </a:prstGeom>
            <a:noFill/>
            <a:ln w="254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0" name="CPU read miss &amp; shr."/>
            <p:cNvSpPr txBox="1"/>
            <p:nvPr/>
          </p:nvSpPr>
          <p:spPr>
            <a:xfrm>
              <a:off x="589676" y="0"/>
              <a:ext cx="1813085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0000FF"/>
                  </a:solidFill>
                </a:defRPr>
              </a:lvl1pPr>
            </a:lstStyle>
            <a:p>
              <a:r>
                <a:t>CPU read miss &amp; shr.</a:t>
              </a:r>
            </a:p>
          </p:txBody>
        </p:sp>
        <p:sp>
          <p:nvSpPr>
            <p:cNvPr id="191" name="Line"/>
            <p:cNvSpPr/>
            <p:nvPr/>
          </p:nvSpPr>
          <p:spPr>
            <a:xfrm>
              <a:off x="0" y="747712"/>
              <a:ext cx="2830513" cy="1225551"/>
            </a:xfrm>
            <a:prstGeom prst="line">
              <a:avLst/>
            </a:prstGeom>
            <a:noFill/>
            <a:ln w="254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2" name="CPU read miss &amp; no shr."/>
            <p:cNvSpPr txBox="1"/>
            <p:nvPr/>
          </p:nvSpPr>
          <p:spPr>
            <a:xfrm>
              <a:off x="366930" y="609600"/>
              <a:ext cx="2071252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0000FF"/>
                  </a:solidFill>
                </a:defRPr>
              </a:lvl1pPr>
            </a:lstStyle>
            <a:p>
              <a:r>
                <a:t>CPU read miss &amp; no shr.</a:t>
              </a:r>
            </a:p>
          </p:txBody>
        </p:sp>
      </p:grpSp>
      <p:sp>
        <p:nvSpPr>
          <p:cNvPr id="194" name="Line"/>
          <p:cNvSpPr/>
          <p:nvPr/>
        </p:nvSpPr>
        <p:spPr>
          <a:xfrm flipH="1">
            <a:off x="3265487" y="4997132"/>
            <a:ext cx="2490788" cy="1"/>
          </a:xfrm>
          <a:prstGeom prst="line">
            <a:avLst/>
          </a:prstGeom>
          <a:ln w="254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5" name="CPU write"/>
          <p:cNvSpPr txBox="1"/>
          <p:nvPr/>
        </p:nvSpPr>
        <p:spPr>
          <a:xfrm>
            <a:off x="4037379" y="5019675"/>
            <a:ext cx="93589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600" b="0">
                <a:solidFill>
                  <a:srgbClr val="0000FF"/>
                </a:solidFill>
              </a:defRPr>
            </a:lvl1pPr>
          </a:lstStyle>
          <a:p>
            <a:r>
              <a:t>CPU write</a:t>
            </a:r>
          </a:p>
        </p:txBody>
      </p:sp>
      <p:sp>
        <p:nvSpPr>
          <p:cNvPr id="196" name="I→S,E"/>
          <p:cNvSpPr txBox="1"/>
          <p:nvPr/>
        </p:nvSpPr>
        <p:spPr>
          <a:xfrm>
            <a:off x="4096042" y="1905000"/>
            <a:ext cx="578853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>
                <a:solidFill>
                  <a:srgbClr val="FF0000"/>
                </a:solidFill>
              </a:defRPr>
            </a:lvl1pPr>
          </a:lstStyle>
          <a:p>
            <a:r>
              <a:t>I→S,E</a:t>
            </a:r>
          </a:p>
        </p:txBody>
      </p:sp>
      <p:sp>
        <p:nvSpPr>
          <p:cNvPr id="197" name="Oval"/>
          <p:cNvSpPr/>
          <p:nvPr/>
        </p:nvSpPr>
        <p:spPr>
          <a:xfrm>
            <a:off x="3962400" y="1676400"/>
            <a:ext cx="849313" cy="723900"/>
          </a:xfrm>
          <a:prstGeom prst="ellipse">
            <a:avLst/>
          </a:prstGeom>
          <a:ln w="12700">
            <a:solidFill>
              <a:srgbClr val="FF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98" name="CPU read hit"/>
          <p:cNvSpPr txBox="1"/>
          <p:nvPr/>
        </p:nvSpPr>
        <p:spPr>
          <a:xfrm>
            <a:off x="6956425" y="3098800"/>
            <a:ext cx="121920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0">
                <a:solidFill>
                  <a:srgbClr val="0000FF"/>
                </a:solidFill>
              </a:defRPr>
            </a:lvl1pPr>
          </a:lstStyle>
          <a:p>
            <a:r>
              <a:t>CPU read hit</a:t>
            </a:r>
          </a:p>
        </p:txBody>
      </p:sp>
      <p:sp>
        <p:nvSpPr>
          <p:cNvPr id="199" name="Line"/>
          <p:cNvSpPr/>
          <p:nvPr/>
        </p:nvSpPr>
        <p:spPr>
          <a:xfrm flipH="1">
            <a:off x="6629400" y="2847624"/>
            <a:ext cx="402567" cy="5787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6" h="20087" extrusionOk="0">
                <a:moveTo>
                  <a:pt x="18041" y="2566"/>
                </a:moveTo>
                <a:cubicBezTo>
                  <a:pt x="12150" y="793"/>
                  <a:pt x="6259" y="-980"/>
                  <a:pt x="3313" y="632"/>
                </a:cubicBezTo>
                <a:cubicBezTo>
                  <a:pt x="368" y="2244"/>
                  <a:pt x="-614" y="9014"/>
                  <a:pt x="368" y="12238"/>
                </a:cubicBezTo>
                <a:cubicBezTo>
                  <a:pt x="1350" y="15462"/>
                  <a:pt x="5768" y="19330"/>
                  <a:pt x="9204" y="19975"/>
                </a:cubicBezTo>
                <a:cubicBezTo>
                  <a:pt x="12641" y="20620"/>
                  <a:pt x="16813" y="18363"/>
                  <a:pt x="20986" y="16107"/>
                </a:cubicBezTo>
              </a:path>
            </a:pathLst>
          </a:custGeom>
          <a:ln w="25400">
            <a:solidFill>
              <a:srgbClr val="0000FF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200" name="I→M"/>
          <p:cNvSpPr txBox="1"/>
          <p:nvPr/>
        </p:nvSpPr>
        <p:spPr>
          <a:xfrm>
            <a:off x="555942" y="3810000"/>
            <a:ext cx="493078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>
                <a:solidFill>
                  <a:srgbClr val="FF0000"/>
                </a:solidFill>
              </a:defRPr>
            </a:lvl1pPr>
          </a:lstStyle>
          <a:p>
            <a:r>
              <a:t>I→M</a:t>
            </a:r>
          </a:p>
        </p:txBody>
      </p:sp>
      <p:sp>
        <p:nvSpPr>
          <p:cNvPr id="201" name="Oval"/>
          <p:cNvSpPr/>
          <p:nvPr/>
        </p:nvSpPr>
        <p:spPr>
          <a:xfrm>
            <a:off x="381000" y="3581400"/>
            <a:ext cx="849313" cy="723900"/>
          </a:xfrm>
          <a:prstGeom prst="ellipse">
            <a:avLst/>
          </a:prstGeom>
          <a:ln w="12700">
            <a:solidFill>
              <a:srgbClr val="FF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02" name="S→M"/>
          <p:cNvSpPr txBox="1"/>
          <p:nvPr/>
        </p:nvSpPr>
        <p:spPr>
          <a:xfrm>
            <a:off x="4812823" y="5943600"/>
            <a:ext cx="515304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>
                <a:solidFill>
                  <a:srgbClr val="FF0000"/>
                </a:solidFill>
              </a:defRPr>
            </a:lvl1pPr>
          </a:lstStyle>
          <a:p>
            <a:r>
              <a:t>S→M</a:t>
            </a:r>
          </a:p>
        </p:txBody>
      </p:sp>
      <p:sp>
        <p:nvSpPr>
          <p:cNvPr id="203" name="Oval"/>
          <p:cNvSpPr/>
          <p:nvPr/>
        </p:nvSpPr>
        <p:spPr>
          <a:xfrm>
            <a:off x="4648200" y="5715000"/>
            <a:ext cx="849313" cy="723900"/>
          </a:xfrm>
          <a:prstGeom prst="ellipse">
            <a:avLst/>
          </a:prstGeom>
          <a:ln w="12700">
            <a:solidFill>
              <a:srgbClr val="FF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grpSp>
        <p:nvGrpSpPr>
          <p:cNvPr id="208" name="Group"/>
          <p:cNvGrpSpPr/>
          <p:nvPr/>
        </p:nvGrpSpPr>
        <p:grpSpPr>
          <a:xfrm>
            <a:off x="324713" y="2971800"/>
            <a:ext cx="2266087" cy="1767840"/>
            <a:chOff x="0" y="0"/>
            <a:chExt cx="2266086" cy="1767840"/>
          </a:xfrm>
        </p:grpSpPr>
        <p:sp>
          <p:nvSpPr>
            <p:cNvPr id="204" name="Line"/>
            <p:cNvSpPr/>
            <p:nvPr/>
          </p:nvSpPr>
          <p:spPr>
            <a:xfrm flipH="1">
              <a:off x="513486" y="228600"/>
              <a:ext cx="1524001" cy="38100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5" name="Line"/>
            <p:cNvSpPr/>
            <p:nvPr/>
          </p:nvSpPr>
          <p:spPr>
            <a:xfrm>
              <a:off x="818286" y="1219199"/>
              <a:ext cx="1447801" cy="457202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6" name="CPU write miss"/>
            <p:cNvSpPr txBox="1"/>
            <p:nvPr/>
          </p:nvSpPr>
          <p:spPr>
            <a:xfrm>
              <a:off x="-1" y="0"/>
              <a:ext cx="1338125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FF0000"/>
                  </a:solidFill>
                </a:defRPr>
              </a:lvl1pPr>
            </a:lstStyle>
            <a:p>
              <a:r>
                <a:t>CPU write miss</a:t>
              </a:r>
            </a:p>
          </p:txBody>
        </p:sp>
        <p:sp>
          <p:nvSpPr>
            <p:cNvPr id="207" name="bus granted"/>
            <p:cNvSpPr txBox="1"/>
            <p:nvPr/>
          </p:nvSpPr>
          <p:spPr>
            <a:xfrm>
              <a:off x="678259" y="1447800"/>
              <a:ext cx="1027768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FF0000"/>
                  </a:solidFill>
                </a:defRPr>
              </a:lvl1pPr>
            </a:lstStyle>
            <a:p>
              <a:r>
                <a:t>bus granted</a:t>
              </a:r>
            </a:p>
          </p:txBody>
        </p:sp>
      </p:grpSp>
      <p:grpSp>
        <p:nvGrpSpPr>
          <p:cNvPr id="215" name="Group"/>
          <p:cNvGrpSpPr/>
          <p:nvPr/>
        </p:nvGrpSpPr>
        <p:grpSpPr>
          <a:xfrm>
            <a:off x="2438400" y="1752599"/>
            <a:ext cx="3886200" cy="2819402"/>
            <a:chOff x="0" y="0"/>
            <a:chExt cx="3886200" cy="2819400"/>
          </a:xfrm>
        </p:grpSpPr>
        <p:sp>
          <p:nvSpPr>
            <p:cNvPr id="209" name="Line"/>
            <p:cNvSpPr/>
            <p:nvPr/>
          </p:nvSpPr>
          <p:spPr>
            <a:xfrm flipV="1">
              <a:off x="304799" y="304800"/>
              <a:ext cx="1219202" cy="68580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0" name="CPU read"/>
            <p:cNvSpPr txBox="1"/>
            <p:nvPr/>
          </p:nvSpPr>
          <p:spPr>
            <a:xfrm>
              <a:off x="0" y="228600"/>
              <a:ext cx="1219200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FF0000"/>
                  </a:solidFill>
                </a:defRPr>
              </a:lvl1pPr>
            </a:lstStyle>
            <a:p>
              <a:r>
                <a:t>CPU read</a:t>
              </a:r>
            </a:p>
          </p:txBody>
        </p:sp>
        <p:sp>
          <p:nvSpPr>
            <p:cNvPr id="211" name="Line"/>
            <p:cNvSpPr/>
            <p:nvPr/>
          </p:nvSpPr>
          <p:spPr>
            <a:xfrm>
              <a:off x="2362200" y="304799"/>
              <a:ext cx="1371600" cy="685802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2" name="Line"/>
            <p:cNvSpPr/>
            <p:nvPr/>
          </p:nvSpPr>
          <p:spPr>
            <a:xfrm>
              <a:off x="1905000" y="685799"/>
              <a:ext cx="1905000" cy="2133602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3" name="bus granted &amp; shr."/>
            <p:cNvSpPr txBox="1"/>
            <p:nvPr/>
          </p:nvSpPr>
          <p:spPr>
            <a:xfrm>
              <a:off x="2667000" y="0"/>
              <a:ext cx="1219200" cy="548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FF0000"/>
                  </a:solidFill>
                </a:defRPr>
              </a:lvl1pPr>
            </a:lstStyle>
            <a:p>
              <a:r>
                <a:t>bus granted &amp; shr.</a:t>
              </a:r>
            </a:p>
          </p:txBody>
        </p:sp>
        <p:sp>
          <p:nvSpPr>
            <p:cNvPr id="214" name="bus granted &amp; no shr."/>
            <p:cNvSpPr txBox="1"/>
            <p:nvPr/>
          </p:nvSpPr>
          <p:spPr>
            <a:xfrm>
              <a:off x="1600596" y="1384300"/>
              <a:ext cx="1828404" cy="256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 b="0">
                  <a:solidFill>
                    <a:srgbClr val="FF0000"/>
                  </a:solidFill>
                </a:defRPr>
              </a:lvl1pPr>
            </a:lstStyle>
            <a:p>
              <a:r>
                <a:t>bus granted &amp; no shr.</a:t>
              </a:r>
            </a:p>
          </p:txBody>
        </p:sp>
      </p:grpSp>
      <p:grpSp>
        <p:nvGrpSpPr>
          <p:cNvPr id="225" name="Group"/>
          <p:cNvGrpSpPr/>
          <p:nvPr/>
        </p:nvGrpSpPr>
        <p:grpSpPr>
          <a:xfrm>
            <a:off x="762000" y="3505200"/>
            <a:ext cx="7867283" cy="2910841"/>
            <a:chOff x="0" y="0"/>
            <a:chExt cx="7867282" cy="2910839"/>
          </a:xfrm>
        </p:grpSpPr>
        <p:sp>
          <p:nvSpPr>
            <p:cNvPr id="216" name="Line"/>
            <p:cNvSpPr/>
            <p:nvPr/>
          </p:nvSpPr>
          <p:spPr>
            <a:xfrm>
              <a:off x="5562599" y="0"/>
              <a:ext cx="2133602" cy="1143001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7" name="Line"/>
            <p:cNvSpPr/>
            <p:nvPr/>
          </p:nvSpPr>
          <p:spPr>
            <a:xfrm>
              <a:off x="7696199" y="1143000"/>
              <a:ext cx="1" cy="144780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8" name="Line"/>
            <p:cNvSpPr/>
            <p:nvPr/>
          </p:nvSpPr>
          <p:spPr>
            <a:xfrm flipH="1" flipV="1">
              <a:off x="4800600" y="2592070"/>
              <a:ext cx="2895600" cy="1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9" name="Line"/>
            <p:cNvSpPr/>
            <p:nvPr/>
          </p:nvSpPr>
          <p:spPr>
            <a:xfrm flipH="1" flipV="1">
              <a:off x="2362200" y="1676399"/>
              <a:ext cx="1676400" cy="609602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Line"/>
            <p:cNvSpPr/>
            <p:nvPr/>
          </p:nvSpPr>
          <p:spPr>
            <a:xfrm flipH="1" flipV="1">
              <a:off x="0" y="2592070"/>
              <a:ext cx="3810000" cy="1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Line"/>
            <p:cNvSpPr/>
            <p:nvPr/>
          </p:nvSpPr>
          <p:spPr>
            <a:xfrm flipV="1">
              <a:off x="0" y="838200"/>
              <a:ext cx="1" cy="175260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CPU write"/>
            <p:cNvSpPr txBox="1"/>
            <p:nvPr/>
          </p:nvSpPr>
          <p:spPr>
            <a:xfrm>
              <a:off x="6931392" y="457200"/>
              <a:ext cx="935891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FF0000"/>
                  </a:solidFill>
                </a:defRPr>
              </a:lvl1pPr>
            </a:lstStyle>
            <a:p>
              <a:r>
                <a:t>CPU write</a:t>
              </a:r>
            </a:p>
          </p:txBody>
        </p:sp>
        <p:sp>
          <p:nvSpPr>
            <p:cNvPr id="223" name="bus granted…"/>
            <p:cNvSpPr txBox="1"/>
            <p:nvPr/>
          </p:nvSpPr>
          <p:spPr>
            <a:xfrm>
              <a:off x="3658016" y="1676400"/>
              <a:ext cx="1159630" cy="548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600" b="0">
                  <a:solidFill>
                    <a:srgbClr val="FF0000"/>
                  </a:solidFill>
                </a:defRPr>
              </a:pPr>
              <a:r>
                <a:t>bus granted</a:t>
              </a:r>
            </a:p>
            <a:p>
              <a:pPr algn="ctr">
                <a:defRPr sz="1600" b="0">
                  <a:solidFill>
                    <a:srgbClr val="FF0000"/>
                  </a:solidFill>
                </a:defRPr>
              </a:pPr>
              <a:r>
                <a:t>&amp; no conflict</a:t>
              </a:r>
            </a:p>
          </p:txBody>
        </p:sp>
        <p:sp>
          <p:nvSpPr>
            <p:cNvPr id="224" name="conflict"/>
            <p:cNvSpPr txBox="1"/>
            <p:nvPr/>
          </p:nvSpPr>
          <p:spPr>
            <a:xfrm>
              <a:off x="1587073" y="2590800"/>
              <a:ext cx="702529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FF0000"/>
                  </a:solidFill>
                </a:defRPr>
              </a:lvl1pPr>
            </a:lstStyle>
            <a:p>
              <a:r>
                <a:t>conflict</a:t>
              </a:r>
            </a:p>
          </p:txBody>
        </p:sp>
      </p:grpSp>
      <p:sp>
        <p:nvSpPr>
          <p:cNvPr id="2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229" name="Problems: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rPr dirty="0"/>
              <a:t>Problems: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rPr dirty="0"/>
              <a:t>Processor interacts with L1 while bus snooping device interacts with L2, and propagating such operations up or down is not instantaneous</a:t>
            </a:r>
          </a:p>
        </p:txBody>
      </p:sp>
      <p:sp>
        <p:nvSpPr>
          <p:cNvPr id="230" name="Snooping with Multi-Level Hierarchies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Snooping with Multi-Level Hierarchies</a:t>
            </a:r>
          </a:p>
        </p:txBody>
      </p:sp>
      <p:sp>
        <p:nvSpPr>
          <p:cNvPr id="231" name="P1"/>
          <p:cNvSpPr txBox="1"/>
          <p:nvPr/>
        </p:nvSpPr>
        <p:spPr>
          <a:xfrm>
            <a:off x="3009820" y="3200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232" name="Oval"/>
          <p:cNvSpPr/>
          <p:nvPr/>
        </p:nvSpPr>
        <p:spPr>
          <a:xfrm>
            <a:off x="2911475" y="3154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33" name="Rectangle"/>
          <p:cNvSpPr/>
          <p:nvPr/>
        </p:nvSpPr>
        <p:spPr>
          <a:xfrm>
            <a:off x="2733675" y="3733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34" name="Rectangle"/>
          <p:cNvSpPr/>
          <p:nvPr/>
        </p:nvSpPr>
        <p:spPr>
          <a:xfrm>
            <a:off x="2733675" y="3886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35" name="L1"/>
          <p:cNvSpPr txBox="1"/>
          <p:nvPr/>
        </p:nvSpPr>
        <p:spPr>
          <a:xfrm>
            <a:off x="3610311" y="3352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236" name="0"/>
          <p:cNvSpPr txBox="1"/>
          <p:nvPr/>
        </p:nvSpPr>
        <p:spPr>
          <a:xfrm>
            <a:off x="1942226" y="3886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237" name="Rectangle"/>
          <p:cNvSpPr/>
          <p:nvPr/>
        </p:nvSpPr>
        <p:spPr>
          <a:xfrm>
            <a:off x="1868487" y="3886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38" name="0"/>
          <p:cNvSpPr txBox="1"/>
          <p:nvPr/>
        </p:nvSpPr>
        <p:spPr>
          <a:xfrm>
            <a:off x="2247026" y="3886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239" name="Rectangle"/>
          <p:cNvSpPr/>
          <p:nvPr/>
        </p:nvSpPr>
        <p:spPr>
          <a:xfrm>
            <a:off x="2173287" y="3886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40" name="Line state"/>
          <p:cNvSpPr txBox="1"/>
          <p:nvPr/>
        </p:nvSpPr>
        <p:spPr>
          <a:xfrm>
            <a:off x="1680797" y="3505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241" name="P2"/>
          <p:cNvSpPr txBox="1"/>
          <p:nvPr/>
        </p:nvSpPr>
        <p:spPr>
          <a:xfrm>
            <a:off x="6523751" y="3200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P2</a:t>
            </a:r>
          </a:p>
        </p:txBody>
      </p:sp>
      <p:sp>
        <p:nvSpPr>
          <p:cNvPr id="242" name="Oval"/>
          <p:cNvSpPr/>
          <p:nvPr/>
        </p:nvSpPr>
        <p:spPr>
          <a:xfrm>
            <a:off x="6426200" y="3154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43" name="Rectangle"/>
          <p:cNvSpPr/>
          <p:nvPr/>
        </p:nvSpPr>
        <p:spPr>
          <a:xfrm>
            <a:off x="6248400" y="3733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44" name="Rectangle"/>
          <p:cNvSpPr/>
          <p:nvPr/>
        </p:nvSpPr>
        <p:spPr>
          <a:xfrm>
            <a:off x="6248400" y="3886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45" name="L1"/>
          <p:cNvSpPr txBox="1"/>
          <p:nvPr/>
        </p:nvSpPr>
        <p:spPr>
          <a:xfrm>
            <a:off x="7125036" y="3352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246" name="0"/>
          <p:cNvSpPr txBox="1"/>
          <p:nvPr/>
        </p:nvSpPr>
        <p:spPr>
          <a:xfrm>
            <a:off x="5456951" y="3886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247" name="Rectangle"/>
          <p:cNvSpPr/>
          <p:nvPr/>
        </p:nvSpPr>
        <p:spPr>
          <a:xfrm>
            <a:off x="5383212" y="3886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48" name="0"/>
          <p:cNvSpPr txBox="1"/>
          <p:nvPr/>
        </p:nvSpPr>
        <p:spPr>
          <a:xfrm>
            <a:off x="5761751" y="3886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249" name="Rectangle"/>
          <p:cNvSpPr/>
          <p:nvPr/>
        </p:nvSpPr>
        <p:spPr>
          <a:xfrm>
            <a:off x="5688012" y="3886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50" name="Line state"/>
          <p:cNvSpPr txBox="1"/>
          <p:nvPr/>
        </p:nvSpPr>
        <p:spPr>
          <a:xfrm>
            <a:off x="5195522" y="3505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251" name="Cache states:…"/>
          <p:cNvSpPr txBox="1"/>
          <p:nvPr/>
        </p:nvSpPr>
        <p:spPr>
          <a:xfrm>
            <a:off x="7543800" y="3505200"/>
            <a:ext cx="109671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Cache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invalid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252" name="Rectangle"/>
          <p:cNvSpPr/>
          <p:nvPr/>
        </p:nvSpPr>
        <p:spPr>
          <a:xfrm>
            <a:off x="1752600" y="6019800"/>
            <a:ext cx="5181600" cy="228600"/>
          </a:xfrm>
          <a:prstGeom prst="rect">
            <a:avLst/>
          </a:prstGeom>
          <a:solidFill>
            <a:srgbClr val="000000">
              <a:alpha val="50195"/>
            </a:srgbClr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53" name="Line"/>
          <p:cNvSpPr/>
          <p:nvPr/>
        </p:nvSpPr>
        <p:spPr>
          <a:xfrm>
            <a:off x="3190875" y="45720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4" name="Line"/>
          <p:cNvSpPr/>
          <p:nvPr/>
        </p:nvSpPr>
        <p:spPr>
          <a:xfrm>
            <a:off x="6705600" y="45720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5" name="Line"/>
          <p:cNvSpPr/>
          <p:nvPr/>
        </p:nvSpPr>
        <p:spPr>
          <a:xfrm>
            <a:off x="3352799" y="3505199"/>
            <a:ext cx="9527" cy="2286002"/>
          </a:xfrm>
          <a:prstGeom prst="line">
            <a:avLst/>
          </a:prstGeom>
          <a:ln w="38100">
            <a:solidFill>
              <a:srgbClr val="FF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6" name="Line"/>
          <p:cNvSpPr/>
          <p:nvPr/>
        </p:nvSpPr>
        <p:spPr>
          <a:xfrm>
            <a:off x="1905000" y="5791200"/>
            <a:ext cx="1458141" cy="4176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9" h="20296" extrusionOk="0">
                <a:moveTo>
                  <a:pt x="21327" y="0"/>
                </a:moveTo>
                <a:cubicBezTo>
                  <a:pt x="21463" y="7714"/>
                  <a:pt x="21600" y="15429"/>
                  <a:pt x="18046" y="18514"/>
                </a:cubicBezTo>
                <a:cubicBezTo>
                  <a:pt x="14491" y="21600"/>
                  <a:pt x="7246" y="20057"/>
                  <a:pt x="0" y="18514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257" name="Line"/>
          <p:cNvSpPr/>
          <p:nvPr/>
        </p:nvSpPr>
        <p:spPr>
          <a:xfrm flipH="1">
            <a:off x="3382285" y="5791200"/>
            <a:ext cx="2855003" cy="4176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9" h="20296" extrusionOk="0">
                <a:moveTo>
                  <a:pt x="21327" y="0"/>
                </a:moveTo>
                <a:cubicBezTo>
                  <a:pt x="21463" y="7714"/>
                  <a:pt x="21600" y="15429"/>
                  <a:pt x="18046" y="18514"/>
                </a:cubicBezTo>
                <a:cubicBezTo>
                  <a:pt x="14491" y="21600"/>
                  <a:pt x="7246" y="20057"/>
                  <a:pt x="0" y="18514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258" name="Oval"/>
          <p:cNvSpPr/>
          <p:nvPr/>
        </p:nvSpPr>
        <p:spPr>
          <a:xfrm>
            <a:off x="5867400" y="5867400"/>
            <a:ext cx="152400" cy="533400"/>
          </a:xfrm>
          <a:prstGeom prst="ellipse">
            <a:avLst/>
          </a:prstGeom>
          <a:ln w="38100">
            <a:solidFill>
              <a:srgbClr val="FF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59" name="Line"/>
          <p:cNvSpPr/>
          <p:nvPr/>
        </p:nvSpPr>
        <p:spPr>
          <a:xfrm flipV="1">
            <a:off x="5943600" y="5410200"/>
            <a:ext cx="0" cy="45720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0" name="Line"/>
          <p:cNvSpPr/>
          <p:nvPr/>
        </p:nvSpPr>
        <p:spPr>
          <a:xfrm>
            <a:off x="5613209" y="3241807"/>
            <a:ext cx="787592" cy="6443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96" h="20296" extrusionOk="0">
                <a:moveTo>
                  <a:pt x="20296" y="1782"/>
                </a:moveTo>
                <a:cubicBezTo>
                  <a:pt x="12582" y="239"/>
                  <a:pt x="4867" y="-1304"/>
                  <a:pt x="1782" y="1782"/>
                </a:cubicBezTo>
                <a:cubicBezTo>
                  <a:pt x="-1304" y="4867"/>
                  <a:pt x="239" y="12582"/>
                  <a:pt x="1782" y="20296"/>
                </a:cubicBezTo>
              </a:path>
            </a:pathLst>
          </a:custGeom>
          <a:ln w="381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  <p:sp>
        <p:nvSpPr>
          <p:cNvPr id="261" name="Ld/St"/>
          <p:cNvSpPr txBox="1"/>
          <p:nvPr/>
        </p:nvSpPr>
        <p:spPr>
          <a:xfrm>
            <a:off x="4899001" y="3124200"/>
            <a:ext cx="63981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Ld/St</a:t>
            </a:r>
          </a:p>
        </p:txBody>
      </p:sp>
      <p:sp>
        <p:nvSpPr>
          <p:cNvPr id="262" name="Rectangle"/>
          <p:cNvSpPr/>
          <p:nvPr/>
        </p:nvSpPr>
        <p:spPr>
          <a:xfrm>
            <a:off x="6248400" y="4876800"/>
            <a:ext cx="18288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63" name="Rectangle"/>
          <p:cNvSpPr/>
          <p:nvPr/>
        </p:nvSpPr>
        <p:spPr>
          <a:xfrm>
            <a:off x="6248400" y="5029200"/>
            <a:ext cx="1828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64" name="L2"/>
          <p:cNvSpPr txBox="1"/>
          <p:nvPr/>
        </p:nvSpPr>
        <p:spPr>
          <a:xfrm>
            <a:off x="7124242" y="4495800"/>
            <a:ext cx="342229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L2</a:t>
            </a:r>
          </a:p>
        </p:txBody>
      </p:sp>
      <p:sp>
        <p:nvSpPr>
          <p:cNvPr id="265" name="0"/>
          <p:cNvSpPr txBox="1"/>
          <p:nvPr/>
        </p:nvSpPr>
        <p:spPr>
          <a:xfrm>
            <a:off x="5456951" y="5029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266" name="Rectangle"/>
          <p:cNvSpPr/>
          <p:nvPr/>
        </p:nvSpPr>
        <p:spPr>
          <a:xfrm>
            <a:off x="5383212" y="5029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67" name="0"/>
          <p:cNvSpPr txBox="1"/>
          <p:nvPr/>
        </p:nvSpPr>
        <p:spPr>
          <a:xfrm>
            <a:off x="5761751" y="5029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268" name="Rectangle"/>
          <p:cNvSpPr/>
          <p:nvPr/>
        </p:nvSpPr>
        <p:spPr>
          <a:xfrm>
            <a:off x="5688012" y="5029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69" name="Line state"/>
          <p:cNvSpPr txBox="1"/>
          <p:nvPr/>
        </p:nvSpPr>
        <p:spPr>
          <a:xfrm>
            <a:off x="5195522" y="4648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270" name="Line"/>
          <p:cNvSpPr/>
          <p:nvPr/>
        </p:nvSpPr>
        <p:spPr>
          <a:xfrm>
            <a:off x="6705600" y="57150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1" name="Rectangle"/>
          <p:cNvSpPr/>
          <p:nvPr/>
        </p:nvSpPr>
        <p:spPr>
          <a:xfrm>
            <a:off x="2743200" y="4876800"/>
            <a:ext cx="18288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72" name="Rectangle"/>
          <p:cNvSpPr/>
          <p:nvPr/>
        </p:nvSpPr>
        <p:spPr>
          <a:xfrm>
            <a:off x="2743200" y="5029200"/>
            <a:ext cx="1828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73" name="L2"/>
          <p:cNvSpPr txBox="1"/>
          <p:nvPr/>
        </p:nvSpPr>
        <p:spPr>
          <a:xfrm>
            <a:off x="3619042" y="4495800"/>
            <a:ext cx="342229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L2</a:t>
            </a:r>
          </a:p>
        </p:txBody>
      </p:sp>
      <p:sp>
        <p:nvSpPr>
          <p:cNvPr id="274" name="0"/>
          <p:cNvSpPr txBox="1"/>
          <p:nvPr/>
        </p:nvSpPr>
        <p:spPr>
          <a:xfrm>
            <a:off x="1951751" y="5029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275" name="Rectangle"/>
          <p:cNvSpPr/>
          <p:nvPr/>
        </p:nvSpPr>
        <p:spPr>
          <a:xfrm>
            <a:off x="1878012" y="5029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76" name="0"/>
          <p:cNvSpPr txBox="1"/>
          <p:nvPr/>
        </p:nvSpPr>
        <p:spPr>
          <a:xfrm>
            <a:off x="2256551" y="5029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277" name="Rectangle"/>
          <p:cNvSpPr/>
          <p:nvPr/>
        </p:nvSpPr>
        <p:spPr>
          <a:xfrm>
            <a:off x="2182812" y="5029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78" name="Line state"/>
          <p:cNvSpPr txBox="1"/>
          <p:nvPr/>
        </p:nvSpPr>
        <p:spPr>
          <a:xfrm>
            <a:off x="1690322" y="4648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279" name="Line"/>
          <p:cNvSpPr/>
          <p:nvPr/>
        </p:nvSpPr>
        <p:spPr>
          <a:xfrm>
            <a:off x="3200400" y="5715000"/>
            <a:ext cx="0" cy="3048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283" name="Solution: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rPr dirty="0"/>
              <a:t>Solution:</a:t>
            </a:r>
          </a:p>
          <a:p>
            <a:pPr>
              <a:spcBef>
                <a:spcPts val="500"/>
              </a:spcBef>
              <a:buSzTx/>
              <a:buFont typeface="Wingdings"/>
              <a:buNone/>
              <a:defRPr sz="2400"/>
            </a:pPr>
            <a:r>
              <a:rPr dirty="0"/>
              <a:t>     1. Maintain inclusion property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rPr dirty="0"/>
              <a:t>Lines in L1 must also be in L2 → no data is found solely in L1, so no risk of missing a relevant transaction when snooping at L2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rPr dirty="0"/>
              <a:t>Lines in M state in L1 must also be in M state in L2→ snooping controller at L2 can identify all data that is modified locally</a:t>
            </a:r>
          </a:p>
          <a:p>
            <a:pPr marL="285750" lvl="1" indent="171450">
              <a:spcBef>
                <a:spcPts val="0"/>
              </a:spcBef>
              <a:buSzTx/>
              <a:buFont typeface="Wingdings"/>
              <a:buNone/>
              <a:defRPr sz="2000"/>
            </a:pPr>
            <a:endParaRPr dirty="0"/>
          </a:p>
          <a:p>
            <a:pPr>
              <a:spcBef>
                <a:spcPts val="500"/>
              </a:spcBef>
              <a:buSzTx/>
              <a:buFont typeface="Wingdings"/>
              <a:buNone/>
              <a:defRPr sz="2400"/>
            </a:pPr>
            <a:r>
              <a:rPr dirty="0"/>
              <a:t>     2. Propagate coherence transactions to L1 as well.</a:t>
            </a:r>
          </a:p>
          <a:p>
            <a:pPr marL="1143000" lvl="2" indent="-228600">
              <a:spcBef>
                <a:spcPts val="0"/>
              </a:spcBef>
              <a:buClrTx/>
              <a:defRPr sz="1800"/>
            </a:pPr>
            <a:r>
              <a:rPr dirty="0"/>
              <a:t>Propagate all </a:t>
            </a:r>
            <a:r>
              <a:rPr lang="en-US" dirty="0"/>
              <a:t> bus</a:t>
            </a:r>
            <a:r>
              <a:rPr dirty="0"/>
              <a:t> transactions from to L1, whether relevant or not</a:t>
            </a:r>
          </a:p>
          <a:p>
            <a:pPr marL="1143000" lvl="2" indent="-228600">
              <a:spcBef>
                <a:spcPts val="0"/>
              </a:spcBef>
              <a:buClrTx/>
              <a:defRPr sz="1800"/>
            </a:pPr>
            <a:r>
              <a:rPr dirty="0"/>
              <a:t>Keep extra state in the L2 lines to tell whether the line is also present in L1 or not (</a:t>
            </a:r>
            <a:r>
              <a:rPr u="sng" dirty="0"/>
              <a:t>inclusion bits</a:t>
            </a:r>
            <a:r>
              <a:rPr dirty="0"/>
              <a:t>). If it is present in L2, but inclusion bits say it is not present in L1, no need to propagate transaction to L1. </a:t>
            </a:r>
          </a:p>
          <a:p>
            <a:pPr marL="0" indent="0">
              <a:spcBef>
                <a:spcPts val="0"/>
              </a:spcBef>
              <a:buSzTx/>
              <a:buFont typeface="Wingdings"/>
              <a:buNone/>
              <a:defRPr sz="2000"/>
            </a:pPr>
            <a:endParaRPr dirty="0"/>
          </a:p>
        </p:txBody>
      </p:sp>
      <p:sp>
        <p:nvSpPr>
          <p:cNvPr id="284" name="Snooping with Multi-Level Hierarchies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Snooping with Multi-Level Hierarchies</a:t>
            </a:r>
          </a:p>
        </p:txBody>
      </p:sp>
      <p:sp>
        <p:nvSpPr>
          <p:cNvPr id="2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04116" y="6400800"/>
            <a:ext cx="187484" cy="29464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arallel Architectures - 2021-22"/>
          <p:cNvSpPr txBox="1"/>
          <p:nvPr/>
        </p:nvSpPr>
        <p:spPr>
          <a:xfrm>
            <a:off x="2891949" y="6464958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288" name="Maintaining inclusion property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2499357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rPr dirty="0"/>
              <a:t>Maintaining inclusion property</a:t>
            </a:r>
          </a:p>
          <a:p>
            <a:pPr>
              <a:spcBef>
                <a:spcPts val="500"/>
              </a:spcBef>
              <a:buSzTx/>
              <a:buFont typeface="Wingdings"/>
              <a:buNone/>
              <a:defRPr sz="2400"/>
            </a:pPr>
            <a:r>
              <a:rPr dirty="0"/>
              <a:t>     Assume: L1: associativity a1, number of sets n1, block size b1</a:t>
            </a:r>
          </a:p>
          <a:p>
            <a:pPr>
              <a:spcBef>
                <a:spcPts val="500"/>
              </a:spcBef>
              <a:buSzTx/>
              <a:buFont typeface="Wingdings"/>
              <a:buNone/>
              <a:defRPr sz="2400"/>
            </a:pPr>
            <a:r>
              <a:rPr dirty="0"/>
              <a:t>                   L2: associativity a2, number of sets n2, block size b2</a:t>
            </a:r>
          </a:p>
          <a:p>
            <a:pPr marL="742950" lvl="1" indent="-285750">
              <a:spcBef>
                <a:spcPts val="0"/>
              </a:spcBef>
              <a:buClrTx/>
              <a:defRPr sz="2000" u="sng"/>
            </a:pPr>
            <a:r>
              <a:rPr dirty="0"/>
              <a:t>Difficulty: Replacement policy (e.g., LRU)</a:t>
            </a:r>
          </a:p>
          <a:p>
            <a:pPr marL="285750" lvl="1" indent="171450">
              <a:spcBef>
                <a:spcPts val="0"/>
              </a:spcBef>
              <a:buSzTx/>
              <a:buFont typeface="Wingdings"/>
              <a:buNone/>
              <a:defRPr sz="2000"/>
            </a:pPr>
            <a:r>
              <a:rPr dirty="0"/>
              <a:t>     Assume: a1=a2=2; b1=b2; n2=k*n1; lines m1, m2, and m3 map to same set in L1 and the same set in L2; initially m1 is present in L1 and L2</a:t>
            </a:r>
          </a:p>
        </p:txBody>
      </p:sp>
      <p:sp>
        <p:nvSpPr>
          <p:cNvPr id="289" name="Snooping with Multi-Level Hierarchies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Snooping with Multi-Level Hierarchies</a:t>
            </a:r>
          </a:p>
        </p:txBody>
      </p:sp>
      <p:sp>
        <p:nvSpPr>
          <p:cNvPr id="290" name="Rectangle"/>
          <p:cNvSpPr/>
          <p:nvPr/>
        </p:nvSpPr>
        <p:spPr>
          <a:xfrm>
            <a:off x="3048000" y="4063802"/>
            <a:ext cx="6858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91" name="m1"/>
          <p:cNvSpPr txBox="1"/>
          <p:nvPr/>
        </p:nvSpPr>
        <p:spPr>
          <a:xfrm>
            <a:off x="3213665" y="3987602"/>
            <a:ext cx="356057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600" b="0"/>
            </a:lvl1pPr>
          </a:lstStyle>
          <a:p>
            <a:r>
              <a:t>m1</a:t>
            </a:r>
          </a:p>
        </p:txBody>
      </p:sp>
      <p:sp>
        <p:nvSpPr>
          <p:cNvPr id="292" name="Rectangle"/>
          <p:cNvSpPr/>
          <p:nvPr/>
        </p:nvSpPr>
        <p:spPr>
          <a:xfrm>
            <a:off x="3048000" y="3682802"/>
            <a:ext cx="1524000" cy="14478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93" name="L1"/>
          <p:cNvSpPr txBox="1"/>
          <p:nvPr/>
        </p:nvSpPr>
        <p:spPr>
          <a:xfrm>
            <a:off x="3629361" y="3355777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294" name="Rectangle"/>
          <p:cNvSpPr/>
          <p:nvPr/>
        </p:nvSpPr>
        <p:spPr>
          <a:xfrm>
            <a:off x="6019800" y="4063802"/>
            <a:ext cx="6858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95" name="m1"/>
          <p:cNvSpPr txBox="1"/>
          <p:nvPr/>
        </p:nvSpPr>
        <p:spPr>
          <a:xfrm>
            <a:off x="6185465" y="3987602"/>
            <a:ext cx="356057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600" b="0"/>
            </a:lvl1pPr>
          </a:lstStyle>
          <a:p>
            <a:r>
              <a:t>m1</a:t>
            </a:r>
          </a:p>
        </p:txBody>
      </p:sp>
      <p:sp>
        <p:nvSpPr>
          <p:cNvPr id="296" name="Rectangle"/>
          <p:cNvSpPr/>
          <p:nvPr/>
        </p:nvSpPr>
        <p:spPr>
          <a:xfrm>
            <a:off x="6019800" y="3682802"/>
            <a:ext cx="1524000" cy="2286001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297" name="L2"/>
          <p:cNvSpPr txBox="1"/>
          <p:nvPr/>
        </p:nvSpPr>
        <p:spPr>
          <a:xfrm>
            <a:off x="6600367" y="3355777"/>
            <a:ext cx="342229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L2</a:t>
            </a:r>
          </a:p>
        </p:txBody>
      </p:sp>
      <p:sp>
        <p:nvSpPr>
          <p:cNvPr id="298" name="P"/>
          <p:cNvSpPr txBox="1"/>
          <p:nvPr/>
        </p:nvSpPr>
        <p:spPr>
          <a:xfrm>
            <a:off x="427355" y="3695502"/>
            <a:ext cx="2327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</a:t>
            </a:r>
          </a:p>
        </p:txBody>
      </p:sp>
      <p:sp>
        <p:nvSpPr>
          <p:cNvPr id="299" name="Oval"/>
          <p:cNvSpPr/>
          <p:nvPr/>
        </p:nvSpPr>
        <p:spPr>
          <a:xfrm>
            <a:off x="276225" y="3649464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grpSp>
        <p:nvGrpSpPr>
          <p:cNvPr id="310" name="Group"/>
          <p:cNvGrpSpPr/>
          <p:nvPr/>
        </p:nvGrpSpPr>
        <p:grpSpPr>
          <a:xfrm>
            <a:off x="4648200" y="3276600"/>
            <a:ext cx="4343399" cy="406203"/>
            <a:chOff x="0" y="-1389"/>
            <a:chExt cx="4343399" cy="406202"/>
          </a:xfrm>
        </p:grpSpPr>
        <p:sp>
          <p:nvSpPr>
            <p:cNvPr id="300" name="Line"/>
            <p:cNvSpPr/>
            <p:nvPr/>
          </p:nvSpPr>
          <p:spPr>
            <a:xfrm>
              <a:off x="0" y="404812"/>
              <a:ext cx="1295400" cy="1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1" name="miss"/>
            <p:cNvSpPr txBox="1"/>
            <p:nvPr/>
          </p:nvSpPr>
          <p:spPr>
            <a:xfrm>
              <a:off x="389801" y="-1389"/>
              <a:ext cx="837728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m</a:t>
              </a:r>
              <a:r>
                <a:rPr dirty="0"/>
                <a:t>iss</a:t>
              </a:r>
              <a:r>
                <a:rPr lang="en-US" dirty="0"/>
                <a:t> m2</a:t>
              </a:r>
              <a:endParaRPr dirty="0"/>
            </a:p>
          </p:txBody>
        </p:sp>
        <p:grpSp>
          <p:nvGrpSpPr>
            <p:cNvPr id="304" name="Group"/>
            <p:cNvGrpSpPr/>
            <p:nvPr/>
          </p:nvGrpSpPr>
          <p:grpSpPr>
            <a:xfrm>
              <a:off x="77787" y="-1"/>
              <a:ext cx="304801" cy="318454"/>
              <a:chOff x="0" y="0"/>
              <a:chExt cx="304800" cy="318452"/>
            </a:xfrm>
          </p:grpSpPr>
          <p:sp>
            <p:nvSpPr>
              <p:cNvPr id="302" name="2"/>
              <p:cNvSpPr txBox="1"/>
              <p:nvPr/>
            </p:nvSpPr>
            <p:spPr>
              <a:xfrm>
                <a:off x="38814" y="23812"/>
                <a:ext cx="187485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2</a:t>
                </a:r>
              </a:p>
            </p:txBody>
          </p:sp>
          <p:sp>
            <p:nvSpPr>
              <p:cNvPr id="303" name="Circle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  <p:sp>
          <p:nvSpPr>
            <p:cNvPr id="305" name="Line"/>
            <p:cNvSpPr/>
            <p:nvPr/>
          </p:nvSpPr>
          <p:spPr>
            <a:xfrm>
              <a:off x="2971800" y="404812"/>
              <a:ext cx="1295400" cy="1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6" name="miss"/>
            <p:cNvSpPr txBox="1"/>
            <p:nvPr/>
          </p:nvSpPr>
          <p:spPr>
            <a:xfrm>
              <a:off x="3186280" y="23812"/>
              <a:ext cx="1157119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M</a:t>
              </a:r>
              <a:r>
                <a:rPr dirty="0"/>
                <a:t>iss</a:t>
              </a:r>
              <a:r>
                <a:rPr lang="en-US" dirty="0"/>
                <a:t> m2</a:t>
              </a:r>
              <a:endParaRPr dirty="0"/>
            </a:p>
          </p:txBody>
        </p:sp>
        <p:grpSp>
          <p:nvGrpSpPr>
            <p:cNvPr id="309" name="Group"/>
            <p:cNvGrpSpPr/>
            <p:nvPr/>
          </p:nvGrpSpPr>
          <p:grpSpPr>
            <a:xfrm>
              <a:off x="3049587" y="-1"/>
              <a:ext cx="304801" cy="318454"/>
              <a:chOff x="0" y="0"/>
              <a:chExt cx="304800" cy="318452"/>
            </a:xfrm>
          </p:grpSpPr>
          <p:sp>
            <p:nvSpPr>
              <p:cNvPr id="307" name="3"/>
              <p:cNvSpPr txBox="1"/>
              <p:nvPr/>
            </p:nvSpPr>
            <p:spPr>
              <a:xfrm>
                <a:off x="38814" y="23812"/>
                <a:ext cx="187485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3</a:t>
                </a:r>
              </a:p>
            </p:txBody>
          </p:sp>
          <p:sp>
            <p:nvSpPr>
              <p:cNvPr id="308" name="Circle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</p:grpSp>
      <p:grpSp>
        <p:nvGrpSpPr>
          <p:cNvPr id="316" name="Group"/>
          <p:cNvGrpSpPr/>
          <p:nvPr/>
        </p:nvGrpSpPr>
        <p:grpSpPr>
          <a:xfrm>
            <a:off x="762000" y="3389779"/>
            <a:ext cx="1437958" cy="663864"/>
            <a:chOff x="0" y="0"/>
            <a:chExt cx="1437957" cy="663862"/>
          </a:xfrm>
        </p:grpSpPr>
        <p:sp>
          <p:nvSpPr>
            <p:cNvPr id="311" name="Ld m2"/>
            <p:cNvSpPr txBox="1"/>
            <p:nvPr/>
          </p:nvSpPr>
          <p:spPr>
            <a:xfrm>
              <a:off x="748029" y="305722"/>
              <a:ext cx="689929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Ld m2</a:t>
              </a:r>
            </a:p>
          </p:txBody>
        </p:sp>
        <p:grpSp>
          <p:nvGrpSpPr>
            <p:cNvPr id="314" name="Group"/>
            <p:cNvGrpSpPr/>
            <p:nvPr/>
          </p:nvGrpSpPr>
          <p:grpSpPr>
            <a:xfrm>
              <a:off x="376237" y="281909"/>
              <a:ext cx="304801" cy="318454"/>
              <a:chOff x="0" y="0"/>
              <a:chExt cx="304800" cy="318452"/>
            </a:xfrm>
          </p:grpSpPr>
          <p:sp>
            <p:nvSpPr>
              <p:cNvPr id="312" name="1"/>
              <p:cNvSpPr txBox="1"/>
              <p:nvPr/>
            </p:nvSpPr>
            <p:spPr>
              <a:xfrm>
                <a:off x="38020" y="23812"/>
                <a:ext cx="187485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1</a:t>
                </a:r>
              </a:p>
            </p:txBody>
          </p:sp>
          <p:sp>
            <p:nvSpPr>
              <p:cNvPr id="313" name="Circle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  <p:sp>
          <p:nvSpPr>
            <p:cNvPr id="315" name="Line"/>
            <p:cNvSpPr/>
            <p:nvPr/>
          </p:nvSpPr>
          <p:spPr>
            <a:xfrm>
              <a:off x="0" y="0"/>
              <a:ext cx="1066800" cy="305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99" extrusionOk="0">
                  <a:moveTo>
                    <a:pt x="0" y="15615"/>
                  </a:moveTo>
                  <a:cubicBezTo>
                    <a:pt x="2829" y="7407"/>
                    <a:pt x="5657" y="-801"/>
                    <a:pt x="9257" y="63"/>
                  </a:cubicBezTo>
                  <a:cubicBezTo>
                    <a:pt x="12857" y="927"/>
                    <a:pt x="17229" y="10863"/>
                    <a:pt x="21600" y="20799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grpSp>
        <p:nvGrpSpPr>
          <p:cNvPr id="333" name="Group"/>
          <p:cNvGrpSpPr/>
          <p:nvPr/>
        </p:nvGrpSpPr>
        <p:grpSpPr>
          <a:xfrm>
            <a:off x="3886200" y="3811388"/>
            <a:ext cx="5029200" cy="496256"/>
            <a:chOff x="0" y="-1"/>
            <a:chExt cx="5029200" cy="496254"/>
          </a:xfrm>
        </p:grpSpPr>
        <p:grpSp>
          <p:nvGrpSpPr>
            <p:cNvPr id="319" name="Group"/>
            <p:cNvGrpSpPr/>
            <p:nvPr/>
          </p:nvGrpSpPr>
          <p:grpSpPr>
            <a:xfrm>
              <a:off x="2971800" y="176212"/>
              <a:ext cx="685800" cy="320041"/>
              <a:chOff x="0" y="0"/>
              <a:chExt cx="685800" cy="320040"/>
            </a:xfrm>
          </p:grpSpPr>
          <p:sp>
            <p:nvSpPr>
              <p:cNvPr id="317" name="Rectangle"/>
              <p:cNvSpPr/>
              <p:nvPr/>
            </p:nvSpPr>
            <p:spPr>
              <a:xfrm>
                <a:off x="0" y="76200"/>
                <a:ext cx="685800" cy="228600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  <p:sp>
            <p:nvSpPr>
              <p:cNvPr id="318" name="m2"/>
              <p:cNvSpPr txBox="1"/>
              <p:nvPr/>
            </p:nvSpPr>
            <p:spPr>
              <a:xfrm>
                <a:off x="191859" y="0"/>
                <a:ext cx="356057" cy="3200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600" b="0"/>
                </a:lvl1pPr>
              </a:lstStyle>
              <a:p>
                <a:r>
                  <a:t>m2</a:t>
                </a:r>
              </a:p>
            </p:txBody>
          </p:sp>
        </p:grpSp>
        <p:grpSp>
          <p:nvGrpSpPr>
            <p:cNvPr id="322" name="Group"/>
            <p:cNvGrpSpPr/>
            <p:nvPr/>
          </p:nvGrpSpPr>
          <p:grpSpPr>
            <a:xfrm>
              <a:off x="0" y="176212"/>
              <a:ext cx="685800" cy="320041"/>
              <a:chOff x="0" y="0"/>
              <a:chExt cx="685800" cy="320040"/>
            </a:xfrm>
          </p:grpSpPr>
          <p:sp>
            <p:nvSpPr>
              <p:cNvPr id="320" name="Rectangle"/>
              <p:cNvSpPr/>
              <p:nvPr/>
            </p:nvSpPr>
            <p:spPr>
              <a:xfrm>
                <a:off x="0" y="76200"/>
                <a:ext cx="685800" cy="228600"/>
              </a:xfrm>
              <a:prstGeom prst="rect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  <p:sp>
            <p:nvSpPr>
              <p:cNvPr id="321" name="m2"/>
              <p:cNvSpPr txBox="1"/>
              <p:nvPr/>
            </p:nvSpPr>
            <p:spPr>
              <a:xfrm>
                <a:off x="191859" y="0"/>
                <a:ext cx="356057" cy="3200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600" b="0"/>
                </a:lvl1pPr>
              </a:lstStyle>
              <a:p>
                <a:r>
                  <a:t>m2</a:t>
                </a:r>
              </a:p>
            </p:txBody>
          </p:sp>
        </p:grpSp>
        <p:sp>
          <p:nvSpPr>
            <p:cNvPr id="323" name="Line"/>
            <p:cNvSpPr/>
            <p:nvPr/>
          </p:nvSpPr>
          <p:spPr>
            <a:xfrm>
              <a:off x="3733800" y="404812"/>
              <a:ext cx="1295400" cy="1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4" name="fill"/>
            <p:cNvSpPr txBox="1"/>
            <p:nvPr/>
          </p:nvSpPr>
          <p:spPr>
            <a:xfrm>
              <a:off x="3665817" y="23812"/>
              <a:ext cx="877613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F</a:t>
              </a:r>
              <a:r>
                <a:rPr dirty="0"/>
                <a:t>ill</a:t>
              </a:r>
              <a:r>
                <a:rPr lang="en-US" dirty="0"/>
                <a:t> m2</a:t>
              </a:r>
              <a:endParaRPr dirty="0"/>
            </a:p>
          </p:txBody>
        </p:sp>
        <p:grpSp>
          <p:nvGrpSpPr>
            <p:cNvPr id="327" name="Group"/>
            <p:cNvGrpSpPr/>
            <p:nvPr/>
          </p:nvGrpSpPr>
          <p:grpSpPr>
            <a:xfrm>
              <a:off x="4573587" y="-1"/>
              <a:ext cx="304801" cy="318454"/>
              <a:chOff x="0" y="0"/>
              <a:chExt cx="304800" cy="318452"/>
            </a:xfrm>
          </p:grpSpPr>
          <p:sp>
            <p:nvSpPr>
              <p:cNvPr id="325" name="4"/>
              <p:cNvSpPr txBox="1"/>
              <p:nvPr/>
            </p:nvSpPr>
            <p:spPr>
              <a:xfrm>
                <a:off x="38814" y="23812"/>
                <a:ext cx="187485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4</a:t>
                </a:r>
              </a:p>
            </p:txBody>
          </p:sp>
          <p:sp>
            <p:nvSpPr>
              <p:cNvPr id="326" name="Circle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  <p:sp>
          <p:nvSpPr>
            <p:cNvPr id="328" name="Line"/>
            <p:cNvSpPr/>
            <p:nvPr/>
          </p:nvSpPr>
          <p:spPr>
            <a:xfrm>
              <a:off x="762000" y="404812"/>
              <a:ext cx="1295400" cy="1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9" name="fill"/>
            <p:cNvSpPr txBox="1"/>
            <p:nvPr/>
          </p:nvSpPr>
          <p:spPr>
            <a:xfrm>
              <a:off x="785565" y="23812"/>
              <a:ext cx="786066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F</a:t>
              </a:r>
              <a:r>
                <a:rPr dirty="0"/>
                <a:t>ill</a:t>
              </a:r>
              <a:r>
                <a:rPr lang="en-US" dirty="0"/>
                <a:t> m2</a:t>
              </a:r>
              <a:endParaRPr dirty="0"/>
            </a:p>
          </p:txBody>
        </p:sp>
        <p:grpSp>
          <p:nvGrpSpPr>
            <p:cNvPr id="332" name="Group"/>
            <p:cNvGrpSpPr/>
            <p:nvPr/>
          </p:nvGrpSpPr>
          <p:grpSpPr>
            <a:xfrm>
              <a:off x="1601787" y="-1"/>
              <a:ext cx="304801" cy="318454"/>
              <a:chOff x="0" y="0"/>
              <a:chExt cx="304800" cy="318452"/>
            </a:xfrm>
          </p:grpSpPr>
          <p:sp>
            <p:nvSpPr>
              <p:cNvPr id="330" name="5"/>
              <p:cNvSpPr txBox="1"/>
              <p:nvPr/>
            </p:nvSpPr>
            <p:spPr>
              <a:xfrm>
                <a:off x="38814" y="23812"/>
                <a:ext cx="187485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5</a:t>
                </a:r>
              </a:p>
            </p:txBody>
          </p:sp>
          <p:sp>
            <p:nvSpPr>
              <p:cNvPr id="331" name="Circle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</p:grpSp>
      <p:grpSp>
        <p:nvGrpSpPr>
          <p:cNvPr id="344" name="Group"/>
          <p:cNvGrpSpPr/>
          <p:nvPr/>
        </p:nvGrpSpPr>
        <p:grpSpPr>
          <a:xfrm>
            <a:off x="4648200" y="4420988"/>
            <a:ext cx="4343399" cy="404815"/>
            <a:chOff x="0" y="-1"/>
            <a:chExt cx="4343399" cy="404814"/>
          </a:xfrm>
        </p:grpSpPr>
        <p:sp>
          <p:nvSpPr>
            <p:cNvPr id="334" name="Line"/>
            <p:cNvSpPr/>
            <p:nvPr/>
          </p:nvSpPr>
          <p:spPr>
            <a:xfrm>
              <a:off x="0" y="404812"/>
              <a:ext cx="1295400" cy="1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5" name="miss"/>
            <p:cNvSpPr txBox="1"/>
            <p:nvPr/>
          </p:nvSpPr>
          <p:spPr>
            <a:xfrm>
              <a:off x="390805" y="23812"/>
              <a:ext cx="1021196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M</a:t>
              </a:r>
              <a:r>
                <a:rPr dirty="0"/>
                <a:t>iss</a:t>
              </a:r>
              <a:r>
                <a:rPr lang="en-US" dirty="0"/>
                <a:t> m3</a:t>
              </a:r>
              <a:endParaRPr dirty="0"/>
            </a:p>
          </p:txBody>
        </p:sp>
        <p:grpSp>
          <p:nvGrpSpPr>
            <p:cNvPr id="338" name="Group"/>
            <p:cNvGrpSpPr/>
            <p:nvPr/>
          </p:nvGrpSpPr>
          <p:grpSpPr>
            <a:xfrm>
              <a:off x="77787" y="-1"/>
              <a:ext cx="304801" cy="318454"/>
              <a:chOff x="0" y="0"/>
              <a:chExt cx="304800" cy="318452"/>
            </a:xfrm>
          </p:grpSpPr>
          <p:sp>
            <p:nvSpPr>
              <p:cNvPr id="336" name="8"/>
              <p:cNvSpPr txBox="1"/>
              <p:nvPr/>
            </p:nvSpPr>
            <p:spPr>
              <a:xfrm>
                <a:off x="38814" y="23812"/>
                <a:ext cx="187485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8</a:t>
                </a:r>
              </a:p>
            </p:txBody>
          </p:sp>
          <p:sp>
            <p:nvSpPr>
              <p:cNvPr id="337" name="Circle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  <p:sp>
          <p:nvSpPr>
            <p:cNvPr id="339" name="Line"/>
            <p:cNvSpPr/>
            <p:nvPr/>
          </p:nvSpPr>
          <p:spPr>
            <a:xfrm>
              <a:off x="2971800" y="404812"/>
              <a:ext cx="1295400" cy="1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0" name="miss"/>
            <p:cNvSpPr txBox="1"/>
            <p:nvPr/>
          </p:nvSpPr>
          <p:spPr>
            <a:xfrm>
              <a:off x="3186281" y="23812"/>
              <a:ext cx="1157118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M</a:t>
              </a:r>
              <a:r>
                <a:rPr dirty="0"/>
                <a:t>iss</a:t>
              </a:r>
              <a:r>
                <a:rPr lang="en-US" dirty="0"/>
                <a:t> m3</a:t>
              </a:r>
              <a:endParaRPr dirty="0"/>
            </a:p>
          </p:txBody>
        </p:sp>
        <p:grpSp>
          <p:nvGrpSpPr>
            <p:cNvPr id="343" name="Group"/>
            <p:cNvGrpSpPr/>
            <p:nvPr/>
          </p:nvGrpSpPr>
          <p:grpSpPr>
            <a:xfrm>
              <a:off x="3049587" y="-1"/>
              <a:ext cx="304801" cy="318454"/>
              <a:chOff x="0" y="0"/>
              <a:chExt cx="304800" cy="318452"/>
            </a:xfrm>
          </p:grpSpPr>
          <p:sp>
            <p:nvSpPr>
              <p:cNvPr id="341" name="9"/>
              <p:cNvSpPr txBox="1"/>
              <p:nvPr/>
            </p:nvSpPr>
            <p:spPr>
              <a:xfrm>
                <a:off x="38814" y="23812"/>
                <a:ext cx="187485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9</a:t>
                </a:r>
              </a:p>
            </p:txBody>
          </p:sp>
          <p:sp>
            <p:nvSpPr>
              <p:cNvPr id="342" name="Circle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</p:grpSp>
      <p:grpSp>
        <p:nvGrpSpPr>
          <p:cNvPr id="351" name="Group"/>
          <p:cNvGrpSpPr/>
          <p:nvPr/>
        </p:nvGrpSpPr>
        <p:grpSpPr>
          <a:xfrm>
            <a:off x="1128712" y="3911401"/>
            <a:ext cx="1690688" cy="510542"/>
            <a:chOff x="0" y="0"/>
            <a:chExt cx="1690687" cy="510540"/>
          </a:xfrm>
        </p:grpSpPr>
        <p:sp>
          <p:nvSpPr>
            <p:cNvPr id="345" name="Ld m1"/>
            <p:cNvSpPr txBox="1"/>
            <p:nvPr/>
          </p:nvSpPr>
          <p:spPr>
            <a:xfrm>
              <a:off x="372586" y="152400"/>
              <a:ext cx="689928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Ld m1</a:t>
              </a:r>
            </a:p>
          </p:txBody>
        </p:sp>
        <p:grpSp>
          <p:nvGrpSpPr>
            <p:cNvPr id="348" name="Group"/>
            <p:cNvGrpSpPr/>
            <p:nvPr/>
          </p:nvGrpSpPr>
          <p:grpSpPr>
            <a:xfrm>
              <a:off x="0" y="141287"/>
              <a:ext cx="304800" cy="318454"/>
              <a:chOff x="0" y="0"/>
              <a:chExt cx="304800" cy="318452"/>
            </a:xfrm>
          </p:grpSpPr>
          <p:sp>
            <p:nvSpPr>
              <p:cNvPr id="346" name="6"/>
              <p:cNvSpPr txBox="1"/>
              <p:nvPr/>
            </p:nvSpPr>
            <p:spPr>
              <a:xfrm>
                <a:off x="38814" y="23812"/>
                <a:ext cx="187485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6</a:t>
                </a:r>
              </a:p>
            </p:txBody>
          </p:sp>
          <p:sp>
            <p:nvSpPr>
              <p:cNvPr id="347" name="Circle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  <p:sp>
          <p:nvSpPr>
            <p:cNvPr id="349" name="Line"/>
            <p:cNvSpPr/>
            <p:nvPr/>
          </p:nvSpPr>
          <p:spPr>
            <a:xfrm>
              <a:off x="1233487" y="381000"/>
              <a:ext cx="457201" cy="0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0" name="hit"/>
            <p:cNvSpPr txBox="1"/>
            <p:nvPr/>
          </p:nvSpPr>
          <p:spPr>
            <a:xfrm>
              <a:off x="1287438" y="0"/>
              <a:ext cx="339774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hit</a:t>
              </a:r>
            </a:p>
          </p:txBody>
        </p:sp>
      </p:grpSp>
      <p:grpSp>
        <p:nvGrpSpPr>
          <p:cNvPr id="356" name="Group"/>
          <p:cNvGrpSpPr/>
          <p:nvPr/>
        </p:nvGrpSpPr>
        <p:grpSpPr>
          <a:xfrm>
            <a:off x="1128712" y="4433689"/>
            <a:ext cx="1061721" cy="369254"/>
            <a:chOff x="0" y="0"/>
            <a:chExt cx="1061719" cy="369252"/>
          </a:xfrm>
        </p:grpSpPr>
        <p:sp>
          <p:nvSpPr>
            <p:cNvPr id="352" name="Ld m3"/>
            <p:cNvSpPr txBox="1"/>
            <p:nvPr/>
          </p:nvSpPr>
          <p:spPr>
            <a:xfrm>
              <a:off x="371792" y="11112"/>
              <a:ext cx="689928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Ld m3</a:t>
              </a:r>
            </a:p>
          </p:txBody>
        </p:sp>
        <p:grpSp>
          <p:nvGrpSpPr>
            <p:cNvPr id="355" name="Group"/>
            <p:cNvGrpSpPr/>
            <p:nvPr/>
          </p:nvGrpSpPr>
          <p:grpSpPr>
            <a:xfrm>
              <a:off x="0" y="-1"/>
              <a:ext cx="304800" cy="318454"/>
              <a:chOff x="0" y="0"/>
              <a:chExt cx="304800" cy="318452"/>
            </a:xfrm>
          </p:grpSpPr>
          <p:sp>
            <p:nvSpPr>
              <p:cNvPr id="353" name="7"/>
              <p:cNvSpPr txBox="1"/>
              <p:nvPr/>
            </p:nvSpPr>
            <p:spPr>
              <a:xfrm>
                <a:off x="38814" y="23812"/>
                <a:ext cx="187485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7</a:t>
                </a:r>
              </a:p>
            </p:txBody>
          </p:sp>
          <p:sp>
            <p:nvSpPr>
              <p:cNvPr id="354" name="Circle"/>
              <p:cNvSpPr/>
              <p:nvPr/>
            </p:nvSpPr>
            <p:spPr>
              <a:xfrm>
                <a:off x="0" y="0"/>
                <a:ext cx="304800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</p:grpSp>
      <p:grpSp>
        <p:nvGrpSpPr>
          <p:cNvPr id="375" name="Group"/>
          <p:cNvGrpSpPr/>
          <p:nvPr/>
        </p:nvGrpSpPr>
        <p:grpSpPr>
          <a:xfrm>
            <a:off x="3886200" y="3987600"/>
            <a:ext cx="5029200" cy="1371602"/>
            <a:chOff x="0" y="-1"/>
            <a:chExt cx="5029200" cy="1371601"/>
          </a:xfrm>
        </p:grpSpPr>
        <p:sp>
          <p:nvSpPr>
            <p:cNvPr id="357" name="Line"/>
            <p:cNvSpPr/>
            <p:nvPr/>
          </p:nvSpPr>
          <p:spPr>
            <a:xfrm>
              <a:off x="3733800" y="1371600"/>
              <a:ext cx="1295400" cy="0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8" name="fill"/>
            <p:cNvSpPr txBox="1"/>
            <p:nvPr/>
          </p:nvSpPr>
          <p:spPr>
            <a:xfrm>
              <a:off x="3657601" y="990600"/>
              <a:ext cx="88583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F</a:t>
              </a:r>
              <a:r>
                <a:rPr dirty="0"/>
                <a:t>ill</a:t>
              </a:r>
              <a:r>
                <a:rPr lang="en-US" dirty="0"/>
                <a:t> m3</a:t>
              </a:r>
              <a:endParaRPr dirty="0"/>
            </a:p>
          </p:txBody>
        </p:sp>
        <p:grpSp>
          <p:nvGrpSpPr>
            <p:cNvPr id="361" name="Group"/>
            <p:cNvGrpSpPr/>
            <p:nvPr/>
          </p:nvGrpSpPr>
          <p:grpSpPr>
            <a:xfrm>
              <a:off x="4570729" y="966787"/>
              <a:ext cx="307659" cy="318454"/>
              <a:chOff x="0" y="0"/>
              <a:chExt cx="307657" cy="318452"/>
            </a:xfrm>
          </p:grpSpPr>
          <p:sp>
            <p:nvSpPr>
              <p:cNvPr id="359" name="10"/>
              <p:cNvSpPr txBox="1"/>
              <p:nvPr/>
            </p:nvSpPr>
            <p:spPr>
              <a:xfrm>
                <a:off x="0" y="23812"/>
                <a:ext cx="270828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10</a:t>
                </a:r>
              </a:p>
            </p:txBody>
          </p:sp>
          <p:sp>
            <p:nvSpPr>
              <p:cNvPr id="360" name="Circle"/>
              <p:cNvSpPr/>
              <p:nvPr/>
            </p:nvSpPr>
            <p:spPr>
              <a:xfrm>
                <a:off x="2857" y="0"/>
                <a:ext cx="304801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  <p:sp>
          <p:nvSpPr>
            <p:cNvPr id="362" name="Line"/>
            <p:cNvSpPr/>
            <p:nvPr/>
          </p:nvSpPr>
          <p:spPr>
            <a:xfrm>
              <a:off x="762000" y="1371600"/>
              <a:ext cx="1295400" cy="0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3" name="fill"/>
            <p:cNvSpPr txBox="1"/>
            <p:nvPr/>
          </p:nvSpPr>
          <p:spPr>
            <a:xfrm>
              <a:off x="682149" y="990600"/>
              <a:ext cx="889481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rPr lang="en-US" dirty="0"/>
                <a:t>F</a:t>
              </a:r>
              <a:r>
                <a:rPr dirty="0"/>
                <a:t>ill</a:t>
              </a:r>
              <a:r>
                <a:rPr lang="en-US" dirty="0"/>
                <a:t> m3</a:t>
              </a:r>
              <a:endParaRPr dirty="0"/>
            </a:p>
          </p:txBody>
        </p:sp>
        <p:grpSp>
          <p:nvGrpSpPr>
            <p:cNvPr id="366" name="Group"/>
            <p:cNvGrpSpPr/>
            <p:nvPr/>
          </p:nvGrpSpPr>
          <p:grpSpPr>
            <a:xfrm>
              <a:off x="1598136" y="966787"/>
              <a:ext cx="308452" cy="318454"/>
              <a:chOff x="0" y="0"/>
              <a:chExt cx="308451" cy="318452"/>
            </a:xfrm>
          </p:grpSpPr>
          <p:sp>
            <p:nvSpPr>
              <p:cNvPr id="364" name="11"/>
              <p:cNvSpPr txBox="1"/>
              <p:nvPr/>
            </p:nvSpPr>
            <p:spPr>
              <a:xfrm>
                <a:off x="0" y="23812"/>
                <a:ext cx="270828" cy="2946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400" b="0">
                    <a:solidFill>
                      <a:srgbClr val="FF0000"/>
                    </a:solidFill>
                  </a:defRPr>
                </a:lvl1pPr>
              </a:lstStyle>
              <a:p>
                <a:r>
                  <a:t>11</a:t>
                </a:r>
              </a:p>
            </p:txBody>
          </p:sp>
          <p:sp>
            <p:nvSpPr>
              <p:cNvPr id="365" name="Circle"/>
              <p:cNvSpPr/>
              <p:nvPr/>
            </p:nvSpPr>
            <p:spPr>
              <a:xfrm>
                <a:off x="3651" y="0"/>
                <a:ext cx="304801" cy="304800"/>
              </a:xfrm>
              <a:prstGeom prst="ellipse">
                <a:avLst/>
              </a:prstGeom>
              <a:noFill/>
              <a:ln w="12700" cap="flat">
                <a:solidFill>
                  <a:srgbClr val="FF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</p:grpSp>
        <p:sp>
          <p:nvSpPr>
            <p:cNvPr id="367" name="Line"/>
            <p:cNvSpPr/>
            <p:nvPr/>
          </p:nvSpPr>
          <p:spPr>
            <a:xfrm>
              <a:off x="2514600" y="304800"/>
              <a:ext cx="1219200" cy="1066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6650" y="21086"/>
                    <a:pt x="11700" y="20571"/>
                    <a:pt x="8100" y="16971"/>
                  </a:cubicBezTo>
                  <a:cubicBezTo>
                    <a:pt x="4500" y="13371"/>
                    <a:pt x="2250" y="6686"/>
                    <a:pt x="0" y="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368" name="Line"/>
            <p:cNvSpPr/>
            <p:nvPr/>
          </p:nvSpPr>
          <p:spPr>
            <a:xfrm>
              <a:off x="304800" y="304800"/>
              <a:ext cx="457200" cy="1066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6200" y="20314"/>
                    <a:pt x="10800" y="19029"/>
                    <a:pt x="7200" y="15429"/>
                  </a:cubicBezTo>
                  <a:cubicBezTo>
                    <a:pt x="3600" y="11829"/>
                    <a:pt x="1800" y="5914"/>
                    <a:pt x="0" y="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grpSp>
          <p:nvGrpSpPr>
            <p:cNvPr id="371" name="Group"/>
            <p:cNvGrpSpPr/>
            <p:nvPr/>
          </p:nvGrpSpPr>
          <p:grpSpPr>
            <a:xfrm>
              <a:off x="0" y="-1"/>
              <a:ext cx="685800" cy="320042"/>
              <a:chOff x="0" y="0"/>
              <a:chExt cx="685800" cy="320040"/>
            </a:xfrm>
          </p:grpSpPr>
          <p:sp>
            <p:nvSpPr>
              <p:cNvPr id="369" name="Rectangle"/>
              <p:cNvSpPr/>
              <p:nvPr/>
            </p:nvSpPr>
            <p:spPr>
              <a:xfrm>
                <a:off x="0" y="76200"/>
                <a:ext cx="685800" cy="228600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  <p:sp>
            <p:nvSpPr>
              <p:cNvPr id="370" name="m3"/>
              <p:cNvSpPr txBox="1"/>
              <p:nvPr/>
            </p:nvSpPr>
            <p:spPr>
              <a:xfrm>
                <a:off x="164871" y="0"/>
                <a:ext cx="356058" cy="3200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600" b="0"/>
                </a:lvl1pPr>
              </a:lstStyle>
              <a:p>
                <a:r>
                  <a:t>m3</a:t>
                </a:r>
              </a:p>
            </p:txBody>
          </p:sp>
        </p:grpSp>
        <p:grpSp>
          <p:nvGrpSpPr>
            <p:cNvPr id="374" name="Group"/>
            <p:cNvGrpSpPr/>
            <p:nvPr/>
          </p:nvGrpSpPr>
          <p:grpSpPr>
            <a:xfrm>
              <a:off x="2133600" y="-1"/>
              <a:ext cx="685800" cy="320042"/>
              <a:chOff x="0" y="0"/>
              <a:chExt cx="685800" cy="320040"/>
            </a:xfrm>
          </p:grpSpPr>
          <p:sp>
            <p:nvSpPr>
              <p:cNvPr id="372" name="Rectangle"/>
              <p:cNvSpPr/>
              <p:nvPr/>
            </p:nvSpPr>
            <p:spPr>
              <a:xfrm>
                <a:off x="0" y="76200"/>
                <a:ext cx="685800" cy="228600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 b="0"/>
                </a:pPr>
                <a:endParaRPr/>
              </a:p>
            </p:txBody>
          </p:sp>
          <p:sp>
            <p:nvSpPr>
              <p:cNvPr id="373" name="m3"/>
              <p:cNvSpPr txBox="1"/>
              <p:nvPr/>
            </p:nvSpPr>
            <p:spPr>
              <a:xfrm>
                <a:off x="164871" y="0"/>
                <a:ext cx="356058" cy="3200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 algn="ctr">
                  <a:defRPr sz="1600" b="0"/>
                </a:lvl1pPr>
              </a:lstStyle>
              <a:p>
                <a:r>
                  <a:t>m3</a:t>
                </a:r>
              </a:p>
            </p:txBody>
          </p:sp>
        </p:grpSp>
      </p:grpSp>
      <p:sp>
        <p:nvSpPr>
          <p:cNvPr id="376" name="Rectangle"/>
          <p:cNvSpPr/>
          <p:nvPr/>
        </p:nvSpPr>
        <p:spPr>
          <a:xfrm>
            <a:off x="3886200" y="4063802"/>
            <a:ext cx="6858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77" name="Rectangle"/>
          <p:cNvSpPr/>
          <p:nvPr/>
        </p:nvSpPr>
        <p:spPr>
          <a:xfrm>
            <a:off x="6858000" y="4063802"/>
            <a:ext cx="6858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055562" y="6502202"/>
            <a:ext cx="1905000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385BD-3C73-F9E6-19AC-039EE9A026DB}"/>
              </a:ext>
            </a:extLst>
          </p:cNvPr>
          <p:cNvSpPr txBox="1"/>
          <p:nvPr/>
        </p:nvSpPr>
        <p:spPr>
          <a:xfrm>
            <a:off x="809625" y="5791200"/>
            <a:ext cx="4528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Problem: m1 is L1 but not in L2!!!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381" name="Maintaining inclusion property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2301239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rPr dirty="0"/>
              <a:t>Maintaining inclusion property</a:t>
            </a:r>
          </a:p>
          <a:p>
            <a:pPr>
              <a:spcBef>
                <a:spcPts val="500"/>
              </a:spcBef>
              <a:buSzTx/>
              <a:buFont typeface="Wingdings"/>
              <a:buNone/>
              <a:defRPr sz="2400"/>
            </a:pPr>
            <a:r>
              <a:rPr dirty="0"/>
              <a:t>     Assume: L1: associativity a1, number of sets n1, block size b1</a:t>
            </a:r>
          </a:p>
          <a:p>
            <a:pPr>
              <a:spcBef>
                <a:spcPts val="500"/>
              </a:spcBef>
              <a:buSzTx/>
              <a:buFont typeface="Wingdings"/>
              <a:buNone/>
              <a:defRPr sz="2400"/>
            </a:pPr>
            <a:r>
              <a:rPr dirty="0"/>
              <a:t>                   L2: associativity a2, number of sets n2, block size b2</a:t>
            </a:r>
          </a:p>
          <a:p>
            <a:pPr marL="742950" lvl="1" indent="-285750">
              <a:spcBef>
                <a:spcPts val="0"/>
              </a:spcBef>
              <a:buClrTx/>
              <a:defRPr sz="2000" u="sng"/>
            </a:pPr>
            <a:r>
              <a:rPr dirty="0"/>
              <a:t>Difficulty: Different line sizes</a:t>
            </a:r>
          </a:p>
          <a:p>
            <a:pPr marL="285750" lvl="1" indent="171450">
              <a:spcBef>
                <a:spcPts val="0"/>
              </a:spcBef>
              <a:buSzTx/>
              <a:buFont typeface="Wingdings"/>
              <a:buNone/>
              <a:defRPr sz="2000"/>
            </a:pPr>
            <a:r>
              <a:rPr dirty="0"/>
              <a:t>     Assume: a1=a2=1; b1=1, b2=2; n1=4, n2=8</a:t>
            </a:r>
          </a:p>
          <a:p>
            <a:pPr marL="285750" lvl="1" indent="171450">
              <a:spcBef>
                <a:spcPts val="0"/>
              </a:spcBef>
              <a:buSzTx/>
              <a:buFont typeface="Wingdings"/>
              <a:buNone/>
              <a:defRPr sz="2000"/>
            </a:pPr>
            <a:r>
              <a:rPr dirty="0"/>
              <a:t>Thus, words w0 and w17 can coexist in L1, but not in L2</a:t>
            </a:r>
          </a:p>
        </p:txBody>
      </p:sp>
      <p:sp>
        <p:nvSpPr>
          <p:cNvPr id="382" name="Snooping with Multi-Level Hierarchies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Snooping with Multi-Level Hierarchies</a:t>
            </a:r>
          </a:p>
        </p:txBody>
      </p:sp>
      <p:sp>
        <p:nvSpPr>
          <p:cNvPr id="383" name="Rectangle"/>
          <p:cNvSpPr/>
          <p:nvPr/>
        </p:nvSpPr>
        <p:spPr>
          <a:xfrm>
            <a:off x="2438400" y="4495800"/>
            <a:ext cx="6858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84" name="w0"/>
          <p:cNvSpPr txBox="1"/>
          <p:nvPr/>
        </p:nvSpPr>
        <p:spPr>
          <a:xfrm>
            <a:off x="4083119" y="3429000"/>
            <a:ext cx="334825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600" b="0"/>
            </a:lvl1pPr>
          </a:lstStyle>
          <a:p>
            <a:r>
              <a:t>w0</a:t>
            </a:r>
          </a:p>
        </p:txBody>
      </p:sp>
      <p:sp>
        <p:nvSpPr>
          <p:cNvPr id="385" name="Rectangle"/>
          <p:cNvSpPr/>
          <p:nvPr/>
        </p:nvSpPr>
        <p:spPr>
          <a:xfrm>
            <a:off x="2438400" y="4267200"/>
            <a:ext cx="6858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86" name="Rectangle"/>
          <p:cNvSpPr/>
          <p:nvPr/>
        </p:nvSpPr>
        <p:spPr>
          <a:xfrm>
            <a:off x="2438400" y="4038600"/>
            <a:ext cx="6858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87" name="Rectangle"/>
          <p:cNvSpPr/>
          <p:nvPr/>
        </p:nvSpPr>
        <p:spPr>
          <a:xfrm>
            <a:off x="2438400" y="3810000"/>
            <a:ext cx="6858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88" name="L1"/>
          <p:cNvSpPr txBox="1"/>
          <p:nvPr/>
        </p:nvSpPr>
        <p:spPr>
          <a:xfrm>
            <a:off x="2629236" y="34290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389" name="Rectangle"/>
          <p:cNvSpPr/>
          <p:nvPr/>
        </p:nvSpPr>
        <p:spPr>
          <a:xfrm>
            <a:off x="5257800" y="4495800"/>
            <a:ext cx="13716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90" name="Rectangle"/>
          <p:cNvSpPr/>
          <p:nvPr/>
        </p:nvSpPr>
        <p:spPr>
          <a:xfrm>
            <a:off x="5257800" y="4267200"/>
            <a:ext cx="13716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91" name="Rectangle"/>
          <p:cNvSpPr/>
          <p:nvPr/>
        </p:nvSpPr>
        <p:spPr>
          <a:xfrm>
            <a:off x="5257800" y="4038600"/>
            <a:ext cx="13716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92" name="Rectangle"/>
          <p:cNvSpPr/>
          <p:nvPr/>
        </p:nvSpPr>
        <p:spPr>
          <a:xfrm>
            <a:off x="5257800" y="3810000"/>
            <a:ext cx="13716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393" name="L2"/>
          <p:cNvSpPr txBox="1"/>
          <p:nvPr/>
        </p:nvSpPr>
        <p:spPr>
          <a:xfrm>
            <a:off x="5762167" y="3429000"/>
            <a:ext cx="342229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L2</a:t>
            </a:r>
          </a:p>
        </p:txBody>
      </p:sp>
      <p:sp>
        <p:nvSpPr>
          <p:cNvPr id="394" name="Line"/>
          <p:cNvSpPr/>
          <p:nvPr/>
        </p:nvSpPr>
        <p:spPr>
          <a:xfrm flipV="1">
            <a:off x="5943600" y="3810000"/>
            <a:ext cx="0" cy="91440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5" name="Line"/>
          <p:cNvSpPr/>
          <p:nvPr/>
        </p:nvSpPr>
        <p:spPr>
          <a:xfrm flipH="1">
            <a:off x="2819399" y="3581400"/>
            <a:ext cx="1219201" cy="381000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6" name="Line"/>
          <p:cNvSpPr/>
          <p:nvPr/>
        </p:nvSpPr>
        <p:spPr>
          <a:xfrm>
            <a:off x="4419600" y="3581399"/>
            <a:ext cx="1219201" cy="381002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7" name="w1"/>
          <p:cNvSpPr txBox="1"/>
          <p:nvPr/>
        </p:nvSpPr>
        <p:spPr>
          <a:xfrm>
            <a:off x="4083913" y="3657600"/>
            <a:ext cx="334824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600" b="0"/>
            </a:lvl1pPr>
          </a:lstStyle>
          <a:p>
            <a:r>
              <a:t>w1</a:t>
            </a:r>
          </a:p>
        </p:txBody>
      </p:sp>
      <p:grpSp>
        <p:nvGrpSpPr>
          <p:cNvPr id="404" name="Group"/>
          <p:cNvGrpSpPr/>
          <p:nvPr/>
        </p:nvGrpSpPr>
        <p:grpSpPr>
          <a:xfrm>
            <a:off x="2819399" y="3809999"/>
            <a:ext cx="3429002" cy="838201"/>
            <a:chOff x="0" y="0"/>
            <a:chExt cx="3429000" cy="838199"/>
          </a:xfrm>
        </p:grpSpPr>
        <p:sp>
          <p:nvSpPr>
            <p:cNvPr id="398" name="Line"/>
            <p:cNvSpPr/>
            <p:nvPr/>
          </p:nvSpPr>
          <p:spPr>
            <a:xfrm flipH="1">
              <a:off x="-1" y="0"/>
              <a:ext cx="1219202" cy="38100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9" name="Line"/>
            <p:cNvSpPr/>
            <p:nvPr/>
          </p:nvSpPr>
          <p:spPr>
            <a:xfrm>
              <a:off x="1600200" y="-1"/>
              <a:ext cx="1828801" cy="152402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0" name="Line"/>
            <p:cNvSpPr/>
            <p:nvPr/>
          </p:nvSpPr>
          <p:spPr>
            <a:xfrm flipH="1">
              <a:off x="-1" y="228600"/>
              <a:ext cx="1219202" cy="38100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1" name="Line"/>
            <p:cNvSpPr/>
            <p:nvPr/>
          </p:nvSpPr>
          <p:spPr>
            <a:xfrm>
              <a:off x="1600200" y="228599"/>
              <a:ext cx="1219201" cy="152402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2" name="Line"/>
            <p:cNvSpPr/>
            <p:nvPr/>
          </p:nvSpPr>
          <p:spPr>
            <a:xfrm flipH="1">
              <a:off x="-1" y="457200"/>
              <a:ext cx="1219202" cy="38100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3" name="Line"/>
            <p:cNvSpPr/>
            <p:nvPr/>
          </p:nvSpPr>
          <p:spPr>
            <a:xfrm flipV="1">
              <a:off x="1600200" y="380999"/>
              <a:ext cx="1752600" cy="76202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05" name="w2"/>
          <p:cNvSpPr txBox="1"/>
          <p:nvPr/>
        </p:nvSpPr>
        <p:spPr>
          <a:xfrm>
            <a:off x="4075181" y="3886200"/>
            <a:ext cx="334825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600" b="0"/>
            </a:lvl1pPr>
          </a:lstStyle>
          <a:p>
            <a:r>
              <a:t>w2</a:t>
            </a:r>
          </a:p>
        </p:txBody>
      </p:sp>
      <p:sp>
        <p:nvSpPr>
          <p:cNvPr id="406" name="w3"/>
          <p:cNvSpPr txBox="1"/>
          <p:nvPr/>
        </p:nvSpPr>
        <p:spPr>
          <a:xfrm>
            <a:off x="4083119" y="4114800"/>
            <a:ext cx="334825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600" b="0"/>
            </a:lvl1pPr>
          </a:lstStyle>
          <a:p>
            <a:r>
              <a:t>w3</a:t>
            </a:r>
          </a:p>
        </p:txBody>
      </p:sp>
      <p:sp>
        <p:nvSpPr>
          <p:cNvPr id="407" name="Circle"/>
          <p:cNvSpPr/>
          <p:nvPr/>
        </p:nvSpPr>
        <p:spPr>
          <a:xfrm>
            <a:off x="4191000" y="45720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408" name="Circle"/>
          <p:cNvSpPr/>
          <p:nvPr/>
        </p:nvSpPr>
        <p:spPr>
          <a:xfrm>
            <a:off x="4191000" y="47244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409" name="Circle"/>
          <p:cNvSpPr/>
          <p:nvPr/>
        </p:nvSpPr>
        <p:spPr>
          <a:xfrm>
            <a:off x="4191000" y="4876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grpSp>
        <p:nvGrpSpPr>
          <p:cNvPr id="415" name="Group"/>
          <p:cNvGrpSpPr/>
          <p:nvPr/>
        </p:nvGrpSpPr>
        <p:grpSpPr>
          <a:xfrm>
            <a:off x="2819400" y="3962400"/>
            <a:ext cx="3429001" cy="1691640"/>
            <a:chOff x="0" y="0"/>
            <a:chExt cx="3429000" cy="1691640"/>
          </a:xfrm>
        </p:grpSpPr>
        <p:sp>
          <p:nvSpPr>
            <p:cNvPr id="410" name="w16"/>
            <p:cNvSpPr txBox="1"/>
            <p:nvPr/>
          </p:nvSpPr>
          <p:spPr>
            <a:xfrm>
              <a:off x="1216888" y="1066800"/>
              <a:ext cx="430074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/>
              </a:lvl1pPr>
            </a:lstStyle>
            <a:p>
              <a:r>
                <a:t>w16</a:t>
              </a:r>
            </a:p>
          </p:txBody>
        </p:sp>
        <p:sp>
          <p:nvSpPr>
            <p:cNvPr id="411" name="Line"/>
            <p:cNvSpPr/>
            <p:nvPr/>
          </p:nvSpPr>
          <p:spPr>
            <a:xfrm flipH="1" flipV="1">
              <a:off x="-1" y="228600"/>
              <a:ext cx="1219202" cy="129540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w17"/>
            <p:cNvSpPr txBox="1"/>
            <p:nvPr/>
          </p:nvSpPr>
          <p:spPr>
            <a:xfrm>
              <a:off x="1216888" y="1371600"/>
              <a:ext cx="430074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/>
              </a:lvl1pPr>
            </a:lstStyle>
            <a:p>
              <a:r>
                <a:t>w17</a:t>
              </a:r>
            </a:p>
          </p:txBody>
        </p:sp>
        <p:sp>
          <p:nvSpPr>
            <p:cNvPr id="413" name="Line"/>
            <p:cNvSpPr/>
            <p:nvPr/>
          </p:nvSpPr>
          <p:spPr>
            <a:xfrm flipV="1">
              <a:off x="1676400" y="0"/>
              <a:ext cx="1143000" cy="1219200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4" name="Line"/>
            <p:cNvSpPr/>
            <p:nvPr/>
          </p:nvSpPr>
          <p:spPr>
            <a:xfrm flipV="1">
              <a:off x="1676400" y="-1"/>
              <a:ext cx="1752601" cy="1524002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16" name="Rectangle"/>
          <p:cNvSpPr/>
          <p:nvPr/>
        </p:nvSpPr>
        <p:spPr>
          <a:xfrm>
            <a:off x="5257800" y="5410200"/>
            <a:ext cx="13716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417" name="Rectangle"/>
          <p:cNvSpPr/>
          <p:nvPr/>
        </p:nvSpPr>
        <p:spPr>
          <a:xfrm>
            <a:off x="5257800" y="5181600"/>
            <a:ext cx="13716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418" name="Rectangle"/>
          <p:cNvSpPr/>
          <p:nvPr/>
        </p:nvSpPr>
        <p:spPr>
          <a:xfrm>
            <a:off x="5257800" y="4953000"/>
            <a:ext cx="13716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419" name="Rectangle"/>
          <p:cNvSpPr/>
          <p:nvPr/>
        </p:nvSpPr>
        <p:spPr>
          <a:xfrm>
            <a:off x="5257800" y="4724400"/>
            <a:ext cx="1371600" cy="228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420" name="Line"/>
          <p:cNvSpPr/>
          <p:nvPr/>
        </p:nvSpPr>
        <p:spPr>
          <a:xfrm flipV="1">
            <a:off x="5943600" y="4724400"/>
            <a:ext cx="0" cy="91440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424" name="Maintaining inclusion property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t>Maintaining inclusion property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Most combinations of L1/L2 size, associativity, and line size do not automatically lead to inclusion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Static solution: One solution is to have a1=1, a2≥1, b1=b2, and n1≤n2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Dynamic solution: More common solution is to invalidate the L1 line (or lines, if b1&lt;b2) upon replacing a line in L2. Must also invalidate L1 line(s) when L2 line is invalidated due to coherence</a:t>
            </a:r>
          </a:p>
          <a:p>
            <a:pPr marL="1143000" lvl="2" indent="-228600">
              <a:spcBef>
                <a:spcPts val="0"/>
              </a:spcBef>
              <a:buClrTx/>
              <a:defRPr sz="1800"/>
            </a:pPr>
            <a:r>
              <a:t>Propagate all invalidations from L2 to L1, whether relevant or not</a:t>
            </a:r>
          </a:p>
          <a:p>
            <a:pPr marL="1143000" lvl="2" indent="-228600">
              <a:spcBef>
                <a:spcPts val="0"/>
              </a:spcBef>
              <a:buClrTx/>
              <a:defRPr sz="1800"/>
            </a:pPr>
            <a:r>
              <a:t>Keep extra state in the L2 lines to tell whether the line is also present in L1 or not (</a:t>
            </a:r>
            <a:r>
              <a:rPr u="sng"/>
              <a:t>inclusion bits</a:t>
            </a:r>
            <a:r>
              <a:t>)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Finally, add a new state to L2 (modified-but-stale) to keep track of lines that are in state M in L1 (or make L1 write-through)</a:t>
            </a:r>
          </a:p>
        </p:txBody>
      </p:sp>
      <p:sp>
        <p:nvSpPr>
          <p:cNvPr id="425" name="Snooping with Multi-Level Hierarchies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Snooping with Multi-Level Hierarchies</a:t>
            </a:r>
          </a:p>
        </p:txBody>
      </p:sp>
      <p:sp>
        <p:nvSpPr>
          <p:cNvPr id="4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429" name="Non-split-transaction buses are idle from when the address request is finished until the data returns from memory or another cache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2286000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rPr dirty="0"/>
              <a:t>Non-split-transaction buses are idle from when the address request is finished until the data returns from memory or another cache</a:t>
            </a:r>
          </a:p>
          <a:p>
            <a:pPr>
              <a:spcBef>
                <a:spcPts val="500"/>
              </a:spcBef>
              <a:buChar char="▪"/>
              <a:defRPr sz="2400"/>
            </a:pPr>
            <a:r>
              <a:rPr dirty="0"/>
              <a:t>In split-transaction buses transactions are split into a request transaction and a response transaction, which can be separated</a:t>
            </a:r>
          </a:p>
          <a:p>
            <a:pPr>
              <a:spcBef>
                <a:spcPts val="500"/>
              </a:spcBef>
              <a:buChar char="▪"/>
              <a:defRPr sz="2400"/>
            </a:pPr>
            <a:r>
              <a:rPr dirty="0"/>
              <a:t>Sometimes implemented as two buses: one for requests and one for responses</a:t>
            </a:r>
          </a:p>
        </p:txBody>
      </p:sp>
      <p:sp>
        <p:nvSpPr>
          <p:cNvPr id="430" name="Snooping with Split-Transaction Buses"/>
          <p:cNvSpPr txBox="1">
            <a:spLocks noGrp="1"/>
          </p:cNvSpPr>
          <p:nvPr>
            <p:ph type="title" idx="4294967295"/>
          </p:nvPr>
        </p:nvSpPr>
        <p:spPr>
          <a:xfrm>
            <a:off x="228600" y="152400"/>
            <a:ext cx="89154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rPr dirty="0"/>
              <a:t>Snooping with Split-Transaction Buses</a:t>
            </a:r>
          </a:p>
        </p:txBody>
      </p:sp>
      <p:grpSp>
        <p:nvGrpSpPr>
          <p:cNvPr id="507" name="Group"/>
          <p:cNvGrpSpPr/>
          <p:nvPr/>
        </p:nvGrpSpPr>
        <p:grpSpPr>
          <a:xfrm>
            <a:off x="1297499" y="3657600"/>
            <a:ext cx="6614601" cy="2637176"/>
            <a:chOff x="3013" y="0"/>
            <a:chExt cx="6614601" cy="2637175"/>
          </a:xfrm>
        </p:grpSpPr>
        <p:sp>
          <p:nvSpPr>
            <p:cNvPr id="431" name="Address…"/>
            <p:cNvSpPr txBox="1"/>
            <p:nvPr/>
          </p:nvSpPr>
          <p:spPr>
            <a:xfrm>
              <a:off x="3013" y="0"/>
              <a:ext cx="876894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800" b="0"/>
              </a:pPr>
              <a:r>
                <a:t>Address</a:t>
              </a:r>
            </a:p>
            <a:p>
              <a:pPr algn="ctr">
                <a:defRPr sz="1800" b="0"/>
              </a:pPr>
              <a:r>
                <a:t>(normal)</a:t>
              </a:r>
            </a:p>
          </p:txBody>
        </p:sp>
        <p:sp>
          <p:nvSpPr>
            <p:cNvPr id="432" name="Line"/>
            <p:cNvSpPr/>
            <p:nvPr/>
          </p:nvSpPr>
          <p:spPr>
            <a:xfrm>
              <a:off x="942950" y="122036"/>
              <a:ext cx="24407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3" name="Line"/>
            <p:cNvSpPr/>
            <p:nvPr/>
          </p:nvSpPr>
          <p:spPr>
            <a:xfrm>
              <a:off x="942950" y="488147"/>
              <a:ext cx="24407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4" name="Line"/>
            <p:cNvSpPr/>
            <p:nvPr/>
          </p:nvSpPr>
          <p:spPr>
            <a:xfrm>
              <a:off x="1492112" y="122036"/>
              <a:ext cx="152544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5" name="Line"/>
            <p:cNvSpPr/>
            <p:nvPr/>
          </p:nvSpPr>
          <p:spPr>
            <a:xfrm>
              <a:off x="1492112" y="488147"/>
              <a:ext cx="152544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6" name="Line"/>
            <p:cNvSpPr/>
            <p:nvPr/>
          </p:nvSpPr>
          <p:spPr>
            <a:xfrm>
              <a:off x="1187022" y="122036"/>
              <a:ext cx="305090" cy="36611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7" name="Line"/>
            <p:cNvSpPr/>
            <p:nvPr/>
          </p:nvSpPr>
          <p:spPr>
            <a:xfrm flipH="1">
              <a:off x="1187022" y="122036"/>
              <a:ext cx="305091" cy="36611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8" name="Line"/>
            <p:cNvSpPr/>
            <p:nvPr/>
          </p:nvSpPr>
          <p:spPr>
            <a:xfrm>
              <a:off x="3017559" y="122036"/>
              <a:ext cx="305090" cy="36611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9" name="Line"/>
            <p:cNvSpPr/>
            <p:nvPr/>
          </p:nvSpPr>
          <p:spPr>
            <a:xfrm flipH="1">
              <a:off x="3017559" y="122036"/>
              <a:ext cx="305090" cy="36611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0" name="Rectangle"/>
            <p:cNvSpPr/>
            <p:nvPr/>
          </p:nvSpPr>
          <p:spPr>
            <a:xfrm>
              <a:off x="1492112" y="122036"/>
              <a:ext cx="1525448" cy="366112"/>
            </a:xfrm>
            <a:prstGeom prst="rect">
              <a:avLst/>
            </a:prstGeom>
            <a:solidFill>
              <a:srgbClr val="0000FF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441" name="address 1"/>
            <p:cNvSpPr txBox="1"/>
            <p:nvPr/>
          </p:nvSpPr>
          <p:spPr>
            <a:xfrm>
              <a:off x="1876592" y="183055"/>
              <a:ext cx="836574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0000FF"/>
                  </a:solidFill>
                </a:defRPr>
              </a:lvl1pPr>
            </a:lstStyle>
            <a:p>
              <a:r>
                <a:t>address 1</a:t>
              </a:r>
            </a:p>
          </p:txBody>
        </p:sp>
        <p:sp>
          <p:nvSpPr>
            <p:cNvPr id="442" name="Line"/>
            <p:cNvSpPr/>
            <p:nvPr/>
          </p:nvSpPr>
          <p:spPr>
            <a:xfrm>
              <a:off x="3322648" y="122036"/>
              <a:ext cx="152544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3" name="Line"/>
            <p:cNvSpPr/>
            <p:nvPr/>
          </p:nvSpPr>
          <p:spPr>
            <a:xfrm>
              <a:off x="3322648" y="488147"/>
              <a:ext cx="152544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Line"/>
            <p:cNvSpPr/>
            <p:nvPr/>
          </p:nvSpPr>
          <p:spPr>
            <a:xfrm>
              <a:off x="4848096" y="122036"/>
              <a:ext cx="244072" cy="36611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Line"/>
            <p:cNvSpPr/>
            <p:nvPr/>
          </p:nvSpPr>
          <p:spPr>
            <a:xfrm flipH="1">
              <a:off x="4848096" y="122036"/>
              <a:ext cx="244072" cy="36611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6" name="Rectangle"/>
            <p:cNvSpPr/>
            <p:nvPr/>
          </p:nvSpPr>
          <p:spPr>
            <a:xfrm>
              <a:off x="3322648" y="1464441"/>
              <a:ext cx="1525449" cy="366111"/>
            </a:xfrm>
            <a:prstGeom prst="rect">
              <a:avLst/>
            </a:prstGeom>
            <a:solidFill>
              <a:srgbClr val="339933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447" name="address 2"/>
            <p:cNvSpPr txBox="1"/>
            <p:nvPr/>
          </p:nvSpPr>
          <p:spPr>
            <a:xfrm>
              <a:off x="3665179" y="1525459"/>
              <a:ext cx="836573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339933"/>
                  </a:solidFill>
                </a:defRPr>
              </a:lvl1pPr>
            </a:lstStyle>
            <a:p>
              <a:r>
                <a:t>address 2</a:t>
              </a:r>
            </a:p>
          </p:txBody>
        </p:sp>
        <p:sp>
          <p:nvSpPr>
            <p:cNvPr id="448" name="Rectangle"/>
            <p:cNvSpPr/>
            <p:nvPr/>
          </p:nvSpPr>
          <p:spPr>
            <a:xfrm>
              <a:off x="5092167" y="122036"/>
              <a:ext cx="1525448" cy="366112"/>
            </a:xfrm>
            <a:prstGeom prst="rect">
              <a:avLst/>
            </a:prstGeom>
            <a:solidFill>
              <a:srgbClr val="339933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449" name="address 2"/>
            <p:cNvSpPr txBox="1"/>
            <p:nvPr/>
          </p:nvSpPr>
          <p:spPr>
            <a:xfrm>
              <a:off x="5434698" y="183055"/>
              <a:ext cx="836574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339933"/>
                  </a:solidFill>
                </a:defRPr>
              </a:lvl1pPr>
            </a:lstStyle>
            <a:p>
              <a:r>
                <a:t>address 2</a:t>
              </a:r>
            </a:p>
          </p:txBody>
        </p:sp>
        <p:sp>
          <p:nvSpPr>
            <p:cNvPr id="450" name="Line"/>
            <p:cNvSpPr/>
            <p:nvPr/>
          </p:nvSpPr>
          <p:spPr>
            <a:xfrm>
              <a:off x="2163308" y="793238"/>
              <a:ext cx="305091" cy="36611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1" name="Line"/>
            <p:cNvSpPr/>
            <p:nvPr/>
          </p:nvSpPr>
          <p:spPr>
            <a:xfrm flipH="1">
              <a:off x="2163308" y="793239"/>
              <a:ext cx="305091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2" name="Line"/>
            <p:cNvSpPr/>
            <p:nvPr/>
          </p:nvSpPr>
          <p:spPr>
            <a:xfrm>
              <a:off x="942950" y="793239"/>
              <a:ext cx="122035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3" name="Line"/>
            <p:cNvSpPr/>
            <p:nvPr/>
          </p:nvSpPr>
          <p:spPr>
            <a:xfrm>
              <a:off x="942950" y="1159349"/>
              <a:ext cx="122035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4" name="Line"/>
            <p:cNvSpPr/>
            <p:nvPr/>
          </p:nvSpPr>
          <p:spPr>
            <a:xfrm>
              <a:off x="4115881" y="793238"/>
              <a:ext cx="305090" cy="36611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5" name="Line"/>
            <p:cNvSpPr/>
            <p:nvPr/>
          </p:nvSpPr>
          <p:spPr>
            <a:xfrm flipH="1">
              <a:off x="4115881" y="793239"/>
              <a:ext cx="305090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6" name="Line"/>
            <p:cNvSpPr/>
            <p:nvPr/>
          </p:nvSpPr>
          <p:spPr>
            <a:xfrm>
              <a:off x="2468398" y="793239"/>
              <a:ext cx="152544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7" name="Line"/>
            <p:cNvSpPr/>
            <p:nvPr/>
          </p:nvSpPr>
          <p:spPr>
            <a:xfrm>
              <a:off x="2468398" y="1159349"/>
              <a:ext cx="152544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Line"/>
            <p:cNvSpPr/>
            <p:nvPr/>
          </p:nvSpPr>
          <p:spPr>
            <a:xfrm>
              <a:off x="4420970" y="793239"/>
              <a:ext cx="164748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9" name="Line"/>
            <p:cNvSpPr/>
            <p:nvPr/>
          </p:nvSpPr>
          <p:spPr>
            <a:xfrm>
              <a:off x="4420970" y="1159349"/>
              <a:ext cx="164748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0" name="Data…"/>
            <p:cNvSpPr txBox="1"/>
            <p:nvPr/>
          </p:nvSpPr>
          <p:spPr>
            <a:xfrm>
              <a:off x="3013" y="671202"/>
              <a:ext cx="876894" cy="624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800" b="0"/>
              </a:pPr>
              <a:r>
                <a:t>Data</a:t>
              </a:r>
            </a:p>
            <a:p>
              <a:pPr algn="ctr">
                <a:defRPr sz="1800" b="0"/>
              </a:pPr>
              <a:r>
                <a:t>(normal)</a:t>
              </a:r>
            </a:p>
          </p:txBody>
        </p:sp>
        <p:sp>
          <p:nvSpPr>
            <p:cNvPr id="461" name="Rectangle"/>
            <p:cNvSpPr/>
            <p:nvPr/>
          </p:nvSpPr>
          <p:spPr>
            <a:xfrm>
              <a:off x="2468398" y="793239"/>
              <a:ext cx="1647484" cy="366111"/>
            </a:xfrm>
            <a:prstGeom prst="rect">
              <a:avLst/>
            </a:prstGeom>
            <a:solidFill>
              <a:srgbClr val="0000FF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462" name="data 1"/>
            <p:cNvSpPr txBox="1"/>
            <p:nvPr/>
          </p:nvSpPr>
          <p:spPr>
            <a:xfrm>
              <a:off x="2948144" y="854257"/>
              <a:ext cx="576125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0000FF"/>
                  </a:solidFill>
                </a:defRPr>
              </a:lvl1pPr>
            </a:lstStyle>
            <a:p>
              <a:r>
                <a:t>data 1</a:t>
              </a:r>
            </a:p>
          </p:txBody>
        </p:sp>
        <p:sp>
          <p:nvSpPr>
            <p:cNvPr id="463" name="Line"/>
            <p:cNvSpPr/>
            <p:nvPr/>
          </p:nvSpPr>
          <p:spPr>
            <a:xfrm flipH="1">
              <a:off x="1187022" y="122036"/>
              <a:ext cx="1" cy="237971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Line"/>
            <p:cNvSpPr/>
            <p:nvPr/>
          </p:nvSpPr>
          <p:spPr>
            <a:xfrm>
              <a:off x="6068454" y="793238"/>
              <a:ext cx="305090" cy="36611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5" name="Line"/>
            <p:cNvSpPr/>
            <p:nvPr/>
          </p:nvSpPr>
          <p:spPr>
            <a:xfrm flipH="1">
              <a:off x="6068453" y="793239"/>
              <a:ext cx="305091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6" name="Rectangle"/>
            <p:cNvSpPr/>
            <p:nvPr/>
          </p:nvSpPr>
          <p:spPr>
            <a:xfrm>
              <a:off x="6373543" y="793239"/>
              <a:ext cx="244073" cy="366111"/>
            </a:xfrm>
            <a:prstGeom prst="rect">
              <a:avLst/>
            </a:prstGeom>
            <a:solidFill>
              <a:srgbClr val="339933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467" name="Line"/>
            <p:cNvSpPr/>
            <p:nvPr/>
          </p:nvSpPr>
          <p:spPr>
            <a:xfrm flipH="1">
              <a:off x="2163308" y="122036"/>
              <a:ext cx="1" cy="237971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8" name="Line"/>
            <p:cNvSpPr/>
            <p:nvPr/>
          </p:nvSpPr>
          <p:spPr>
            <a:xfrm flipH="1">
              <a:off x="3139594" y="122036"/>
              <a:ext cx="1" cy="237971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9" name="Line"/>
            <p:cNvSpPr/>
            <p:nvPr/>
          </p:nvSpPr>
          <p:spPr>
            <a:xfrm flipH="1">
              <a:off x="4115881" y="122036"/>
              <a:ext cx="1" cy="237971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0" name="Line"/>
            <p:cNvSpPr/>
            <p:nvPr/>
          </p:nvSpPr>
          <p:spPr>
            <a:xfrm flipH="1">
              <a:off x="5092167" y="122036"/>
              <a:ext cx="1" cy="237971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1" name="Address…"/>
            <p:cNvSpPr txBox="1"/>
            <p:nvPr/>
          </p:nvSpPr>
          <p:spPr>
            <a:xfrm>
              <a:off x="63533" y="1342404"/>
              <a:ext cx="825771" cy="624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800" b="0"/>
              </a:pPr>
              <a:r>
                <a:t>Address</a:t>
              </a:r>
            </a:p>
            <a:p>
              <a:pPr algn="ctr">
                <a:defRPr sz="1800" b="0"/>
              </a:pPr>
              <a:r>
                <a:t>(split)</a:t>
              </a:r>
            </a:p>
          </p:txBody>
        </p:sp>
        <p:sp>
          <p:nvSpPr>
            <p:cNvPr id="472" name="Line"/>
            <p:cNvSpPr/>
            <p:nvPr/>
          </p:nvSpPr>
          <p:spPr>
            <a:xfrm>
              <a:off x="942950" y="1464441"/>
              <a:ext cx="24407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3" name="Line"/>
            <p:cNvSpPr/>
            <p:nvPr/>
          </p:nvSpPr>
          <p:spPr>
            <a:xfrm>
              <a:off x="942950" y="1830551"/>
              <a:ext cx="24407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4" name="Line"/>
            <p:cNvSpPr/>
            <p:nvPr/>
          </p:nvSpPr>
          <p:spPr>
            <a:xfrm>
              <a:off x="1492112" y="1464441"/>
              <a:ext cx="152544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5" name="Line"/>
            <p:cNvSpPr/>
            <p:nvPr/>
          </p:nvSpPr>
          <p:spPr>
            <a:xfrm>
              <a:off x="1492112" y="1830551"/>
              <a:ext cx="152544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6" name="Line"/>
            <p:cNvSpPr/>
            <p:nvPr/>
          </p:nvSpPr>
          <p:spPr>
            <a:xfrm>
              <a:off x="1187022" y="1464441"/>
              <a:ext cx="305090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7" name="Line"/>
            <p:cNvSpPr/>
            <p:nvPr/>
          </p:nvSpPr>
          <p:spPr>
            <a:xfrm flipH="1">
              <a:off x="1187022" y="1464441"/>
              <a:ext cx="305091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8" name="Line"/>
            <p:cNvSpPr/>
            <p:nvPr/>
          </p:nvSpPr>
          <p:spPr>
            <a:xfrm>
              <a:off x="3017559" y="1464441"/>
              <a:ext cx="305090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9" name="Line"/>
            <p:cNvSpPr/>
            <p:nvPr/>
          </p:nvSpPr>
          <p:spPr>
            <a:xfrm flipH="1">
              <a:off x="3017559" y="1464441"/>
              <a:ext cx="305090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0" name="Rectangle"/>
            <p:cNvSpPr/>
            <p:nvPr/>
          </p:nvSpPr>
          <p:spPr>
            <a:xfrm>
              <a:off x="1492112" y="1464441"/>
              <a:ext cx="1525448" cy="366111"/>
            </a:xfrm>
            <a:prstGeom prst="rect">
              <a:avLst/>
            </a:prstGeom>
            <a:solidFill>
              <a:srgbClr val="0000FF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481" name="address 1"/>
            <p:cNvSpPr txBox="1"/>
            <p:nvPr/>
          </p:nvSpPr>
          <p:spPr>
            <a:xfrm>
              <a:off x="1876592" y="1525459"/>
              <a:ext cx="836574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0000FF"/>
                  </a:solidFill>
                </a:defRPr>
              </a:lvl1pPr>
            </a:lstStyle>
            <a:p>
              <a:r>
                <a:t>address 1</a:t>
              </a:r>
            </a:p>
          </p:txBody>
        </p:sp>
        <p:sp>
          <p:nvSpPr>
            <p:cNvPr id="482" name="Line"/>
            <p:cNvSpPr/>
            <p:nvPr/>
          </p:nvSpPr>
          <p:spPr>
            <a:xfrm>
              <a:off x="3322648" y="1464441"/>
              <a:ext cx="152544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3" name="Line"/>
            <p:cNvSpPr/>
            <p:nvPr/>
          </p:nvSpPr>
          <p:spPr>
            <a:xfrm>
              <a:off x="3322648" y="1830551"/>
              <a:ext cx="152544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4" name="Line"/>
            <p:cNvSpPr/>
            <p:nvPr/>
          </p:nvSpPr>
          <p:spPr>
            <a:xfrm>
              <a:off x="4848096" y="1464441"/>
              <a:ext cx="244072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5" name="Line"/>
            <p:cNvSpPr/>
            <p:nvPr/>
          </p:nvSpPr>
          <p:spPr>
            <a:xfrm flipH="1">
              <a:off x="4848096" y="1464441"/>
              <a:ext cx="244072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6" name="Rectangle"/>
            <p:cNvSpPr/>
            <p:nvPr/>
          </p:nvSpPr>
          <p:spPr>
            <a:xfrm>
              <a:off x="5092167" y="1464441"/>
              <a:ext cx="1525448" cy="366111"/>
            </a:xfrm>
            <a:prstGeom prst="rect">
              <a:avLst/>
            </a:prstGeom>
            <a:solidFill>
              <a:srgbClr val="000000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487" name="address 3"/>
            <p:cNvSpPr txBox="1"/>
            <p:nvPr/>
          </p:nvSpPr>
          <p:spPr>
            <a:xfrm>
              <a:off x="5434698" y="1525459"/>
              <a:ext cx="836574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/>
              </a:lvl1pPr>
            </a:lstStyle>
            <a:p>
              <a:r>
                <a:t>address 3</a:t>
              </a:r>
            </a:p>
          </p:txBody>
        </p:sp>
        <p:sp>
          <p:nvSpPr>
            <p:cNvPr id="488" name="Rectangle"/>
            <p:cNvSpPr/>
            <p:nvPr/>
          </p:nvSpPr>
          <p:spPr>
            <a:xfrm>
              <a:off x="942950" y="1464441"/>
              <a:ext cx="244073" cy="366111"/>
            </a:xfrm>
            <a:prstGeom prst="rect">
              <a:avLst/>
            </a:prstGeom>
            <a:solidFill>
              <a:srgbClr val="FF0000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489" name="Line"/>
            <p:cNvSpPr/>
            <p:nvPr/>
          </p:nvSpPr>
          <p:spPr>
            <a:xfrm>
              <a:off x="2163308" y="2135643"/>
              <a:ext cx="305091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0" name="Line"/>
            <p:cNvSpPr/>
            <p:nvPr/>
          </p:nvSpPr>
          <p:spPr>
            <a:xfrm flipH="1">
              <a:off x="2163308" y="2135643"/>
              <a:ext cx="305091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1" name="Line"/>
            <p:cNvSpPr/>
            <p:nvPr/>
          </p:nvSpPr>
          <p:spPr>
            <a:xfrm>
              <a:off x="942950" y="2135643"/>
              <a:ext cx="122035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2" name="Line"/>
            <p:cNvSpPr/>
            <p:nvPr/>
          </p:nvSpPr>
          <p:spPr>
            <a:xfrm>
              <a:off x="942950" y="2501754"/>
              <a:ext cx="122035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3" name="Line"/>
            <p:cNvSpPr/>
            <p:nvPr/>
          </p:nvSpPr>
          <p:spPr>
            <a:xfrm>
              <a:off x="4115881" y="2135643"/>
              <a:ext cx="305090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4" name="Line"/>
            <p:cNvSpPr/>
            <p:nvPr/>
          </p:nvSpPr>
          <p:spPr>
            <a:xfrm flipH="1">
              <a:off x="4115881" y="2135643"/>
              <a:ext cx="305090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5" name="Line"/>
            <p:cNvSpPr/>
            <p:nvPr/>
          </p:nvSpPr>
          <p:spPr>
            <a:xfrm>
              <a:off x="2468398" y="2135643"/>
              <a:ext cx="152544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6" name="Line"/>
            <p:cNvSpPr/>
            <p:nvPr/>
          </p:nvSpPr>
          <p:spPr>
            <a:xfrm>
              <a:off x="2468398" y="2501754"/>
              <a:ext cx="1525448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7" name="Line"/>
            <p:cNvSpPr/>
            <p:nvPr/>
          </p:nvSpPr>
          <p:spPr>
            <a:xfrm>
              <a:off x="4420970" y="2135643"/>
              <a:ext cx="152544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8" name="Line"/>
            <p:cNvSpPr/>
            <p:nvPr/>
          </p:nvSpPr>
          <p:spPr>
            <a:xfrm>
              <a:off x="4420970" y="2501754"/>
              <a:ext cx="1525449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9" name="Data…"/>
            <p:cNvSpPr txBox="1"/>
            <p:nvPr/>
          </p:nvSpPr>
          <p:spPr>
            <a:xfrm>
              <a:off x="151053" y="2012335"/>
              <a:ext cx="608780" cy="624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1800" b="0"/>
              </a:pPr>
              <a:r>
                <a:t>Data</a:t>
              </a:r>
            </a:p>
            <a:p>
              <a:pPr algn="ctr">
                <a:defRPr sz="1800" b="0"/>
              </a:pPr>
              <a:r>
                <a:t>(split)</a:t>
              </a:r>
            </a:p>
          </p:txBody>
        </p:sp>
        <p:sp>
          <p:nvSpPr>
            <p:cNvPr id="500" name="Rectangle"/>
            <p:cNvSpPr/>
            <p:nvPr/>
          </p:nvSpPr>
          <p:spPr>
            <a:xfrm>
              <a:off x="2468398" y="2135643"/>
              <a:ext cx="1647484" cy="366112"/>
            </a:xfrm>
            <a:prstGeom prst="rect">
              <a:avLst/>
            </a:prstGeom>
            <a:solidFill>
              <a:srgbClr val="FF0000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501" name="data 0"/>
            <p:cNvSpPr txBox="1"/>
            <p:nvPr/>
          </p:nvSpPr>
          <p:spPr>
            <a:xfrm>
              <a:off x="2948780" y="2196662"/>
              <a:ext cx="576125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FF0000"/>
                  </a:solidFill>
                </a:defRPr>
              </a:lvl1pPr>
            </a:lstStyle>
            <a:p>
              <a:r>
                <a:t>data 0</a:t>
              </a:r>
            </a:p>
          </p:txBody>
        </p:sp>
        <p:sp>
          <p:nvSpPr>
            <p:cNvPr id="502" name="Rectangle"/>
            <p:cNvSpPr/>
            <p:nvPr/>
          </p:nvSpPr>
          <p:spPr>
            <a:xfrm>
              <a:off x="4420970" y="2135643"/>
              <a:ext cx="1647485" cy="366112"/>
            </a:xfrm>
            <a:prstGeom prst="rect">
              <a:avLst/>
            </a:prstGeom>
            <a:solidFill>
              <a:srgbClr val="0000FF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503" name="Line"/>
            <p:cNvSpPr/>
            <p:nvPr/>
          </p:nvSpPr>
          <p:spPr>
            <a:xfrm>
              <a:off x="6068454" y="2135643"/>
              <a:ext cx="305090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4" name="Line"/>
            <p:cNvSpPr/>
            <p:nvPr/>
          </p:nvSpPr>
          <p:spPr>
            <a:xfrm flipH="1">
              <a:off x="6068453" y="2135643"/>
              <a:ext cx="305091" cy="36611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5" name="data 1"/>
            <p:cNvSpPr txBox="1"/>
            <p:nvPr/>
          </p:nvSpPr>
          <p:spPr>
            <a:xfrm>
              <a:off x="4961099" y="2196662"/>
              <a:ext cx="576125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 b="0">
                  <a:solidFill>
                    <a:srgbClr val="0000FF"/>
                  </a:solidFill>
                </a:defRPr>
              </a:lvl1pPr>
            </a:lstStyle>
            <a:p>
              <a:r>
                <a:t>data 1</a:t>
              </a:r>
            </a:p>
          </p:txBody>
        </p:sp>
        <p:sp>
          <p:nvSpPr>
            <p:cNvPr id="506" name="Rectangle"/>
            <p:cNvSpPr/>
            <p:nvPr/>
          </p:nvSpPr>
          <p:spPr>
            <a:xfrm>
              <a:off x="6373543" y="2135643"/>
              <a:ext cx="244073" cy="366112"/>
            </a:xfrm>
            <a:prstGeom prst="rect">
              <a:avLst/>
            </a:prstGeom>
            <a:solidFill>
              <a:srgbClr val="339933">
                <a:alpha val="30195"/>
              </a:srgbClr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sp>
        <p:nvSpPr>
          <p:cNvPr id="5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511" name="Problems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191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rPr dirty="0"/>
              <a:t>Problems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rPr dirty="0"/>
              <a:t>Multiple requests can clash (e.g., a read and a write, or two writes, to the same data) (Note that this is more complicated than the case in Slide 4, as now different transactions may be at different stages of service)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rPr dirty="0"/>
              <a:t>Buffers used to hold pending transactions may fill up (</a:t>
            </a:r>
            <a:r>
              <a:rPr u="sng" dirty="0"/>
              <a:t>flow control</a:t>
            </a:r>
            <a:r>
              <a:rPr dirty="0"/>
              <a:t> is required)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rPr dirty="0"/>
              <a:t>Responses from multiple requests may appear in a different order than their respective requests</a:t>
            </a:r>
          </a:p>
          <a:p>
            <a:pPr marL="1143000" lvl="2" indent="-228600">
              <a:spcBef>
                <a:spcPts val="0"/>
              </a:spcBef>
              <a:buClrTx/>
              <a:defRPr sz="1800"/>
            </a:pPr>
            <a:r>
              <a:rPr dirty="0"/>
              <a:t>Responses and requests must then be matched using tags for each transaction</a:t>
            </a:r>
          </a:p>
        </p:txBody>
      </p:sp>
      <p:sp>
        <p:nvSpPr>
          <p:cNvPr id="512" name="Snooping with Split-Transaction Buses"/>
          <p:cNvSpPr txBox="1">
            <a:spLocks noGrp="1"/>
          </p:cNvSpPr>
          <p:nvPr>
            <p:ph type="title" idx="4294967295"/>
          </p:nvPr>
        </p:nvSpPr>
        <p:spPr>
          <a:xfrm>
            <a:off x="152400" y="152400"/>
            <a:ext cx="89916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rPr dirty="0"/>
              <a:t>Snooping with Split-Transaction Buses</a:t>
            </a:r>
          </a:p>
        </p:txBody>
      </p:sp>
      <p:sp>
        <p:nvSpPr>
          <p:cNvPr id="5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516" name="Clashing requests…"/>
          <p:cNvSpPr txBox="1">
            <a:spLocks noGrp="1"/>
          </p:cNvSpPr>
          <p:nvPr>
            <p:ph type="body" idx="4294967295"/>
          </p:nvPr>
        </p:nvSpPr>
        <p:spPr>
          <a:xfrm>
            <a:off x="609600" y="1219200"/>
            <a:ext cx="8534400" cy="46482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200"/>
            </a:pPr>
            <a:r>
              <a:rPr dirty="0"/>
              <a:t>Clashing requests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1900"/>
            </a:pPr>
            <a:r>
              <a:rPr dirty="0"/>
              <a:t>snoop controllers keep track themselves of what transactions are pending, in case there is conflict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1900"/>
            </a:pPr>
            <a:r>
              <a:rPr dirty="0"/>
              <a:t>Allow only one request at a time for each line (e.g., SGI Challenge)</a:t>
            </a:r>
          </a:p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200"/>
            </a:pPr>
            <a:r>
              <a:rPr dirty="0"/>
              <a:t>Flow control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1900"/>
            </a:pPr>
            <a:r>
              <a:rPr dirty="0"/>
              <a:t>Use </a:t>
            </a:r>
            <a:r>
              <a:rPr u="sng" dirty="0">
                <a:solidFill>
                  <a:srgbClr val="FF0000"/>
                </a:solidFill>
              </a:rPr>
              <a:t>negative acknowledgement (NACK)</a:t>
            </a:r>
            <a:r>
              <a:rPr dirty="0"/>
              <a:t> when buffers are full (requests must be retried later; a bit more tricky with responses, due to danger of deadlock) (e.g., SGI Challenge)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1900"/>
            </a:pPr>
            <a:r>
              <a:rPr dirty="0"/>
              <a:t>Or, design the size of all queues for the worst case scenario</a:t>
            </a:r>
          </a:p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200"/>
            </a:pPr>
            <a:r>
              <a:rPr dirty="0"/>
              <a:t>Ordering of transactions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1900"/>
            </a:pPr>
            <a:r>
              <a:rPr dirty="0"/>
              <a:t>Responses can appear in any order → the interleaving of the requests fully determine the order of transactions (e.g., SGI Challenge)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1900"/>
            </a:pPr>
            <a:r>
              <a:rPr dirty="0"/>
              <a:t>Or, enforce a FIFO order of transactions across the whole system (caches + memory) (e.g., Sun Enterprise)</a:t>
            </a:r>
          </a:p>
        </p:txBody>
      </p:sp>
      <p:sp>
        <p:nvSpPr>
          <p:cNvPr id="517" name="Snooping with Split-Transaction Buses"/>
          <p:cNvSpPr txBox="1">
            <a:spLocks noGrp="1"/>
          </p:cNvSpPr>
          <p:nvPr>
            <p:ph type="title" idx="4294967295"/>
          </p:nvPr>
        </p:nvSpPr>
        <p:spPr>
          <a:xfrm>
            <a:off x="228600" y="152400"/>
            <a:ext cx="89154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rPr dirty="0"/>
              <a:t>Snooping with Split-Transaction Buses</a:t>
            </a:r>
          </a:p>
        </p:txBody>
      </p:sp>
      <p:sp>
        <p:nvSpPr>
          <p:cNvPr id="5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521" name="Like a bus, rings easily support broadcasts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2947034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spcBef>
                <a:spcPts val="400"/>
              </a:spcBef>
              <a:buChar char="▪"/>
              <a:defRPr sz="2000"/>
            </a:pPr>
            <a:r>
              <a:rPr dirty="0"/>
              <a:t>Like a bus, rings easily support broadcasts</a:t>
            </a:r>
          </a:p>
          <a:p>
            <a:pPr>
              <a:spcBef>
                <a:spcPts val="400"/>
              </a:spcBef>
              <a:buChar char="▪"/>
              <a:defRPr sz="2000"/>
            </a:pPr>
            <a:r>
              <a:rPr dirty="0"/>
              <a:t>Snooping implemented by all controllers checking the message as it passes by and re-injecting it into the ring</a:t>
            </a:r>
          </a:p>
          <a:p>
            <a:pPr>
              <a:spcBef>
                <a:spcPts val="400"/>
              </a:spcBef>
              <a:buChar char="▪"/>
              <a:defRPr sz="2000"/>
            </a:pPr>
            <a:r>
              <a:rPr dirty="0"/>
              <a:t>Potentially multiple transactions can be simultaneously on different stretches of the ring (harder to enforce proper ordering)</a:t>
            </a:r>
          </a:p>
          <a:p>
            <a:pPr>
              <a:spcBef>
                <a:spcPts val="400"/>
              </a:spcBef>
              <a:buChar char="▪"/>
              <a:defRPr sz="2000"/>
            </a:pPr>
            <a:r>
              <a:rPr dirty="0"/>
              <a:t>Large latency for long rings and growing linearly with number of processors</a:t>
            </a:r>
          </a:p>
          <a:p>
            <a:pPr>
              <a:spcBef>
                <a:spcPts val="400"/>
              </a:spcBef>
              <a:buChar char="▪"/>
              <a:defRPr sz="2000"/>
            </a:pPr>
            <a:r>
              <a:rPr dirty="0"/>
              <a:t>Used to provide coherence across multiple chips in CMP systems (e.g., IBM Power 5)</a:t>
            </a:r>
          </a:p>
        </p:txBody>
      </p:sp>
      <p:sp>
        <p:nvSpPr>
          <p:cNvPr id="522" name="Snooping with Ring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Snooping with Ring</a:t>
            </a:r>
          </a:p>
        </p:txBody>
      </p:sp>
      <p:sp>
        <p:nvSpPr>
          <p:cNvPr id="523" name="P"/>
          <p:cNvSpPr txBox="1"/>
          <p:nvPr/>
        </p:nvSpPr>
        <p:spPr>
          <a:xfrm>
            <a:off x="4541361" y="3748087"/>
            <a:ext cx="189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24" name="Oval"/>
          <p:cNvSpPr/>
          <p:nvPr/>
        </p:nvSpPr>
        <p:spPr>
          <a:xfrm>
            <a:off x="4440237" y="3778250"/>
            <a:ext cx="381001" cy="269875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25" name="Rectangle"/>
          <p:cNvSpPr/>
          <p:nvPr/>
        </p:nvSpPr>
        <p:spPr>
          <a:xfrm>
            <a:off x="4421187" y="4121150"/>
            <a:ext cx="381001" cy="225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26" name="L1"/>
          <p:cNvSpPr txBox="1"/>
          <p:nvPr/>
        </p:nvSpPr>
        <p:spPr>
          <a:xfrm>
            <a:off x="4460411" y="4129087"/>
            <a:ext cx="262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27" name="Rectangle"/>
          <p:cNvSpPr/>
          <p:nvPr/>
        </p:nvSpPr>
        <p:spPr>
          <a:xfrm>
            <a:off x="4911725" y="4121150"/>
            <a:ext cx="652463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28" name="Mem"/>
          <p:cNvSpPr txBox="1"/>
          <p:nvPr/>
        </p:nvSpPr>
        <p:spPr>
          <a:xfrm>
            <a:off x="5008867" y="4191000"/>
            <a:ext cx="41214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29" name="Line"/>
          <p:cNvSpPr/>
          <p:nvPr/>
        </p:nvSpPr>
        <p:spPr>
          <a:xfrm>
            <a:off x="4638674" y="4346575"/>
            <a:ext cx="1" cy="309563"/>
          </a:xfrm>
          <a:prstGeom prst="line">
            <a:avLst/>
          </a:prstGeom>
          <a:ln w="12700">
            <a:solidFill>
              <a:srgbClr val="000000"/>
            </a:solidFill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0" name="P"/>
          <p:cNvSpPr txBox="1"/>
          <p:nvPr/>
        </p:nvSpPr>
        <p:spPr>
          <a:xfrm>
            <a:off x="5879623" y="3756025"/>
            <a:ext cx="189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31" name="Oval"/>
          <p:cNvSpPr/>
          <p:nvPr/>
        </p:nvSpPr>
        <p:spPr>
          <a:xfrm>
            <a:off x="5778500" y="3786187"/>
            <a:ext cx="381000" cy="269876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32" name="Rectangle"/>
          <p:cNvSpPr/>
          <p:nvPr/>
        </p:nvSpPr>
        <p:spPr>
          <a:xfrm>
            <a:off x="5759450" y="4129087"/>
            <a:ext cx="381000" cy="225426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33" name="L1"/>
          <p:cNvSpPr txBox="1"/>
          <p:nvPr/>
        </p:nvSpPr>
        <p:spPr>
          <a:xfrm>
            <a:off x="5798673" y="4137025"/>
            <a:ext cx="262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34" name="Rectangle"/>
          <p:cNvSpPr/>
          <p:nvPr/>
        </p:nvSpPr>
        <p:spPr>
          <a:xfrm>
            <a:off x="6249987" y="4129087"/>
            <a:ext cx="652463" cy="450851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35" name="Mem"/>
          <p:cNvSpPr txBox="1"/>
          <p:nvPr/>
        </p:nvSpPr>
        <p:spPr>
          <a:xfrm>
            <a:off x="6347130" y="4198937"/>
            <a:ext cx="4121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36" name="Line"/>
          <p:cNvSpPr/>
          <p:nvPr/>
        </p:nvSpPr>
        <p:spPr>
          <a:xfrm>
            <a:off x="5976937" y="4354512"/>
            <a:ext cx="1" cy="309564"/>
          </a:xfrm>
          <a:prstGeom prst="line">
            <a:avLst/>
          </a:prstGeom>
          <a:ln w="12700">
            <a:solidFill>
              <a:srgbClr val="000000"/>
            </a:solidFill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7" name="P"/>
          <p:cNvSpPr txBox="1"/>
          <p:nvPr/>
        </p:nvSpPr>
        <p:spPr>
          <a:xfrm>
            <a:off x="7589361" y="4586287"/>
            <a:ext cx="189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38" name="Oval"/>
          <p:cNvSpPr/>
          <p:nvPr/>
        </p:nvSpPr>
        <p:spPr>
          <a:xfrm>
            <a:off x="7488237" y="4616450"/>
            <a:ext cx="381001" cy="269875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39" name="Rectangle"/>
          <p:cNvSpPr/>
          <p:nvPr/>
        </p:nvSpPr>
        <p:spPr>
          <a:xfrm>
            <a:off x="7469187" y="4959350"/>
            <a:ext cx="381001" cy="225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0" name="L1"/>
          <p:cNvSpPr txBox="1"/>
          <p:nvPr/>
        </p:nvSpPr>
        <p:spPr>
          <a:xfrm>
            <a:off x="7508411" y="4967287"/>
            <a:ext cx="262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41" name="Rectangle"/>
          <p:cNvSpPr/>
          <p:nvPr/>
        </p:nvSpPr>
        <p:spPr>
          <a:xfrm>
            <a:off x="7959725" y="4959350"/>
            <a:ext cx="652463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2" name="Mem"/>
          <p:cNvSpPr txBox="1"/>
          <p:nvPr/>
        </p:nvSpPr>
        <p:spPr>
          <a:xfrm>
            <a:off x="8056867" y="5029200"/>
            <a:ext cx="41214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43" name="Line"/>
          <p:cNvSpPr/>
          <p:nvPr/>
        </p:nvSpPr>
        <p:spPr>
          <a:xfrm flipH="1">
            <a:off x="7169784" y="5104765"/>
            <a:ext cx="309564" cy="1"/>
          </a:xfrm>
          <a:prstGeom prst="line">
            <a:avLst/>
          </a:prstGeom>
          <a:ln w="12700">
            <a:solidFill>
              <a:srgbClr val="000000"/>
            </a:solidFill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4" name="P"/>
          <p:cNvSpPr txBox="1"/>
          <p:nvPr/>
        </p:nvSpPr>
        <p:spPr>
          <a:xfrm>
            <a:off x="3091973" y="4572000"/>
            <a:ext cx="189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45" name="Oval"/>
          <p:cNvSpPr/>
          <p:nvPr/>
        </p:nvSpPr>
        <p:spPr>
          <a:xfrm>
            <a:off x="2990850" y="4602162"/>
            <a:ext cx="381000" cy="269876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6" name="Rectangle"/>
          <p:cNvSpPr/>
          <p:nvPr/>
        </p:nvSpPr>
        <p:spPr>
          <a:xfrm>
            <a:off x="2971800" y="4945062"/>
            <a:ext cx="381000" cy="225426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7" name="L1"/>
          <p:cNvSpPr txBox="1"/>
          <p:nvPr/>
        </p:nvSpPr>
        <p:spPr>
          <a:xfrm>
            <a:off x="3011023" y="4953000"/>
            <a:ext cx="262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48" name="Rectangle"/>
          <p:cNvSpPr/>
          <p:nvPr/>
        </p:nvSpPr>
        <p:spPr>
          <a:xfrm>
            <a:off x="2243137" y="4945062"/>
            <a:ext cx="652463" cy="450851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9" name="Mem"/>
          <p:cNvSpPr txBox="1"/>
          <p:nvPr/>
        </p:nvSpPr>
        <p:spPr>
          <a:xfrm>
            <a:off x="2340280" y="5014912"/>
            <a:ext cx="4121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50" name="Line"/>
          <p:cNvSpPr/>
          <p:nvPr/>
        </p:nvSpPr>
        <p:spPr>
          <a:xfrm>
            <a:off x="3353434" y="5106034"/>
            <a:ext cx="309564" cy="1"/>
          </a:xfrm>
          <a:prstGeom prst="line">
            <a:avLst/>
          </a:prstGeom>
          <a:ln w="12700">
            <a:solidFill>
              <a:srgbClr val="000000"/>
            </a:solidFill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1" name="P"/>
          <p:cNvSpPr txBox="1"/>
          <p:nvPr/>
        </p:nvSpPr>
        <p:spPr>
          <a:xfrm>
            <a:off x="5876448" y="6089650"/>
            <a:ext cx="189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52" name="Oval"/>
          <p:cNvSpPr/>
          <p:nvPr/>
        </p:nvSpPr>
        <p:spPr>
          <a:xfrm>
            <a:off x="5775325" y="6119812"/>
            <a:ext cx="381000" cy="269876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53" name="Rectangle"/>
          <p:cNvSpPr/>
          <p:nvPr/>
        </p:nvSpPr>
        <p:spPr>
          <a:xfrm>
            <a:off x="5757862" y="5791200"/>
            <a:ext cx="381001" cy="225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54" name="L1"/>
          <p:cNvSpPr txBox="1"/>
          <p:nvPr/>
        </p:nvSpPr>
        <p:spPr>
          <a:xfrm>
            <a:off x="5797086" y="5799137"/>
            <a:ext cx="262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55" name="Rectangle"/>
          <p:cNvSpPr/>
          <p:nvPr/>
        </p:nvSpPr>
        <p:spPr>
          <a:xfrm>
            <a:off x="6248400" y="5791200"/>
            <a:ext cx="652463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56" name="Mem"/>
          <p:cNvSpPr txBox="1"/>
          <p:nvPr/>
        </p:nvSpPr>
        <p:spPr>
          <a:xfrm>
            <a:off x="6345542" y="5861050"/>
            <a:ext cx="41214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57" name="Line"/>
          <p:cNvSpPr/>
          <p:nvPr/>
        </p:nvSpPr>
        <p:spPr>
          <a:xfrm>
            <a:off x="5984874" y="5486399"/>
            <a:ext cx="1" cy="309564"/>
          </a:xfrm>
          <a:prstGeom prst="line">
            <a:avLst/>
          </a:prstGeom>
          <a:ln w="12700">
            <a:solidFill>
              <a:srgbClr val="000000"/>
            </a:solidFill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8" name="P"/>
          <p:cNvSpPr txBox="1"/>
          <p:nvPr/>
        </p:nvSpPr>
        <p:spPr>
          <a:xfrm>
            <a:off x="4539773" y="6096000"/>
            <a:ext cx="189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59" name="Oval"/>
          <p:cNvSpPr/>
          <p:nvPr/>
        </p:nvSpPr>
        <p:spPr>
          <a:xfrm>
            <a:off x="4438650" y="6126162"/>
            <a:ext cx="381000" cy="269876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60" name="Rectangle"/>
          <p:cNvSpPr/>
          <p:nvPr/>
        </p:nvSpPr>
        <p:spPr>
          <a:xfrm>
            <a:off x="4421187" y="5797550"/>
            <a:ext cx="381001" cy="225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61" name="L1"/>
          <p:cNvSpPr txBox="1"/>
          <p:nvPr/>
        </p:nvSpPr>
        <p:spPr>
          <a:xfrm>
            <a:off x="4460411" y="5805487"/>
            <a:ext cx="262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62" name="Rectangle"/>
          <p:cNvSpPr/>
          <p:nvPr/>
        </p:nvSpPr>
        <p:spPr>
          <a:xfrm>
            <a:off x="4911725" y="5797550"/>
            <a:ext cx="652463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63" name="Mem"/>
          <p:cNvSpPr txBox="1"/>
          <p:nvPr/>
        </p:nvSpPr>
        <p:spPr>
          <a:xfrm>
            <a:off x="5008867" y="5867400"/>
            <a:ext cx="41214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64" name="Line"/>
          <p:cNvSpPr/>
          <p:nvPr/>
        </p:nvSpPr>
        <p:spPr>
          <a:xfrm>
            <a:off x="4648199" y="5492749"/>
            <a:ext cx="1" cy="309564"/>
          </a:xfrm>
          <a:prstGeom prst="line">
            <a:avLst/>
          </a:prstGeom>
          <a:ln w="12700">
            <a:solidFill>
              <a:srgbClr val="000000"/>
            </a:solidFill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5" name="Oval"/>
          <p:cNvSpPr/>
          <p:nvPr/>
        </p:nvSpPr>
        <p:spPr>
          <a:xfrm>
            <a:off x="3657600" y="4648200"/>
            <a:ext cx="3505200" cy="838200"/>
          </a:xfrm>
          <a:prstGeom prst="ellipse">
            <a:avLst/>
          </a:prstGeom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E48C1-3184-8104-7E16-A94EDE97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arallel Architectures - 2021-22">
            <a:extLst>
              <a:ext uri="{FF2B5EF4-FFF2-40B4-BE49-F238E27FC236}">
                <a16:creationId xmlns:a16="http://schemas.microsoft.com/office/drawing/2014/main" id="{627B911A-AAAD-6679-AFCB-AB44CB5F8CCF}"/>
              </a:ext>
            </a:extLst>
          </p:cNvPr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521" name="Like a bus, rings easily support broadcasts…">
            <a:extLst>
              <a:ext uri="{FF2B5EF4-FFF2-40B4-BE49-F238E27FC236}">
                <a16:creationId xmlns:a16="http://schemas.microsoft.com/office/drawing/2014/main" id="{8085CBEB-B8B2-8989-0D15-8644E4BD12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294703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400"/>
              </a:spcBef>
              <a:buChar char="▪"/>
              <a:defRPr sz="2000"/>
            </a:pPr>
            <a:r>
              <a:rPr lang="en-US" dirty="0"/>
              <a:t>How to enforce write serialization in a ring? </a:t>
            </a:r>
          </a:p>
          <a:p>
            <a:pPr marL="0" indent="0">
              <a:spcBef>
                <a:spcPts val="400"/>
              </a:spcBef>
              <a:buNone/>
              <a:defRPr sz="2000"/>
            </a:pPr>
            <a:endParaRPr lang="en-US" dirty="0"/>
          </a:p>
          <a:p>
            <a:pPr marL="0" indent="0">
              <a:spcBef>
                <a:spcPts val="400"/>
              </a:spcBef>
              <a:buNone/>
              <a:defRPr sz="2000"/>
            </a:pPr>
            <a:r>
              <a:rPr lang="en-US" dirty="0"/>
              <a:t>      Solution: Every address has a home node. If there are two racing writes, ties are broken via the home node. Whatever reaches there first, is said to </a:t>
            </a:r>
            <a:r>
              <a:rPr lang="en-US"/>
              <a:t>have serialized first. </a:t>
            </a:r>
          </a:p>
        </p:txBody>
      </p:sp>
      <p:sp>
        <p:nvSpPr>
          <p:cNvPr id="522" name="Snooping with Ring">
            <a:extLst>
              <a:ext uri="{FF2B5EF4-FFF2-40B4-BE49-F238E27FC236}">
                <a16:creationId xmlns:a16="http://schemas.microsoft.com/office/drawing/2014/main" id="{D90B55FB-18E6-DCD2-1587-4DA082C62B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dirty="0"/>
              <a:t>Snooping with Ring</a:t>
            </a:r>
          </a:p>
        </p:txBody>
      </p:sp>
      <p:sp>
        <p:nvSpPr>
          <p:cNvPr id="523" name="P">
            <a:extLst>
              <a:ext uri="{FF2B5EF4-FFF2-40B4-BE49-F238E27FC236}">
                <a16:creationId xmlns:a16="http://schemas.microsoft.com/office/drawing/2014/main" id="{0363206D-967E-E166-4F62-AF1584381287}"/>
              </a:ext>
            </a:extLst>
          </p:cNvPr>
          <p:cNvSpPr txBox="1"/>
          <p:nvPr/>
        </p:nvSpPr>
        <p:spPr>
          <a:xfrm>
            <a:off x="4541361" y="3748087"/>
            <a:ext cx="189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24" name="Oval">
            <a:extLst>
              <a:ext uri="{FF2B5EF4-FFF2-40B4-BE49-F238E27FC236}">
                <a16:creationId xmlns:a16="http://schemas.microsoft.com/office/drawing/2014/main" id="{A7E3A411-76A2-B1B7-2D43-796A4A9022F8}"/>
              </a:ext>
            </a:extLst>
          </p:cNvPr>
          <p:cNvSpPr/>
          <p:nvPr/>
        </p:nvSpPr>
        <p:spPr>
          <a:xfrm>
            <a:off x="4440237" y="3778250"/>
            <a:ext cx="381001" cy="269875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25" name="Rectangle">
            <a:extLst>
              <a:ext uri="{FF2B5EF4-FFF2-40B4-BE49-F238E27FC236}">
                <a16:creationId xmlns:a16="http://schemas.microsoft.com/office/drawing/2014/main" id="{1528B5DF-99ED-A1B6-6EE6-5DA2DAC19A50}"/>
              </a:ext>
            </a:extLst>
          </p:cNvPr>
          <p:cNvSpPr/>
          <p:nvPr/>
        </p:nvSpPr>
        <p:spPr>
          <a:xfrm>
            <a:off x="4421187" y="4121150"/>
            <a:ext cx="381001" cy="225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26" name="L1">
            <a:extLst>
              <a:ext uri="{FF2B5EF4-FFF2-40B4-BE49-F238E27FC236}">
                <a16:creationId xmlns:a16="http://schemas.microsoft.com/office/drawing/2014/main" id="{F77629F9-1B2A-C612-1096-68CDCE797471}"/>
              </a:ext>
            </a:extLst>
          </p:cNvPr>
          <p:cNvSpPr txBox="1"/>
          <p:nvPr/>
        </p:nvSpPr>
        <p:spPr>
          <a:xfrm>
            <a:off x="4460411" y="4129087"/>
            <a:ext cx="262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27" name="Rectangle">
            <a:extLst>
              <a:ext uri="{FF2B5EF4-FFF2-40B4-BE49-F238E27FC236}">
                <a16:creationId xmlns:a16="http://schemas.microsoft.com/office/drawing/2014/main" id="{FFC602FB-D8C7-F187-98A8-427EB03DA619}"/>
              </a:ext>
            </a:extLst>
          </p:cNvPr>
          <p:cNvSpPr/>
          <p:nvPr/>
        </p:nvSpPr>
        <p:spPr>
          <a:xfrm>
            <a:off x="4911725" y="4121150"/>
            <a:ext cx="652463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28" name="Mem">
            <a:extLst>
              <a:ext uri="{FF2B5EF4-FFF2-40B4-BE49-F238E27FC236}">
                <a16:creationId xmlns:a16="http://schemas.microsoft.com/office/drawing/2014/main" id="{E5BC0D02-BC72-53CF-DDBA-E2439A2A5288}"/>
              </a:ext>
            </a:extLst>
          </p:cNvPr>
          <p:cNvSpPr txBox="1"/>
          <p:nvPr/>
        </p:nvSpPr>
        <p:spPr>
          <a:xfrm>
            <a:off x="5008867" y="4191000"/>
            <a:ext cx="41214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29" name="Line">
            <a:extLst>
              <a:ext uri="{FF2B5EF4-FFF2-40B4-BE49-F238E27FC236}">
                <a16:creationId xmlns:a16="http://schemas.microsoft.com/office/drawing/2014/main" id="{2611BA73-6721-B155-4A0C-7D190F3AC804}"/>
              </a:ext>
            </a:extLst>
          </p:cNvPr>
          <p:cNvSpPr/>
          <p:nvPr/>
        </p:nvSpPr>
        <p:spPr>
          <a:xfrm>
            <a:off x="4638674" y="4346575"/>
            <a:ext cx="1" cy="309563"/>
          </a:xfrm>
          <a:prstGeom prst="line">
            <a:avLst/>
          </a:prstGeom>
          <a:ln w="12700">
            <a:solidFill>
              <a:srgbClr val="000000"/>
            </a:solidFill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0" name="P">
            <a:extLst>
              <a:ext uri="{FF2B5EF4-FFF2-40B4-BE49-F238E27FC236}">
                <a16:creationId xmlns:a16="http://schemas.microsoft.com/office/drawing/2014/main" id="{C93B96D9-EFD1-B3A3-111F-EA91AF0AC313}"/>
              </a:ext>
            </a:extLst>
          </p:cNvPr>
          <p:cNvSpPr txBox="1"/>
          <p:nvPr/>
        </p:nvSpPr>
        <p:spPr>
          <a:xfrm>
            <a:off x="5879623" y="3756025"/>
            <a:ext cx="189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31" name="Oval">
            <a:extLst>
              <a:ext uri="{FF2B5EF4-FFF2-40B4-BE49-F238E27FC236}">
                <a16:creationId xmlns:a16="http://schemas.microsoft.com/office/drawing/2014/main" id="{111D3CAA-B537-A05F-454A-E2550A25DC68}"/>
              </a:ext>
            </a:extLst>
          </p:cNvPr>
          <p:cNvSpPr/>
          <p:nvPr/>
        </p:nvSpPr>
        <p:spPr>
          <a:xfrm>
            <a:off x="5778500" y="3786187"/>
            <a:ext cx="381000" cy="269876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32" name="Rectangle">
            <a:extLst>
              <a:ext uri="{FF2B5EF4-FFF2-40B4-BE49-F238E27FC236}">
                <a16:creationId xmlns:a16="http://schemas.microsoft.com/office/drawing/2014/main" id="{DEAD1A25-3DB4-2916-538F-7060E77034D8}"/>
              </a:ext>
            </a:extLst>
          </p:cNvPr>
          <p:cNvSpPr/>
          <p:nvPr/>
        </p:nvSpPr>
        <p:spPr>
          <a:xfrm>
            <a:off x="5759450" y="4129087"/>
            <a:ext cx="381000" cy="225426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33" name="L1">
            <a:extLst>
              <a:ext uri="{FF2B5EF4-FFF2-40B4-BE49-F238E27FC236}">
                <a16:creationId xmlns:a16="http://schemas.microsoft.com/office/drawing/2014/main" id="{1D194E91-E1F3-ADE9-DB2A-0796018853EC}"/>
              </a:ext>
            </a:extLst>
          </p:cNvPr>
          <p:cNvSpPr txBox="1"/>
          <p:nvPr/>
        </p:nvSpPr>
        <p:spPr>
          <a:xfrm>
            <a:off x="5798673" y="4137025"/>
            <a:ext cx="262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34" name="Rectangle">
            <a:extLst>
              <a:ext uri="{FF2B5EF4-FFF2-40B4-BE49-F238E27FC236}">
                <a16:creationId xmlns:a16="http://schemas.microsoft.com/office/drawing/2014/main" id="{826A7F64-83CF-A35E-9B28-6546762D1A45}"/>
              </a:ext>
            </a:extLst>
          </p:cNvPr>
          <p:cNvSpPr/>
          <p:nvPr/>
        </p:nvSpPr>
        <p:spPr>
          <a:xfrm>
            <a:off x="6249987" y="4129087"/>
            <a:ext cx="652463" cy="450851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35" name="Mem">
            <a:extLst>
              <a:ext uri="{FF2B5EF4-FFF2-40B4-BE49-F238E27FC236}">
                <a16:creationId xmlns:a16="http://schemas.microsoft.com/office/drawing/2014/main" id="{7223D642-7850-89AE-66C0-0BBEFAEEE6E8}"/>
              </a:ext>
            </a:extLst>
          </p:cNvPr>
          <p:cNvSpPr txBox="1"/>
          <p:nvPr/>
        </p:nvSpPr>
        <p:spPr>
          <a:xfrm>
            <a:off x="6347130" y="4198937"/>
            <a:ext cx="4121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36" name="Line">
            <a:extLst>
              <a:ext uri="{FF2B5EF4-FFF2-40B4-BE49-F238E27FC236}">
                <a16:creationId xmlns:a16="http://schemas.microsoft.com/office/drawing/2014/main" id="{AD0CEEFE-BAF7-D02A-2F7B-B914D879B84A}"/>
              </a:ext>
            </a:extLst>
          </p:cNvPr>
          <p:cNvSpPr/>
          <p:nvPr/>
        </p:nvSpPr>
        <p:spPr>
          <a:xfrm>
            <a:off x="5976937" y="4354512"/>
            <a:ext cx="1" cy="309564"/>
          </a:xfrm>
          <a:prstGeom prst="line">
            <a:avLst/>
          </a:prstGeom>
          <a:ln w="12700">
            <a:solidFill>
              <a:srgbClr val="000000"/>
            </a:solidFill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7" name="P">
            <a:extLst>
              <a:ext uri="{FF2B5EF4-FFF2-40B4-BE49-F238E27FC236}">
                <a16:creationId xmlns:a16="http://schemas.microsoft.com/office/drawing/2014/main" id="{04742D1B-D7FC-01C3-8E33-7E3517DD967B}"/>
              </a:ext>
            </a:extLst>
          </p:cNvPr>
          <p:cNvSpPr txBox="1"/>
          <p:nvPr/>
        </p:nvSpPr>
        <p:spPr>
          <a:xfrm>
            <a:off x="7589361" y="4586287"/>
            <a:ext cx="189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38" name="Oval">
            <a:extLst>
              <a:ext uri="{FF2B5EF4-FFF2-40B4-BE49-F238E27FC236}">
                <a16:creationId xmlns:a16="http://schemas.microsoft.com/office/drawing/2014/main" id="{BA15957B-E4D7-FCC9-CD18-0B0F8FB54502}"/>
              </a:ext>
            </a:extLst>
          </p:cNvPr>
          <p:cNvSpPr/>
          <p:nvPr/>
        </p:nvSpPr>
        <p:spPr>
          <a:xfrm>
            <a:off x="7488237" y="4616450"/>
            <a:ext cx="381001" cy="269875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39" name="Rectangle">
            <a:extLst>
              <a:ext uri="{FF2B5EF4-FFF2-40B4-BE49-F238E27FC236}">
                <a16:creationId xmlns:a16="http://schemas.microsoft.com/office/drawing/2014/main" id="{6AE21560-BE8C-2FE3-9D8A-C5CE553FD002}"/>
              </a:ext>
            </a:extLst>
          </p:cNvPr>
          <p:cNvSpPr/>
          <p:nvPr/>
        </p:nvSpPr>
        <p:spPr>
          <a:xfrm>
            <a:off x="7469187" y="4959350"/>
            <a:ext cx="381001" cy="225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0" name="L1">
            <a:extLst>
              <a:ext uri="{FF2B5EF4-FFF2-40B4-BE49-F238E27FC236}">
                <a16:creationId xmlns:a16="http://schemas.microsoft.com/office/drawing/2014/main" id="{CFA6BCC7-ECFB-5697-875C-BCAF4141511A}"/>
              </a:ext>
            </a:extLst>
          </p:cNvPr>
          <p:cNvSpPr txBox="1"/>
          <p:nvPr/>
        </p:nvSpPr>
        <p:spPr>
          <a:xfrm>
            <a:off x="7508411" y="4967287"/>
            <a:ext cx="262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41" name="Rectangle">
            <a:extLst>
              <a:ext uri="{FF2B5EF4-FFF2-40B4-BE49-F238E27FC236}">
                <a16:creationId xmlns:a16="http://schemas.microsoft.com/office/drawing/2014/main" id="{4C0CC6F2-893E-D5F8-0F31-0408DE6202A3}"/>
              </a:ext>
            </a:extLst>
          </p:cNvPr>
          <p:cNvSpPr/>
          <p:nvPr/>
        </p:nvSpPr>
        <p:spPr>
          <a:xfrm>
            <a:off x="7959725" y="4959350"/>
            <a:ext cx="652463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2" name="Mem">
            <a:extLst>
              <a:ext uri="{FF2B5EF4-FFF2-40B4-BE49-F238E27FC236}">
                <a16:creationId xmlns:a16="http://schemas.microsoft.com/office/drawing/2014/main" id="{21ED8E23-277F-D670-60B7-7DA128531227}"/>
              </a:ext>
            </a:extLst>
          </p:cNvPr>
          <p:cNvSpPr txBox="1"/>
          <p:nvPr/>
        </p:nvSpPr>
        <p:spPr>
          <a:xfrm>
            <a:off x="8056867" y="5029200"/>
            <a:ext cx="41214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43" name="Line">
            <a:extLst>
              <a:ext uri="{FF2B5EF4-FFF2-40B4-BE49-F238E27FC236}">
                <a16:creationId xmlns:a16="http://schemas.microsoft.com/office/drawing/2014/main" id="{4538FC03-8C52-9D4A-7D08-B14CBA0B92DF}"/>
              </a:ext>
            </a:extLst>
          </p:cNvPr>
          <p:cNvSpPr/>
          <p:nvPr/>
        </p:nvSpPr>
        <p:spPr>
          <a:xfrm flipH="1">
            <a:off x="7169784" y="5104765"/>
            <a:ext cx="309564" cy="1"/>
          </a:xfrm>
          <a:prstGeom prst="line">
            <a:avLst/>
          </a:prstGeom>
          <a:ln w="12700">
            <a:solidFill>
              <a:srgbClr val="000000"/>
            </a:solidFill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4" name="P">
            <a:extLst>
              <a:ext uri="{FF2B5EF4-FFF2-40B4-BE49-F238E27FC236}">
                <a16:creationId xmlns:a16="http://schemas.microsoft.com/office/drawing/2014/main" id="{81645C66-A960-8F76-959E-CEAC8D19B1E7}"/>
              </a:ext>
            </a:extLst>
          </p:cNvPr>
          <p:cNvSpPr txBox="1"/>
          <p:nvPr/>
        </p:nvSpPr>
        <p:spPr>
          <a:xfrm>
            <a:off x="3091973" y="4572000"/>
            <a:ext cx="189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45" name="Oval">
            <a:extLst>
              <a:ext uri="{FF2B5EF4-FFF2-40B4-BE49-F238E27FC236}">
                <a16:creationId xmlns:a16="http://schemas.microsoft.com/office/drawing/2014/main" id="{9AB51DC7-0AC9-223D-A205-ACCE91432C37}"/>
              </a:ext>
            </a:extLst>
          </p:cNvPr>
          <p:cNvSpPr/>
          <p:nvPr/>
        </p:nvSpPr>
        <p:spPr>
          <a:xfrm>
            <a:off x="2990850" y="4602162"/>
            <a:ext cx="381000" cy="269876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6" name="Rectangle">
            <a:extLst>
              <a:ext uri="{FF2B5EF4-FFF2-40B4-BE49-F238E27FC236}">
                <a16:creationId xmlns:a16="http://schemas.microsoft.com/office/drawing/2014/main" id="{7DFB3A0D-5F96-F08C-6214-4EC6ECDAC2E5}"/>
              </a:ext>
            </a:extLst>
          </p:cNvPr>
          <p:cNvSpPr/>
          <p:nvPr/>
        </p:nvSpPr>
        <p:spPr>
          <a:xfrm>
            <a:off x="2971800" y="4945062"/>
            <a:ext cx="381000" cy="225426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7" name="L1">
            <a:extLst>
              <a:ext uri="{FF2B5EF4-FFF2-40B4-BE49-F238E27FC236}">
                <a16:creationId xmlns:a16="http://schemas.microsoft.com/office/drawing/2014/main" id="{675F3759-2502-ECB8-7AAB-D8172B8C17F7}"/>
              </a:ext>
            </a:extLst>
          </p:cNvPr>
          <p:cNvSpPr txBox="1"/>
          <p:nvPr/>
        </p:nvSpPr>
        <p:spPr>
          <a:xfrm>
            <a:off x="3011023" y="4953000"/>
            <a:ext cx="262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48" name="Rectangle">
            <a:extLst>
              <a:ext uri="{FF2B5EF4-FFF2-40B4-BE49-F238E27FC236}">
                <a16:creationId xmlns:a16="http://schemas.microsoft.com/office/drawing/2014/main" id="{211C0B74-BE1C-A5BB-E1FC-D4CA910E5F92}"/>
              </a:ext>
            </a:extLst>
          </p:cNvPr>
          <p:cNvSpPr/>
          <p:nvPr/>
        </p:nvSpPr>
        <p:spPr>
          <a:xfrm>
            <a:off x="2243137" y="4945062"/>
            <a:ext cx="652463" cy="450851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49" name="Mem">
            <a:extLst>
              <a:ext uri="{FF2B5EF4-FFF2-40B4-BE49-F238E27FC236}">
                <a16:creationId xmlns:a16="http://schemas.microsoft.com/office/drawing/2014/main" id="{E7AAFAA0-1099-9E63-0682-DADC4DEDA4A2}"/>
              </a:ext>
            </a:extLst>
          </p:cNvPr>
          <p:cNvSpPr txBox="1"/>
          <p:nvPr/>
        </p:nvSpPr>
        <p:spPr>
          <a:xfrm>
            <a:off x="2340280" y="5014912"/>
            <a:ext cx="4121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50" name="Line">
            <a:extLst>
              <a:ext uri="{FF2B5EF4-FFF2-40B4-BE49-F238E27FC236}">
                <a16:creationId xmlns:a16="http://schemas.microsoft.com/office/drawing/2014/main" id="{4B5D92DF-6911-C0AE-EF7F-012D3E177920}"/>
              </a:ext>
            </a:extLst>
          </p:cNvPr>
          <p:cNvSpPr/>
          <p:nvPr/>
        </p:nvSpPr>
        <p:spPr>
          <a:xfrm>
            <a:off x="3353434" y="5106034"/>
            <a:ext cx="309564" cy="1"/>
          </a:xfrm>
          <a:prstGeom prst="line">
            <a:avLst/>
          </a:prstGeom>
          <a:ln w="12700">
            <a:solidFill>
              <a:srgbClr val="000000"/>
            </a:solidFill>
            <a:tail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1" name="P">
            <a:extLst>
              <a:ext uri="{FF2B5EF4-FFF2-40B4-BE49-F238E27FC236}">
                <a16:creationId xmlns:a16="http://schemas.microsoft.com/office/drawing/2014/main" id="{A1D8AED0-FFDD-9A0B-E20B-CB891CE67365}"/>
              </a:ext>
            </a:extLst>
          </p:cNvPr>
          <p:cNvSpPr txBox="1"/>
          <p:nvPr/>
        </p:nvSpPr>
        <p:spPr>
          <a:xfrm>
            <a:off x="5876448" y="6089650"/>
            <a:ext cx="189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52" name="Oval">
            <a:extLst>
              <a:ext uri="{FF2B5EF4-FFF2-40B4-BE49-F238E27FC236}">
                <a16:creationId xmlns:a16="http://schemas.microsoft.com/office/drawing/2014/main" id="{5203F8AC-23FF-A6FF-F9E9-0B64D8D452B2}"/>
              </a:ext>
            </a:extLst>
          </p:cNvPr>
          <p:cNvSpPr/>
          <p:nvPr/>
        </p:nvSpPr>
        <p:spPr>
          <a:xfrm>
            <a:off x="5775325" y="6119812"/>
            <a:ext cx="381000" cy="269876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53" name="Rectangle">
            <a:extLst>
              <a:ext uri="{FF2B5EF4-FFF2-40B4-BE49-F238E27FC236}">
                <a16:creationId xmlns:a16="http://schemas.microsoft.com/office/drawing/2014/main" id="{72CDB4A3-5E2D-0864-44A0-C2346B56CC04}"/>
              </a:ext>
            </a:extLst>
          </p:cNvPr>
          <p:cNvSpPr/>
          <p:nvPr/>
        </p:nvSpPr>
        <p:spPr>
          <a:xfrm>
            <a:off x="5757862" y="5791200"/>
            <a:ext cx="381001" cy="225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54" name="L1">
            <a:extLst>
              <a:ext uri="{FF2B5EF4-FFF2-40B4-BE49-F238E27FC236}">
                <a16:creationId xmlns:a16="http://schemas.microsoft.com/office/drawing/2014/main" id="{5A47E3ED-5FEB-3D7C-DAE0-D1F7817AE1CB}"/>
              </a:ext>
            </a:extLst>
          </p:cNvPr>
          <p:cNvSpPr txBox="1"/>
          <p:nvPr/>
        </p:nvSpPr>
        <p:spPr>
          <a:xfrm>
            <a:off x="5797086" y="5799137"/>
            <a:ext cx="262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55" name="Rectangle">
            <a:extLst>
              <a:ext uri="{FF2B5EF4-FFF2-40B4-BE49-F238E27FC236}">
                <a16:creationId xmlns:a16="http://schemas.microsoft.com/office/drawing/2014/main" id="{7E8F3C2B-B8E7-6A06-C5CF-CF6EE0A861B6}"/>
              </a:ext>
            </a:extLst>
          </p:cNvPr>
          <p:cNvSpPr/>
          <p:nvPr/>
        </p:nvSpPr>
        <p:spPr>
          <a:xfrm>
            <a:off x="6248400" y="5791200"/>
            <a:ext cx="652463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56" name="Mem">
            <a:extLst>
              <a:ext uri="{FF2B5EF4-FFF2-40B4-BE49-F238E27FC236}">
                <a16:creationId xmlns:a16="http://schemas.microsoft.com/office/drawing/2014/main" id="{56F7360B-25F2-CA1D-799A-ED8F63160AD8}"/>
              </a:ext>
            </a:extLst>
          </p:cNvPr>
          <p:cNvSpPr txBox="1"/>
          <p:nvPr/>
        </p:nvSpPr>
        <p:spPr>
          <a:xfrm>
            <a:off x="6345542" y="5861050"/>
            <a:ext cx="41214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57" name="Line">
            <a:extLst>
              <a:ext uri="{FF2B5EF4-FFF2-40B4-BE49-F238E27FC236}">
                <a16:creationId xmlns:a16="http://schemas.microsoft.com/office/drawing/2014/main" id="{E366A40C-A653-C4C7-50F1-0447BECE53E7}"/>
              </a:ext>
            </a:extLst>
          </p:cNvPr>
          <p:cNvSpPr/>
          <p:nvPr/>
        </p:nvSpPr>
        <p:spPr>
          <a:xfrm>
            <a:off x="5984874" y="5486399"/>
            <a:ext cx="1" cy="309564"/>
          </a:xfrm>
          <a:prstGeom prst="line">
            <a:avLst/>
          </a:prstGeom>
          <a:ln w="12700">
            <a:solidFill>
              <a:srgbClr val="000000"/>
            </a:solidFill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8" name="P">
            <a:extLst>
              <a:ext uri="{FF2B5EF4-FFF2-40B4-BE49-F238E27FC236}">
                <a16:creationId xmlns:a16="http://schemas.microsoft.com/office/drawing/2014/main" id="{E42EC866-48A8-523F-0FB8-02215F93CD2A}"/>
              </a:ext>
            </a:extLst>
          </p:cNvPr>
          <p:cNvSpPr txBox="1"/>
          <p:nvPr/>
        </p:nvSpPr>
        <p:spPr>
          <a:xfrm>
            <a:off x="4539773" y="6096000"/>
            <a:ext cx="189866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P</a:t>
            </a:r>
          </a:p>
        </p:txBody>
      </p:sp>
      <p:sp>
        <p:nvSpPr>
          <p:cNvPr id="559" name="Oval">
            <a:extLst>
              <a:ext uri="{FF2B5EF4-FFF2-40B4-BE49-F238E27FC236}">
                <a16:creationId xmlns:a16="http://schemas.microsoft.com/office/drawing/2014/main" id="{617B5E98-3175-C20D-3661-2E5BD4A45375}"/>
              </a:ext>
            </a:extLst>
          </p:cNvPr>
          <p:cNvSpPr/>
          <p:nvPr/>
        </p:nvSpPr>
        <p:spPr>
          <a:xfrm>
            <a:off x="4438650" y="6126162"/>
            <a:ext cx="381000" cy="269876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60" name="Rectangle">
            <a:extLst>
              <a:ext uri="{FF2B5EF4-FFF2-40B4-BE49-F238E27FC236}">
                <a16:creationId xmlns:a16="http://schemas.microsoft.com/office/drawing/2014/main" id="{1ECDD959-B530-8B8A-1AB9-7F431ED3FCE6}"/>
              </a:ext>
            </a:extLst>
          </p:cNvPr>
          <p:cNvSpPr/>
          <p:nvPr/>
        </p:nvSpPr>
        <p:spPr>
          <a:xfrm>
            <a:off x="4421187" y="5797550"/>
            <a:ext cx="381001" cy="2254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61" name="L1">
            <a:extLst>
              <a:ext uri="{FF2B5EF4-FFF2-40B4-BE49-F238E27FC236}">
                <a16:creationId xmlns:a16="http://schemas.microsoft.com/office/drawing/2014/main" id="{53D27E9C-1E5D-F76F-E92A-85B11F9A9D38}"/>
              </a:ext>
            </a:extLst>
          </p:cNvPr>
          <p:cNvSpPr txBox="1"/>
          <p:nvPr/>
        </p:nvSpPr>
        <p:spPr>
          <a:xfrm>
            <a:off x="4460411" y="5805487"/>
            <a:ext cx="26286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L1</a:t>
            </a:r>
          </a:p>
        </p:txBody>
      </p:sp>
      <p:sp>
        <p:nvSpPr>
          <p:cNvPr id="562" name="Rectangle">
            <a:extLst>
              <a:ext uri="{FF2B5EF4-FFF2-40B4-BE49-F238E27FC236}">
                <a16:creationId xmlns:a16="http://schemas.microsoft.com/office/drawing/2014/main" id="{EC109A6E-A60D-3F0B-9822-9371700F6947}"/>
              </a:ext>
            </a:extLst>
          </p:cNvPr>
          <p:cNvSpPr/>
          <p:nvPr/>
        </p:nvSpPr>
        <p:spPr>
          <a:xfrm>
            <a:off x="4911725" y="5797550"/>
            <a:ext cx="652463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63" name="Mem">
            <a:extLst>
              <a:ext uri="{FF2B5EF4-FFF2-40B4-BE49-F238E27FC236}">
                <a16:creationId xmlns:a16="http://schemas.microsoft.com/office/drawing/2014/main" id="{58423CB9-BCD2-468E-8FDD-1C48EA974D48}"/>
              </a:ext>
            </a:extLst>
          </p:cNvPr>
          <p:cNvSpPr txBox="1"/>
          <p:nvPr/>
        </p:nvSpPr>
        <p:spPr>
          <a:xfrm>
            <a:off x="5008867" y="5867400"/>
            <a:ext cx="41214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Mem</a:t>
            </a:r>
          </a:p>
        </p:txBody>
      </p:sp>
      <p:sp>
        <p:nvSpPr>
          <p:cNvPr id="564" name="Line">
            <a:extLst>
              <a:ext uri="{FF2B5EF4-FFF2-40B4-BE49-F238E27FC236}">
                <a16:creationId xmlns:a16="http://schemas.microsoft.com/office/drawing/2014/main" id="{E3056F4C-FB8E-E409-7661-BBF56AD24330}"/>
              </a:ext>
            </a:extLst>
          </p:cNvPr>
          <p:cNvSpPr/>
          <p:nvPr/>
        </p:nvSpPr>
        <p:spPr>
          <a:xfrm>
            <a:off x="4648199" y="5492749"/>
            <a:ext cx="1" cy="309564"/>
          </a:xfrm>
          <a:prstGeom prst="line">
            <a:avLst/>
          </a:prstGeom>
          <a:ln w="12700">
            <a:solidFill>
              <a:srgbClr val="000000"/>
            </a:solidFill>
            <a:headEnd type="oval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5" name="Oval">
            <a:extLst>
              <a:ext uri="{FF2B5EF4-FFF2-40B4-BE49-F238E27FC236}">
                <a16:creationId xmlns:a16="http://schemas.microsoft.com/office/drawing/2014/main" id="{01019148-D811-C586-C948-CF1D4AB0C7B0}"/>
              </a:ext>
            </a:extLst>
          </p:cNvPr>
          <p:cNvSpPr/>
          <p:nvPr/>
        </p:nvSpPr>
        <p:spPr>
          <a:xfrm>
            <a:off x="3657600" y="4648200"/>
            <a:ext cx="3505200" cy="838200"/>
          </a:xfrm>
          <a:prstGeom prst="ellipse">
            <a:avLst/>
          </a:prstGeom>
          <a:ln w="381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66" name="Slide Number">
            <a:extLst>
              <a:ext uri="{FF2B5EF4-FFF2-40B4-BE49-F238E27FC236}">
                <a16:creationId xmlns:a16="http://schemas.microsoft.com/office/drawing/2014/main" id="{F4EF6734-3A66-4E4C-B585-9360C8E2E51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296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579" name="Snooping coherence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686800" cy="4343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lnSpc>
                <a:spcPct val="95000"/>
              </a:lnSpc>
              <a:spcBef>
                <a:spcPts val="500"/>
              </a:spcBef>
              <a:buChar char="▪"/>
              <a:defRPr sz="2400"/>
            </a:pPr>
            <a:r>
              <a:t>Snooping coherence</a:t>
            </a:r>
          </a:p>
          <a:p>
            <a:pPr marL="742950" lvl="1" indent="-285750">
              <a:lnSpc>
                <a:spcPct val="95000"/>
              </a:lnSpc>
              <a:spcBef>
                <a:spcPts val="0"/>
              </a:spcBef>
              <a:buClrTx/>
              <a:defRPr sz="2000"/>
            </a:pPr>
            <a:r>
              <a:t>Global state of a memory line is the collection of its state in all caches, and there is no summary state anywhere</a:t>
            </a:r>
          </a:p>
          <a:p>
            <a:pPr marL="742950" lvl="1" indent="-285750">
              <a:lnSpc>
                <a:spcPct val="95000"/>
              </a:lnSpc>
              <a:spcBef>
                <a:spcPts val="0"/>
              </a:spcBef>
              <a:buClrTx/>
              <a:defRPr sz="2000"/>
            </a:pPr>
            <a:r>
              <a:t>All cache controllers monitor all other caches’ activities and maintain the state of their lines</a:t>
            </a:r>
          </a:p>
          <a:p>
            <a:pPr marL="742950" lvl="1" indent="-285750">
              <a:lnSpc>
                <a:spcPct val="95000"/>
              </a:lnSpc>
              <a:spcBef>
                <a:spcPts val="0"/>
              </a:spcBef>
              <a:buClrTx/>
              <a:defRPr sz="2000"/>
            </a:pPr>
            <a:r>
              <a:t>Requires a broadcast shared medium (e.g., bus or ring) that also maintains a total order of all transactions</a:t>
            </a:r>
          </a:p>
          <a:p>
            <a:pPr marL="742950" lvl="1" indent="-285750">
              <a:lnSpc>
                <a:spcPct val="95000"/>
              </a:lnSpc>
              <a:spcBef>
                <a:spcPts val="0"/>
              </a:spcBef>
              <a:buClrTx/>
              <a:defRPr sz="2000"/>
            </a:pPr>
            <a:r>
              <a:t>Bus acts as a serialization point to provide ordering</a:t>
            </a:r>
          </a:p>
          <a:p>
            <a:pPr>
              <a:lnSpc>
                <a:spcPct val="95000"/>
              </a:lnSpc>
              <a:spcBef>
                <a:spcPts val="500"/>
              </a:spcBef>
              <a:buChar char="▪"/>
              <a:defRPr sz="2400" u="sng">
                <a:solidFill>
                  <a:srgbClr val="FF0000"/>
                </a:solidFill>
              </a:defRPr>
            </a:pPr>
            <a:r>
              <a:t>Directory coherence</a:t>
            </a:r>
          </a:p>
          <a:p>
            <a:pPr marL="742950" lvl="1" indent="-285750">
              <a:lnSpc>
                <a:spcPct val="95000"/>
              </a:lnSpc>
              <a:spcBef>
                <a:spcPts val="0"/>
              </a:spcBef>
              <a:buClrTx/>
              <a:defRPr sz="2000"/>
            </a:pPr>
            <a:r>
              <a:t>Global state of a memory line is the collection of its state in all caches, but there is a summary state at the directory</a:t>
            </a:r>
          </a:p>
          <a:p>
            <a:pPr marL="742950" lvl="1" indent="-285750">
              <a:lnSpc>
                <a:spcPct val="95000"/>
              </a:lnSpc>
              <a:spcBef>
                <a:spcPts val="0"/>
              </a:spcBef>
              <a:buClrTx/>
              <a:defRPr sz="2000"/>
            </a:pPr>
            <a:r>
              <a:t>Cache controllers do not observe all activity, but interact only with directory</a:t>
            </a:r>
          </a:p>
          <a:p>
            <a:pPr marL="742950" lvl="1" indent="-285750">
              <a:lnSpc>
                <a:spcPct val="95000"/>
              </a:lnSpc>
              <a:spcBef>
                <a:spcPts val="0"/>
              </a:spcBef>
              <a:buClrTx/>
              <a:defRPr sz="2000"/>
            </a:pPr>
            <a:r>
              <a:t>Can be implemented on </a:t>
            </a:r>
            <a:r>
              <a:rPr u="sng"/>
              <a:t>scalable networks</a:t>
            </a:r>
            <a:r>
              <a:t>, where there is no total order and no simple broadcast, but only one-to-one communication</a:t>
            </a:r>
          </a:p>
          <a:p>
            <a:pPr marL="742950" lvl="1" indent="-285750">
              <a:lnSpc>
                <a:spcPct val="95000"/>
              </a:lnSpc>
              <a:spcBef>
                <a:spcPts val="0"/>
              </a:spcBef>
              <a:buClrTx/>
              <a:defRPr sz="2000"/>
            </a:pPr>
            <a:r>
              <a:t>Directory acts as a serialization point to provide ordering</a:t>
            </a:r>
          </a:p>
        </p:txBody>
      </p:sp>
      <p:sp>
        <p:nvSpPr>
          <p:cNvPr id="580" name="Directory Coherence Protocol"/>
          <p:cNvSpPr txBox="1">
            <a:spLocks noGrp="1"/>
          </p:cNvSpPr>
          <p:nvPr>
            <p:ph type="title" idx="4294967295"/>
          </p:nvPr>
        </p:nvSpPr>
        <p:spPr>
          <a:xfrm>
            <a:off x="609600" y="152400"/>
            <a:ext cx="85344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t>Directory Coherence Protocol</a:t>
            </a:r>
          </a:p>
        </p:txBody>
      </p:sp>
      <p:sp>
        <p:nvSpPr>
          <p:cNvPr id="5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584" name="Directory Structure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Directory Structure</a:t>
            </a:r>
          </a:p>
        </p:txBody>
      </p:sp>
      <p:sp>
        <p:nvSpPr>
          <p:cNvPr id="585" name="Directory information (for every memory line)…"/>
          <p:cNvSpPr txBox="1">
            <a:spLocks noGrp="1"/>
          </p:cNvSpPr>
          <p:nvPr>
            <p:ph type="body" sz="half" idx="4294967295"/>
          </p:nvPr>
        </p:nvSpPr>
        <p:spPr>
          <a:xfrm>
            <a:off x="457200" y="1143000"/>
            <a:ext cx="4724400" cy="51816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t>Directory information (for </a:t>
            </a:r>
            <a:r>
              <a:rPr u="sng"/>
              <a:t>every</a:t>
            </a:r>
            <a:r>
              <a:t> memory line)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Line state bits (e.g., not cached, shared, modified)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Sharing bit-vector: one bit for each processor that is sharing </a:t>
            </a:r>
            <a:r>
              <a:rPr u="sng"/>
              <a:t>or</a:t>
            </a:r>
            <a:r>
              <a:t> for the single processor that has the modified line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Organized as a table indexed by the memory line address</a:t>
            </a:r>
          </a:p>
          <a:p>
            <a:pPr>
              <a:spcBef>
                <a:spcPts val="500"/>
              </a:spcBef>
              <a:buChar char="▪"/>
              <a:defRPr sz="2400"/>
            </a:pPr>
            <a:r>
              <a:t>Directory controller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Hardware logic that interacts with cache controllers and enforces cache coherence</a:t>
            </a:r>
          </a:p>
        </p:txBody>
      </p:sp>
      <p:sp>
        <p:nvSpPr>
          <p:cNvPr id="586" name="Sharing vector"/>
          <p:cNvSpPr txBox="1"/>
          <p:nvPr/>
        </p:nvSpPr>
        <p:spPr>
          <a:xfrm>
            <a:off x="6424061" y="2971800"/>
            <a:ext cx="138064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Sharing vector</a:t>
            </a:r>
          </a:p>
        </p:txBody>
      </p:sp>
      <p:sp>
        <p:nvSpPr>
          <p:cNvPr id="587" name="0"/>
          <p:cNvSpPr txBox="1"/>
          <p:nvPr/>
        </p:nvSpPr>
        <p:spPr>
          <a:xfrm>
            <a:off x="6779339" y="33528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588" name="Rectangle"/>
          <p:cNvSpPr/>
          <p:nvPr/>
        </p:nvSpPr>
        <p:spPr>
          <a:xfrm>
            <a:off x="6705600" y="33528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89" name="0"/>
          <p:cNvSpPr txBox="1"/>
          <p:nvPr/>
        </p:nvSpPr>
        <p:spPr>
          <a:xfrm>
            <a:off x="7084139" y="33528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590" name="Rectangle"/>
          <p:cNvSpPr/>
          <p:nvPr/>
        </p:nvSpPr>
        <p:spPr>
          <a:xfrm>
            <a:off x="7010400" y="33528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91" name="0"/>
          <p:cNvSpPr txBox="1"/>
          <p:nvPr/>
        </p:nvSpPr>
        <p:spPr>
          <a:xfrm>
            <a:off x="7388939" y="33528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592" name="Rectangle"/>
          <p:cNvSpPr/>
          <p:nvPr/>
        </p:nvSpPr>
        <p:spPr>
          <a:xfrm>
            <a:off x="7315200" y="33528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93" name="0"/>
          <p:cNvSpPr txBox="1"/>
          <p:nvPr/>
        </p:nvSpPr>
        <p:spPr>
          <a:xfrm>
            <a:off x="5533151" y="33528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594" name="Rectangle"/>
          <p:cNvSpPr/>
          <p:nvPr/>
        </p:nvSpPr>
        <p:spPr>
          <a:xfrm>
            <a:off x="5459412" y="33528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95" name="0"/>
          <p:cNvSpPr txBox="1"/>
          <p:nvPr/>
        </p:nvSpPr>
        <p:spPr>
          <a:xfrm>
            <a:off x="5837951" y="33528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596" name="Rectangle"/>
          <p:cNvSpPr/>
          <p:nvPr/>
        </p:nvSpPr>
        <p:spPr>
          <a:xfrm>
            <a:off x="5764212" y="33528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597" name="Line state"/>
          <p:cNvSpPr txBox="1"/>
          <p:nvPr/>
        </p:nvSpPr>
        <p:spPr>
          <a:xfrm>
            <a:off x="5271722" y="29718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598" name="Memory"/>
          <p:cNvSpPr txBox="1"/>
          <p:nvPr/>
        </p:nvSpPr>
        <p:spPr>
          <a:xfrm>
            <a:off x="7995246" y="2971800"/>
            <a:ext cx="86082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Memory</a:t>
            </a:r>
          </a:p>
        </p:txBody>
      </p:sp>
      <p:sp>
        <p:nvSpPr>
          <p:cNvPr id="599" name="Rectangle"/>
          <p:cNvSpPr/>
          <p:nvPr/>
        </p:nvSpPr>
        <p:spPr>
          <a:xfrm>
            <a:off x="8007350" y="3352800"/>
            <a:ext cx="914400" cy="1905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0" name="4"/>
          <p:cNvSpPr txBox="1"/>
          <p:nvPr/>
        </p:nvSpPr>
        <p:spPr>
          <a:xfrm>
            <a:off x="8401764" y="33528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sp>
        <p:nvSpPr>
          <p:cNvPr id="601" name="Rectangle"/>
          <p:cNvSpPr/>
          <p:nvPr/>
        </p:nvSpPr>
        <p:spPr>
          <a:xfrm>
            <a:off x="8007350" y="33528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2" name="Rectangle"/>
          <p:cNvSpPr/>
          <p:nvPr/>
        </p:nvSpPr>
        <p:spPr>
          <a:xfrm>
            <a:off x="6705600" y="48768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3" name="Rectangle"/>
          <p:cNvSpPr/>
          <p:nvPr/>
        </p:nvSpPr>
        <p:spPr>
          <a:xfrm>
            <a:off x="7010400" y="48768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4" name="Rectangle"/>
          <p:cNvSpPr/>
          <p:nvPr/>
        </p:nvSpPr>
        <p:spPr>
          <a:xfrm>
            <a:off x="7315200" y="48768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5" name="Rectangle"/>
          <p:cNvSpPr/>
          <p:nvPr/>
        </p:nvSpPr>
        <p:spPr>
          <a:xfrm>
            <a:off x="5459412" y="48768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6" name="Rectangle"/>
          <p:cNvSpPr/>
          <p:nvPr/>
        </p:nvSpPr>
        <p:spPr>
          <a:xfrm>
            <a:off x="5764212" y="48768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7" name="Rectangle"/>
          <p:cNvSpPr/>
          <p:nvPr/>
        </p:nvSpPr>
        <p:spPr>
          <a:xfrm>
            <a:off x="8007350" y="48768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8" name="Circle"/>
          <p:cNvSpPr/>
          <p:nvPr/>
        </p:nvSpPr>
        <p:spPr>
          <a:xfrm>
            <a:off x="5715000" y="4038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09" name="Circle"/>
          <p:cNvSpPr/>
          <p:nvPr/>
        </p:nvSpPr>
        <p:spPr>
          <a:xfrm>
            <a:off x="5715000" y="41910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10" name="Circle"/>
          <p:cNvSpPr/>
          <p:nvPr/>
        </p:nvSpPr>
        <p:spPr>
          <a:xfrm>
            <a:off x="5715000" y="43434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11" name="Cache states:…"/>
          <p:cNvSpPr txBox="1"/>
          <p:nvPr/>
        </p:nvSpPr>
        <p:spPr>
          <a:xfrm>
            <a:off x="6102350" y="5410200"/>
            <a:ext cx="109671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Cache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invalid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612" name="Dir. states:…"/>
          <p:cNvSpPr txBox="1"/>
          <p:nvPr/>
        </p:nvSpPr>
        <p:spPr>
          <a:xfrm>
            <a:off x="7473950" y="5410200"/>
            <a:ext cx="122763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Dir.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not cached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613" name="Rectangle"/>
          <p:cNvSpPr/>
          <p:nvPr/>
        </p:nvSpPr>
        <p:spPr>
          <a:xfrm>
            <a:off x="5181600" y="2895600"/>
            <a:ext cx="2743200" cy="2514600"/>
          </a:xfrm>
          <a:prstGeom prst="rect">
            <a:avLst/>
          </a:prstGeom>
          <a:ln w="25400">
            <a:solidFill>
              <a:srgbClr val="000000"/>
            </a:solidFill>
            <a:prstDash val="dash"/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14" name="Directory information"/>
          <p:cNvSpPr txBox="1"/>
          <p:nvPr/>
        </p:nvSpPr>
        <p:spPr>
          <a:xfrm>
            <a:off x="5444822" y="2514600"/>
            <a:ext cx="2083406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Directory information</a:t>
            </a:r>
          </a:p>
        </p:txBody>
      </p:sp>
      <p:grpSp>
        <p:nvGrpSpPr>
          <p:cNvPr id="618" name="Group"/>
          <p:cNvGrpSpPr/>
          <p:nvPr/>
        </p:nvGrpSpPr>
        <p:grpSpPr>
          <a:xfrm>
            <a:off x="5119849" y="457199"/>
            <a:ext cx="3377877" cy="3505201"/>
            <a:chOff x="0" y="0"/>
            <a:chExt cx="3377875" cy="3505200"/>
          </a:xfrm>
        </p:grpSpPr>
        <p:sp>
          <p:nvSpPr>
            <p:cNvPr id="615" name="Oval"/>
            <p:cNvSpPr/>
            <p:nvPr/>
          </p:nvSpPr>
          <p:spPr>
            <a:xfrm>
              <a:off x="1357150" y="2743200"/>
              <a:ext cx="1447801" cy="762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616" name="Line"/>
            <p:cNvSpPr/>
            <p:nvPr/>
          </p:nvSpPr>
          <p:spPr>
            <a:xfrm flipH="1" flipV="1">
              <a:off x="747550" y="380999"/>
              <a:ext cx="1143001" cy="2286002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17" name="Up to 3 processors can be supported"/>
            <p:cNvSpPr txBox="1"/>
            <p:nvPr/>
          </p:nvSpPr>
          <p:spPr>
            <a:xfrm>
              <a:off x="0" y="0"/>
              <a:ext cx="3377876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Up to 3 processors can be supported</a:t>
              </a:r>
            </a:p>
          </p:txBody>
        </p:sp>
      </p:grpSp>
      <p:grpSp>
        <p:nvGrpSpPr>
          <p:cNvPr id="624" name="Group"/>
          <p:cNvGrpSpPr/>
          <p:nvPr/>
        </p:nvGrpSpPr>
        <p:grpSpPr>
          <a:xfrm>
            <a:off x="4876799" y="1066800"/>
            <a:ext cx="3810001" cy="2895601"/>
            <a:chOff x="0" y="0"/>
            <a:chExt cx="3810000" cy="2895599"/>
          </a:xfrm>
        </p:grpSpPr>
        <p:sp>
          <p:nvSpPr>
            <p:cNvPr id="619" name="Oval"/>
            <p:cNvSpPr/>
            <p:nvPr/>
          </p:nvSpPr>
          <p:spPr>
            <a:xfrm>
              <a:off x="457200" y="2133600"/>
              <a:ext cx="914400" cy="6858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620" name="Oval"/>
            <p:cNvSpPr/>
            <p:nvPr/>
          </p:nvSpPr>
          <p:spPr>
            <a:xfrm>
              <a:off x="1600200" y="2133600"/>
              <a:ext cx="1447800" cy="762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621" name="Line"/>
            <p:cNvSpPr/>
            <p:nvPr/>
          </p:nvSpPr>
          <p:spPr>
            <a:xfrm flipH="1" flipV="1">
              <a:off x="533400" y="609600"/>
              <a:ext cx="381000" cy="1371600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22" name="Line is not cached so sharing vector…"/>
            <p:cNvSpPr txBox="1"/>
            <p:nvPr/>
          </p:nvSpPr>
          <p:spPr>
            <a:xfrm>
              <a:off x="0" y="0"/>
              <a:ext cx="3277528" cy="624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800" b="0">
                  <a:solidFill>
                    <a:srgbClr val="FF0000"/>
                  </a:solidFill>
                </a:defRPr>
              </a:pPr>
              <a:r>
                <a:t>Line is not cached so sharing vector</a:t>
              </a:r>
            </a:p>
            <a:p>
              <a:pPr>
                <a:defRPr sz="1800" b="0">
                  <a:solidFill>
                    <a:srgbClr val="FF0000"/>
                  </a:solidFill>
                </a:defRPr>
              </a:pPr>
              <a:r>
                <a:t>is empty and memory value is valid</a:t>
              </a:r>
            </a:p>
          </p:txBody>
        </p:sp>
        <p:sp>
          <p:nvSpPr>
            <p:cNvPr id="623" name="Circle"/>
            <p:cNvSpPr/>
            <p:nvPr/>
          </p:nvSpPr>
          <p:spPr>
            <a:xfrm>
              <a:off x="3429000" y="2286000"/>
              <a:ext cx="381000" cy="381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sp>
        <p:nvSpPr>
          <p:cNvPr id="625" name="1"/>
          <p:cNvSpPr txBox="1"/>
          <p:nvPr/>
        </p:nvSpPr>
        <p:spPr>
          <a:xfrm>
            <a:off x="6800770" y="48768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626" name="0"/>
          <p:cNvSpPr txBox="1"/>
          <p:nvPr/>
        </p:nvSpPr>
        <p:spPr>
          <a:xfrm>
            <a:off x="7104776" y="48768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27" name="1"/>
          <p:cNvSpPr txBox="1"/>
          <p:nvPr/>
        </p:nvSpPr>
        <p:spPr>
          <a:xfrm>
            <a:off x="7410370" y="48768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628" name="0"/>
          <p:cNvSpPr txBox="1"/>
          <p:nvPr/>
        </p:nvSpPr>
        <p:spPr>
          <a:xfrm>
            <a:off x="5553789" y="48768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29" name="1"/>
          <p:cNvSpPr txBox="1"/>
          <p:nvPr/>
        </p:nvSpPr>
        <p:spPr>
          <a:xfrm>
            <a:off x="5859383" y="48768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630" name="9"/>
          <p:cNvSpPr txBox="1"/>
          <p:nvPr/>
        </p:nvSpPr>
        <p:spPr>
          <a:xfrm>
            <a:off x="8422401" y="48768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9</a:t>
            </a:r>
          </a:p>
        </p:txBody>
      </p:sp>
      <p:grpSp>
        <p:nvGrpSpPr>
          <p:cNvPr id="636" name="Group"/>
          <p:cNvGrpSpPr/>
          <p:nvPr/>
        </p:nvGrpSpPr>
        <p:grpSpPr>
          <a:xfrm>
            <a:off x="5105400" y="1752600"/>
            <a:ext cx="3581401" cy="3733801"/>
            <a:chOff x="0" y="0"/>
            <a:chExt cx="3581399" cy="3733799"/>
          </a:xfrm>
        </p:grpSpPr>
        <p:sp>
          <p:nvSpPr>
            <p:cNvPr id="631" name="Oval"/>
            <p:cNvSpPr/>
            <p:nvPr/>
          </p:nvSpPr>
          <p:spPr>
            <a:xfrm>
              <a:off x="228600" y="2971800"/>
              <a:ext cx="914400" cy="6858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632" name="Oval"/>
            <p:cNvSpPr/>
            <p:nvPr/>
          </p:nvSpPr>
          <p:spPr>
            <a:xfrm>
              <a:off x="1371600" y="2971800"/>
              <a:ext cx="1447800" cy="762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633" name="Line"/>
            <p:cNvSpPr/>
            <p:nvPr/>
          </p:nvSpPr>
          <p:spPr>
            <a:xfrm flipV="1">
              <a:off x="685799" y="609599"/>
              <a:ext cx="228602" cy="2209802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34" name="Line is shared in P0 and P2…"/>
            <p:cNvSpPr txBox="1"/>
            <p:nvPr/>
          </p:nvSpPr>
          <p:spPr>
            <a:xfrm>
              <a:off x="0" y="0"/>
              <a:ext cx="2520849" cy="624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800" b="0">
                  <a:solidFill>
                    <a:srgbClr val="FF0000"/>
                  </a:solidFill>
                </a:defRPr>
              </a:pPr>
              <a:r>
                <a:t>Line is shared in P0 and P2</a:t>
              </a:r>
            </a:p>
            <a:p>
              <a:pPr>
                <a:defRPr sz="1800" b="0">
                  <a:solidFill>
                    <a:srgbClr val="FF0000"/>
                  </a:solidFill>
                </a:defRPr>
              </a:pPr>
              <a:r>
                <a:t>and memory value is valid</a:t>
              </a:r>
            </a:p>
          </p:txBody>
        </p:sp>
        <p:sp>
          <p:nvSpPr>
            <p:cNvPr id="635" name="Circle"/>
            <p:cNvSpPr/>
            <p:nvPr/>
          </p:nvSpPr>
          <p:spPr>
            <a:xfrm>
              <a:off x="3200400" y="3124200"/>
              <a:ext cx="381000" cy="381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sp>
        <p:nvSpPr>
          <p:cNvPr id="6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" grpId="0" animBg="1" advAuto="0"/>
      <p:bldP spid="624" grpId="0" animBg="1" advAuto="0"/>
      <p:bldP spid="636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640" name="Directory Operation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Directory Operation</a:t>
            </a:r>
          </a:p>
        </p:txBody>
      </p:sp>
      <p:sp>
        <p:nvSpPr>
          <p:cNvPr id="641" name="Example: load with no sharers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500"/>
              </a:spcBef>
              <a:buChar char="▪"/>
              <a:defRPr sz="2400"/>
            </a:lvl1pPr>
          </a:lstStyle>
          <a:p>
            <a:r>
              <a:t>Example: load with no sharers</a:t>
            </a:r>
          </a:p>
        </p:txBody>
      </p:sp>
      <p:sp>
        <p:nvSpPr>
          <p:cNvPr id="642" name="Sharing vector"/>
          <p:cNvSpPr txBox="1"/>
          <p:nvPr/>
        </p:nvSpPr>
        <p:spPr>
          <a:xfrm>
            <a:off x="5966861" y="1524000"/>
            <a:ext cx="138064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Sharing vector</a:t>
            </a:r>
          </a:p>
        </p:txBody>
      </p:sp>
      <p:sp>
        <p:nvSpPr>
          <p:cNvPr id="643" name="0"/>
          <p:cNvSpPr txBox="1"/>
          <p:nvPr/>
        </p:nvSpPr>
        <p:spPr>
          <a:xfrm>
            <a:off x="6322139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44" name="Rectangle"/>
          <p:cNvSpPr/>
          <p:nvPr/>
        </p:nvSpPr>
        <p:spPr>
          <a:xfrm>
            <a:off x="62484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45" name="0"/>
          <p:cNvSpPr txBox="1"/>
          <p:nvPr/>
        </p:nvSpPr>
        <p:spPr>
          <a:xfrm>
            <a:off x="6626939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46" name="Rectangle"/>
          <p:cNvSpPr/>
          <p:nvPr/>
        </p:nvSpPr>
        <p:spPr>
          <a:xfrm>
            <a:off x="65532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47" name="0"/>
          <p:cNvSpPr txBox="1"/>
          <p:nvPr/>
        </p:nvSpPr>
        <p:spPr>
          <a:xfrm>
            <a:off x="6931739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48" name="Rectangle"/>
          <p:cNvSpPr/>
          <p:nvPr/>
        </p:nvSpPr>
        <p:spPr>
          <a:xfrm>
            <a:off x="68580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49" name="0"/>
          <p:cNvSpPr txBox="1"/>
          <p:nvPr/>
        </p:nvSpPr>
        <p:spPr>
          <a:xfrm>
            <a:off x="5075951" y="1905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50" name="Rectangle"/>
          <p:cNvSpPr/>
          <p:nvPr/>
        </p:nvSpPr>
        <p:spPr>
          <a:xfrm>
            <a:off x="5002212" y="1905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51" name="0"/>
          <p:cNvSpPr txBox="1"/>
          <p:nvPr/>
        </p:nvSpPr>
        <p:spPr>
          <a:xfrm>
            <a:off x="5380751" y="1905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52" name="Rectangle"/>
          <p:cNvSpPr/>
          <p:nvPr/>
        </p:nvSpPr>
        <p:spPr>
          <a:xfrm>
            <a:off x="5307012" y="1905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53" name="Line state"/>
          <p:cNvSpPr txBox="1"/>
          <p:nvPr/>
        </p:nvSpPr>
        <p:spPr>
          <a:xfrm>
            <a:off x="4814522" y="1524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654" name="Memory"/>
          <p:cNvSpPr txBox="1"/>
          <p:nvPr/>
        </p:nvSpPr>
        <p:spPr>
          <a:xfrm>
            <a:off x="7538046" y="1524000"/>
            <a:ext cx="86082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Memory</a:t>
            </a:r>
          </a:p>
        </p:txBody>
      </p:sp>
      <p:sp>
        <p:nvSpPr>
          <p:cNvPr id="655" name="Rectangle"/>
          <p:cNvSpPr/>
          <p:nvPr/>
        </p:nvSpPr>
        <p:spPr>
          <a:xfrm>
            <a:off x="7550150" y="1905000"/>
            <a:ext cx="914400" cy="1905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56" name="4"/>
          <p:cNvSpPr txBox="1"/>
          <p:nvPr/>
        </p:nvSpPr>
        <p:spPr>
          <a:xfrm>
            <a:off x="7944564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sp>
        <p:nvSpPr>
          <p:cNvPr id="657" name="Rectangle"/>
          <p:cNvSpPr/>
          <p:nvPr/>
        </p:nvSpPr>
        <p:spPr>
          <a:xfrm>
            <a:off x="7550150" y="1905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58" name="Rectangle"/>
          <p:cNvSpPr/>
          <p:nvPr/>
        </p:nvSpPr>
        <p:spPr>
          <a:xfrm>
            <a:off x="62484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59" name="Rectangle"/>
          <p:cNvSpPr/>
          <p:nvPr/>
        </p:nvSpPr>
        <p:spPr>
          <a:xfrm>
            <a:off x="65532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60" name="Rectangle"/>
          <p:cNvSpPr/>
          <p:nvPr/>
        </p:nvSpPr>
        <p:spPr>
          <a:xfrm>
            <a:off x="68580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61" name="Rectangle"/>
          <p:cNvSpPr/>
          <p:nvPr/>
        </p:nvSpPr>
        <p:spPr>
          <a:xfrm>
            <a:off x="5002212" y="3429000"/>
            <a:ext cx="304801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62" name="Rectangle"/>
          <p:cNvSpPr/>
          <p:nvPr/>
        </p:nvSpPr>
        <p:spPr>
          <a:xfrm>
            <a:off x="5307012" y="3429000"/>
            <a:ext cx="304801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63" name="Rectangle"/>
          <p:cNvSpPr/>
          <p:nvPr/>
        </p:nvSpPr>
        <p:spPr>
          <a:xfrm>
            <a:off x="7550150" y="3429000"/>
            <a:ext cx="9144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64" name="Circle"/>
          <p:cNvSpPr/>
          <p:nvPr/>
        </p:nvSpPr>
        <p:spPr>
          <a:xfrm>
            <a:off x="5257800" y="2590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65" name="Circle"/>
          <p:cNvSpPr/>
          <p:nvPr/>
        </p:nvSpPr>
        <p:spPr>
          <a:xfrm>
            <a:off x="5257800" y="2743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66" name="Circle"/>
          <p:cNvSpPr/>
          <p:nvPr/>
        </p:nvSpPr>
        <p:spPr>
          <a:xfrm>
            <a:off x="5257800" y="2895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67" name="P0"/>
          <p:cNvSpPr txBox="1"/>
          <p:nvPr/>
        </p:nvSpPr>
        <p:spPr>
          <a:xfrm>
            <a:off x="1951751" y="17526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P0</a:t>
            </a:r>
          </a:p>
        </p:txBody>
      </p:sp>
      <p:sp>
        <p:nvSpPr>
          <p:cNvPr id="668" name="Oval"/>
          <p:cNvSpPr/>
          <p:nvPr/>
        </p:nvSpPr>
        <p:spPr>
          <a:xfrm>
            <a:off x="1854200" y="17065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69" name="Rectangle"/>
          <p:cNvSpPr/>
          <p:nvPr/>
        </p:nvSpPr>
        <p:spPr>
          <a:xfrm>
            <a:off x="1676400" y="22860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70" name="Rectangle"/>
          <p:cNvSpPr/>
          <p:nvPr/>
        </p:nvSpPr>
        <p:spPr>
          <a:xfrm>
            <a:off x="1676400" y="24384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71" name="L1"/>
          <p:cNvSpPr txBox="1"/>
          <p:nvPr/>
        </p:nvSpPr>
        <p:spPr>
          <a:xfrm>
            <a:off x="2553036" y="19050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672" name="0"/>
          <p:cNvSpPr txBox="1"/>
          <p:nvPr/>
        </p:nvSpPr>
        <p:spPr>
          <a:xfrm>
            <a:off x="884951" y="24384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73" name="Rectangle"/>
          <p:cNvSpPr/>
          <p:nvPr/>
        </p:nvSpPr>
        <p:spPr>
          <a:xfrm>
            <a:off x="811212" y="24384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74" name="0"/>
          <p:cNvSpPr txBox="1"/>
          <p:nvPr/>
        </p:nvSpPr>
        <p:spPr>
          <a:xfrm>
            <a:off x="1189751" y="24384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75" name="Rectangle"/>
          <p:cNvSpPr/>
          <p:nvPr/>
        </p:nvSpPr>
        <p:spPr>
          <a:xfrm>
            <a:off x="1116012" y="24384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76" name="Line state"/>
          <p:cNvSpPr txBox="1"/>
          <p:nvPr/>
        </p:nvSpPr>
        <p:spPr>
          <a:xfrm>
            <a:off x="623522" y="20574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677" name="P1"/>
          <p:cNvSpPr txBox="1"/>
          <p:nvPr/>
        </p:nvSpPr>
        <p:spPr>
          <a:xfrm>
            <a:off x="1952545" y="3886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678" name="Oval"/>
          <p:cNvSpPr/>
          <p:nvPr/>
        </p:nvSpPr>
        <p:spPr>
          <a:xfrm>
            <a:off x="1854200" y="3840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79" name="Rectangle"/>
          <p:cNvSpPr/>
          <p:nvPr/>
        </p:nvSpPr>
        <p:spPr>
          <a:xfrm>
            <a:off x="1676400" y="44196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80" name="Rectangle"/>
          <p:cNvSpPr/>
          <p:nvPr/>
        </p:nvSpPr>
        <p:spPr>
          <a:xfrm>
            <a:off x="1676400" y="4572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81" name="L1"/>
          <p:cNvSpPr txBox="1"/>
          <p:nvPr/>
        </p:nvSpPr>
        <p:spPr>
          <a:xfrm>
            <a:off x="2553036" y="40386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682" name="0"/>
          <p:cNvSpPr txBox="1"/>
          <p:nvPr/>
        </p:nvSpPr>
        <p:spPr>
          <a:xfrm>
            <a:off x="884951" y="4572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83" name="Rectangle"/>
          <p:cNvSpPr/>
          <p:nvPr/>
        </p:nvSpPr>
        <p:spPr>
          <a:xfrm>
            <a:off x="811212" y="4572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84" name="0"/>
          <p:cNvSpPr txBox="1"/>
          <p:nvPr/>
        </p:nvSpPr>
        <p:spPr>
          <a:xfrm>
            <a:off x="1189751" y="4572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85" name="Rectangle"/>
          <p:cNvSpPr/>
          <p:nvPr/>
        </p:nvSpPr>
        <p:spPr>
          <a:xfrm>
            <a:off x="1116012" y="4572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86" name="Line state"/>
          <p:cNvSpPr txBox="1"/>
          <p:nvPr/>
        </p:nvSpPr>
        <p:spPr>
          <a:xfrm>
            <a:off x="623522" y="4191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687" name="P2"/>
          <p:cNvSpPr txBox="1"/>
          <p:nvPr/>
        </p:nvSpPr>
        <p:spPr>
          <a:xfrm>
            <a:off x="4847351" y="4724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P2</a:t>
            </a:r>
          </a:p>
        </p:txBody>
      </p:sp>
      <p:sp>
        <p:nvSpPr>
          <p:cNvPr id="688" name="Oval"/>
          <p:cNvSpPr/>
          <p:nvPr/>
        </p:nvSpPr>
        <p:spPr>
          <a:xfrm>
            <a:off x="4749800" y="4678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89" name="Rectangle"/>
          <p:cNvSpPr/>
          <p:nvPr/>
        </p:nvSpPr>
        <p:spPr>
          <a:xfrm>
            <a:off x="4572000" y="5257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90" name="Rectangle"/>
          <p:cNvSpPr/>
          <p:nvPr/>
        </p:nvSpPr>
        <p:spPr>
          <a:xfrm>
            <a:off x="4572000" y="5410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91" name="L1"/>
          <p:cNvSpPr txBox="1"/>
          <p:nvPr/>
        </p:nvSpPr>
        <p:spPr>
          <a:xfrm>
            <a:off x="5448636" y="4876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692" name="0"/>
          <p:cNvSpPr txBox="1"/>
          <p:nvPr/>
        </p:nvSpPr>
        <p:spPr>
          <a:xfrm>
            <a:off x="3780551" y="5410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93" name="Rectangle"/>
          <p:cNvSpPr/>
          <p:nvPr/>
        </p:nvSpPr>
        <p:spPr>
          <a:xfrm>
            <a:off x="3706812" y="5410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94" name="0"/>
          <p:cNvSpPr txBox="1"/>
          <p:nvPr/>
        </p:nvSpPr>
        <p:spPr>
          <a:xfrm>
            <a:off x="4085351" y="5410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695" name="Rectangle"/>
          <p:cNvSpPr/>
          <p:nvPr/>
        </p:nvSpPr>
        <p:spPr>
          <a:xfrm>
            <a:off x="4011612" y="5410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696" name="Line state"/>
          <p:cNvSpPr txBox="1"/>
          <p:nvPr/>
        </p:nvSpPr>
        <p:spPr>
          <a:xfrm>
            <a:off x="3519122" y="5029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697" name="Cache states:…"/>
          <p:cNvSpPr txBox="1"/>
          <p:nvPr/>
        </p:nvSpPr>
        <p:spPr>
          <a:xfrm>
            <a:off x="6248400" y="5410200"/>
            <a:ext cx="109671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Cache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invalid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698" name="Dir. states:…"/>
          <p:cNvSpPr txBox="1"/>
          <p:nvPr/>
        </p:nvSpPr>
        <p:spPr>
          <a:xfrm>
            <a:off x="7620000" y="5410200"/>
            <a:ext cx="122763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Dir.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not cached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grpSp>
        <p:nvGrpSpPr>
          <p:cNvPr id="701" name="Group"/>
          <p:cNvGrpSpPr/>
          <p:nvPr/>
        </p:nvGrpSpPr>
        <p:grpSpPr>
          <a:xfrm>
            <a:off x="367464" y="1676399"/>
            <a:ext cx="1461337" cy="762001"/>
            <a:chOff x="0" y="0"/>
            <a:chExt cx="1461335" cy="761999"/>
          </a:xfrm>
        </p:grpSpPr>
        <p:sp>
          <p:nvSpPr>
            <p:cNvPr id="699" name="Line"/>
            <p:cNvSpPr/>
            <p:nvPr/>
          </p:nvSpPr>
          <p:spPr>
            <a:xfrm>
              <a:off x="673745" y="117607"/>
              <a:ext cx="787591" cy="644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6" h="20296" extrusionOk="0">
                  <a:moveTo>
                    <a:pt x="20296" y="1782"/>
                  </a:moveTo>
                  <a:cubicBezTo>
                    <a:pt x="12582" y="239"/>
                    <a:pt x="4867" y="-1304"/>
                    <a:pt x="1782" y="1782"/>
                  </a:cubicBezTo>
                  <a:cubicBezTo>
                    <a:pt x="-1304" y="4867"/>
                    <a:pt x="239" y="12582"/>
                    <a:pt x="1782" y="20296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700" name="Load"/>
            <p:cNvSpPr txBox="1"/>
            <p:nvPr/>
          </p:nvSpPr>
          <p:spPr>
            <a:xfrm>
              <a:off x="0" y="0"/>
              <a:ext cx="558885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Load</a:t>
              </a:r>
            </a:p>
          </p:txBody>
        </p:sp>
      </p:grpSp>
      <p:grpSp>
        <p:nvGrpSpPr>
          <p:cNvPr id="704" name="Group"/>
          <p:cNvGrpSpPr/>
          <p:nvPr/>
        </p:nvGrpSpPr>
        <p:grpSpPr>
          <a:xfrm>
            <a:off x="915697" y="1974044"/>
            <a:ext cx="4037303" cy="1660696"/>
            <a:chOff x="0" y="0"/>
            <a:chExt cx="4037302" cy="1660695"/>
          </a:xfrm>
        </p:grpSpPr>
        <p:sp>
          <p:nvSpPr>
            <p:cNvPr id="702" name="Line"/>
            <p:cNvSpPr/>
            <p:nvPr/>
          </p:nvSpPr>
          <p:spPr>
            <a:xfrm>
              <a:off x="-1" y="-1"/>
              <a:ext cx="4037304" cy="16328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45" h="19285" extrusionOk="0">
                  <a:moveTo>
                    <a:pt x="1168" y="9985"/>
                  </a:moveTo>
                  <a:cubicBezTo>
                    <a:pt x="156" y="12910"/>
                    <a:pt x="-855" y="15835"/>
                    <a:pt x="1168" y="17185"/>
                  </a:cubicBezTo>
                  <a:cubicBezTo>
                    <a:pt x="3191" y="18535"/>
                    <a:pt x="10956" y="20635"/>
                    <a:pt x="13306" y="18085"/>
                  </a:cubicBezTo>
                  <a:cubicBezTo>
                    <a:pt x="15655" y="15535"/>
                    <a:pt x="14024" y="4735"/>
                    <a:pt x="15263" y="1885"/>
                  </a:cubicBezTo>
                  <a:cubicBezTo>
                    <a:pt x="16503" y="-965"/>
                    <a:pt x="18624" y="10"/>
                    <a:pt x="20745" y="985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703" name="Miss"/>
            <p:cNvSpPr txBox="1"/>
            <p:nvPr/>
          </p:nvSpPr>
          <p:spPr>
            <a:xfrm>
              <a:off x="1453926" y="1302555"/>
              <a:ext cx="51379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Miss</a:t>
              </a:r>
            </a:p>
          </p:txBody>
        </p:sp>
      </p:grpSp>
      <p:sp>
        <p:nvSpPr>
          <p:cNvPr id="705" name="1"/>
          <p:cNvSpPr txBox="1"/>
          <p:nvPr/>
        </p:nvSpPr>
        <p:spPr>
          <a:xfrm>
            <a:off x="5375195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706" name="1"/>
          <p:cNvSpPr txBox="1"/>
          <p:nvPr/>
        </p:nvSpPr>
        <p:spPr>
          <a:xfrm>
            <a:off x="6889670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grpSp>
        <p:nvGrpSpPr>
          <p:cNvPr id="711" name="Group"/>
          <p:cNvGrpSpPr/>
          <p:nvPr/>
        </p:nvGrpSpPr>
        <p:grpSpPr>
          <a:xfrm>
            <a:off x="2070814" y="1904999"/>
            <a:ext cx="6534315" cy="999411"/>
            <a:chOff x="0" y="0"/>
            <a:chExt cx="6534314" cy="999409"/>
          </a:xfrm>
        </p:grpSpPr>
        <p:sp>
          <p:nvSpPr>
            <p:cNvPr id="707" name="4"/>
            <p:cNvSpPr txBox="1"/>
            <p:nvPr/>
          </p:nvSpPr>
          <p:spPr>
            <a:xfrm>
              <a:off x="-1" y="533400"/>
              <a:ext cx="211298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708" name="Circle"/>
            <p:cNvSpPr/>
            <p:nvPr/>
          </p:nvSpPr>
          <p:spPr>
            <a:xfrm>
              <a:off x="5777785" y="0"/>
              <a:ext cx="381001" cy="381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709" name="Line"/>
            <p:cNvSpPr/>
            <p:nvPr/>
          </p:nvSpPr>
          <p:spPr>
            <a:xfrm>
              <a:off x="519985" y="381000"/>
              <a:ext cx="6014330" cy="618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6" h="20227" extrusionOk="0">
                  <a:moveTo>
                    <a:pt x="18514" y="0"/>
                  </a:moveTo>
                  <a:cubicBezTo>
                    <a:pt x="20057" y="9138"/>
                    <a:pt x="21600" y="18277"/>
                    <a:pt x="18514" y="19938"/>
                  </a:cubicBezTo>
                  <a:cubicBezTo>
                    <a:pt x="15429" y="21600"/>
                    <a:pt x="7714" y="15785"/>
                    <a:pt x="0" y="9969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710" name="Value"/>
            <p:cNvSpPr txBox="1"/>
            <p:nvPr/>
          </p:nvSpPr>
          <p:spPr>
            <a:xfrm>
              <a:off x="3841012" y="533400"/>
              <a:ext cx="596948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Value</a:t>
              </a:r>
            </a:p>
          </p:txBody>
        </p:sp>
      </p:grpSp>
      <p:sp>
        <p:nvSpPr>
          <p:cNvPr id="712" name="1"/>
          <p:cNvSpPr txBox="1"/>
          <p:nvPr/>
        </p:nvSpPr>
        <p:spPr>
          <a:xfrm>
            <a:off x="1174670" y="24384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7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" grpId="0" animBg="1" advAuto="0"/>
      <p:bldP spid="651" grpId="0" animBg="1" advAuto="0"/>
      <p:bldP spid="674" grpId="0" animBg="1" advAuto="0"/>
      <p:bldP spid="701" grpId="0" animBg="1" advAuto="0"/>
      <p:bldP spid="704" grpId="0" animBg="1" advAuto="0"/>
      <p:bldP spid="705" grpId="0" animBg="1" advAuto="0"/>
      <p:bldP spid="706" grpId="0" animBg="1" advAuto="0"/>
      <p:bldP spid="711" grpId="0" animBg="1" advAuto="0"/>
      <p:bldP spid="712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716" name="Directory Operation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Directory Operation</a:t>
            </a:r>
          </a:p>
        </p:txBody>
      </p:sp>
      <p:sp>
        <p:nvSpPr>
          <p:cNvPr id="717" name="Example: load with sharers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500"/>
              </a:spcBef>
              <a:buChar char="▪"/>
              <a:defRPr sz="2400"/>
            </a:lvl1pPr>
          </a:lstStyle>
          <a:p>
            <a:r>
              <a:t>Example: load with sharers</a:t>
            </a:r>
          </a:p>
        </p:txBody>
      </p:sp>
      <p:sp>
        <p:nvSpPr>
          <p:cNvPr id="718" name="Sharing vector"/>
          <p:cNvSpPr txBox="1"/>
          <p:nvPr/>
        </p:nvSpPr>
        <p:spPr>
          <a:xfrm>
            <a:off x="5966861" y="1524000"/>
            <a:ext cx="138064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Sharing vector</a:t>
            </a:r>
          </a:p>
        </p:txBody>
      </p:sp>
      <p:sp>
        <p:nvSpPr>
          <p:cNvPr id="719" name="0"/>
          <p:cNvSpPr txBox="1"/>
          <p:nvPr/>
        </p:nvSpPr>
        <p:spPr>
          <a:xfrm>
            <a:off x="6322139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20" name="Rectangle"/>
          <p:cNvSpPr/>
          <p:nvPr/>
        </p:nvSpPr>
        <p:spPr>
          <a:xfrm>
            <a:off x="62484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21" name="0"/>
          <p:cNvSpPr txBox="1"/>
          <p:nvPr/>
        </p:nvSpPr>
        <p:spPr>
          <a:xfrm>
            <a:off x="6626939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22" name="Rectangle"/>
          <p:cNvSpPr/>
          <p:nvPr/>
        </p:nvSpPr>
        <p:spPr>
          <a:xfrm>
            <a:off x="65532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23" name="1"/>
          <p:cNvSpPr txBox="1"/>
          <p:nvPr/>
        </p:nvSpPr>
        <p:spPr>
          <a:xfrm>
            <a:off x="6932533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724" name="Rectangle"/>
          <p:cNvSpPr/>
          <p:nvPr/>
        </p:nvSpPr>
        <p:spPr>
          <a:xfrm>
            <a:off x="68580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25" name="0"/>
          <p:cNvSpPr txBox="1"/>
          <p:nvPr/>
        </p:nvSpPr>
        <p:spPr>
          <a:xfrm>
            <a:off x="5075951" y="1905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26" name="Rectangle"/>
          <p:cNvSpPr/>
          <p:nvPr/>
        </p:nvSpPr>
        <p:spPr>
          <a:xfrm>
            <a:off x="5002212" y="1905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27" name="1"/>
          <p:cNvSpPr txBox="1"/>
          <p:nvPr/>
        </p:nvSpPr>
        <p:spPr>
          <a:xfrm>
            <a:off x="5381545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728" name="Rectangle"/>
          <p:cNvSpPr/>
          <p:nvPr/>
        </p:nvSpPr>
        <p:spPr>
          <a:xfrm>
            <a:off x="5307012" y="1905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29" name="Line state"/>
          <p:cNvSpPr txBox="1"/>
          <p:nvPr/>
        </p:nvSpPr>
        <p:spPr>
          <a:xfrm>
            <a:off x="4814522" y="1524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730" name="Memory"/>
          <p:cNvSpPr txBox="1"/>
          <p:nvPr/>
        </p:nvSpPr>
        <p:spPr>
          <a:xfrm>
            <a:off x="7538046" y="1524000"/>
            <a:ext cx="86082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Memory</a:t>
            </a:r>
          </a:p>
        </p:txBody>
      </p:sp>
      <p:sp>
        <p:nvSpPr>
          <p:cNvPr id="731" name="Rectangle"/>
          <p:cNvSpPr/>
          <p:nvPr/>
        </p:nvSpPr>
        <p:spPr>
          <a:xfrm>
            <a:off x="7550150" y="1905000"/>
            <a:ext cx="914400" cy="1905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32" name="4"/>
          <p:cNvSpPr txBox="1"/>
          <p:nvPr/>
        </p:nvSpPr>
        <p:spPr>
          <a:xfrm>
            <a:off x="7944564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sp>
        <p:nvSpPr>
          <p:cNvPr id="733" name="Rectangle"/>
          <p:cNvSpPr/>
          <p:nvPr/>
        </p:nvSpPr>
        <p:spPr>
          <a:xfrm>
            <a:off x="7550150" y="1905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34" name="Rectangle"/>
          <p:cNvSpPr/>
          <p:nvPr/>
        </p:nvSpPr>
        <p:spPr>
          <a:xfrm>
            <a:off x="62484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35" name="Rectangle"/>
          <p:cNvSpPr/>
          <p:nvPr/>
        </p:nvSpPr>
        <p:spPr>
          <a:xfrm>
            <a:off x="65532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36" name="Rectangle"/>
          <p:cNvSpPr/>
          <p:nvPr/>
        </p:nvSpPr>
        <p:spPr>
          <a:xfrm>
            <a:off x="68580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37" name="Rectangle"/>
          <p:cNvSpPr/>
          <p:nvPr/>
        </p:nvSpPr>
        <p:spPr>
          <a:xfrm>
            <a:off x="5002212" y="3429000"/>
            <a:ext cx="304801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38" name="Rectangle"/>
          <p:cNvSpPr/>
          <p:nvPr/>
        </p:nvSpPr>
        <p:spPr>
          <a:xfrm>
            <a:off x="5307012" y="3429000"/>
            <a:ext cx="304801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39" name="Rectangle"/>
          <p:cNvSpPr/>
          <p:nvPr/>
        </p:nvSpPr>
        <p:spPr>
          <a:xfrm>
            <a:off x="7550150" y="3429000"/>
            <a:ext cx="9144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40" name="Circle"/>
          <p:cNvSpPr/>
          <p:nvPr/>
        </p:nvSpPr>
        <p:spPr>
          <a:xfrm>
            <a:off x="5257800" y="2590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41" name="Circle"/>
          <p:cNvSpPr/>
          <p:nvPr/>
        </p:nvSpPr>
        <p:spPr>
          <a:xfrm>
            <a:off x="5257800" y="2743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42" name="Circle"/>
          <p:cNvSpPr/>
          <p:nvPr/>
        </p:nvSpPr>
        <p:spPr>
          <a:xfrm>
            <a:off x="5257800" y="2895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43" name="P0"/>
          <p:cNvSpPr txBox="1"/>
          <p:nvPr/>
        </p:nvSpPr>
        <p:spPr>
          <a:xfrm>
            <a:off x="1951751" y="17526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P0</a:t>
            </a:r>
          </a:p>
        </p:txBody>
      </p:sp>
      <p:sp>
        <p:nvSpPr>
          <p:cNvPr id="744" name="Oval"/>
          <p:cNvSpPr/>
          <p:nvPr/>
        </p:nvSpPr>
        <p:spPr>
          <a:xfrm>
            <a:off x="1854200" y="17065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45" name="Rectangle"/>
          <p:cNvSpPr/>
          <p:nvPr/>
        </p:nvSpPr>
        <p:spPr>
          <a:xfrm>
            <a:off x="1676400" y="22860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46" name="Rectangle"/>
          <p:cNvSpPr/>
          <p:nvPr/>
        </p:nvSpPr>
        <p:spPr>
          <a:xfrm>
            <a:off x="1676400" y="24384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47" name="L1"/>
          <p:cNvSpPr txBox="1"/>
          <p:nvPr/>
        </p:nvSpPr>
        <p:spPr>
          <a:xfrm>
            <a:off x="2553036" y="19050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748" name="0"/>
          <p:cNvSpPr txBox="1"/>
          <p:nvPr/>
        </p:nvSpPr>
        <p:spPr>
          <a:xfrm>
            <a:off x="884951" y="24384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49" name="Rectangle"/>
          <p:cNvSpPr/>
          <p:nvPr/>
        </p:nvSpPr>
        <p:spPr>
          <a:xfrm>
            <a:off x="811212" y="24384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50" name="1"/>
          <p:cNvSpPr txBox="1"/>
          <p:nvPr/>
        </p:nvSpPr>
        <p:spPr>
          <a:xfrm>
            <a:off x="1190545" y="24384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751" name="Rectangle"/>
          <p:cNvSpPr/>
          <p:nvPr/>
        </p:nvSpPr>
        <p:spPr>
          <a:xfrm>
            <a:off x="1116012" y="24384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52" name="Line state"/>
          <p:cNvSpPr txBox="1"/>
          <p:nvPr/>
        </p:nvSpPr>
        <p:spPr>
          <a:xfrm>
            <a:off x="623522" y="20574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753" name="P1"/>
          <p:cNvSpPr txBox="1"/>
          <p:nvPr/>
        </p:nvSpPr>
        <p:spPr>
          <a:xfrm>
            <a:off x="1952545" y="3886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754" name="Oval"/>
          <p:cNvSpPr/>
          <p:nvPr/>
        </p:nvSpPr>
        <p:spPr>
          <a:xfrm>
            <a:off x="1854200" y="3840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55" name="Rectangle"/>
          <p:cNvSpPr/>
          <p:nvPr/>
        </p:nvSpPr>
        <p:spPr>
          <a:xfrm>
            <a:off x="1676400" y="44196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56" name="Rectangle"/>
          <p:cNvSpPr/>
          <p:nvPr/>
        </p:nvSpPr>
        <p:spPr>
          <a:xfrm>
            <a:off x="1676400" y="4572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57" name="L1"/>
          <p:cNvSpPr txBox="1"/>
          <p:nvPr/>
        </p:nvSpPr>
        <p:spPr>
          <a:xfrm>
            <a:off x="2553036" y="40386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758" name="0"/>
          <p:cNvSpPr txBox="1"/>
          <p:nvPr/>
        </p:nvSpPr>
        <p:spPr>
          <a:xfrm>
            <a:off x="884951" y="4572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59" name="Rectangle"/>
          <p:cNvSpPr/>
          <p:nvPr/>
        </p:nvSpPr>
        <p:spPr>
          <a:xfrm>
            <a:off x="811212" y="4572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60" name="0"/>
          <p:cNvSpPr txBox="1"/>
          <p:nvPr/>
        </p:nvSpPr>
        <p:spPr>
          <a:xfrm>
            <a:off x="1189751" y="4572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61" name="Rectangle"/>
          <p:cNvSpPr/>
          <p:nvPr/>
        </p:nvSpPr>
        <p:spPr>
          <a:xfrm>
            <a:off x="1116012" y="4572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62" name="Line state"/>
          <p:cNvSpPr txBox="1"/>
          <p:nvPr/>
        </p:nvSpPr>
        <p:spPr>
          <a:xfrm>
            <a:off x="623522" y="4191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763" name="P2"/>
          <p:cNvSpPr txBox="1"/>
          <p:nvPr/>
        </p:nvSpPr>
        <p:spPr>
          <a:xfrm>
            <a:off x="4847351" y="4724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P2</a:t>
            </a:r>
          </a:p>
        </p:txBody>
      </p:sp>
      <p:sp>
        <p:nvSpPr>
          <p:cNvPr id="764" name="Oval"/>
          <p:cNvSpPr/>
          <p:nvPr/>
        </p:nvSpPr>
        <p:spPr>
          <a:xfrm>
            <a:off x="4749800" y="4678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65" name="Rectangle"/>
          <p:cNvSpPr/>
          <p:nvPr/>
        </p:nvSpPr>
        <p:spPr>
          <a:xfrm>
            <a:off x="4572000" y="5257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66" name="Rectangle"/>
          <p:cNvSpPr/>
          <p:nvPr/>
        </p:nvSpPr>
        <p:spPr>
          <a:xfrm>
            <a:off x="4572000" y="5410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67" name="L1"/>
          <p:cNvSpPr txBox="1"/>
          <p:nvPr/>
        </p:nvSpPr>
        <p:spPr>
          <a:xfrm>
            <a:off x="5448636" y="4876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768" name="0"/>
          <p:cNvSpPr txBox="1"/>
          <p:nvPr/>
        </p:nvSpPr>
        <p:spPr>
          <a:xfrm>
            <a:off x="3780551" y="5410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69" name="Rectangle"/>
          <p:cNvSpPr/>
          <p:nvPr/>
        </p:nvSpPr>
        <p:spPr>
          <a:xfrm>
            <a:off x="3706812" y="5410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70" name="0"/>
          <p:cNvSpPr txBox="1"/>
          <p:nvPr/>
        </p:nvSpPr>
        <p:spPr>
          <a:xfrm>
            <a:off x="4085351" y="5410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71" name="Rectangle"/>
          <p:cNvSpPr/>
          <p:nvPr/>
        </p:nvSpPr>
        <p:spPr>
          <a:xfrm>
            <a:off x="4011612" y="5410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72" name="Line state"/>
          <p:cNvSpPr txBox="1"/>
          <p:nvPr/>
        </p:nvSpPr>
        <p:spPr>
          <a:xfrm>
            <a:off x="3519122" y="5029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773" name="Cache states:…"/>
          <p:cNvSpPr txBox="1"/>
          <p:nvPr/>
        </p:nvSpPr>
        <p:spPr>
          <a:xfrm>
            <a:off x="6248400" y="5410200"/>
            <a:ext cx="109671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Cache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invalid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774" name="Dir. states:…"/>
          <p:cNvSpPr txBox="1"/>
          <p:nvPr/>
        </p:nvSpPr>
        <p:spPr>
          <a:xfrm>
            <a:off x="7620000" y="5410200"/>
            <a:ext cx="122763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Dir.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not cached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grpSp>
        <p:nvGrpSpPr>
          <p:cNvPr id="777" name="Group"/>
          <p:cNvGrpSpPr/>
          <p:nvPr/>
        </p:nvGrpSpPr>
        <p:grpSpPr>
          <a:xfrm>
            <a:off x="367464" y="3809999"/>
            <a:ext cx="1461337" cy="762001"/>
            <a:chOff x="0" y="0"/>
            <a:chExt cx="1461335" cy="761999"/>
          </a:xfrm>
        </p:grpSpPr>
        <p:sp>
          <p:nvSpPr>
            <p:cNvPr id="775" name="Line"/>
            <p:cNvSpPr/>
            <p:nvPr/>
          </p:nvSpPr>
          <p:spPr>
            <a:xfrm>
              <a:off x="673745" y="117607"/>
              <a:ext cx="787591" cy="644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6" h="20296" extrusionOk="0">
                  <a:moveTo>
                    <a:pt x="20296" y="1782"/>
                  </a:moveTo>
                  <a:cubicBezTo>
                    <a:pt x="12582" y="239"/>
                    <a:pt x="4867" y="-1304"/>
                    <a:pt x="1782" y="1782"/>
                  </a:cubicBezTo>
                  <a:cubicBezTo>
                    <a:pt x="-1304" y="4867"/>
                    <a:pt x="239" y="12582"/>
                    <a:pt x="1782" y="20296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776" name="Load"/>
            <p:cNvSpPr txBox="1"/>
            <p:nvPr/>
          </p:nvSpPr>
          <p:spPr>
            <a:xfrm>
              <a:off x="0" y="0"/>
              <a:ext cx="558885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Load</a:t>
              </a:r>
            </a:p>
          </p:txBody>
        </p:sp>
      </p:grpSp>
      <p:sp>
        <p:nvSpPr>
          <p:cNvPr id="778" name="4"/>
          <p:cNvSpPr txBox="1"/>
          <p:nvPr/>
        </p:nvSpPr>
        <p:spPr>
          <a:xfrm>
            <a:off x="2070814" y="24384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grpSp>
        <p:nvGrpSpPr>
          <p:cNvPr id="781" name="Group"/>
          <p:cNvGrpSpPr/>
          <p:nvPr/>
        </p:nvGrpSpPr>
        <p:grpSpPr>
          <a:xfrm>
            <a:off x="959691" y="1893622"/>
            <a:ext cx="3993309" cy="4385907"/>
            <a:chOff x="0" y="0"/>
            <a:chExt cx="3993308" cy="4385905"/>
          </a:xfrm>
        </p:grpSpPr>
        <p:sp>
          <p:nvSpPr>
            <p:cNvPr id="779" name="Line"/>
            <p:cNvSpPr/>
            <p:nvPr/>
          </p:nvSpPr>
          <p:spPr>
            <a:xfrm>
              <a:off x="0" y="0"/>
              <a:ext cx="3993309" cy="4385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8" h="19325" extrusionOk="0">
                  <a:moveTo>
                    <a:pt x="960" y="13480"/>
                  </a:moveTo>
                  <a:cubicBezTo>
                    <a:pt x="129" y="15103"/>
                    <a:pt x="-702" y="16726"/>
                    <a:pt x="960" y="17509"/>
                  </a:cubicBezTo>
                  <a:cubicBezTo>
                    <a:pt x="2621" y="18293"/>
                    <a:pt x="9001" y="20755"/>
                    <a:pt x="10929" y="18181"/>
                  </a:cubicBezTo>
                  <a:cubicBezTo>
                    <a:pt x="12856" y="15607"/>
                    <a:pt x="10862" y="4975"/>
                    <a:pt x="12524" y="2065"/>
                  </a:cubicBezTo>
                  <a:cubicBezTo>
                    <a:pt x="14185" y="-845"/>
                    <a:pt x="17542" y="-62"/>
                    <a:pt x="20898" y="722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780" name="Miss"/>
            <p:cNvSpPr txBox="1"/>
            <p:nvPr/>
          </p:nvSpPr>
          <p:spPr>
            <a:xfrm>
              <a:off x="754295" y="3821377"/>
              <a:ext cx="513790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Miss</a:t>
              </a:r>
            </a:p>
          </p:txBody>
        </p:sp>
      </p:grpSp>
      <p:sp>
        <p:nvSpPr>
          <p:cNvPr id="782" name="1"/>
          <p:cNvSpPr txBox="1"/>
          <p:nvPr/>
        </p:nvSpPr>
        <p:spPr>
          <a:xfrm>
            <a:off x="6584870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783" name="4"/>
          <p:cNvSpPr txBox="1"/>
          <p:nvPr/>
        </p:nvSpPr>
        <p:spPr>
          <a:xfrm>
            <a:off x="2070814" y="24384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grpSp>
        <p:nvGrpSpPr>
          <p:cNvPr id="788" name="Group"/>
          <p:cNvGrpSpPr/>
          <p:nvPr/>
        </p:nvGrpSpPr>
        <p:grpSpPr>
          <a:xfrm>
            <a:off x="2070814" y="1905000"/>
            <a:ext cx="6416998" cy="3025140"/>
            <a:chOff x="0" y="0"/>
            <a:chExt cx="6416997" cy="3025140"/>
          </a:xfrm>
        </p:grpSpPr>
        <p:sp>
          <p:nvSpPr>
            <p:cNvPr id="784" name="4"/>
            <p:cNvSpPr txBox="1"/>
            <p:nvPr/>
          </p:nvSpPr>
          <p:spPr>
            <a:xfrm>
              <a:off x="-1" y="2667000"/>
              <a:ext cx="211298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785" name="Value"/>
            <p:cNvSpPr txBox="1"/>
            <p:nvPr/>
          </p:nvSpPr>
          <p:spPr>
            <a:xfrm>
              <a:off x="3715599" y="2133600"/>
              <a:ext cx="596948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Value</a:t>
              </a:r>
            </a:p>
          </p:txBody>
        </p:sp>
        <p:sp>
          <p:nvSpPr>
            <p:cNvPr id="786" name="Circle"/>
            <p:cNvSpPr/>
            <p:nvPr/>
          </p:nvSpPr>
          <p:spPr>
            <a:xfrm>
              <a:off x="5777785" y="0"/>
              <a:ext cx="381001" cy="381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787" name="Line"/>
            <p:cNvSpPr/>
            <p:nvPr/>
          </p:nvSpPr>
          <p:spPr>
            <a:xfrm>
              <a:off x="519985" y="381000"/>
              <a:ext cx="5897013" cy="2438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52" h="21600" extrusionOk="0">
                  <a:moveTo>
                    <a:pt x="19121" y="0"/>
                  </a:moveTo>
                  <a:cubicBezTo>
                    <a:pt x="20361" y="7594"/>
                    <a:pt x="21600" y="15188"/>
                    <a:pt x="19121" y="18225"/>
                  </a:cubicBezTo>
                  <a:cubicBezTo>
                    <a:pt x="16643" y="21262"/>
                    <a:pt x="7436" y="17662"/>
                    <a:pt x="4249" y="18225"/>
                  </a:cubicBezTo>
                  <a:cubicBezTo>
                    <a:pt x="1062" y="18788"/>
                    <a:pt x="531" y="20194"/>
                    <a:pt x="0" y="2160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sp>
        <p:nvSpPr>
          <p:cNvPr id="789" name="1"/>
          <p:cNvSpPr txBox="1"/>
          <p:nvPr/>
        </p:nvSpPr>
        <p:spPr>
          <a:xfrm>
            <a:off x="1174670" y="4572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7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" grpId="0" animBg="1" advAuto="0"/>
      <p:bldP spid="760" grpId="0" animBg="1" advAuto="0"/>
      <p:bldP spid="777" grpId="0" animBg="1" advAuto="0"/>
      <p:bldP spid="781" grpId="0" animBg="1" advAuto="0"/>
      <p:bldP spid="782" grpId="0" animBg="1" advAuto="0"/>
      <p:bldP spid="788" grpId="0" animBg="1" advAuto="0"/>
      <p:bldP spid="789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793" name="Directory Operation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Directory Operation</a:t>
            </a:r>
          </a:p>
        </p:txBody>
      </p:sp>
      <p:sp>
        <p:nvSpPr>
          <p:cNvPr id="794" name="Example: store with sharers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500"/>
              </a:spcBef>
              <a:buChar char="▪"/>
              <a:defRPr sz="2400"/>
            </a:lvl1pPr>
          </a:lstStyle>
          <a:p>
            <a:r>
              <a:t>Example: store with sharers</a:t>
            </a:r>
          </a:p>
        </p:txBody>
      </p:sp>
      <p:sp>
        <p:nvSpPr>
          <p:cNvPr id="795" name="Sharing vector"/>
          <p:cNvSpPr txBox="1"/>
          <p:nvPr/>
        </p:nvSpPr>
        <p:spPr>
          <a:xfrm>
            <a:off x="5966861" y="1524000"/>
            <a:ext cx="138064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Sharing vector</a:t>
            </a:r>
          </a:p>
        </p:txBody>
      </p:sp>
      <p:sp>
        <p:nvSpPr>
          <p:cNvPr id="796" name="0"/>
          <p:cNvSpPr txBox="1"/>
          <p:nvPr/>
        </p:nvSpPr>
        <p:spPr>
          <a:xfrm>
            <a:off x="6322139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797" name="Rectangle"/>
          <p:cNvSpPr/>
          <p:nvPr/>
        </p:nvSpPr>
        <p:spPr>
          <a:xfrm>
            <a:off x="62484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798" name="1"/>
          <p:cNvSpPr txBox="1"/>
          <p:nvPr/>
        </p:nvSpPr>
        <p:spPr>
          <a:xfrm>
            <a:off x="6627733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799" name="Rectangle"/>
          <p:cNvSpPr/>
          <p:nvPr/>
        </p:nvSpPr>
        <p:spPr>
          <a:xfrm>
            <a:off x="65532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00" name="1"/>
          <p:cNvSpPr txBox="1"/>
          <p:nvPr/>
        </p:nvSpPr>
        <p:spPr>
          <a:xfrm>
            <a:off x="6932533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801" name="Rectangle"/>
          <p:cNvSpPr/>
          <p:nvPr/>
        </p:nvSpPr>
        <p:spPr>
          <a:xfrm>
            <a:off x="68580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02" name="Rectangle"/>
          <p:cNvSpPr/>
          <p:nvPr/>
        </p:nvSpPr>
        <p:spPr>
          <a:xfrm>
            <a:off x="5002212" y="1905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03" name="0"/>
          <p:cNvSpPr txBox="1"/>
          <p:nvPr/>
        </p:nvSpPr>
        <p:spPr>
          <a:xfrm>
            <a:off x="5075951" y="1905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804" name="1"/>
          <p:cNvSpPr txBox="1"/>
          <p:nvPr/>
        </p:nvSpPr>
        <p:spPr>
          <a:xfrm>
            <a:off x="5381545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805" name="Rectangle"/>
          <p:cNvSpPr/>
          <p:nvPr/>
        </p:nvSpPr>
        <p:spPr>
          <a:xfrm>
            <a:off x="5307012" y="1905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06" name="Line state"/>
          <p:cNvSpPr txBox="1"/>
          <p:nvPr/>
        </p:nvSpPr>
        <p:spPr>
          <a:xfrm>
            <a:off x="4814522" y="1524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807" name="Memory"/>
          <p:cNvSpPr txBox="1"/>
          <p:nvPr/>
        </p:nvSpPr>
        <p:spPr>
          <a:xfrm>
            <a:off x="7538046" y="1524000"/>
            <a:ext cx="86082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Memory</a:t>
            </a:r>
          </a:p>
        </p:txBody>
      </p:sp>
      <p:sp>
        <p:nvSpPr>
          <p:cNvPr id="808" name="Rectangle"/>
          <p:cNvSpPr/>
          <p:nvPr/>
        </p:nvSpPr>
        <p:spPr>
          <a:xfrm>
            <a:off x="7550150" y="1905000"/>
            <a:ext cx="914400" cy="1905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09" name="4"/>
          <p:cNvSpPr txBox="1"/>
          <p:nvPr/>
        </p:nvSpPr>
        <p:spPr>
          <a:xfrm>
            <a:off x="7944564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sp>
        <p:nvSpPr>
          <p:cNvPr id="810" name="Rectangle"/>
          <p:cNvSpPr/>
          <p:nvPr/>
        </p:nvSpPr>
        <p:spPr>
          <a:xfrm>
            <a:off x="7550150" y="1905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11" name="Rectangle"/>
          <p:cNvSpPr/>
          <p:nvPr/>
        </p:nvSpPr>
        <p:spPr>
          <a:xfrm>
            <a:off x="62484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12" name="Rectangle"/>
          <p:cNvSpPr/>
          <p:nvPr/>
        </p:nvSpPr>
        <p:spPr>
          <a:xfrm>
            <a:off x="65532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13" name="Rectangle"/>
          <p:cNvSpPr/>
          <p:nvPr/>
        </p:nvSpPr>
        <p:spPr>
          <a:xfrm>
            <a:off x="68580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14" name="Rectangle"/>
          <p:cNvSpPr/>
          <p:nvPr/>
        </p:nvSpPr>
        <p:spPr>
          <a:xfrm>
            <a:off x="5002212" y="3429000"/>
            <a:ext cx="304801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15" name="Rectangle"/>
          <p:cNvSpPr/>
          <p:nvPr/>
        </p:nvSpPr>
        <p:spPr>
          <a:xfrm>
            <a:off x="5307012" y="3429000"/>
            <a:ext cx="304801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16" name="Rectangle"/>
          <p:cNvSpPr/>
          <p:nvPr/>
        </p:nvSpPr>
        <p:spPr>
          <a:xfrm>
            <a:off x="7550150" y="3429000"/>
            <a:ext cx="9144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17" name="Circle"/>
          <p:cNvSpPr/>
          <p:nvPr/>
        </p:nvSpPr>
        <p:spPr>
          <a:xfrm>
            <a:off x="5257800" y="2590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18" name="Circle"/>
          <p:cNvSpPr/>
          <p:nvPr/>
        </p:nvSpPr>
        <p:spPr>
          <a:xfrm>
            <a:off x="5257800" y="2743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19" name="Circle"/>
          <p:cNvSpPr/>
          <p:nvPr/>
        </p:nvSpPr>
        <p:spPr>
          <a:xfrm>
            <a:off x="5257800" y="2895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20" name="P0"/>
          <p:cNvSpPr txBox="1"/>
          <p:nvPr/>
        </p:nvSpPr>
        <p:spPr>
          <a:xfrm>
            <a:off x="1951751" y="17526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P0</a:t>
            </a:r>
          </a:p>
        </p:txBody>
      </p:sp>
      <p:sp>
        <p:nvSpPr>
          <p:cNvPr id="821" name="Oval"/>
          <p:cNvSpPr/>
          <p:nvPr/>
        </p:nvSpPr>
        <p:spPr>
          <a:xfrm>
            <a:off x="1854200" y="17065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22" name="Rectangle"/>
          <p:cNvSpPr/>
          <p:nvPr/>
        </p:nvSpPr>
        <p:spPr>
          <a:xfrm>
            <a:off x="1676400" y="22860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23" name="Rectangle"/>
          <p:cNvSpPr/>
          <p:nvPr/>
        </p:nvSpPr>
        <p:spPr>
          <a:xfrm>
            <a:off x="1676400" y="24384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24" name="L1"/>
          <p:cNvSpPr txBox="1"/>
          <p:nvPr/>
        </p:nvSpPr>
        <p:spPr>
          <a:xfrm>
            <a:off x="2553036" y="19050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825" name="0"/>
          <p:cNvSpPr txBox="1"/>
          <p:nvPr/>
        </p:nvSpPr>
        <p:spPr>
          <a:xfrm>
            <a:off x="884951" y="24384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826" name="Rectangle"/>
          <p:cNvSpPr/>
          <p:nvPr/>
        </p:nvSpPr>
        <p:spPr>
          <a:xfrm>
            <a:off x="811212" y="24384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27" name="1"/>
          <p:cNvSpPr txBox="1"/>
          <p:nvPr/>
        </p:nvSpPr>
        <p:spPr>
          <a:xfrm>
            <a:off x="1190545" y="24384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828" name="Rectangle"/>
          <p:cNvSpPr/>
          <p:nvPr/>
        </p:nvSpPr>
        <p:spPr>
          <a:xfrm>
            <a:off x="1116012" y="24384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29" name="Line state"/>
          <p:cNvSpPr txBox="1"/>
          <p:nvPr/>
        </p:nvSpPr>
        <p:spPr>
          <a:xfrm>
            <a:off x="623522" y="20574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830" name="P1"/>
          <p:cNvSpPr txBox="1"/>
          <p:nvPr/>
        </p:nvSpPr>
        <p:spPr>
          <a:xfrm>
            <a:off x="1952545" y="3886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831" name="Oval"/>
          <p:cNvSpPr/>
          <p:nvPr/>
        </p:nvSpPr>
        <p:spPr>
          <a:xfrm>
            <a:off x="1854200" y="3840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32" name="Rectangle"/>
          <p:cNvSpPr/>
          <p:nvPr/>
        </p:nvSpPr>
        <p:spPr>
          <a:xfrm>
            <a:off x="1676400" y="44196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33" name="Rectangle"/>
          <p:cNvSpPr/>
          <p:nvPr/>
        </p:nvSpPr>
        <p:spPr>
          <a:xfrm>
            <a:off x="1676400" y="4572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34" name="L1"/>
          <p:cNvSpPr txBox="1"/>
          <p:nvPr/>
        </p:nvSpPr>
        <p:spPr>
          <a:xfrm>
            <a:off x="2553036" y="40386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835" name="0"/>
          <p:cNvSpPr txBox="1"/>
          <p:nvPr/>
        </p:nvSpPr>
        <p:spPr>
          <a:xfrm>
            <a:off x="884951" y="4572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836" name="Rectangle"/>
          <p:cNvSpPr/>
          <p:nvPr/>
        </p:nvSpPr>
        <p:spPr>
          <a:xfrm>
            <a:off x="811212" y="4572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37" name="1"/>
          <p:cNvSpPr txBox="1"/>
          <p:nvPr/>
        </p:nvSpPr>
        <p:spPr>
          <a:xfrm>
            <a:off x="1190545" y="4572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838" name="Rectangle"/>
          <p:cNvSpPr/>
          <p:nvPr/>
        </p:nvSpPr>
        <p:spPr>
          <a:xfrm>
            <a:off x="1116012" y="4572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39" name="Line state"/>
          <p:cNvSpPr txBox="1"/>
          <p:nvPr/>
        </p:nvSpPr>
        <p:spPr>
          <a:xfrm>
            <a:off x="623522" y="4191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840" name="P2"/>
          <p:cNvSpPr txBox="1"/>
          <p:nvPr/>
        </p:nvSpPr>
        <p:spPr>
          <a:xfrm>
            <a:off x="4847351" y="4724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P2</a:t>
            </a:r>
          </a:p>
        </p:txBody>
      </p:sp>
      <p:sp>
        <p:nvSpPr>
          <p:cNvPr id="841" name="Oval"/>
          <p:cNvSpPr/>
          <p:nvPr/>
        </p:nvSpPr>
        <p:spPr>
          <a:xfrm>
            <a:off x="4749800" y="4678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42" name="Rectangle"/>
          <p:cNvSpPr/>
          <p:nvPr/>
        </p:nvSpPr>
        <p:spPr>
          <a:xfrm>
            <a:off x="4572000" y="5257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43" name="Rectangle"/>
          <p:cNvSpPr/>
          <p:nvPr/>
        </p:nvSpPr>
        <p:spPr>
          <a:xfrm>
            <a:off x="4572000" y="5410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44" name="L1"/>
          <p:cNvSpPr txBox="1"/>
          <p:nvPr/>
        </p:nvSpPr>
        <p:spPr>
          <a:xfrm>
            <a:off x="5448636" y="4876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845" name="0"/>
          <p:cNvSpPr txBox="1"/>
          <p:nvPr/>
        </p:nvSpPr>
        <p:spPr>
          <a:xfrm>
            <a:off x="3780551" y="5410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846" name="Rectangle"/>
          <p:cNvSpPr/>
          <p:nvPr/>
        </p:nvSpPr>
        <p:spPr>
          <a:xfrm>
            <a:off x="3706812" y="5410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47" name="0"/>
          <p:cNvSpPr txBox="1"/>
          <p:nvPr/>
        </p:nvSpPr>
        <p:spPr>
          <a:xfrm>
            <a:off x="4085351" y="5410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848" name="Rectangle"/>
          <p:cNvSpPr/>
          <p:nvPr/>
        </p:nvSpPr>
        <p:spPr>
          <a:xfrm>
            <a:off x="4011612" y="5410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49" name="Line state"/>
          <p:cNvSpPr txBox="1"/>
          <p:nvPr/>
        </p:nvSpPr>
        <p:spPr>
          <a:xfrm>
            <a:off x="3519122" y="5029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850" name="Cache states:…"/>
          <p:cNvSpPr txBox="1"/>
          <p:nvPr/>
        </p:nvSpPr>
        <p:spPr>
          <a:xfrm>
            <a:off x="6248400" y="5410200"/>
            <a:ext cx="109671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Cache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invalid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851" name="Dir. states:…"/>
          <p:cNvSpPr txBox="1"/>
          <p:nvPr/>
        </p:nvSpPr>
        <p:spPr>
          <a:xfrm>
            <a:off x="7620000" y="5410200"/>
            <a:ext cx="122763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Dir.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not cached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grpSp>
        <p:nvGrpSpPr>
          <p:cNvPr id="854" name="Group"/>
          <p:cNvGrpSpPr/>
          <p:nvPr/>
        </p:nvGrpSpPr>
        <p:grpSpPr>
          <a:xfrm>
            <a:off x="362720" y="3809999"/>
            <a:ext cx="1466081" cy="762001"/>
            <a:chOff x="0" y="0"/>
            <a:chExt cx="1466079" cy="761999"/>
          </a:xfrm>
        </p:grpSpPr>
        <p:sp>
          <p:nvSpPr>
            <p:cNvPr id="852" name="Line"/>
            <p:cNvSpPr/>
            <p:nvPr/>
          </p:nvSpPr>
          <p:spPr>
            <a:xfrm>
              <a:off x="678489" y="117607"/>
              <a:ext cx="787591" cy="644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6" h="20296" extrusionOk="0">
                  <a:moveTo>
                    <a:pt x="20296" y="1782"/>
                  </a:moveTo>
                  <a:cubicBezTo>
                    <a:pt x="12582" y="239"/>
                    <a:pt x="4867" y="-1304"/>
                    <a:pt x="1782" y="1782"/>
                  </a:cubicBezTo>
                  <a:cubicBezTo>
                    <a:pt x="-1304" y="4867"/>
                    <a:pt x="239" y="12582"/>
                    <a:pt x="1782" y="20296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853" name="Store"/>
            <p:cNvSpPr txBox="1"/>
            <p:nvPr/>
          </p:nvSpPr>
          <p:spPr>
            <a:xfrm>
              <a:off x="0" y="0"/>
              <a:ext cx="568373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Store</a:t>
              </a:r>
            </a:p>
          </p:txBody>
        </p:sp>
      </p:grpSp>
      <p:sp>
        <p:nvSpPr>
          <p:cNvPr id="855" name="4"/>
          <p:cNvSpPr txBox="1"/>
          <p:nvPr/>
        </p:nvSpPr>
        <p:spPr>
          <a:xfrm>
            <a:off x="2070814" y="24384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grpSp>
        <p:nvGrpSpPr>
          <p:cNvPr id="858" name="Group"/>
          <p:cNvGrpSpPr/>
          <p:nvPr/>
        </p:nvGrpSpPr>
        <p:grpSpPr>
          <a:xfrm>
            <a:off x="959691" y="1893622"/>
            <a:ext cx="3993309" cy="4385907"/>
            <a:chOff x="0" y="0"/>
            <a:chExt cx="3993308" cy="4385905"/>
          </a:xfrm>
        </p:grpSpPr>
        <p:sp>
          <p:nvSpPr>
            <p:cNvPr id="856" name="Line"/>
            <p:cNvSpPr/>
            <p:nvPr/>
          </p:nvSpPr>
          <p:spPr>
            <a:xfrm>
              <a:off x="0" y="0"/>
              <a:ext cx="3993309" cy="4385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8" h="19325" extrusionOk="0">
                  <a:moveTo>
                    <a:pt x="960" y="13480"/>
                  </a:moveTo>
                  <a:cubicBezTo>
                    <a:pt x="129" y="15103"/>
                    <a:pt x="-702" y="16726"/>
                    <a:pt x="960" y="17509"/>
                  </a:cubicBezTo>
                  <a:cubicBezTo>
                    <a:pt x="2621" y="18293"/>
                    <a:pt x="9001" y="20755"/>
                    <a:pt x="10929" y="18181"/>
                  </a:cubicBezTo>
                  <a:cubicBezTo>
                    <a:pt x="12856" y="15607"/>
                    <a:pt x="10862" y="4975"/>
                    <a:pt x="12524" y="2065"/>
                  </a:cubicBezTo>
                  <a:cubicBezTo>
                    <a:pt x="14185" y="-845"/>
                    <a:pt x="17542" y="-62"/>
                    <a:pt x="20898" y="722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857" name="Miss"/>
            <p:cNvSpPr txBox="1"/>
            <p:nvPr/>
          </p:nvSpPr>
          <p:spPr>
            <a:xfrm>
              <a:off x="754295" y="3821377"/>
              <a:ext cx="513790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Miss</a:t>
              </a:r>
            </a:p>
          </p:txBody>
        </p:sp>
      </p:grpSp>
      <p:sp>
        <p:nvSpPr>
          <p:cNvPr id="859" name="4"/>
          <p:cNvSpPr txBox="1"/>
          <p:nvPr/>
        </p:nvSpPr>
        <p:spPr>
          <a:xfrm>
            <a:off x="2070814" y="24384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sp>
        <p:nvSpPr>
          <p:cNvPr id="860" name="4"/>
          <p:cNvSpPr txBox="1"/>
          <p:nvPr/>
        </p:nvSpPr>
        <p:spPr>
          <a:xfrm>
            <a:off x="2070814" y="4572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sp>
        <p:nvSpPr>
          <p:cNvPr id="861" name="0"/>
          <p:cNvSpPr txBox="1"/>
          <p:nvPr/>
        </p:nvSpPr>
        <p:spPr>
          <a:xfrm>
            <a:off x="1183401" y="24384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0</a:t>
            </a:r>
          </a:p>
        </p:txBody>
      </p:sp>
      <p:grpSp>
        <p:nvGrpSpPr>
          <p:cNvPr id="864" name="Group"/>
          <p:cNvGrpSpPr/>
          <p:nvPr/>
        </p:nvGrpSpPr>
        <p:grpSpPr>
          <a:xfrm>
            <a:off x="-1" y="1926178"/>
            <a:ext cx="762001" cy="2874423"/>
            <a:chOff x="0" y="0"/>
            <a:chExt cx="762000" cy="2874421"/>
          </a:xfrm>
        </p:grpSpPr>
        <p:sp>
          <p:nvSpPr>
            <p:cNvPr id="862" name="Acknowledge"/>
            <p:cNvSpPr txBox="1"/>
            <p:nvPr/>
          </p:nvSpPr>
          <p:spPr>
            <a:xfrm rot="16200000">
              <a:off x="-472852" y="472851"/>
              <a:ext cx="1303844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Acknowledge</a:t>
              </a:r>
            </a:p>
          </p:txBody>
        </p:sp>
        <p:sp>
          <p:nvSpPr>
            <p:cNvPr id="863" name="Line"/>
            <p:cNvSpPr/>
            <p:nvPr/>
          </p:nvSpPr>
          <p:spPr>
            <a:xfrm>
              <a:off x="228600" y="740821"/>
              <a:ext cx="533400" cy="2133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0800" y="3214"/>
                    <a:pt x="0" y="6429"/>
                    <a:pt x="0" y="10029"/>
                  </a:cubicBezTo>
                  <a:cubicBezTo>
                    <a:pt x="0" y="13629"/>
                    <a:pt x="10800" y="17614"/>
                    <a:pt x="21600" y="2160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sp>
        <p:nvSpPr>
          <p:cNvPr id="865" name="6"/>
          <p:cNvSpPr txBox="1"/>
          <p:nvPr/>
        </p:nvSpPr>
        <p:spPr>
          <a:xfrm>
            <a:off x="2021601" y="4572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6</a:t>
            </a:r>
          </a:p>
        </p:txBody>
      </p:sp>
      <p:grpSp>
        <p:nvGrpSpPr>
          <p:cNvPr id="868" name="Group"/>
          <p:cNvGrpSpPr/>
          <p:nvPr/>
        </p:nvGrpSpPr>
        <p:grpSpPr>
          <a:xfrm>
            <a:off x="744176" y="1295399"/>
            <a:ext cx="4924246" cy="1143001"/>
            <a:chOff x="0" y="0"/>
            <a:chExt cx="4924245" cy="1143000"/>
          </a:xfrm>
        </p:grpSpPr>
        <p:sp>
          <p:nvSpPr>
            <p:cNvPr id="866" name="Line"/>
            <p:cNvSpPr/>
            <p:nvPr/>
          </p:nvSpPr>
          <p:spPr>
            <a:xfrm>
              <a:off x="0" y="378688"/>
              <a:ext cx="4589824" cy="764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3" h="21310" extrusionOk="0">
                  <a:moveTo>
                    <a:pt x="1444" y="21310"/>
                  </a:moveTo>
                  <a:cubicBezTo>
                    <a:pt x="194" y="14582"/>
                    <a:pt x="-1057" y="7854"/>
                    <a:pt x="1444" y="4313"/>
                  </a:cubicBezTo>
                  <a:cubicBezTo>
                    <a:pt x="3945" y="772"/>
                    <a:pt x="13267" y="-290"/>
                    <a:pt x="16450" y="64"/>
                  </a:cubicBezTo>
                  <a:cubicBezTo>
                    <a:pt x="19634" y="418"/>
                    <a:pt x="20088" y="3428"/>
                    <a:pt x="20543" y="6438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867" name="Acknowledge"/>
            <p:cNvSpPr txBox="1"/>
            <p:nvPr/>
          </p:nvSpPr>
          <p:spPr>
            <a:xfrm>
              <a:off x="3620401" y="0"/>
              <a:ext cx="1303845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Acknowledge</a:t>
              </a:r>
            </a:p>
          </p:txBody>
        </p:sp>
      </p:grpSp>
      <p:sp>
        <p:nvSpPr>
          <p:cNvPr id="869" name="1"/>
          <p:cNvSpPr txBox="1"/>
          <p:nvPr/>
        </p:nvSpPr>
        <p:spPr>
          <a:xfrm>
            <a:off x="879395" y="4572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870" name="0"/>
          <p:cNvSpPr txBox="1"/>
          <p:nvPr/>
        </p:nvSpPr>
        <p:spPr>
          <a:xfrm>
            <a:off x="1183401" y="4572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0</a:t>
            </a:r>
          </a:p>
        </p:txBody>
      </p:sp>
      <p:grpSp>
        <p:nvGrpSpPr>
          <p:cNvPr id="874" name="Group"/>
          <p:cNvGrpSpPr/>
          <p:nvPr/>
        </p:nvGrpSpPr>
        <p:grpSpPr>
          <a:xfrm>
            <a:off x="602472" y="1904999"/>
            <a:ext cx="7048719" cy="1625501"/>
            <a:chOff x="0" y="0"/>
            <a:chExt cx="7048718" cy="1625499"/>
          </a:xfrm>
        </p:grpSpPr>
        <p:sp>
          <p:nvSpPr>
            <p:cNvPr id="871" name="Oval"/>
            <p:cNvSpPr/>
            <p:nvPr/>
          </p:nvSpPr>
          <p:spPr>
            <a:xfrm>
              <a:off x="6331727" y="0"/>
              <a:ext cx="228601" cy="381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872" name="Line"/>
            <p:cNvSpPr/>
            <p:nvPr/>
          </p:nvSpPr>
          <p:spPr>
            <a:xfrm>
              <a:off x="-1" y="380999"/>
              <a:ext cx="7048720" cy="1244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99" h="20751" extrusionOk="0">
                  <a:moveTo>
                    <a:pt x="17845" y="0"/>
                  </a:moveTo>
                  <a:cubicBezTo>
                    <a:pt x="19190" y="6565"/>
                    <a:pt x="20536" y="13129"/>
                    <a:pt x="17845" y="16518"/>
                  </a:cubicBezTo>
                  <a:cubicBezTo>
                    <a:pt x="15153" y="19906"/>
                    <a:pt x="4458" y="21600"/>
                    <a:pt x="1697" y="20329"/>
                  </a:cubicBezTo>
                  <a:cubicBezTo>
                    <a:pt x="-1064" y="19059"/>
                    <a:pt x="107" y="13976"/>
                    <a:pt x="1278" y="8894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873" name="Invalidate"/>
            <p:cNvSpPr txBox="1"/>
            <p:nvPr/>
          </p:nvSpPr>
          <p:spPr>
            <a:xfrm>
              <a:off x="2944146" y="1143000"/>
              <a:ext cx="968088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Invalidate</a:t>
              </a:r>
            </a:p>
          </p:txBody>
        </p:sp>
      </p:grpSp>
      <p:sp>
        <p:nvSpPr>
          <p:cNvPr id="875" name="1"/>
          <p:cNvSpPr txBox="1"/>
          <p:nvPr/>
        </p:nvSpPr>
        <p:spPr>
          <a:xfrm>
            <a:off x="5070395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876" name="0"/>
          <p:cNvSpPr txBox="1"/>
          <p:nvPr/>
        </p:nvSpPr>
        <p:spPr>
          <a:xfrm>
            <a:off x="5374401" y="1905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877" name="0"/>
          <p:cNvSpPr txBox="1"/>
          <p:nvPr/>
        </p:nvSpPr>
        <p:spPr>
          <a:xfrm>
            <a:off x="6898401" y="1905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0</a:t>
            </a:r>
          </a:p>
        </p:txBody>
      </p:sp>
      <p:grpSp>
        <p:nvGrpSpPr>
          <p:cNvPr id="880" name="Group"/>
          <p:cNvGrpSpPr/>
          <p:nvPr/>
        </p:nvGrpSpPr>
        <p:grpSpPr>
          <a:xfrm>
            <a:off x="1295400" y="2092933"/>
            <a:ext cx="3657600" cy="3477440"/>
            <a:chOff x="0" y="0"/>
            <a:chExt cx="3657600" cy="3477439"/>
          </a:xfrm>
        </p:grpSpPr>
        <p:sp>
          <p:nvSpPr>
            <p:cNvPr id="878" name="Line"/>
            <p:cNvSpPr/>
            <p:nvPr/>
          </p:nvSpPr>
          <p:spPr>
            <a:xfrm>
              <a:off x="0" y="-1"/>
              <a:ext cx="3657600" cy="34774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36" extrusionOk="0">
                  <a:moveTo>
                    <a:pt x="21600" y="690"/>
                  </a:moveTo>
                  <a:cubicBezTo>
                    <a:pt x="18900" y="-22"/>
                    <a:pt x="16200" y="-735"/>
                    <a:pt x="14850" y="1590"/>
                  </a:cubicBezTo>
                  <a:cubicBezTo>
                    <a:pt x="13500" y="3915"/>
                    <a:pt x="14775" y="11490"/>
                    <a:pt x="13500" y="14640"/>
                  </a:cubicBezTo>
                  <a:cubicBezTo>
                    <a:pt x="12225" y="17790"/>
                    <a:pt x="9450" y="20115"/>
                    <a:pt x="7200" y="20490"/>
                  </a:cubicBezTo>
                  <a:cubicBezTo>
                    <a:pt x="4950" y="20865"/>
                    <a:pt x="2475" y="18877"/>
                    <a:pt x="0" y="1689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879" name="Reply"/>
            <p:cNvSpPr txBox="1"/>
            <p:nvPr/>
          </p:nvSpPr>
          <p:spPr>
            <a:xfrm>
              <a:off x="2346325" y="1842479"/>
              <a:ext cx="603533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Reply</a:t>
              </a:r>
            </a:p>
          </p:txBody>
        </p:sp>
      </p:grpSp>
      <p:sp>
        <p:nvSpPr>
          <p:cNvPr id="8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0" grpId="0" animBg="1" advAuto="0"/>
      <p:bldP spid="803" grpId="0" animBg="1" advAuto="0"/>
      <p:bldP spid="804" grpId="0" animBg="1" advAuto="0"/>
      <p:bldP spid="827" grpId="0" animBg="1" advAuto="0"/>
      <p:bldP spid="835" grpId="0" animBg="1" advAuto="0"/>
      <p:bldP spid="837" grpId="0" animBg="1" advAuto="0"/>
      <p:bldP spid="854" grpId="0" animBg="1" advAuto="0"/>
      <p:bldP spid="858" grpId="0" animBg="1" advAuto="0"/>
      <p:bldP spid="860" grpId="0" animBg="1" advAuto="0"/>
      <p:bldP spid="861" grpId="0" animBg="1" advAuto="0"/>
      <p:bldP spid="864" grpId="0" animBg="1" advAuto="0"/>
      <p:bldP spid="865" grpId="0" animBg="1" advAuto="0"/>
      <p:bldP spid="868" grpId="0" animBg="1" advAuto="0"/>
      <p:bldP spid="869" grpId="0" animBg="1" advAuto="0"/>
      <p:bldP spid="870" grpId="0" animBg="1" advAuto="0"/>
      <p:bldP spid="874" grpId="0" animBg="1" advAuto="0"/>
      <p:bldP spid="875" grpId="0" animBg="1" advAuto="0"/>
      <p:bldP spid="876" grpId="0" animBg="1" advAuto="0"/>
      <p:bldP spid="877" grpId="0" animBg="1" advAuto="0"/>
      <p:bldP spid="880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884" name="Directory Operation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Directory Operation</a:t>
            </a:r>
          </a:p>
        </p:txBody>
      </p:sp>
      <p:sp>
        <p:nvSpPr>
          <p:cNvPr id="885" name="Example: load with owner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500"/>
              </a:spcBef>
              <a:buChar char="▪"/>
              <a:defRPr sz="2400"/>
            </a:lvl1pPr>
          </a:lstStyle>
          <a:p>
            <a:r>
              <a:t>Example: load with owner</a:t>
            </a:r>
          </a:p>
        </p:txBody>
      </p:sp>
      <p:sp>
        <p:nvSpPr>
          <p:cNvPr id="886" name="Sharing vector"/>
          <p:cNvSpPr txBox="1"/>
          <p:nvPr/>
        </p:nvSpPr>
        <p:spPr>
          <a:xfrm>
            <a:off x="5966861" y="1524000"/>
            <a:ext cx="138064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Sharing vector</a:t>
            </a:r>
          </a:p>
        </p:txBody>
      </p:sp>
      <p:sp>
        <p:nvSpPr>
          <p:cNvPr id="887" name="0"/>
          <p:cNvSpPr txBox="1"/>
          <p:nvPr/>
        </p:nvSpPr>
        <p:spPr>
          <a:xfrm>
            <a:off x="6322139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888" name="Rectangle"/>
          <p:cNvSpPr/>
          <p:nvPr/>
        </p:nvSpPr>
        <p:spPr>
          <a:xfrm>
            <a:off x="62484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89" name="1"/>
          <p:cNvSpPr txBox="1"/>
          <p:nvPr/>
        </p:nvSpPr>
        <p:spPr>
          <a:xfrm>
            <a:off x="6627733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890" name="0"/>
          <p:cNvSpPr txBox="1"/>
          <p:nvPr/>
        </p:nvSpPr>
        <p:spPr>
          <a:xfrm>
            <a:off x="6931739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891" name="Rectangle"/>
          <p:cNvSpPr/>
          <p:nvPr/>
        </p:nvSpPr>
        <p:spPr>
          <a:xfrm>
            <a:off x="68580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92" name="Rectangle"/>
          <p:cNvSpPr/>
          <p:nvPr/>
        </p:nvSpPr>
        <p:spPr>
          <a:xfrm>
            <a:off x="5002212" y="1905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93" name="1"/>
          <p:cNvSpPr txBox="1"/>
          <p:nvPr/>
        </p:nvSpPr>
        <p:spPr>
          <a:xfrm>
            <a:off x="5076745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894" name="0"/>
          <p:cNvSpPr txBox="1"/>
          <p:nvPr/>
        </p:nvSpPr>
        <p:spPr>
          <a:xfrm>
            <a:off x="5380751" y="1905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895" name="Rectangle"/>
          <p:cNvSpPr/>
          <p:nvPr/>
        </p:nvSpPr>
        <p:spPr>
          <a:xfrm>
            <a:off x="5307012" y="1905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96" name="Line state"/>
          <p:cNvSpPr txBox="1"/>
          <p:nvPr/>
        </p:nvSpPr>
        <p:spPr>
          <a:xfrm>
            <a:off x="4814522" y="1524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897" name="Memory"/>
          <p:cNvSpPr txBox="1"/>
          <p:nvPr/>
        </p:nvSpPr>
        <p:spPr>
          <a:xfrm>
            <a:off x="7538046" y="1524000"/>
            <a:ext cx="860820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Memory</a:t>
            </a:r>
          </a:p>
        </p:txBody>
      </p:sp>
      <p:sp>
        <p:nvSpPr>
          <p:cNvPr id="898" name="Rectangle"/>
          <p:cNvSpPr/>
          <p:nvPr/>
        </p:nvSpPr>
        <p:spPr>
          <a:xfrm>
            <a:off x="7550150" y="1905000"/>
            <a:ext cx="914400" cy="1905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899" name="4"/>
          <p:cNvSpPr txBox="1"/>
          <p:nvPr/>
        </p:nvSpPr>
        <p:spPr>
          <a:xfrm>
            <a:off x="7944564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sp>
        <p:nvSpPr>
          <p:cNvPr id="900" name="Rectangle"/>
          <p:cNvSpPr/>
          <p:nvPr/>
        </p:nvSpPr>
        <p:spPr>
          <a:xfrm>
            <a:off x="7550150" y="1905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01" name="Rectangle"/>
          <p:cNvSpPr/>
          <p:nvPr/>
        </p:nvSpPr>
        <p:spPr>
          <a:xfrm>
            <a:off x="62484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02" name="Rectangle"/>
          <p:cNvSpPr/>
          <p:nvPr/>
        </p:nvSpPr>
        <p:spPr>
          <a:xfrm>
            <a:off x="65532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03" name="Rectangle"/>
          <p:cNvSpPr/>
          <p:nvPr/>
        </p:nvSpPr>
        <p:spPr>
          <a:xfrm>
            <a:off x="6858000" y="3429000"/>
            <a:ext cx="3048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04" name="Rectangle"/>
          <p:cNvSpPr/>
          <p:nvPr/>
        </p:nvSpPr>
        <p:spPr>
          <a:xfrm>
            <a:off x="5002212" y="3429000"/>
            <a:ext cx="304801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05" name="Rectangle"/>
          <p:cNvSpPr/>
          <p:nvPr/>
        </p:nvSpPr>
        <p:spPr>
          <a:xfrm>
            <a:off x="5307012" y="3429000"/>
            <a:ext cx="304801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06" name="Rectangle"/>
          <p:cNvSpPr/>
          <p:nvPr/>
        </p:nvSpPr>
        <p:spPr>
          <a:xfrm>
            <a:off x="7550150" y="3429000"/>
            <a:ext cx="914400" cy="381000"/>
          </a:xfrm>
          <a:prstGeom prst="rect">
            <a:avLst/>
          </a:prstGeom>
          <a:ln w="12700">
            <a:solidFill>
              <a:srgbClr val="ABABAB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07" name="Circle"/>
          <p:cNvSpPr/>
          <p:nvPr/>
        </p:nvSpPr>
        <p:spPr>
          <a:xfrm>
            <a:off x="5257800" y="2590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08" name="Circle"/>
          <p:cNvSpPr/>
          <p:nvPr/>
        </p:nvSpPr>
        <p:spPr>
          <a:xfrm>
            <a:off x="5257800" y="2743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09" name="Circle"/>
          <p:cNvSpPr/>
          <p:nvPr/>
        </p:nvSpPr>
        <p:spPr>
          <a:xfrm>
            <a:off x="5257800" y="28956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10" name="P0"/>
          <p:cNvSpPr txBox="1"/>
          <p:nvPr/>
        </p:nvSpPr>
        <p:spPr>
          <a:xfrm>
            <a:off x="1951751" y="17526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P0</a:t>
            </a:r>
          </a:p>
        </p:txBody>
      </p:sp>
      <p:sp>
        <p:nvSpPr>
          <p:cNvPr id="911" name="Oval"/>
          <p:cNvSpPr/>
          <p:nvPr/>
        </p:nvSpPr>
        <p:spPr>
          <a:xfrm>
            <a:off x="1854200" y="17065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12" name="Rectangle"/>
          <p:cNvSpPr/>
          <p:nvPr/>
        </p:nvSpPr>
        <p:spPr>
          <a:xfrm>
            <a:off x="1676400" y="22860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13" name="Rectangle"/>
          <p:cNvSpPr/>
          <p:nvPr/>
        </p:nvSpPr>
        <p:spPr>
          <a:xfrm>
            <a:off x="1676400" y="24384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14" name="L1"/>
          <p:cNvSpPr txBox="1"/>
          <p:nvPr/>
        </p:nvSpPr>
        <p:spPr>
          <a:xfrm>
            <a:off x="2553036" y="19050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915" name="0"/>
          <p:cNvSpPr txBox="1"/>
          <p:nvPr/>
        </p:nvSpPr>
        <p:spPr>
          <a:xfrm>
            <a:off x="884951" y="24384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916" name="Rectangle"/>
          <p:cNvSpPr/>
          <p:nvPr/>
        </p:nvSpPr>
        <p:spPr>
          <a:xfrm>
            <a:off x="811212" y="24384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17" name="0"/>
          <p:cNvSpPr txBox="1"/>
          <p:nvPr/>
        </p:nvSpPr>
        <p:spPr>
          <a:xfrm>
            <a:off x="1189751" y="24384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918" name="Rectangle"/>
          <p:cNvSpPr/>
          <p:nvPr/>
        </p:nvSpPr>
        <p:spPr>
          <a:xfrm>
            <a:off x="1116012" y="24384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19" name="Line state"/>
          <p:cNvSpPr txBox="1"/>
          <p:nvPr/>
        </p:nvSpPr>
        <p:spPr>
          <a:xfrm>
            <a:off x="623522" y="20574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920" name="P1"/>
          <p:cNvSpPr txBox="1"/>
          <p:nvPr/>
        </p:nvSpPr>
        <p:spPr>
          <a:xfrm>
            <a:off x="1952545" y="3886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921" name="Oval"/>
          <p:cNvSpPr/>
          <p:nvPr/>
        </p:nvSpPr>
        <p:spPr>
          <a:xfrm>
            <a:off x="1854200" y="3840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22" name="Rectangle"/>
          <p:cNvSpPr/>
          <p:nvPr/>
        </p:nvSpPr>
        <p:spPr>
          <a:xfrm>
            <a:off x="1676400" y="44196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23" name="Rectangle"/>
          <p:cNvSpPr/>
          <p:nvPr/>
        </p:nvSpPr>
        <p:spPr>
          <a:xfrm>
            <a:off x="1676400" y="45720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24" name="L1"/>
          <p:cNvSpPr txBox="1"/>
          <p:nvPr/>
        </p:nvSpPr>
        <p:spPr>
          <a:xfrm>
            <a:off x="2553036" y="40386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925" name="1"/>
          <p:cNvSpPr txBox="1"/>
          <p:nvPr/>
        </p:nvSpPr>
        <p:spPr>
          <a:xfrm>
            <a:off x="885745" y="4572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1</a:t>
            </a:r>
          </a:p>
        </p:txBody>
      </p:sp>
      <p:sp>
        <p:nvSpPr>
          <p:cNvPr id="926" name="Rectangle"/>
          <p:cNvSpPr/>
          <p:nvPr/>
        </p:nvSpPr>
        <p:spPr>
          <a:xfrm>
            <a:off x="811212" y="4572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27" name="0"/>
          <p:cNvSpPr txBox="1"/>
          <p:nvPr/>
        </p:nvSpPr>
        <p:spPr>
          <a:xfrm>
            <a:off x="1189751" y="4572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928" name="Rectangle"/>
          <p:cNvSpPr/>
          <p:nvPr/>
        </p:nvSpPr>
        <p:spPr>
          <a:xfrm>
            <a:off x="1116012" y="45720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29" name="Line state"/>
          <p:cNvSpPr txBox="1"/>
          <p:nvPr/>
        </p:nvSpPr>
        <p:spPr>
          <a:xfrm>
            <a:off x="623522" y="41910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930" name="P2"/>
          <p:cNvSpPr txBox="1"/>
          <p:nvPr/>
        </p:nvSpPr>
        <p:spPr>
          <a:xfrm>
            <a:off x="4847351" y="47244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P2</a:t>
            </a:r>
          </a:p>
        </p:txBody>
      </p:sp>
      <p:sp>
        <p:nvSpPr>
          <p:cNvPr id="931" name="Oval"/>
          <p:cNvSpPr/>
          <p:nvPr/>
        </p:nvSpPr>
        <p:spPr>
          <a:xfrm>
            <a:off x="4749800" y="46783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32" name="Rectangle"/>
          <p:cNvSpPr/>
          <p:nvPr/>
        </p:nvSpPr>
        <p:spPr>
          <a:xfrm>
            <a:off x="4572000" y="5257800"/>
            <a:ext cx="91440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33" name="Rectangle"/>
          <p:cNvSpPr/>
          <p:nvPr/>
        </p:nvSpPr>
        <p:spPr>
          <a:xfrm>
            <a:off x="4572000" y="5410200"/>
            <a:ext cx="914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34" name="L1"/>
          <p:cNvSpPr txBox="1"/>
          <p:nvPr/>
        </p:nvSpPr>
        <p:spPr>
          <a:xfrm>
            <a:off x="5448636" y="4876800"/>
            <a:ext cx="34222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L1</a:t>
            </a:r>
          </a:p>
        </p:txBody>
      </p:sp>
      <p:sp>
        <p:nvSpPr>
          <p:cNvPr id="935" name="0"/>
          <p:cNvSpPr txBox="1"/>
          <p:nvPr/>
        </p:nvSpPr>
        <p:spPr>
          <a:xfrm>
            <a:off x="3780551" y="5410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936" name="Rectangle"/>
          <p:cNvSpPr/>
          <p:nvPr/>
        </p:nvSpPr>
        <p:spPr>
          <a:xfrm>
            <a:off x="3706812" y="5410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37" name="0"/>
          <p:cNvSpPr txBox="1"/>
          <p:nvPr/>
        </p:nvSpPr>
        <p:spPr>
          <a:xfrm>
            <a:off x="4085351" y="5410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0</a:t>
            </a:r>
          </a:p>
        </p:txBody>
      </p:sp>
      <p:sp>
        <p:nvSpPr>
          <p:cNvPr id="938" name="Rectangle"/>
          <p:cNvSpPr/>
          <p:nvPr/>
        </p:nvSpPr>
        <p:spPr>
          <a:xfrm>
            <a:off x="4011612" y="5410200"/>
            <a:ext cx="304801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39" name="Line state"/>
          <p:cNvSpPr txBox="1"/>
          <p:nvPr/>
        </p:nvSpPr>
        <p:spPr>
          <a:xfrm>
            <a:off x="3519122" y="5029200"/>
            <a:ext cx="96116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Line state</a:t>
            </a:r>
          </a:p>
        </p:txBody>
      </p:sp>
      <p:sp>
        <p:nvSpPr>
          <p:cNvPr id="940" name="Cache states:…"/>
          <p:cNvSpPr txBox="1"/>
          <p:nvPr/>
        </p:nvSpPr>
        <p:spPr>
          <a:xfrm>
            <a:off x="6248400" y="5410200"/>
            <a:ext cx="109671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Cache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invalid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sp>
        <p:nvSpPr>
          <p:cNvPr id="941" name="Dir. states:…"/>
          <p:cNvSpPr txBox="1"/>
          <p:nvPr/>
        </p:nvSpPr>
        <p:spPr>
          <a:xfrm>
            <a:off x="7620000" y="5410200"/>
            <a:ext cx="1227632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 b="0">
                <a:solidFill>
                  <a:srgbClr val="0000FF"/>
                </a:solidFill>
              </a:defRPr>
            </a:pPr>
            <a:r>
              <a:t>Dir. states: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00 = not cached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01 = shared</a:t>
            </a:r>
          </a:p>
          <a:p>
            <a:pPr>
              <a:defRPr sz="1400" b="0">
                <a:solidFill>
                  <a:srgbClr val="0000FF"/>
                </a:solidFill>
              </a:defRPr>
            </a:pPr>
            <a:r>
              <a:t>10 = modified</a:t>
            </a:r>
          </a:p>
        </p:txBody>
      </p:sp>
      <p:grpSp>
        <p:nvGrpSpPr>
          <p:cNvPr id="944" name="Group"/>
          <p:cNvGrpSpPr/>
          <p:nvPr/>
        </p:nvGrpSpPr>
        <p:grpSpPr>
          <a:xfrm>
            <a:off x="3259888" y="4648199"/>
            <a:ext cx="1461337" cy="762001"/>
            <a:chOff x="0" y="0"/>
            <a:chExt cx="1461335" cy="761999"/>
          </a:xfrm>
        </p:grpSpPr>
        <p:sp>
          <p:nvSpPr>
            <p:cNvPr id="942" name="Line"/>
            <p:cNvSpPr/>
            <p:nvPr/>
          </p:nvSpPr>
          <p:spPr>
            <a:xfrm>
              <a:off x="673745" y="117607"/>
              <a:ext cx="787591" cy="644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6" h="20296" extrusionOk="0">
                  <a:moveTo>
                    <a:pt x="20296" y="1782"/>
                  </a:moveTo>
                  <a:cubicBezTo>
                    <a:pt x="12582" y="239"/>
                    <a:pt x="4867" y="-1304"/>
                    <a:pt x="1782" y="1782"/>
                  </a:cubicBezTo>
                  <a:cubicBezTo>
                    <a:pt x="-1304" y="4867"/>
                    <a:pt x="239" y="12582"/>
                    <a:pt x="1782" y="20296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943" name="Load"/>
            <p:cNvSpPr txBox="1"/>
            <p:nvPr/>
          </p:nvSpPr>
          <p:spPr>
            <a:xfrm>
              <a:off x="0" y="0"/>
              <a:ext cx="558885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Load</a:t>
              </a:r>
            </a:p>
          </p:txBody>
        </p:sp>
      </p:grpSp>
      <p:sp>
        <p:nvSpPr>
          <p:cNvPr id="945" name="4"/>
          <p:cNvSpPr txBox="1"/>
          <p:nvPr/>
        </p:nvSpPr>
        <p:spPr>
          <a:xfrm>
            <a:off x="2070814" y="24384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sp>
        <p:nvSpPr>
          <p:cNvPr id="946" name="4"/>
          <p:cNvSpPr txBox="1"/>
          <p:nvPr/>
        </p:nvSpPr>
        <p:spPr>
          <a:xfrm>
            <a:off x="2070814" y="24384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4</a:t>
            </a:r>
          </a:p>
        </p:txBody>
      </p:sp>
      <p:sp>
        <p:nvSpPr>
          <p:cNvPr id="947" name="6"/>
          <p:cNvSpPr txBox="1"/>
          <p:nvPr/>
        </p:nvSpPr>
        <p:spPr>
          <a:xfrm>
            <a:off x="2070814" y="4572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6</a:t>
            </a:r>
          </a:p>
        </p:txBody>
      </p:sp>
      <p:grpSp>
        <p:nvGrpSpPr>
          <p:cNvPr id="950" name="Group"/>
          <p:cNvGrpSpPr/>
          <p:nvPr/>
        </p:nvGrpSpPr>
        <p:grpSpPr>
          <a:xfrm>
            <a:off x="3160707" y="2057400"/>
            <a:ext cx="1792294" cy="3845365"/>
            <a:chOff x="0" y="0"/>
            <a:chExt cx="1792292" cy="3845364"/>
          </a:xfrm>
        </p:grpSpPr>
        <p:sp>
          <p:nvSpPr>
            <p:cNvPr id="948" name="Miss"/>
            <p:cNvSpPr txBox="1"/>
            <p:nvPr/>
          </p:nvSpPr>
          <p:spPr>
            <a:xfrm>
              <a:off x="107442" y="1219200"/>
              <a:ext cx="513790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Miss</a:t>
              </a:r>
            </a:p>
          </p:txBody>
        </p:sp>
        <p:sp>
          <p:nvSpPr>
            <p:cNvPr id="949" name="Line"/>
            <p:cNvSpPr/>
            <p:nvPr/>
          </p:nvSpPr>
          <p:spPr>
            <a:xfrm>
              <a:off x="0" y="0"/>
              <a:ext cx="1792293" cy="3845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24" h="20567" extrusionOk="0">
                  <a:moveTo>
                    <a:pt x="6371" y="19155"/>
                  </a:moveTo>
                  <a:cubicBezTo>
                    <a:pt x="4677" y="20377"/>
                    <a:pt x="2983" y="21600"/>
                    <a:pt x="2136" y="19155"/>
                  </a:cubicBezTo>
                  <a:cubicBezTo>
                    <a:pt x="1289" y="16709"/>
                    <a:pt x="-1676" y="7675"/>
                    <a:pt x="1289" y="4483"/>
                  </a:cubicBezTo>
                  <a:cubicBezTo>
                    <a:pt x="4253" y="1291"/>
                    <a:pt x="12089" y="645"/>
                    <a:pt x="19924" y="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sp>
        <p:nvSpPr>
          <p:cNvPr id="951" name="Rectangle"/>
          <p:cNvSpPr/>
          <p:nvPr/>
        </p:nvSpPr>
        <p:spPr>
          <a:xfrm>
            <a:off x="6553200" y="1905000"/>
            <a:ext cx="3048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grpSp>
        <p:nvGrpSpPr>
          <p:cNvPr id="955" name="Group"/>
          <p:cNvGrpSpPr/>
          <p:nvPr/>
        </p:nvGrpSpPr>
        <p:grpSpPr>
          <a:xfrm>
            <a:off x="686933" y="1905000"/>
            <a:ext cx="6622797" cy="2667000"/>
            <a:chOff x="0" y="0"/>
            <a:chExt cx="6622795" cy="2667000"/>
          </a:xfrm>
        </p:grpSpPr>
        <p:sp>
          <p:nvSpPr>
            <p:cNvPr id="952" name="Oval"/>
            <p:cNvSpPr/>
            <p:nvPr/>
          </p:nvSpPr>
          <p:spPr>
            <a:xfrm>
              <a:off x="5942466" y="0"/>
              <a:ext cx="228601" cy="381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953" name="Line"/>
            <p:cNvSpPr/>
            <p:nvPr/>
          </p:nvSpPr>
          <p:spPr>
            <a:xfrm>
              <a:off x="-1" y="381000"/>
              <a:ext cx="6622797" cy="228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54" h="21600" extrusionOk="0">
                  <a:moveTo>
                    <a:pt x="17903" y="0"/>
                  </a:moveTo>
                  <a:cubicBezTo>
                    <a:pt x="19246" y="3540"/>
                    <a:pt x="20589" y="7080"/>
                    <a:pt x="17903" y="8640"/>
                  </a:cubicBezTo>
                  <a:cubicBezTo>
                    <a:pt x="15217" y="10200"/>
                    <a:pt x="4585" y="7200"/>
                    <a:pt x="1787" y="9360"/>
                  </a:cubicBezTo>
                  <a:cubicBezTo>
                    <a:pt x="-1011" y="11520"/>
                    <a:pt x="52" y="16560"/>
                    <a:pt x="1115" y="2160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954" name="Forward"/>
            <p:cNvSpPr txBox="1"/>
            <p:nvPr/>
          </p:nvSpPr>
          <p:spPr>
            <a:xfrm>
              <a:off x="3426106" y="914400"/>
              <a:ext cx="849658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Forward</a:t>
              </a:r>
            </a:p>
          </p:txBody>
        </p:sp>
      </p:grpSp>
      <p:sp>
        <p:nvSpPr>
          <p:cNvPr id="956" name="0"/>
          <p:cNvSpPr txBox="1"/>
          <p:nvPr/>
        </p:nvSpPr>
        <p:spPr>
          <a:xfrm>
            <a:off x="869076" y="4572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957" name="1"/>
          <p:cNvSpPr txBox="1"/>
          <p:nvPr/>
        </p:nvSpPr>
        <p:spPr>
          <a:xfrm>
            <a:off x="1174670" y="4572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grpSp>
        <p:nvGrpSpPr>
          <p:cNvPr id="962" name="Group"/>
          <p:cNvGrpSpPr/>
          <p:nvPr/>
        </p:nvGrpSpPr>
        <p:grpSpPr>
          <a:xfrm>
            <a:off x="1942958" y="4572000"/>
            <a:ext cx="3261741" cy="1882140"/>
            <a:chOff x="0" y="0"/>
            <a:chExt cx="3261739" cy="1882140"/>
          </a:xfrm>
        </p:grpSpPr>
        <p:sp>
          <p:nvSpPr>
            <p:cNvPr id="958" name="Circle"/>
            <p:cNvSpPr/>
            <p:nvPr/>
          </p:nvSpPr>
          <p:spPr>
            <a:xfrm>
              <a:off x="38241" y="0"/>
              <a:ext cx="381001" cy="381000"/>
            </a:xfrm>
            <a:prstGeom prst="ellips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959" name="6"/>
            <p:cNvSpPr txBox="1"/>
            <p:nvPr/>
          </p:nvSpPr>
          <p:spPr>
            <a:xfrm>
              <a:off x="3050442" y="838200"/>
              <a:ext cx="211298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960" name="Line"/>
            <p:cNvSpPr/>
            <p:nvPr/>
          </p:nvSpPr>
          <p:spPr>
            <a:xfrm>
              <a:off x="0" y="381000"/>
              <a:ext cx="3086242" cy="1374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6" h="21245" extrusionOk="0">
                  <a:moveTo>
                    <a:pt x="1277" y="0"/>
                  </a:moveTo>
                  <a:cubicBezTo>
                    <a:pt x="172" y="5891"/>
                    <a:pt x="-934" y="11782"/>
                    <a:pt x="1277" y="15316"/>
                  </a:cubicBezTo>
                  <a:cubicBezTo>
                    <a:pt x="3488" y="18851"/>
                    <a:pt x="11312" y="21600"/>
                    <a:pt x="14543" y="21207"/>
                  </a:cubicBezTo>
                  <a:cubicBezTo>
                    <a:pt x="17775" y="20815"/>
                    <a:pt x="19220" y="16887"/>
                    <a:pt x="20666" y="1296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961" name="Value"/>
            <p:cNvSpPr txBox="1"/>
            <p:nvPr/>
          </p:nvSpPr>
          <p:spPr>
            <a:xfrm>
              <a:off x="262055" y="1524000"/>
              <a:ext cx="596948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Value</a:t>
              </a:r>
            </a:p>
          </p:txBody>
        </p:sp>
      </p:grpSp>
      <p:sp>
        <p:nvSpPr>
          <p:cNvPr id="963" name="0"/>
          <p:cNvSpPr txBox="1"/>
          <p:nvPr/>
        </p:nvSpPr>
        <p:spPr>
          <a:xfrm>
            <a:off x="3764676" y="54102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964" name="1"/>
          <p:cNvSpPr txBox="1"/>
          <p:nvPr/>
        </p:nvSpPr>
        <p:spPr>
          <a:xfrm>
            <a:off x="4070270" y="54102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grpSp>
        <p:nvGrpSpPr>
          <p:cNvPr id="967" name="Group"/>
          <p:cNvGrpSpPr/>
          <p:nvPr/>
        </p:nvGrpSpPr>
        <p:grpSpPr>
          <a:xfrm>
            <a:off x="5486400" y="2057400"/>
            <a:ext cx="3144620" cy="3505200"/>
            <a:chOff x="0" y="0"/>
            <a:chExt cx="3144619" cy="3505200"/>
          </a:xfrm>
        </p:grpSpPr>
        <p:sp>
          <p:nvSpPr>
            <p:cNvPr id="965" name="Acknowledge+Value"/>
            <p:cNvSpPr txBox="1"/>
            <p:nvPr/>
          </p:nvSpPr>
          <p:spPr>
            <a:xfrm>
              <a:off x="1195605" y="2286000"/>
              <a:ext cx="1949015" cy="358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800" b="0">
                  <a:solidFill>
                    <a:srgbClr val="FF0000"/>
                  </a:solidFill>
                </a:defRPr>
              </a:lvl1pPr>
            </a:lstStyle>
            <a:p>
              <a:r>
                <a:t>Acknowledge+Value</a:t>
              </a:r>
            </a:p>
          </p:txBody>
        </p:sp>
        <p:sp>
          <p:nvSpPr>
            <p:cNvPr id="966" name="Line"/>
            <p:cNvSpPr/>
            <p:nvPr/>
          </p:nvSpPr>
          <p:spPr>
            <a:xfrm>
              <a:off x="0" y="0"/>
              <a:ext cx="1067786" cy="3505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7" h="21600" extrusionOk="0">
                  <a:moveTo>
                    <a:pt x="0" y="21600"/>
                  </a:moveTo>
                  <a:cubicBezTo>
                    <a:pt x="10298" y="20348"/>
                    <a:pt x="20595" y="19096"/>
                    <a:pt x="21098" y="15496"/>
                  </a:cubicBezTo>
                  <a:cubicBezTo>
                    <a:pt x="21600" y="11896"/>
                    <a:pt x="12307" y="5948"/>
                    <a:pt x="3014" y="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sp>
        <p:nvSpPr>
          <p:cNvPr id="968" name="1"/>
          <p:cNvSpPr txBox="1"/>
          <p:nvPr/>
        </p:nvSpPr>
        <p:spPr>
          <a:xfrm>
            <a:off x="5365670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969" name="0"/>
          <p:cNvSpPr txBox="1"/>
          <p:nvPr/>
        </p:nvSpPr>
        <p:spPr>
          <a:xfrm>
            <a:off x="5069601" y="1905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0</a:t>
            </a:r>
          </a:p>
        </p:txBody>
      </p:sp>
      <p:sp>
        <p:nvSpPr>
          <p:cNvPr id="970" name="1"/>
          <p:cNvSpPr txBox="1"/>
          <p:nvPr/>
        </p:nvSpPr>
        <p:spPr>
          <a:xfrm>
            <a:off x="6280070" y="1905000"/>
            <a:ext cx="21129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971" name="6"/>
          <p:cNvSpPr txBox="1"/>
          <p:nvPr/>
        </p:nvSpPr>
        <p:spPr>
          <a:xfrm>
            <a:off x="7965201" y="1905000"/>
            <a:ext cx="21129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6</a:t>
            </a:r>
          </a:p>
        </p:txBody>
      </p:sp>
      <p:sp>
        <p:nvSpPr>
          <p:cNvPr id="9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" grpId="0" animBg="1" advAuto="0"/>
      <p:bldP spid="893" grpId="0" animBg="1" advAuto="0"/>
      <p:bldP spid="894" grpId="0" animBg="1" advAuto="0"/>
      <p:bldP spid="899" grpId="0" animBg="1" advAuto="0"/>
      <p:bldP spid="925" grpId="0" animBg="1" advAuto="0"/>
      <p:bldP spid="927" grpId="0" animBg="1" advAuto="0"/>
      <p:bldP spid="935" grpId="0" animBg="1" advAuto="0"/>
      <p:bldP spid="937" grpId="0" animBg="1" advAuto="0"/>
      <p:bldP spid="944" grpId="0" animBg="1" advAuto="0"/>
      <p:bldP spid="950" grpId="0" animBg="1" advAuto="0"/>
      <p:bldP spid="955" grpId="0" animBg="1" advAuto="0"/>
      <p:bldP spid="956" grpId="0" animBg="1" advAuto="0"/>
      <p:bldP spid="957" grpId="0" animBg="1" advAuto="0"/>
      <p:bldP spid="962" grpId="0" animBg="1" advAuto="0"/>
      <p:bldP spid="963" grpId="0" animBg="1" advAuto="0"/>
      <p:bldP spid="964" grpId="0" animBg="1" advAuto="0"/>
      <p:bldP spid="967" grpId="0" animBg="1" advAuto="0"/>
      <p:bldP spid="968" grpId="0" animBg="1" advAuto="0"/>
      <p:bldP spid="969" grpId="0" animBg="1" advAuto="0"/>
      <p:bldP spid="970" grpId="0" animBg="1" advAuto="0"/>
      <p:bldP spid="971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975" name="Notes on Directory Operation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Notes on Directory Operation</a:t>
            </a:r>
          </a:p>
        </p:txBody>
      </p:sp>
      <p:sp>
        <p:nvSpPr>
          <p:cNvPr id="976" name="On a write with multiple sharers it is necessary to collect and count all the invalidation acknowledgements (ACK) before actually writing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400"/>
            </a:pPr>
            <a:r>
              <a:t>On a write with multiple sharers it is necessary to collect and count all the invalidation acknowledgements (ACK) before actually writing</a:t>
            </a:r>
          </a:p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400"/>
            </a:pPr>
            <a:r>
              <a:t>On transactions that involve more complex state changes the directory must also receive acknowledgement</a:t>
            </a:r>
          </a:p>
          <a:p>
            <a:pPr marL="742950" lvl="1" indent="-285750">
              <a:lnSpc>
                <a:spcPct val="90000"/>
              </a:lnSpc>
              <a:spcBef>
                <a:spcPts val="0"/>
              </a:spcBef>
              <a:buClrTx/>
              <a:defRPr sz="2000"/>
            </a:pPr>
            <a:r>
              <a:t>To establish the </a:t>
            </a:r>
            <a:r>
              <a:rPr u="sng"/>
              <a:t>completion</a:t>
            </a:r>
            <a:r>
              <a:t> of the load or store </a:t>
            </a:r>
          </a:p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400"/>
            </a:pPr>
            <a:r>
              <a:t>As with snooping on buses, “the devil is in the details” and we actually need transient states, must deal with conflicting requests, and must handle multi-level caches</a:t>
            </a:r>
          </a:p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400"/>
            </a:pPr>
            <a:r>
              <a:t>As with buses, when buffers overflow we need to introduce NACKs</a:t>
            </a:r>
          </a:p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400"/>
            </a:pPr>
            <a:r>
              <a:t>Directories should work well if only a small number of processors share common data at any given time (otherwise broadcasts are better)</a:t>
            </a:r>
          </a:p>
        </p:txBody>
      </p:sp>
      <p:sp>
        <p:nvSpPr>
          <p:cNvPr id="9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980" name="Quantitative Motivation for Directories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Quantitative Motivation for Directories</a:t>
            </a:r>
          </a:p>
        </p:txBody>
      </p:sp>
      <p:sp>
        <p:nvSpPr>
          <p:cNvPr id="981" name="Number of invalidations per store miss on MSI with infinite caches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43459" indent="-243459" defTabSz="649223">
              <a:lnSpc>
                <a:spcPct val="90000"/>
              </a:lnSpc>
              <a:spcBef>
                <a:spcPts val="400"/>
              </a:spcBef>
              <a:buChar char="▪"/>
              <a:defRPr sz="1703"/>
            </a:pPr>
            <a:r>
              <a:t>Number of invalidations per store miss on MSI with infinite caches</a:t>
            </a:r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1703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500"/>
              </a:spcBef>
              <a:buChar char="▪"/>
              <a:defRPr sz="851"/>
            </a:pPr>
            <a:endParaRPr/>
          </a:p>
          <a:p>
            <a:pPr marL="243459" indent="-243459" defTabSz="649223">
              <a:lnSpc>
                <a:spcPct val="90000"/>
              </a:lnSpc>
              <a:spcBef>
                <a:spcPts val="400"/>
              </a:spcBef>
              <a:buChar char="▪"/>
              <a:defRPr sz="1703" b="1">
                <a:solidFill>
                  <a:srgbClr val="FF0000"/>
                </a:solidFill>
              </a:defRPr>
            </a:pPr>
            <a:r>
              <a:t>Bottom-line: number of sharers for read-write data is small</a:t>
            </a:r>
          </a:p>
        </p:txBody>
      </p:sp>
      <p:graphicFrame>
        <p:nvGraphicFramePr>
          <p:cNvPr id="982" name="3D Column Chart"/>
          <p:cNvGraphicFramePr/>
          <p:nvPr/>
        </p:nvGraphicFramePr>
        <p:xfrm>
          <a:off x="789928" y="1615290"/>
          <a:ext cx="6151031" cy="3795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83" name="Culler and Singh…"/>
          <p:cNvSpPr txBox="1"/>
          <p:nvPr/>
        </p:nvSpPr>
        <p:spPr>
          <a:xfrm>
            <a:off x="6746944" y="4953000"/>
            <a:ext cx="1573075" cy="624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800" b="0"/>
            </a:pPr>
            <a:r>
              <a:t>Culler and Singh</a:t>
            </a:r>
          </a:p>
          <a:p>
            <a:pPr algn="ctr">
              <a:defRPr sz="1800" b="0"/>
            </a:pPr>
            <a:r>
              <a:t>Fig. 8.9</a:t>
            </a:r>
          </a:p>
        </p:txBody>
      </p:sp>
      <p:sp>
        <p:nvSpPr>
          <p:cNvPr id="9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987" name="Example Implementation Difficulties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Example Implementation Difficulties</a:t>
            </a:r>
          </a:p>
        </p:txBody>
      </p:sp>
      <p:sp>
        <p:nvSpPr>
          <p:cNvPr id="988" name="Operations have to be serialized locally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400"/>
            </a:pPr>
            <a:r>
              <a:rPr dirty="0"/>
              <a:t>Operations have to be serialized locally</a:t>
            </a:r>
          </a:p>
          <a:p>
            <a:pPr>
              <a:lnSpc>
                <a:spcPct val="90000"/>
              </a:lnSpc>
              <a:buChar char="▪"/>
              <a:defRPr sz="2400"/>
            </a:pPr>
            <a:endParaRPr dirty="0"/>
          </a:p>
          <a:p>
            <a:pPr>
              <a:lnSpc>
                <a:spcPct val="90000"/>
              </a:lnSpc>
              <a:buChar char="▪"/>
              <a:defRPr sz="2400"/>
            </a:pPr>
            <a:endParaRPr dirty="0"/>
          </a:p>
          <a:p>
            <a:pPr>
              <a:lnSpc>
                <a:spcPct val="90000"/>
              </a:lnSpc>
              <a:buChar char="▪"/>
              <a:defRPr sz="2400"/>
            </a:pPr>
            <a:endParaRPr dirty="0"/>
          </a:p>
          <a:p>
            <a:pPr>
              <a:lnSpc>
                <a:spcPct val="90000"/>
              </a:lnSpc>
              <a:buChar char="▪"/>
              <a:defRPr sz="2400"/>
            </a:pPr>
            <a:endParaRPr dirty="0"/>
          </a:p>
          <a:p>
            <a:pPr>
              <a:lnSpc>
                <a:spcPct val="90000"/>
              </a:lnSpc>
              <a:buChar char="▪"/>
              <a:defRPr sz="2400"/>
            </a:pPr>
            <a:endParaRPr dirty="0"/>
          </a:p>
          <a:p>
            <a:pPr>
              <a:lnSpc>
                <a:spcPct val="90000"/>
              </a:lnSpc>
              <a:buChar char="▪"/>
              <a:defRPr sz="1400"/>
            </a:pPr>
            <a:endParaRPr dirty="0"/>
          </a:p>
          <a:p>
            <a:pPr>
              <a:lnSpc>
                <a:spcPct val="90000"/>
              </a:lnSpc>
              <a:spcBef>
                <a:spcPts val="500"/>
              </a:spcBef>
              <a:buChar char="▪"/>
              <a:defRPr sz="2400"/>
            </a:pPr>
            <a:r>
              <a:rPr dirty="0"/>
              <a:t>Operations have to be serialized at directory</a:t>
            </a:r>
          </a:p>
        </p:txBody>
      </p:sp>
      <p:sp>
        <p:nvSpPr>
          <p:cNvPr id="989" name="P0"/>
          <p:cNvSpPr txBox="1"/>
          <p:nvPr/>
        </p:nvSpPr>
        <p:spPr>
          <a:xfrm>
            <a:off x="723026" y="3124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P0</a:t>
            </a:r>
          </a:p>
        </p:txBody>
      </p:sp>
      <p:sp>
        <p:nvSpPr>
          <p:cNvPr id="990" name="Oval"/>
          <p:cNvSpPr/>
          <p:nvPr/>
        </p:nvSpPr>
        <p:spPr>
          <a:xfrm>
            <a:off x="625475" y="3078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91" name="P1"/>
          <p:cNvSpPr txBox="1"/>
          <p:nvPr/>
        </p:nvSpPr>
        <p:spPr>
          <a:xfrm>
            <a:off x="2400220" y="3124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992" name="Oval"/>
          <p:cNvSpPr/>
          <p:nvPr/>
        </p:nvSpPr>
        <p:spPr>
          <a:xfrm>
            <a:off x="2301875" y="3078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993" name="Dir."/>
          <p:cNvSpPr txBox="1"/>
          <p:nvPr/>
        </p:nvSpPr>
        <p:spPr>
          <a:xfrm>
            <a:off x="1506030" y="1905000"/>
            <a:ext cx="45027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Dir.</a:t>
            </a:r>
          </a:p>
        </p:txBody>
      </p:sp>
      <p:sp>
        <p:nvSpPr>
          <p:cNvPr id="994" name="Rectangle"/>
          <p:cNvSpPr/>
          <p:nvPr/>
        </p:nvSpPr>
        <p:spPr>
          <a:xfrm>
            <a:off x="1371600" y="1828800"/>
            <a:ext cx="685800" cy="5334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grpSp>
        <p:nvGrpSpPr>
          <p:cNvPr id="998" name="Group"/>
          <p:cNvGrpSpPr/>
          <p:nvPr/>
        </p:nvGrpSpPr>
        <p:grpSpPr>
          <a:xfrm>
            <a:off x="685800" y="1523999"/>
            <a:ext cx="5486400" cy="1524001"/>
            <a:chOff x="0" y="0"/>
            <a:chExt cx="5486400" cy="1524000"/>
          </a:xfrm>
        </p:grpSpPr>
        <p:sp>
          <p:nvSpPr>
            <p:cNvPr id="995" name="1. P0 sends read request for line A."/>
            <p:cNvSpPr txBox="1"/>
            <p:nvPr/>
          </p:nvSpPr>
          <p:spPr>
            <a:xfrm>
              <a:off x="2667000" y="0"/>
              <a:ext cx="28194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1. P0 sends read request for line A.</a:t>
              </a:r>
            </a:p>
          </p:txBody>
        </p:sp>
        <p:sp>
          <p:nvSpPr>
            <p:cNvPr id="996" name="Line"/>
            <p:cNvSpPr/>
            <p:nvPr/>
          </p:nvSpPr>
          <p:spPr>
            <a:xfrm>
              <a:off x="50538" y="609600"/>
              <a:ext cx="647963" cy="914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37" h="21600" extrusionOk="0">
                  <a:moveTo>
                    <a:pt x="3542" y="21600"/>
                  </a:moveTo>
                  <a:cubicBezTo>
                    <a:pt x="990" y="18000"/>
                    <a:pt x="-1563" y="14400"/>
                    <a:pt x="1186" y="10800"/>
                  </a:cubicBezTo>
                  <a:cubicBezTo>
                    <a:pt x="3935" y="7200"/>
                    <a:pt x="11986" y="3600"/>
                    <a:pt x="20037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997" name="1"/>
            <p:cNvSpPr txBox="1"/>
            <p:nvPr/>
          </p:nvSpPr>
          <p:spPr>
            <a:xfrm>
              <a:off x="0" y="685800"/>
              <a:ext cx="2286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1</a:t>
              </a:r>
            </a:p>
          </p:txBody>
        </p:sp>
      </p:grpSp>
      <p:grpSp>
        <p:nvGrpSpPr>
          <p:cNvPr id="1002" name="Group"/>
          <p:cNvGrpSpPr/>
          <p:nvPr/>
        </p:nvGrpSpPr>
        <p:grpSpPr>
          <a:xfrm>
            <a:off x="2057399" y="1828800"/>
            <a:ext cx="6642101" cy="1295400"/>
            <a:chOff x="0" y="0"/>
            <a:chExt cx="6642099" cy="1295400"/>
          </a:xfrm>
        </p:grpSpPr>
        <p:sp>
          <p:nvSpPr>
            <p:cNvPr id="999" name="2. P1 sends read exclusive (write miss) request for line A (waits at dir.)."/>
            <p:cNvSpPr txBox="1"/>
            <p:nvPr/>
          </p:nvSpPr>
          <p:spPr>
            <a:xfrm>
              <a:off x="1301432" y="0"/>
              <a:ext cx="5340668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400" b="0"/>
              </a:lvl1pPr>
            </a:lstStyle>
            <a:p>
              <a:r>
                <a:t>2. P1 sends read exclusive (write miss) request for line A (waits at dir.).</a:t>
              </a:r>
            </a:p>
          </p:txBody>
        </p:sp>
        <p:sp>
          <p:nvSpPr>
            <p:cNvPr id="1000" name="Line"/>
            <p:cNvSpPr/>
            <p:nvPr/>
          </p:nvSpPr>
          <p:spPr>
            <a:xfrm>
              <a:off x="-1" y="228600"/>
              <a:ext cx="929299" cy="1066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6" h="21600" extrusionOk="0">
                  <a:moveTo>
                    <a:pt x="18514" y="21600"/>
                  </a:moveTo>
                  <a:cubicBezTo>
                    <a:pt x="20057" y="18000"/>
                    <a:pt x="21600" y="14400"/>
                    <a:pt x="18514" y="10800"/>
                  </a:cubicBezTo>
                  <a:cubicBezTo>
                    <a:pt x="15429" y="7200"/>
                    <a:pt x="7714" y="3600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1001" name="2"/>
            <p:cNvSpPr txBox="1"/>
            <p:nvPr/>
          </p:nvSpPr>
          <p:spPr>
            <a:xfrm>
              <a:off x="423862" y="228600"/>
              <a:ext cx="254318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400" b="0"/>
              </a:lvl1pPr>
            </a:lstStyle>
            <a:p>
              <a:r>
                <a:t>2</a:t>
              </a:r>
            </a:p>
          </p:txBody>
        </p:sp>
      </p:grpSp>
      <p:grpSp>
        <p:nvGrpSpPr>
          <p:cNvPr id="1009" name="Group"/>
          <p:cNvGrpSpPr/>
          <p:nvPr/>
        </p:nvGrpSpPr>
        <p:grpSpPr>
          <a:xfrm>
            <a:off x="1066800" y="2133599"/>
            <a:ext cx="7848600" cy="990601"/>
            <a:chOff x="0" y="0"/>
            <a:chExt cx="7848600" cy="990600"/>
          </a:xfrm>
        </p:grpSpPr>
        <p:sp>
          <p:nvSpPr>
            <p:cNvPr id="1003" name="3. Dir. responds to (1), sets sharing vector (message gets delayed)."/>
            <p:cNvSpPr txBox="1"/>
            <p:nvPr/>
          </p:nvSpPr>
          <p:spPr>
            <a:xfrm>
              <a:off x="2286000" y="0"/>
              <a:ext cx="55626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3. Dir. responds to (1), sets sharing vector (message gets delayed).</a:t>
              </a:r>
            </a:p>
          </p:txBody>
        </p:sp>
        <p:sp>
          <p:nvSpPr>
            <p:cNvPr id="1004" name="Line"/>
            <p:cNvSpPr/>
            <p:nvPr/>
          </p:nvSpPr>
          <p:spPr>
            <a:xfrm>
              <a:off x="0" y="228600"/>
              <a:ext cx="381000" cy="762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240" y="3600"/>
                    <a:pt x="20880" y="7200"/>
                    <a:pt x="17280" y="10800"/>
                  </a:cubicBezTo>
                  <a:cubicBezTo>
                    <a:pt x="13680" y="14400"/>
                    <a:pt x="6840" y="18000"/>
                    <a:pt x="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1005" name="Line"/>
            <p:cNvSpPr/>
            <p:nvPr/>
          </p:nvSpPr>
          <p:spPr>
            <a:xfrm>
              <a:off x="228600" y="533400"/>
              <a:ext cx="228600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6" name="Line"/>
            <p:cNvSpPr/>
            <p:nvPr/>
          </p:nvSpPr>
          <p:spPr>
            <a:xfrm>
              <a:off x="228600" y="609600"/>
              <a:ext cx="228600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7" name="Line"/>
            <p:cNvSpPr/>
            <p:nvPr/>
          </p:nvSpPr>
          <p:spPr>
            <a:xfrm>
              <a:off x="152400" y="685800"/>
              <a:ext cx="228600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8" name="3"/>
            <p:cNvSpPr txBox="1"/>
            <p:nvPr/>
          </p:nvSpPr>
          <p:spPr>
            <a:xfrm>
              <a:off x="381000" y="228600"/>
              <a:ext cx="2286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3</a:t>
              </a:r>
            </a:p>
          </p:txBody>
        </p:sp>
      </p:grpSp>
      <p:grpSp>
        <p:nvGrpSpPr>
          <p:cNvPr id="1015" name="Group"/>
          <p:cNvGrpSpPr/>
          <p:nvPr/>
        </p:nvGrpSpPr>
        <p:grpSpPr>
          <a:xfrm>
            <a:off x="1143000" y="2362200"/>
            <a:ext cx="7848601" cy="990600"/>
            <a:chOff x="0" y="0"/>
            <a:chExt cx="7848599" cy="990600"/>
          </a:xfrm>
        </p:grpSpPr>
        <p:sp>
          <p:nvSpPr>
            <p:cNvPr id="1010" name="4a/b. Dir. responds to (2) to both P0 (sharer) and P1 (new owner)."/>
            <p:cNvSpPr txBox="1"/>
            <p:nvPr/>
          </p:nvSpPr>
          <p:spPr>
            <a:xfrm>
              <a:off x="2209800" y="76200"/>
              <a:ext cx="56388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4a/b. Dir. responds to (2) to both P0 (sharer) and P1 (new owner).</a:t>
              </a:r>
            </a:p>
          </p:txBody>
        </p:sp>
        <p:sp>
          <p:nvSpPr>
            <p:cNvPr id="1011" name="4a"/>
            <p:cNvSpPr txBox="1"/>
            <p:nvPr/>
          </p:nvSpPr>
          <p:spPr>
            <a:xfrm>
              <a:off x="914400" y="228600"/>
              <a:ext cx="4572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4a</a:t>
              </a:r>
            </a:p>
          </p:txBody>
        </p:sp>
        <p:sp>
          <p:nvSpPr>
            <p:cNvPr id="1012" name="Line"/>
            <p:cNvSpPr/>
            <p:nvPr/>
          </p:nvSpPr>
          <p:spPr>
            <a:xfrm>
              <a:off x="838200" y="0"/>
              <a:ext cx="457200" cy="685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200"/>
                    <a:pt x="0" y="8400"/>
                    <a:pt x="3600" y="12000"/>
                  </a:cubicBezTo>
                  <a:cubicBezTo>
                    <a:pt x="7200" y="15600"/>
                    <a:pt x="14400" y="18600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1013" name="4b"/>
            <p:cNvSpPr txBox="1"/>
            <p:nvPr/>
          </p:nvSpPr>
          <p:spPr>
            <a:xfrm>
              <a:off x="457200" y="685800"/>
              <a:ext cx="4572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4b</a:t>
              </a:r>
            </a:p>
          </p:txBody>
        </p:sp>
        <p:sp>
          <p:nvSpPr>
            <p:cNvPr id="1014" name="Line"/>
            <p:cNvSpPr/>
            <p:nvPr/>
          </p:nvSpPr>
          <p:spPr>
            <a:xfrm>
              <a:off x="0" y="0"/>
              <a:ext cx="751792" cy="990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6" h="21600" extrusionOk="0">
                  <a:moveTo>
                    <a:pt x="18514" y="0"/>
                  </a:moveTo>
                  <a:cubicBezTo>
                    <a:pt x="20057" y="4846"/>
                    <a:pt x="21600" y="9692"/>
                    <a:pt x="18514" y="13292"/>
                  </a:cubicBezTo>
                  <a:cubicBezTo>
                    <a:pt x="15429" y="16892"/>
                    <a:pt x="7714" y="19246"/>
                    <a:pt x="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sp>
        <p:nvSpPr>
          <p:cNvPr id="1016" name="Problem: when (3) finally arrives at P0 the stale value of line A is placed in the cache. Solution: P0 must serialize transactions locally so that it won’t react to 4b while it has a read pending."/>
          <p:cNvSpPr txBox="1"/>
          <p:nvPr/>
        </p:nvSpPr>
        <p:spPr>
          <a:xfrm>
            <a:off x="3352800" y="3124200"/>
            <a:ext cx="5638800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 b="0">
                <a:solidFill>
                  <a:srgbClr val="FF0000"/>
                </a:solidFill>
              </a:defRPr>
            </a:lvl1pPr>
          </a:lstStyle>
          <a:p>
            <a:r>
              <a:t>Problem: when (3) finally arrives at P0 the stale value of line A is placed in the cache. Solution: P0 must serialize transactions locally so that it won’t react to 4b while it has a read pending.</a:t>
            </a:r>
          </a:p>
        </p:txBody>
      </p:sp>
      <p:grpSp>
        <p:nvGrpSpPr>
          <p:cNvPr id="1020" name="Group"/>
          <p:cNvGrpSpPr/>
          <p:nvPr/>
        </p:nvGrpSpPr>
        <p:grpSpPr>
          <a:xfrm>
            <a:off x="276102" y="1904999"/>
            <a:ext cx="8715499" cy="1219201"/>
            <a:chOff x="0" y="0"/>
            <a:chExt cx="8715497" cy="1219200"/>
          </a:xfrm>
        </p:grpSpPr>
        <p:sp>
          <p:nvSpPr>
            <p:cNvPr id="1017" name="5. P0 invalidates line A and sends acknowledgement"/>
            <p:cNvSpPr txBox="1"/>
            <p:nvPr/>
          </p:nvSpPr>
          <p:spPr>
            <a:xfrm>
              <a:off x="3076697" y="838200"/>
              <a:ext cx="5638801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5. P0 invalidates line A and sends acknowledgement</a:t>
              </a:r>
            </a:p>
          </p:txBody>
        </p:sp>
        <p:sp>
          <p:nvSpPr>
            <p:cNvPr id="1018" name="Line"/>
            <p:cNvSpPr/>
            <p:nvPr/>
          </p:nvSpPr>
          <p:spPr>
            <a:xfrm>
              <a:off x="0" y="0"/>
              <a:ext cx="1095498" cy="12192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34" h="21600" extrusionOk="0">
                  <a:moveTo>
                    <a:pt x="7492" y="21600"/>
                  </a:moveTo>
                  <a:cubicBezTo>
                    <a:pt x="2963" y="18000"/>
                    <a:pt x="-1566" y="14400"/>
                    <a:pt x="524" y="10800"/>
                  </a:cubicBezTo>
                  <a:cubicBezTo>
                    <a:pt x="2615" y="7200"/>
                    <a:pt x="11324" y="3600"/>
                    <a:pt x="20034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1019" name="5"/>
            <p:cNvSpPr txBox="1"/>
            <p:nvPr/>
          </p:nvSpPr>
          <p:spPr>
            <a:xfrm>
              <a:off x="257297" y="0"/>
              <a:ext cx="304801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5</a:t>
              </a:r>
            </a:p>
          </p:txBody>
        </p:sp>
      </p:grpSp>
      <p:sp>
        <p:nvSpPr>
          <p:cNvPr id="1021" name="P0"/>
          <p:cNvSpPr txBox="1"/>
          <p:nvPr/>
        </p:nvSpPr>
        <p:spPr>
          <a:xfrm>
            <a:off x="723026" y="5791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P0</a:t>
            </a:r>
          </a:p>
        </p:txBody>
      </p:sp>
      <p:sp>
        <p:nvSpPr>
          <p:cNvPr id="1022" name="Oval"/>
          <p:cNvSpPr/>
          <p:nvPr/>
        </p:nvSpPr>
        <p:spPr>
          <a:xfrm>
            <a:off x="625475" y="5745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23" name="P1"/>
          <p:cNvSpPr txBox="1"/>
          <p:nvPr/>
        </p:nvSpPr>
        <p:spPr>
          <a:xfrm>
            <a:off x="2400220" y="5791200"/>
            <a:ext cx="339885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P1</a:t>
            </a:r>
          </a:p>
        </p:txBody>
      </p:sp>
      <p:sp>
        <p:nvSpPr>
          <p:cNvPr id="1024" name="Oval"/>
          <p:cNvSpPr/>
          <p:nvPr/>
        </p:nvSpPr>
        <p:spPr>
          <a:xfrm>
            <a:off x="2301875" y="5745162"/>
            <a:ext cx="533400" cy="457201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25" name="Dir."/>
          <p:cNvSpPr txBox="1"/>
          <p:nvPr/>
        </p:nvSpPr>
        <p:spPr>
          <a:xfrm>
            <a:off x="1506030" y="4572000"/>
            <a:ext cx="45027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Dir.</a:t>
            </a:r>
          </a:p>
        </p:txBody>
      </p:sp>
      <p:sp>
        <p:nvSpPr>
          <p:cNvPr id="1026" name="Rectangle"/>
          <p:cNvSpPr/>
          <p:nvPr/>
        </p:nvSpPr>
        <p:spPr>
          <a:xfrm>
            <a:off x="1371600" y="4495800"/>
            <a:ext cx="685800" cy="5334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grpSp>
        <p:nvGrpSpPr>
          <p:cNvPr id="1030" name="Group"/>
          <p:cNvGrpSpPr/>
          <p:nvPr/>
        </p:nvGrpSpPr>
        <p:grpSpPr>
          <a:xfrm>
            <a:off x="2057398" y="4190999"/>
            <a:ext cx="6781802" cy="1600201"/>
            <a:chOff x="-1" y="0"/>
            <a:chExt cx="6781801" cy="1600200"/>
          </a:xfrm>
        </p:grpSpPr>
        <p:sp>
          <p:nvSpPr>
            <p:cNvPr id="1027" name="1. P1 sends read request for line A."/>
            <p:cNvSpPr txBox="1"/>
            <p:nvPr/>
          </p:nvSpPr>
          <p:spPr>
            <a:xfrm>
              <a:off x="1295400" y="0"/>
              <a:ext cx="5486400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rPr dirty="0"/>
                <a:t>1. P1 sends read </a:t>
              </a:r>
              <a:r>
                <a:rPr lang="en-US" dirty="0"/>
                <a:t>excl. </a:t>
              </a:r>
              <a:r>
                <a:rPr dirty="0"/>
                <a:t>request for line A.</a:t>
              </a:r>
            </a:p>
          </p:txBody>
        </p:sp>
        <p:sp>
          <p:nvSpPr>
            <p:cNvPr id="1028" name="Line"/>
            <p:cNvSpPr/>
            <p:nvPr/>
          </p:nvSpPr>
          <p:spPr>
            <a:xfrm>
              <a:off x="-1" y="533400"/>
              <a:ext cx="835325" cy="1066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6" h="21600" extrusionOk="0">
                  <a:moveTo>
                    <a:pt x="18514" y="21600"/>
                  </a:moveTo>
                  <a:cubicBezTo>
                    <a:pt x="20057" y="18000"/>
                    <a:pt x="21600" y="14400"/>
                    <a:pt x="18514" y="10800"/>
                  </a:cubicBezTo>
                  <a:cubicBezTo>
                    <a:pt x="15429" y="7200"/>
                    <a:pt x="7714" y="3600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1029" name="1"/>
            <p:cNvSpPr txBox="1"/>
            <p:nvPr/>
          </p:nvSpPr>
          <p:spPr>
            <a:xfrm>
              <a:off x="381000" y="533400"/>
              <a:ext cx="2286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1</a:t>
              </a:r>
            </a:p>
          </p:txBody>
        </p:sp>
      </p:grpSp>
      <p:grpSp>
        <p:nvGrpSpPr>
          <p:cNvPr id="1034" name="Group"/>
          <p:cNvGrpSpPr/>
          <p:nvPr/>
        </p:nvGrpSpPr>
        <p:grpSpPr>
          <a:xfrm>
            <a:off x="1066800" y="4495799"/>
            <a:ext cx="7086600" cy="1295401"/>
            <a:chOff x="0" y="0"/>
            <a:chExt cx="7086600" cy="1295400"/>
          </a:xfrm>
        </p:grpSpPr>
        <p:sp>
          <p:nvSpPr>
            <p:cNvPr id="1031" name="2. Dir. forwards request to P0 (owner)."/>
            <p:cNvSpPr txBox="1"/>
            <p:nvPr/>
          </p:nvSpPr>
          <p:spPr>
            <a:xfrm>
              <a:off x="2286000" y="0"/>
              <a:ext cx="48006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2. Dir. forwards request to P0 (owner).</a:t>
              </a:r>
            </a:p>
          </p:txBody>
        </p:sp>
        <p:sp>
          <p:nvSpPr>
            <p:cNvPr id="1032" name="Line"/>
            <p:cNvSpPr/>
            <p:nvPr/>
          </p:nvSpPr>
          <p:spPr>
            <a:xfrm>
              <a:off x="0" y="533400"/>
              <a:ext cx="381000" cy="762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240" y="3600"/>
                    <a:pt x="20880" y="7200"/>
                    <a:pt x="17280" y="10800"/>
                  </a:cubicBezTo>
                  <a:cubicBezTo>
                    <a:pt x="13680" y="14400"/>
                    <a:pt x="6840" y="18000"/>
                    <a:pt x="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  <p:sp>
          <p:nvSpPr>
            <p:cNvPr id="1033" name="2"/>
            <p:cNvSpPr txBox="1"/>
            <p:nvPr/>
          </p:nvSpPr>
          <p:spPr>
            <a:xfrm>
              <a:off x="304800" y="762000"/>
              <a:ext cx="2286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2</a:t>
              </a:r>
            </a:p>
          </p:txBody>
        </p:sp>
      </p:grpSp>
      <p:grpSp>
        <p:nvGrpSpPr>
          <p:cNvPr id="1038" name="Group"/>
          <p:cNvGrpSpPr/>
          <p:nvPr/>
        </p:nvGrpSpPr>
        <p:grpSpPr>
          <a:xfrm>
            <a:off x="1981200" y="5029200"/>
            <a:ext cx="7010400" cy="685800"/>
            <a:chOff x="0" y="0"/>
            <a:chExt cx="7010400" cy="685800"/>
          </a:xfrm>
        </p:grpSpPr>
        <p:sp>
          <p:nvSpPr>
            <p:cNvPr id="1035" name="4. P1 receives (3a) and considers read excl. complete. A replacement miss sends the updated value back to memory."/>
            <p:cNvSpPr txBox="1"/>
            <p:nvPr/>
          </p:nvSpPr>
          <p:spPr>
            <a:xfrm>
              <a:off x="1371600" y="76200"/>
              <a:ext cx="5638800" cy="497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4. P1 receives (3a) and considers read excl. complete. A replacement miss sends the updated value back to memory.</a:t>
              </a:r>
            </a:p>
          </p:txBody>
        </p:sp>
        <p:sp>
          <p:nvSpPr>
            <p:cNvPr id="1036" name="4"/>
            <p:cNvSpPr txBox="1"/>
            <p:nvPr/>
          </p:nvSpPr>
          <p:spPr>
            <a:xfrm>
              <a:off x="76200" y="228600"/>
              <a:ext cx="304800" cy="294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4</a:t>
              </a:r>
            </a:p>
          </p:txBody>
        </p:sp>
        <p:sp>
          <p:nvSpPr>
            <p:cNvPr id="1037" name="Line"/>
            <p:cNvSpPr/>
            <p:nvPr/>
          </p:nvSpPr>
          <p:spPr>
            <a:xfrm>
              <a:off x="0" y="0"/>
              <a:ext cx="457200" cy="685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200"/>
                    <a:pt x="0" y="8400"/>
                    <a:pt x="3600" y="12000"/>
                  </a:cubicBezTo>
                  <a:cubicBezTo>
                    <a:pt x="7200" y="15600"/>
                    <a:pt x="14400" y="18600"/>
                    <a:pt x="21600" y="216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 b="0"/>
              </a:pPr>
              <a:endParaRPr/>
            </a:p>
          </p:txBody>
        </p:sp>
      </p:grpSp>
      <p:sp>
        <p:nvSpPr>
          <p:cNvPr id="1039" name="Problem: when (4) arrives dir. accepts and overwrites memory. When (3b) finally arrives dir. completes ownership transfer and thinks that P1 is the owner. Solution: dir. must serialize transactions so that it won’t react to 4 while the ownership transfer"/>
          <p:cNvSpPr txBox="1"/>
          <p:nvPr/>
        </p:nvSpPr>
        <p:spPr>
          <a:xfrm>
            <a:off x="3352800" y="5562600"/>
            <a:ext cx="5638800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 b="0">
                <a:solidFill>
                  <a:srgbClr val="FF0000"/>
                </a:solidFill>
              </a:defRPr>
            </a:lvl1pPr>
          </a:lstStyle>
          <a:p>
            <a:r>
              <a:t>Problem: when (4) arrives dir. accepts and overwrites memory. When (3b) finally arrives dir. completes ownership transfer and thinks that P1 is the owner. Solution: dir. must serialize transactions so that it won’t react to 4 while the ownership transfer is pending.</a:t>
            </a:r>
          </a:p>
        </p:txBody>
      </p:sp>
      <p:grpSp>
        <p:nvGrpSpPr>
          <p:cNvPr id="1047" name="Group"/>
          <p:cNvGrpSpPr/>
          <p:nvPr/>
        </p:nvGrpSpPr>
        <p:grpSpPr>
          <a:xfrm>
            <a:off x="1142999" y="4800600"/>
            <a:ext cx="7772401" cy="1295400"/>
            <a:chOff x="0" y="0"/>
            <a:chExt cx="7772400" cy="1295400"/>
          </a:xfrm>
        </p:grpSpPr>
        <p:sp>
          <p:nvSpPr>
            <p:cNvPr id="1040" name="3b"/>
            <p:cNvSpPr/>
            <p:nvPr/>
          </p:nvSpPr>
          <p:spPr>
            <a:xfrm>
              <a:off x="1320800" y="309880"/>
              <a:ext cx="381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3b</a:t>
              </a:r>
            </a:p>
          </p:txBody>
        </p:sp>
        <p:sp>
          <p:nvSpPr>
            <p:cNvPr id="1041" name="3a/b. P0 sends data to P1 which forwards to dir. (gets delayed)."/>
            <p:cNvSpPr/>
            <p:nvPr/>
          </p:nvSpPr>
          <p:spPr>
            <a:xfrm>
              <a:off x="2209800" y="0"/>
              <a:ext cx="556260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3a/b. P0 sends data to P1 which forwards to dir. (gets delayed).</a:t>
              </a:r>
            </a:p>
          </p:txBody>
        </p:sp>
        <p:sp>
          <p:nvSpPr>
            <p:cNvPr id="1042" name="Line"/>
            <p:cNvSpPr/>
            <p:nvPr/>
          </p:nvSpPr>
          <p:spPr>
            <a:xfrm>
              <a:off x="0" y="1295400"/>
              <a:ext cx="1143001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  <p:sp>
          <p:nvSpPr>
            <p:cNvPr id="1043" name="3a"/>
            <p:cNvSpPr/>
            <p:nvPr/>
          </p:nvSpPr>
          <p:spPr>
            <a:xfrm>
              <a:off x="304800" y="1295400"/>
              <a:ext cx="38100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 b="0"/>
              </a:lvl1pPr>
            </a:lstStyle>
            <a:p>
              <a:r>
                <a:t>3a</a:t>
              </a:r>
            </a:p>
          </p:txBody>
        </p:sp>
        <p:sp>
          <p:nvSpPr>
            <p:cNvPr id="1044" name="Line"/>
            <p:cNvSpPr/>
            <p:nvPr/>
          </p:nvSpPr>
          <p:spPr>
            <a:xfrm>
              <a:off x="1181100" y="381000"/>
              <a:ext cx="228601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45" name="Line"/>
            <p:cNvSpPr/>
            <p:nvPr/>
          </p:nvSpPr>
          <p:spPr>
            <a:xfrm>
              <a:off x="1104900" y="457200"/>
              <a:ext cx="22860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46" name="Line"/>
            <p:cNvSpPr/>
            <p:nvPr/>
          </p:nvSpPr>
          <p:spPr>
            <a:xfrm>
              <a:off x="1028700" y="533400"/>
              <a:ext cx="22860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0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sp>
        <p:nvSpPr>
          <p:cNvPr id="1049" name="Line"/>
          <p:cNvSpPr/>
          <p:nvPr/>
        </p:nvSpPr>
        <p:spPr>
          <a:xfrm>
            <a:off x="2092638" y="4926934"/>
            <a:ext cx="437560" cy="8305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37" h="21600" extrusionOk="0">
                <a:moveTo>
                  <a:pt x="16495" y="21600"/>
                </a:moveTo>
                <a:cubicBezTo>
                  <a:pt x="19047" y="18000"/>
                  <a:pt x="21600" y="14400"/>
                  <a:pt x="18851" y="10800"/>
                </a:cubicBezTo>
                <a:cubicBezTo>
                  <a:pt x="16102" y="7200"/>
                  <a:pt x="8051" y="3600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>
              <a:defRPr sz="1800" b="0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8" grpId="0" animBg="1" advAuto="0"/>
      <p:bldP spid="1002" grpId="0" animBg="1" advAuto="0"/>
      <p:bldP spid="1009" grpId="0" animBg="1" advAuto="0"/>
      <p:bldP spid="1015" grpId="0" animBg="1" advAuto="0"/>
      <p:bldP spid="1016" grpId="0" animBg="1" advAuto="0"/>
      <p:bldP spid="1020" grpId="0" animBg="1" advAuto="0"/>
      <p:bldP spid="1030" grpId="0" animBg="1" advAuto="0"/>
      <p:bldP spid="1034" grpId="0" animBg="1" advAuto="0"/>
      <p:bldP spid="1038" grpId="0" animBg="1" advAuto="0"/>
      <p:bldP spid="1039" grpId="0" animBg="1" advAuto="0"/>
      <p:bldP spid="1047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052" name="Directory Overhead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Directory Overhead</a:t>
            </a:r>
          </a:p>
        </p:txBody>
      </p:sp>
      <p:sp>
        <p:nvSpPr>
          <p:cNvPr id="1053" name="Problem: consider a system with 128 processors, 256GB of memory, 1MB L2 cache per processor, and 64byte cache lines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>
              <a:spcBef>
                <a:spcPts val="500"/>
              </a:spcBef>
              <a:buChar char="▪"/>
              <a:defRPr sz="2400"/>
            </a:pPr>
            <a:r>
              <a:t>Problem: consider a system with 128 processors, 256GB of memory, 1MB L2 cache per processor, and 64byte cache lines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128 bits for sharing vector plus 3 bits for state → ~16bytes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Per line: 16/64 = 0.25 → 25% memory overhead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Total: 0.25*256G = </a:t>
            </a:r>
            <a:r>
              <a:rPr>
                <a:solidFill>
                  <a:srgbClr val="FF0000"/>
                </a:solidFill>
              </a:rPr>
              <a:t>64GB of memory overhead!</a:t>
            </a:r>
          </a:p>
          <a:p>
            <a:pPr>
              <a:spcBef>
                <a:spcPts val="500"/>
              </a:spcBef>
              <a:buChar char="▪"/>
              <a:defRPr sz="2400"/>
            </a:pPr>
            <a:r>
              <a:t>Solution: </a:t>
            </a:r>
            <a:r>
              <a:rPr u="sng">
                <a:solidFill>
                  <a:srgbClr val="FF0000"/>
                </a:solidFill>
              </a:rPr>
              <a:t>Cached Directories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At any given point in time there can be only 128M/64 = 2M lines actually cached in the whole system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Lines not cached anywhere are implicitly in state “not cached” with null sharing vector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To maintain only the entries for the actively cached lines we need to keep the tags → 64bits = 8bytes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Overhead per cached line: (8+16)/64 = 0.375 → 37.5% overhead</a:t>
            </a:r>
          </a:p>
          <a:p>
            <a:pPr marL="742950" lvl="1" indent="-285750">
              <a:spcBef>
                <a:spcPts val="0"/>
              </a:spcBef>
              <a:buClrTx/>
              <a:defRPr sz="2000"/>
            </a:pPr>
            <a:r>
              <a:t>Total overhead: 0.375*128M = </a:t>
            </a:r>
            <a:r>
              <a:rPr>
                <a:solidFill>
                  <a:srgbClr val="FF0000"/>
                </a:solidFill>
              </a:rPr>
              <a:t>48MB of memory overhead</a:t>
            </a:r>
          </a:p>
        </p:txBody>
      </p:sp>
      <p:sp>
        <p:nvSpPr>
          <p:cNvPr id="10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057" name="Scalability of Directory Information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Scalability of Directory Information</a:t>
            </a:r>
          </a:p>
        </p:txBody>
      </p:sp>
      <p:sp>
        <p:nvSpPr>
          <p:cNvPr id="1058" name="Problem: number of bits in sharing vector limit the maximum number of processors in the system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339470" indent="-339470" defTabSz="905255">
              <a:lnSpc>
                <a:spcPct val="95000"/>
              </a:lnSpc>
              <a:spcBef>
                <a:spcPts val="500"/>
              </a:spcBef>
              <a:buChar char="▪"/>
              <a:defRPr sz="2376"/>
            </a:pPr>
            <a:r>
              <a:t>Problem: number of bits in sharing vector limit the maximum number of processors in the system</a:t>
            </a:r>
          </a:p>
          <a:p>
            <a:pPr marL="735520" lvl="1" indent="-282892" defTabSz="905255">
              <a:lnSpc>
                <a:spcPct val="95000"/>
              </a:lnSpc>
              <a:spcBef>
                <a:spcPts val="0"/>
              </a:spcBef>
              <a:buClrTx/>
              <a:defRPr sz="1979"/>
            </a:pPr>
            <a:r>
              <a:t>Larger machines are not possible once we decide on the size of the vector</a:t>
            </a:r>
          </a:p>
          <a:p>
            <a:pPr marL="735520" lvl="1" indent="-282892" defTabSz="905255">
              <a:lnSpc>
                <a:spcPct val="95000"/>
              </a:lnSpc>
              <a:spcBef>
                <a:spcPts val="0"/>
              </a:spcBef>
              <a:buClrTx/>
              <a:defRPr sz="1979"/>
            </a:pPr>
            <a:r>
              <a:t>Smaller machines waste memory</a:t>
            </a:r>
          </a:p>
          <a:p>
            <a:pPr marL="339470" indent="-339470" defTabSz="905255">
              <a:lnSpc>
                <a:spcPct val="95000"/>
              </a:lnSpc>
              <a:spcBef>
                <a:spcPts val="500"/>
              </a:spcBef>
              <a:buChar char="▪"/>
              <a:defRPr sz="2376"/>
            </a:pPr>
            <a:r>
              <a:t>Solution: </a:t>
            </a:r>
            <a:r>
              <a:rPr u="sng">
                <a:solidFill>
                  <a:srgbClr val="FF0000"/>
                </a:solidFill>
              </a:rPr>
              <a:t>Limited Pointer Directories</a:t>
            </a:r>
          </a:p>
          <a:p>
            <a:pPr marL="735520" lvl="1" indent="-282892" defTabSz="905255">
              <a:lnSpc>
                <a:spcPct val="95000"/>
              </a:lnSpc>
              <a:spcBef>
                <a:spcPts val="0"/>
              </a:spcBef>
              <a:buClrTx/>
              <a:defRPr sz="1979"/>
            </a:pPr>
            <a:r>
              <a:t>In practice only a small number of processors share each line at any time</a:t>
            </a:r>
          </a:p>
          <a:p>
            <a:pPr marL="735520" lvl="1" indent="-282892" defTabSz="905255">
              <a:lnSpc>
                <a:spcPct val="95000"/>
              </a:lnSpc>
              <a:spcBef>
                <a:spcPts val="0"/>
              </a:spcBef>
              <a:buClrTx/>
              <a:defRPr sz="1979"/>
            </a:pPr>
            <a:r>
              <a:t>To keep the ID of up to </a:t>
            </a:r>
            <a:r>
              <a:rPr i="1"/>
              <a:t>n</a:t>
            </a:r>
            <a:r>
              <a:t> processors we need </a:t>
            </a:r>
            <a:r>
              <a:rPr i="1"/>
              <a:t>log</a:t>
            </a:r>
            <a:r>
              <a:rPr i="1" baseline="-25191"/>
              <a:t>2</a:t>
            </a:r>
            <a:r>
              <a:rPr i="1"/>
              <a:t>n</a:t>
            </a:r>
            <a:r>
              <a:t> bits and to remember </a:t>
            </a:r>
            <a:r>
              <a:rPr i="1"/>
              <a:t>m</a:t>
            </a:r>
            <a:r>
              <a:t> sharers we need </a:t>
            </a:r>
            <a:r>
              <a:rPr i="1"/>
              <a:t>m</a:t>
            </a:r>
            <a:r>
              <a:t> IDs → m*log</a:t>
            </a:r>
            <a:r>
              <a:rPr baseline="-25191"/>
              <a:t>2</a:t>
            </a:r>
            <a:r>
              <a:t>n</a:t>
            </a:r>
          </a:p>
          <a:p>
            <a:pPr marL="735520" lvl="1" indent="-282892" defTabSz="905255">
              <a:lnSpc>
                <a:spcPct val="95000"/>
              </a:lnSpc>
              <a:spcBef>
                <a:spcPts val="0"/>
              </a:spcBef>
              <a:buClrTx/>
              <a:defRPr sz="1979"/>
            </a:pPr>
            <a:r>
              <a:t>For n=128 and m=4 → 4*log</a:t>
            </a:r>
            <a:r>
              <a:rPr baseline="-25191"/>
              <a:t>2</a:t>
            </a:r>
            <a:r>
              <a:t>128 = 28bits = 3.5bytes</a:t>
            </a:r>
          </a:p>
          <a:p>
            <a:pPr marL="735520" lvl="1" indent="-282892" defTabSz="905255">
              <a:lnSpc>
                <a:spcPct val="95000"/>
              </a:lnSpc>
              <a:spcBef>
                <a:spcPts val="0"/>
              </a:spcBef>
              <a:buClrTx/>
              <a:defRPr sz="1979"/>
            </a:pPr>
            <a:r>
              <a:t>Total overhead: (3.5/64)*256G = </a:t>
            </a:r>
            <a:r>
              <a:rPr>
                <a:solidFill>
                  <a:srgbClr val="FF0000"/>
                </a:solidFill>
              </a:rPr>
              <a:t>14GB of memory overhead</a:t>
            </a:r>
          </a:p>
          <a:p>
            <a:pPr marL="735520" lvl="1" indent="-282892" defTabSz="905255">
              <a:lnSpc>
                <a:spcPct val="95000"/>
              </a:lnSpc>
              <a:spcBef>
                <a:spcPts val="0"/>
              </a:spcBef>
              <a:buClrTx/>
              <a:defRPr sz="1979"/>
            </a:pPr>
            <a:r>
              <a:t>Idea:</a:t>
            </a:r>
          </a:p>
          <a:p>
            <a:pPr marL="1131569" lvl="2" indent="-226313" defTabSz="905255">
              <a:lnSpc>
                <a:spcPct val="95000"/>
              </a:lnSpc>
              <a:spcBef>
                <a:spcPts val="0"/>
              </a:spcBef>
              <a:buClrTx/>
              <a:defRPr sz="1782"/>
            </a:pPr>
            <a:r>
              <a:t>Start with pointer scheme</a:t>
            </a:r>
          </a:p>
          <a:p>
            <a:pPr marL="1131569" lvl="2" indent="-226313" defTabSz="905255">
              <a:lnSpc>
                <a:spcPct val="95000"/>
              </a:lnSpc>
              <a:spcBef>
                <a:spcPts val="0"/>
              </a:spcBef>
              <a:buClrTx/>
              <a:defRPr sz="1782"/>
            </a:pPr>
            <a:r>
              <a:t>If more than </a:t>
            </a:r>
            <a:r>
              <a:rPr i="1"/>
              <a:t>m</a:t>
            </a:r>
            <a:r>
              <a:t> processors attempt to share the same line then trap to OS and let OS manage longer lists of sharers</a:t>
            </a:r>
          </a:p>
          <a:p>
            <a:pPr marL="1131569" lvl="2" indent="-226313" defTabSz="905255">
              <a:lnSpc>
                <a:spcPct val="95000"/>
              </a:lnSpc>
              <a:spcBef>
                <a:spcPts val="0"/>
              </a:spcBef>
              <a:buClrTx/>
              <a:defRPr sz="1782"/>
            </a:pPr>
            <a:r>
              <a:t>Maintain one extra bit per directory entry to identify the current representation</a:t>
            </a:r>
          </a:p>
        </p:txBody>
      </p:sp>
      <p:sp>
        <p:nvSpPr>
          <p:cNvPr id="10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062" name="Distributed Directories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Distributed Directories</a:t>
            </a:r>
          </a:p>
        </p:txBody>
      </p:sp>
      <p:sp>
        <p:nvSpPr>
          <p:cNvPr id="1063" name="Directories can be used with UMA systems, but are more commonly used with NUMA systems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209169" indent="-209169" defTabSz="557784">
              <a:spcBef>
                <a:spcPts val="300"/>
              </a:spcBef>
              <a:buChar char="▪"/>
              <a:defRPr sz="1464"/>
            </a:pPr>
            <a:r>
              <a:t>Directories can be used with UMA systems, but are more commonly used with NUMA systems</a:t>
            </a:r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400"/>
              </a:spcBef>
              <a:buChar char="▪"/>
              <a:defRPr sz="1464"/>
            </a:pPr>
            <a:endParaRPr/>
          </a:p>
          <a:p>
            <a:pPr marL="209169" indent="-209169" defTabSz="557784">
              <a:spcBef>
                <a:spcPts val="300"/>
              </a:spcBef>
              <a:buChar char="▪"/>
              <a:defRPr sz="1464"/>
            </a:pPr>
            <a:r>
              <a:t>In this case the directory is actually distributed across the system</a:t>
            </a:r>
          </a:p>
          <a:p>
            <a:pPr marL="209169" indent="-209169" defTabSz="557784">
              <a:spcBef>
                <a:spcPts val="300"/>
              </a:spcBef>
              <a:buChar char="▪"/>
              <a:defRPr sz="1464"/>
            </a:pPr>
            <a:r>
              <a:t>These machines are then called </a:t>
            </a:r>
            <a:r>
              <a:rPr u="sng"/>
              <a:t>cc-NUMA</a:t>
            </a:r>
            <a:r>
              <a:t>, for cache-coherent-NUMA, and </a:t>
            </a:r>
            <a:r>
              <a:rPr u="sng"/>
              <a:t>DSM</a:t>
            </a:r>
            <a:r>
              <a:t>, for distributed shared memory</a:t>
            </a:r>
          </a:p>
        </p:txBody>
      </p:sp>
      <p:sp>
        <p:nvSpPr>
          <p:cNvPr id="1064" name="Interconnection"/>
          <p:cNvSpPr txBox="1"/>
          <p:nvPr/>
        </p:nvSpPr>
        <p:spPr>
          <a:xfrm>
            <a:off x="7268928" y="4267200"/>
            <a:ext cx="1527644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FF0000"/>
                </a:solidFill>
              </a:defRPr>
            </a:lvl1pPr>
          </a:lstStyle>
          <a:p>
            <a:r>
              <a:t>Interconnection</a:t>
            </a:r>
          </a:p>
        </p:txBody>
      </p:sp>
      <p:sp>
        <p:nvSpPr>
          <p:cNvPr id="1065" name="Rectangle"/>
          <p:cNvSpPr/>
          <p:nvPr/>
        </p:nvSpPr>
        <p:spPr>
          <a:xfrm>
            <a:off x="762000" y="4343400"/>
            <a:ext cx="6324600" cy="304800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66" name="CPU"/>
          <p:cNvSpPr txBox="1"/>
          <p:nvPr/>
        </p:nvSpPr>
        <p:spPr>
          <a:xfrm>
            <a:off x="5615701" y="2286000"/>
            <a:ext cx="443073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CPU</a:t>
            </a:r>
          </a:p>
        </p:txBody>
      </p:sp>
      <p:sp>
        <p:nvSpPr>
          <p:cNvPr id="1067" name="Oval"/>
          <p:cNvSpPr/>
          <p:nvPr/>
        </p:nvSpPr>
        <p:spPr>
          <a:xfrm>
            <a:off x="5513387" y="2216150"/>
            <a:ext cx="630239" cy="414338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68" name="Line"/>
          <p:cNvSpPr/>
          <p:nvPr/>
        </p:nvSpPr>
        <p:spPr>
          <a:xfrm>
            <a:off x="5837237" y="2630487"/>
            <a:ext cx="1" cy="2079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9" name="Cache"/>
          <p:cNvSpPr txBox="1"/>
          <p:nvPr/>
        </p:nvSpPr>
        <p:spPr>
          <a:xfrm>
            <a:off x="5552108" y="2971800"/>
            <a:ext cx="525809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Cache</a:t>
            </a:r>
          </a:p>
        </p:txBody>
      </p:sp>
      <p:sp>
        <p:nvSpPr>
          <p:cNvPr id="1070" name="Line"/>
          <p:cNvSpPr/>
          <p:nvPr/>
        </p:nvSpPr>
        <p:spPr>
          <a:xfrm>
            <a:off x="5837237" y="4154487"/>
            <a:ext cx="1" cy="2079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1" name="Rectangle"/>
          <p:cNvSpPr/>
          <p:nvPr/>
        </p:nvSpPr>
        <p:spPr>
          <a:xfrm>
            <a:off x="5462587" y="2895600"/>
            <a:ext cx="762001" cy="457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72" name="Line"/>
          <p:cNvSpPr/>
          <p:nvPr/>
        </p:nvSpPr>
        <p:spPr>
          <a:xfrm>
            <a:off x="5867400" y="3352800"/>
            <a:ext cx="0" cy="38100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3" name="Rectangle"/>
          <p:cNvSpPr/>
          <p:nvPr/>
        </p:nvSpPr>
        <p:spPr>
          <a:xfrm>
            <a:off x="6172200" y="3609975"/>
            <a:ext cx="762000" cy="5048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74" name="Mem."/>
          <p:cNvSpPr txBox="1"/>
          <p:nvPr/>
        </p:nvSpPr>
        <p:spPr>
          <a:xfrm>
            <a:off x="6241158" y="3657600"/>
            <a:ext cx="61614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Mem.</a:t>
            </a:r>
          </a:p>
        </p:txBody>
      </p:sp>
      <p:sp>
        <p:nvSpPr>
          <p:cNvPr id="1075" name="Rectangle"/>
          <p:cNvSpPr/>
          <p:nvPr/>
        </p:nvSpPr>
        <p:spPr>
          <a:xfrm>
            <a:off x="5410200" y="1981200"/>
            <a:ext cx="1600200" cy="2286001"/>
          </a:xfrm>
          <a:prstGeom prst="rect">
            <a:avLst/>
          </a:prstGeom>
          <a:ln w="12700">
            <a:solidFill>
              <a:srgbClr val="0000FF"/>
            </a:solidFill>
            <a:prstDash val="dash"/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76" name="Node"/>
          <p:cNvSpPr txBox="1"/>
          <p:nvPr/>
        </p:nvSpPr>
        <p:spPr>
          <a:xfrm>
            <a:off x="6387245" y="2362200"/>
            <a:ext cx="60654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>
                <a:solidFill>
                  <a:srgbClr val="0000FF"/>
                </a:solidFill>
              </a:defRPr>
            </a:lvl1pPr>
          </a:lstStyle>
          <a:p>
            <a:r>
              <a:t>Node</a:t>
            </a:r>
          </a:p>
        </p:txBody>
      </p:sp>
      <p:sp>
        <p:nvSpPr>
          <p:cNvPr id="1077" name="Rectangle"/>
          <p:cNvSpPr/>
          <p:nvPr/>
        </p:nvSpPr>
        <p:spPr>
          <a:xfrm>
            <a:off x="5486400" y="3733800"/>
            <a:ext cx="533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78" name="Dir."/>
          <p:cNvSpPr txBox="1"/>
          <p:nvPr/>
        </p:nvSpPr>
        <p:spPr>
          <a:xfrm>
            <a:off x="5544630" y="3733800"/>
            <a:ext cx="45027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Dir.</a:t>
            </a:r>
          </a:p>
        </p:txBody>
      </p:sp>
      <p:sp>
        <p:nvSpPr>
          <p:cNvPr id="1079" name="Line"/>
          <p:cNvSpPr/>
          <p:nvPr/>
        </p:nvSpPr>
        <p:spPr>
          <a:xfrm>
            <a:off x="6019800" y="3962400"/>
            <a:ext cx="152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0" name="CPU"/>
          <p:cNvSpPr txBox="1"/>
          <p:nvPr/>
        </p:nvSpPr>
        <p:spPr>
          <a:xfrm>
            <a:off x="4091701" y="2286000"/>
            <a:ext cx="443073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CPU</a:t>
            </a:r>
          </a:p>
        </p:txBody>
      </p:sp>
      <p:sp>
        <p:nvSpPr>
          <p:cNvPr id="1081" name="Oval"/>
          <p:cNvSpPr/>
          <p:nvPr/>
        </p:nvSpPr>
        <p:spPr>
          <a:xfrm>
            <a:off x="3989387" y="2216150"/>
            <a:ext cx="630239" cy="414338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82" name="Line"/>
          <p:cNvSpPr/>
          <p:nvPr/>
        </p:nvSpPr>
        <p:spPr>
          <a:xfrm>
            <a:off x="4313237" y="2630487"/>
            <a:ext cx="1" cy="2079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3" name="Cache"/>
          <p:cNvSpPr txBox="1"/>
          <p:nvPr/>
        </p:nvSpPr>
        <p:spPr>
          <a:xfrm>
            <a:off x="4028108" y="2971800"/>
            <a:ext cx="525809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Cache</a:t>
            </a:r>
          </a:p>
        </p:txBody>
      </p:sp>
      <p:sp>
        <p:nvSpPr>
          <p:cNvPr id="1084" name="Line"/>
          <p:cNvSpPr/>
          <p:nvPr/>
        </p:nvSpPr>
        <p:spPr>
          <a:xfrm>
            <a:off x="4313237" y="4154487"/>
            <a:ext cx="1" cy="2079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5" name="Rectangle"/>
          <p:cNvSpPr/>
          <p:nvPr/>
        </p:nvSpPr>
        <p:spPr>
          <a:xfrm>
            <a:off x="3938587" y="2895600"/>
            <a:ext cx="762001" cy="457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86" name="Line"/>
          <p:cNvSpPr/>
          <p:nvPr/>
        </p:nvSpPr>
        <p:spPr>
          <a:xfrm>
            <a:off x="4343400" y="3352800"/>
            <a:ext cx="0" cy="38100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7" name="Rectangle"/>
          <p:cNvSpPr/>
          <p:nvPr/>
        </p:nvSpPr>
        <p:spPr>
          <a:xfrm>
            <a:off x="4648200" y="3609975"/>
            <a:ext cx="762000" cy="5048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88" name="Mem."/>
          <p:cNvSpPr txBox="1"/>
          <p:nvPr/>
        </p:nvSpPr>
        <p:spPr>
          <a:xfrm>
            <a:off x="4717158" y="3657600"/>
            <a:ext cx="61614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Mem.</a:t>
            </a:r>
          </a:p>
        </p:txBody>
      </p:sp>
      <p:sp>
        <p:nvSpPr>
          <p:cNvPr id="1089" name="Rectangle"/>
          <p:cNvSpPr/>
          <p:nvPr/>
        </p:nvSpPr>
        <p:spPr>
          <a:xfrm>
            <a:off x="3962400" y="3733800"/>
            <a:ext cx="533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90" name="Dir."/>
          <p:cNvSpPr txBox="1"/>
          <p:nvPr/>
        </p:nvSpPr>
        <p:spPr>
          <a:xfrm>
            <a:off x="4020630" y="3733800"/>
            <a:ext cx="45027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Dir.</a:t>
            </a:r>
          </a:p>
        </p:txBody>
      </p:sp>
      <p:sp>
        <p:nvSpPr>
          <p:cNvPr id="1091" name="Line"/>
          <p:cNvSpPr/>
          <p:nvPr/>
        </p:nvSpPr>
        <p:spPr>
          <a:xfrm>
            <a:off x="4495800" y="3962400"/>
            <a:ext cx="152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2" name="CPU"/>
          <p:cNvSpPr txBox="1"/>
          <p:nvPr/>
        </p:nvSpPr>
        <p:spPr>
          <a:xfrm>
            <a:off x="2567701" y="2286000"/>
            <a:ext cx="443073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CPU</a:t>
            </a:r>
          </a:p>
        </p:txBody>
      </p:sp>
      <p:sp>
        <p:nvSpPr>
          <p:cNvPr id="1093" name="Oval"/>
          <p:cNvSpPr/>
          <p:nvPr/>
        </p:nvSpPr>
        <p:spPr>
          <a:xfrm>
            <a:off x="2465387" y="2216150"/>
            <a:ext cx="630239" cy="414338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94" name="Line"/>
          <p:cNvSpPr/>
          <p:nvPr/>
        </p:nvSpPr>
        <p:spPr>
          <a:xfrm>
            <a:off x="2789237" y="2630487"/>
            <a:ext cx="1" cy="2079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5" name="Cache"/>
          <p:cNvSpPr txBox="1"/>
          <p:nvPr/>
        </p:nvSpPr>
        <p:spPr>
          <a:xfrm>
            <a:off x="2504108" y="2971800"/>
            <a:ext cx="525809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Cache</a:t>
            </a:r>
          </a:p>
        </p:txBody>
      </p:sp>
      <p:sp>
        <p:nvSpPr>
          <p:cNvPr id="1096" name="Line"/>
          <p:cNvSpPr/>
          <p:nvPr/>
        </p:nvSpPr>
        <p:spPr>
          <a:xfrm>
            <a:off x="2789237" y="4154487"/>
            <a:ext cx="1" cy="2079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7" name="Rectangle"/>
          <p:cNvSpPr/>
          <p:nvPr/>
        </p:nvSpPr>
        <p:spPr>
          <a:xfrm>
            <a:off x="2414587" y="2895600"/>
            <a:ext cx="762001" cy="457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098" name="Line"/>
          <p:cNvSpPr/>
          <p:nvPr/>
        </p:nvSpPr>
        <p:spPr>
          <a:xfrm>
            <a:off x="2819400" y="3352800"/>
            <a:ext cx="0" cy="38100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9" name="Rectangle"/>
          <p:cNvSpPr/>
          <p:nvPr/>
        </p:nvSpPr>
        <p:spPr>
          <a:xfrm>
            <a:off x="3124200" y="3609975"/>
            <a:ext cx="762000" cy="5048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00" name="Mem."/>
          <p:cNvSpPr txBox="1"/>
          <p:nvPr/>
        </p:nvSpPr>
        <p:spPr>
          <a:xfrm>
            <a:off x="3193158" y="3657600"/>
            <a:ext cx="61614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Mem.</a:t>
            </a:r>
          </a:p>
        </p:txBody>
      </p:sp>
      <p:sp>
        <p:nvSpPr>
          <p:cNvPr id="1101" name="Rectangle"/>
          <p:cNvSpPr/>
          <p:nvPr/>
        </p:nvSpPr>
        <p:spPr>
          <a:xfrm>
            <a:off x="2438400" y="3733800"/>
            <a:ext cx="533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02" name="Dir."/>
          <p:cNvSpPr txBox="1"/>
          <p:nvPr/>
        </p:nvSpPr>
        <p:spPr>
          <a:xfrm>
            <a:off x="2496630" y="3733800"/>
            <a:ext cx="45027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Dir.</a:t>
            </a:r>
          </a:p>
        </p:txBody>
      </p:sp>
      <p:sp>
        <p:nvSpPr>
          <p:cNvPr id="1103" name="Line"/>
          <p:cNvSpPr/>
          <p:nvPr/>
        </p:nvSpPr>
        <p:spPr>
          <a:xfrm>
            <a:off x="2971800" y="3962400"/>
            <a:ext cx="152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4" name="CPU"/>
          <p:cNvSpPr txBox="1"/>
          <p:nvPr/>
        </p:nvSpPr>
        <p:spPr>
          <a:xfrm>
            <a:off x="1043701" y="2286000"/>
            <a:ext cx="443073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CPU</a:t>
            </a:r>
          </a:p>
        </p:txBody>
      </p:sp>
      <p:sp>
        <p:nvSpPr>
          <p:cNvPr id="1105" name="Oval"/>
          <p:cNvSpPr/>
          <p:nvPr/>
        </p:nvSpPr>
        <p:spPr>
          <a:xfrm>
            <a:off x="941387" y="2216150"/>
            <a:ext cx="630239" cy="414338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06" name="Line"/>
          <p:cNvSpPr/>
          <p:nvPr/>
        </p:nvSpPr>
        <p:spPr>
          <a:xfrm>
            <a:off x="1265237" y="2630487"/>
            <a:ext cx="1" cy="2079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7" name="Cache"/>
          <p:cNvSpPr txBox="1"/>
          <p:nvPr/>
        </p:nvSpPr>
        <p:spPr>
          <a:xfrm>
            <a:off x="980108" y="2971800"/>
            <a:ext cx="525809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Cache</a:t>
            </a:r>
          </a:p>
        </p:txBody>
      </p:sp>
      <p:sp>
        <p:nvSpPr>
          <p:cNvPr id="1108" name="Line"/>
          <p:cNvSpPr/>
          <p:nvPr/>
        </p:nvSpPr>
        <p:spPr>
          <a:xfrm>
            <a:off x="1265237" y="4154487"/>
            <a:ext cx="1" cy="2079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9" name="Rectangle"/>
          <p:cNvSpPr/>
          <p:nvPr/>
        </p:nvSpPr>
        <p:spPr>
          <a:xfrm>
            <a:off x="890587" y="2895600"/>
            <a:ext cx="762001" cy="457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10" name="Line"/>
          <p:cNvSpPr/>
          <p:nvPr/>
        </p:nvSpPr>
        <p:spPr>
          <a:xfrm>
            <a:off x="1295400" y="3352800"/>
            <a:ext cx="0" cy="38100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1" name="Rectangle"/>
          <p:cNvSpPr/>
          <p:nvPr/>
        </p:nvSpPr>
        <p:spPr>
          <a:xfrm>
            <a:off x="1600200" y="3609975"/>
            <a:ext cx="762000" cy="5048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12" name="Mem."/>
          <p:cNvSpPr txBox="1"/>
          <p:nvPr/>
        </p:nvSpPr>
        <p:spPr>
          <a:xfrm>
            <a:off x="1669158" y="3657600"/>
            <a:ext cx="616147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Mem.</a:t>
            </a:r>
          </a:p>
        </p:txBody>
      </p:sp>
      <p:sp>
        <p:nvSpPr>
          <p:cNvPr id="1113" name="Rectangle"/>
          <p:cNvSpPr/>
          <p:nvPr/>
        </p:nvSpPr>
        <p:spPr>
          <a:xfrm>
            <a:off x="914400" y="3733800"/>
            <a:ext cx="533400" cy="381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14" name="Dir."/>
          <p:cNvSpPr txBox="1"/>
          <p:nvPr/>
        </p:nvSpPr>
        <p:spPr>
          <a:xfrm>
            <a:off x="972630" y="3733800"/>
            <a:ext cx="450278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800" b="0"/>
            </a:lvl1pPr>
          </a:lstStyle>
          <a:p>
            <a:r>
              <a:t>Dir.</a:t>
            </a:r>
          </a:p>
        </p:txBody>
      </p:sp>
      <p:sp>
        <p:nvSpPr>
          <p:cNvPr id="1115" name="Line"/>
          <p:cNvSpPr/>
          <p:nvPr/>
        </p:nvSpPr>
        <p:spPr>
          <a:xfrm>
            <a:off x="1447800" y="3962400"/>
            <a:ext cx="152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arallel Architectures - 2021-22"/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1129" name="Combined Coherence Schemes"/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t>Combined Coherence Schemes</a:t>
            </a:r>
          </a:p>
        </p:txBody>
      </p:sp>
      <p:sp>
        <p:nvSpPr>
          <p:cNvPr id="1130" name="Use bus-based snooping in nodes and directory (or bus snooping) across nodes…"/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85000"/>
              </a:lnSpc>
              <a:spcBef>
                <a:spcPts val="400"/>
              </a:spcBef>
              <a:buChar char="▪"/>
              <a:defRPr sz="2000"/>
            </a:pPr>
            <a:r>
              <a:t>Use bus-based snooping in nodes and directory (or bus snooping) across nodes</a:t>
            </a:r>
          </a:p>
          <a:p>
            <a:pPr marL="742950" lvl="1" indent="-285750">
              <a:lnSpc>
                <a:spcPct val="85000"/>
              </a:lnSpc>
              <a:spcBef>
                <a:spcPts val="0"/>
              </a:spcBef>
              <a:buClrTx/>
              <a:defRPr sz="1800"/>
            </a:pPr>
            <a:r>
              <a:t>Bus-based snooping coherence for a small number of processors is relatively strait-forward</a:t>
            </a:r>
          </a:p>
          <a:p>
            <a:pPr marL="742950" lvl="1" indent="-285750">
              <a:lnSpc>
                <a:spcPct val="85000"/>
              </a:lnSpc>
              <a:spcBef>
                <a:spcPts val="0"/>
              </a:spcBef>
              <a:buClrTx/>
              <a:defRPr sz="1800"/>
            </a:pPr>
            <a:r>
              <a:t>Hopefully communication across processors within a node will not have to go beyond this domain</a:t>
            </a:r>
          </a:p>
          <a:p>
            <a:pPr marL="742950" lvl="1" indent="-285750">
              <a:lnSpc>
                <a:spcPct val="85000"/>
              </a:lnSpc>
              <a:spcBef>
                <a:spcPts val="0"/>
              </a:spcBef>
              <a:buClrTx/>
              <a:defRPr sz="1800"/>
            </a:pPr>
            <a:r>
              <a:t>Easier to scale up and down the machine size</a:t>
            </a:r>
          </a:p>
          <a:p>
            <a:pPr marL="742950" lvl="1" indent="-285750">
              <a:lnSpc>
                <a:spcPct val="85000"/>
              </a:lnSpc>
              <a:spcBef>
                <a:spcPts val="0"/>
              </a:spcBef>
              <a:buClrTx/>
              <a:defRPr sz="1800"/>
            </a:pPr>
            <a:r>
              <a:t>Two levels of state:</a:t>
            </a:r>
          </a:p>
          <a:p>
            <a:pPr marL="1143000" lvl="2" indent="-228600">
              <a:lnSpc>
                <a:spcPct val="85000"/>
              </a:lnSpc>
              <a:spcBef>
                <a:spcPts val="0"/>
              </a:spcBef>
              <a:buClrTx/>
              <a:defRPr sz="1600"/>
            </a:pPr>
            <a:r>
              <a:t>Per-node at higher level (e.g., a whole node owns modified data, but Dir. does not know which processor in the node actually has it)</a:t>
            </a:r>
          </a:p>
          <a:p>
            <a:pPr marL="1143000" lvl="2" indent="-228600">
              <a:lnSpc>
                <a:spcPct val="85000"/>
              </a:lnSpc>
              <a:spcBef>
                <a:spcPts val="0"/>
              </a:spcBef>
              <a:buClrTx/>
              <a:defRPr sz="1600"/>
            </a:pPr>
            <a:r>
              <a:t>Per-processor at lower level (e.g., by snooping inside the node we can find the exact owner and the exact up-to-date value)</a:t>
            </a:r>
          </a:p>
        </p:txBody>
      </p:sp>
      <p:sp>
        <p:nvSpPr>
          <p:cNvPr id="1131" name="Rectangle"/>
          <p:cNvSpPr/>
          <p:nvPr/>
        </p:nvSpPr>
        <p:spPr>
          <a:xfrm>
            <a:off x="1066800" y="5257800"/>
            <a:ext cx="2971800" cy="174625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32" name="Bus"/>
          <p:cNvSpPr txBox="1"/>
          <p:nvPr/>
        </p:nvSpPr>
        <p:spPr>
          <a:xfrm>
            <a:off x="2342233" y="5203825"/>
            <a:ext cx="36537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Bus</a:t>
            </a:r>
          </a:p>
        </p:txBody>
      </p:sp>
      <p:sp>
        <p:nvSpPr>
          <p:cNvPr id="1133" name="CPU"/>
          <p:cNvSpPr txBox="1"/>
          <p:nvPr/>
        </p:nvSpPr>
        <p:spPr>
          <a:xfrm>
            <a:off x="1243330" y="4213225"/>
            <a:ext cx="394653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CPU</a:t>
            </a:r>
          </a:p>
        </p:txBody>
      </p:sp>
      <p:sp>
        <p:nvSpPr>
          <p:cNvPr id="1134" name="Oval"/>
          <p:cNvSpPr/>
          <p:nvPr/>
        </p:nvSpPr>
        <p:spPr>
          <a:xfrm>
            <a:off x="1216025" y="4213225"/>
            <a:ext cx="522288" cy="3175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35" name="Line"/>
          <p:cNvSpPr/>
          <p:nvPr/>
        </p:nvSpPr>
        <p:spPr>
          <a:xfrm>
            <a:off x="1484312" y="4530725"/>
            <a:ext cx="1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6" name="Line"/>
          <p:cNvSpPr/>
          <p:nvPr/>
        </p:nvSpPr>
        <p:spPr>
          <a:xfrm>
            <a:off x="1952624" y="5432425"/>
            <a:ext cx="1" cy="1571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7" name="Rectangle"/>
          <p:cNvSpPr/>
          <p:nvPr/>
        </p:nvSpPr>
        <p:spPr>
          <a:xfrm>
            <a:off x="1193800" y="5570537"/>
            <a:ext cx="1454150" cy="38576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38" name="Main memory"/>
          <p:cNvSpPr txBox="1"/>
          <p:nvPr/>
        </p:nvSpPr>
        <p:spPr>
          <a:xfrm>
            <a:off x="1381938" y="5584825"/>
            <a:ext cx="1077874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Main memory</a:t>
            </a:r>
          </a:p>
        </p:txBody>
      </p:sp>
      <p:sp>
        <p:nvSpPr>
          <p:cNvPr id="1139" name="CPU"/>
          <p:cNvSpPr txBox="1"/>
          <p:nvPr/>
        </p:nvSpPr>
        <p:spPr>
          <a:xfrm>
            <a:off x="1935480" y="4213225"/>
            <a:ext cx="394653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CPU</a:t>
            </a:r>
          </a:p>
        </p:txBody>
      </p:sp>
      <p:sp>
        <p:nvSpPr>
          <p:cNvPr id="1140" name="Oval"/>
          <p:cNvSpPr/>
          <p:nvPr/>
        </p:nvSpPr>
        <p:spPr>
          <a:xfrm>
            <a:off x="1911350" y="4213225"/>
            <a:ext cx="522288" cy="3175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41" name="Line"/>
          <p:cNvSpPr/>
          <p:nvPr/>
        </p:nvSpPr>
        <p:spPr>
          <a:xfrm>
            <a:off x="2179637" y="4530725"/>
            <a:ext cx="1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2" name="CPU"/>
          <p:cNvSpPr txBox="1"/>
          <p:nvPr/>
        </p:nvSpPr>
        <p:spPr>
          <a:xfrm>
            <a:off x="2633980" y="4213225"/>
            <a:ext cx="394653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CPU</a:t>
            </a:r>
          </a:p>
        </p:txBody>
      </p:sp>
      <p:sp>
        <p:nvSpPr>
          <p:cNvPr id="1143" name="Oval"/>
          <p:cNvSpPr/>
          <p:nvPr/>
        </p:nvSpPr>
        <p:spPr>
          <a:xfrm>
            <a:off x="2606675" y="4213225"/>
            <a:ext cx="522288" cy="3175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44" name="Line"/>
          <p:cNvSpPr/>
          <p:nvPr/>
        </p:nvSpPr>
        <p:spPr>
          <a:xfrm>
            <a:off x="2874962" y="4530725"/>
            <a:ext cx="1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5" name="CPU"/>
          <p:cNvSpPr txBox="1"/>
          <p:nvPr/>
        </p:nvSpPr>
        <p:spPr>
          <a:xfrm>
            <a:off x="3327717" y="4213225"/>
            <a:ext cx="394654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CPU</a:t>
            </a:r>
          </a:p>
        </p:txBody>
      </p:sp>
      <p:sp>
        <p:nvSpPr>
          <p:cNvPr id="1146" name="Oval"/>
          <p:cNvSpPr/>
          <p:nvPr/>
        </p:nvSpPr>
        <p:spPr>
          <a:xfrm>
            <a:off x="3302000" y="4213225"/>
            <a:ext cx="523875" cy="3175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47" name="Line"/>
          <p:cNvSpPr/>
          <p:nvPr/>
        </p:nvSpPr>
        <p:spPr>
          <a:xfrm>
            <a:off x="3570287" y="4530725"/>
            <a:ext cx="1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8" name="Cache"/>
          <p:cNvSpPr txBox="1"/>
          <p:nvPr/>
        </p:nvSpPr>
        <p:spPr>
          <a:xfrm>
            <a:off x="1249940" y="4746625"/>
            <a:ext cx="465570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Cache</a:t>
            </a:r>
          </a:p>
        </p:txBody>
      </p:sp>
      <p:sp>
        <p:nvSpPr>
          <p:cNvPr id="1149" name="Line"/>
          <p:cNvSpPr/>
          <p:nvPr/>
        </p:nvSpPr>
        <p:spPr>
          <a:xfrm>
            <a:off x="1484312" y="5113337"/>
            <a:ext cx="1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0" name="Cache"/>
          <p:cNvSpPr txBox="1"/>
          <p:nvPr/>
        </p:nvSpPr>
        <p:spPr>
          <a:xfrm>
            <a:off x="1946852" y="4746625"/>
            <a:ext cx="46557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Cache</a:t>
            </a:r>
          </a:p>
        </p:txBody>
      </p:sp>
      <p:sp>
        <p:nvSpPr>
          <p:cNvPr id="1151" name="Line"/>
          <p:cNvSpPr/>
          <p:nvPr/>
        </p:nvSpPr>
        <p:spPr>
          <a:xfrm>
            <a:off x="2179637" y="5113337"/>
            <a:ext cx="1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2" name="Cache"/>
          <p:cNvSpPr txBox="1"/>
          <p:nvPr/>
        </p:nvSpPr>
        <p:spPr>
          <a:xfrm>
            <a:off x="2640590" y="4746625"/>
            <a:ext cx="465570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Cache</a:t>
            </a:r>
          </a:p>
        </p:txBody>
      </p:sp>
      <p:sp>
        <p:nvSpPr>
          <p:cNvPr id="1153" name="Line"/>
          <p:cNvSpPr/>
          <p:nvPr/>
        </p:nvSpPr>
        <p:spPr>
          <a:xfrm>
            <a:off x="2874962" y="5113337"/>
            <a:ext cx="1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4" name="Cache"/>
          <p:cNvSpPr txBox="1"/>
          <p:nvPr/>
        </p:nvSpPr>
        <p:spPr>
          <a:xfrm>
            <a:off x="3337502" y="4746625"/>
            <a:ext cx="46557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Cache</a:t>
            </a:r>
          </a:p>
        </p:txBody>
      </p:sp>
      <p:sp>
        <p:nvSpPr>
          <p:cNvPr id="1155" name="Line"/>
          <p:cNvSpPr/>
          <p:nvPr/>
        </p:nvSpPr>
        <p:spPr>
          <a:xfrm>
            <a:off x="3570287" y="5113337"/>
            <a:ext cx="1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6" name="Rectangle"/>
          <p:cNvSpPr/>
          <p:nvPr/>
        </p:nvSpPr>
        <p:spPr>
          <a:xfrm>
            <a:off x="1173162" y="4732337"/>
            <a:ext cx="633413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57" name="Rectangle"/>
          <p:cNvSpPr/>
          <p:nvPr/>
        </p:nvSpPr>
        <p:spPr>
          <a:xfrm>
            <a:off x="1868487" y="4732337"/>
            <a:ext cx="633413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58" name="Rectangle"/>
          <p:cNvSpPr/>
          <p:nvPr/>
        </p:nvSpPr>
        <p:spPr>
          <a:xfrm>
            <a:off x="2577189" y="4734194"/>
            <a:ext cx="633413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59" name="Rectangle"/>
          <p:cNvSpPr/>
          <p:nvPr/>
        </p:nvSpPr>
        <p:spPr>
          <a:xfrm>
            <a:off x="3260725" y="4732337"/>
            <a:ext cx="631825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60" name="Line"/>
          <p:cNvSpPr/>
          <p:nvPr/>
        </p:nvSpPr>
        <p:spPr>
          <a:xfrm>
            <a:off x="3406775" y="5432425"/>
            <a:ext cx="0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1" name="Dir."/>
          <p:cNvSpPr txBox="1"/>
          <p:nvPr/>
        </p:nvSpPr>
        <p:spPr>
          <a:xfrm>
            <a:off x="3252026" y="5661025"/>
            <a:ext cx="334899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Dir.</a:t>
            </a:r>
          </a:p>
        </p:txBody>
      </p:sp>
      <p:sp>
        <p:nvSpPr>
          <p:cNvPr id="1162" name="Line"/>
          <p:cNvSpPr/>
          <p:nvPr/>
        </p:nvSpPr>
        <p:spPr>
          <a:xfrm>
            <a:off x="3406775" y="6015037"/>
            <a:ext cx="0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3" name="Rectangle"/>
          <p:cNvSpPr/>
          <p:nvPr/>
        </p:nvSpPr>
        <p:spPr>
          <a:xfrm>
            <a:off x="3095625" y="5634037"/>
            <a:ext cx="631825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64" name="Line"/>
          <p:cNvSpPr/>
          <p:nvPr/>
        </p:nvSpPr>
        <p:spPr>
          <a:xfrm>
            <a:off x="2647950" y="5722937"/>
            <a:ext cx="44291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5" name="Rectangle"/>
          <p:cNvSpPr/>
          <p:nvPr/>
        </p:nvSpPr>
        <p:spPr>
          <a:xfrm>
            <a:off x="914400" y="6172200"/>
            <a:ext cx="7772400" cy="152400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66" name="Bus or Scalable interconnect"/>
          <p:cNvSpPr txBox="1"/>
          <p:nvPr/>
        </p:nvSpPr>
        <p:spPr>
          <a:xfrm>
            <a:off x="3679404" y="6096000"/>
            <a:ext cx="2061417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Bus or Scalable interconnect</a:t>
            </a:r>
          </a:p>
        </p:txBody>
      </p:sp>
      <p:sp>
        <p:nvSpPr>
          <p:cNvPr id="1167" name="Rectangle"/>
          <p:cNvSpPr/>
          <p:nvPr/>
        </p:nvSpPr>
        <p:spPr>
          <a:xfrm>
            <a:off x="5562600" y="5257800"/>
            <a:ext cx="2971800" cy="174625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68" name="Bus"/>
          <p:cNvSpPr txBox="1"/>
          <p:nvPr/>
        </p:nvSpPr>
        <p:spPr>
          <a:xfrm>
            <a:off x="6838033" y="5203825"/>
            <a:ext cx="36537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Bus</a:t>
            </a:r>
          </a:p>
        </p:txBody>
      </p:sp>
      <p:sp>
        <p:nvSpPr>
          <p:cNvPr id="1169" name="CPU"/>
          <p:cNvSpPr txBox="1"/>
          <p:nvPr/>
        </p:nvSpPr>
        <p:spPr>
          <a:xfrm>
            <a:off x="5739130" y="4213225"/>
            <a:ext cx="394653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CPU</a:t>
            </a:r>
          </a:p>
        </p:txBody>
      </p:sp>
      <p:sp>
        <p:nvSpPr>
          <p:cNvPr id="1170" name="Oval"/>
          <p:cNvSpPr/>
          <p:nvPr/>
        </p:nvSpPr>
        <p:spPr>
          <a:xfrm>
            <a:off x="5711825" y="4213225"/>
            <a:ext cx="522288" cy="3175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71" name="Line"/>
          <p:cNvSpPr/>
          <p:nvPr/>
        </p:nvSpPr>
        <p:spPr>
          <a:xfrm>
            <a:off x="5980112" y="4530725"/>
            <a:ext cx="1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2" name="Line"/>
          <p:cNvSpPr/>
          <p:nvPr/>
        </p:nvSpPr>
        <p:spPr>
          <a:xfrm>
            <a:off x="6448424" y="5432425"/>
            <a:ext cx="1" cy="157163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3" name="Rectangle"/>
          <p:cNvSpPr/>
          <p:nvPr/>
        </p:nvSpPr>
        <p:spPr>
          <a:xfrm>
            <a:off x="5689600" y="5570537"/>
            <a:ext cx="1454150" cy="38576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74" name="Main memory"/>
          <p:cNvSpPr txBox="1"/>
          <p:nvPr/>
        </p:nvSpPr>
        <p:spPr>
          <a:xfrm>
            <a:off x="5877738" y="5584825"/>
            <a:ext cx="1077874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400" b="0"/>
            </a:lvl1pPr>
          </a:lstStyle>
          <a:p>
            <a:r>
              <a:t>Main memory</a:t>
            </a:r>
          </a:p>
        </p:txBody>
      </p:sp>
      <p:sp>
        <p:nvSpPr>
          <p:cNvPr id="1175" name="CPU"/>
          <p:cNvSpPr txBox="1"/>
          <p:nvPr/>
        </p:nvSpPr>
        <p:spPr>
          <a:xfrm>
            <a:off x="6431280" y="4213225"/>
            <a:ext cx="394653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CPU</a:t>
            </a:r>
          </a:p>
        </p:txBody>
      </p:sp>
      <p:sp>
        <p:nvSpPr>
          <p:cNvPr id="1176" name="Oval"/>
          <p:cNvSpPr/>
          <p:nvPr/>
        </p:nvSpPr>
        <p:spPr>
          <a:xfrm>
            <a:off x="6407150" y="4213225"/>
            <a:ext cx="522288" cy="3175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77" name="Line"/>
          <p:cNvSpPr/>
          <p:nvPr/>
        </p:nvSpPr>
        <p:spPr>
          <a:xfrm>
            <a:off x="6675437" y="4530725"/>
            <a:ext cx="1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8" name="CPU"/>
          <p:cNvSpPr txBox="1"/>
          <p:nvPr/>
        </p:nvSpPr>
        <p:spPr>
          <a:xfrm>
            <a:off x="7129780" y="4213225"/>
            <a:ext cx="394653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CPU</a:t>
            </a:r>
          </a:p>
        </p:txBody>
      </p:sp>
      <p:sp>
        <p:nvSpPr>
          <p:cNvPr id="1179" name="Oval"/>
          <p:cNvSpPr/>
          <p:nvPr/>
        </p:nvSpPr>
        <p:spPr>
          <a:xfrm>
            <a:off x="7102475" y="4213225"/>
            <a:ext cx="522288" cy="3175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80" name="Line"/>
          <p:cNvSpPr/>
          <p:nvPr/>
        </p:nvSpPr>
        <p:spPr>
          <a:xfrm>
            <a:off x="7370762" y="4530725"/>
            <a:ext cx="1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1" name="CPU"/>
          <p:cNvSpPr txBox="1"/>
          <p:nvPr/>
        </p:nvSpPr>
        <p:spPr>
          <a:xfrm>
            <a:off x="7823517" y="4213225"/>
            <a:ext cx="394654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CPU</a:t>
            </a:r>
          </a:p>
        </p:txBody>
      </p:sp>
      <p:sp>
        <p:nvSpPr>
          <p:cNvPr id="1182" name="Oval"/>
          <p:cNvSpPr/>
          <p:nvPr/>
        </p:nvSpPr>
        <p:spPr>
          <a:xfrm>
            <a:off x="7797800" y="4213225"/>
            <a:ext cx="523875" cy="317500"/>
          </a:xfrm>
          <a:prstGeom prst="ellipse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83" name="Line"/>
          <p:cNvSpPr/>
          <p:nvPr/>
        </p:nvSpPr>
        <p:spPr>
          <a:xfrm>
            <a:off x="8066087" y="4530725"/>
            <a:ext cx="1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4" name="Cache"/>
          <p:cNvSpPr txBox="1"/>
          <p:nvPr/>
        </p:nvSpPr>
        <p:spPr>
          <a:xfrm>
            <a:off x="5745740" y="4746625"/>
            <a:ext cx="465570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Cache</a:t>
            </a:r>
          </a:p>
        </p:txBody>
      </p:sp>
      <p:sp>
        <p:nvSpPr>
          <p:cNvPr id="1185" name="Line"/>
          <p:cNvSpPr/>
          <p:nvPr/>
        </p:nvSpPr>
        <p:spPr>
          <a:xfrm>
            <a:off x="5980112" y="5113337"/>
            <a:ext cx="1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6" name="Cache"/>
          <p:cNvSpPr txBox="1"/>
          <p:nvPr/>
        </p:nvSpPr>
        <p:spPr>
          <a:xfrm>
            <a:off x="6442652" y="4746625"/>
            <a:ext cx="46557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Cache</a:t>
            </a:r>
          </a:p>
        </p:txBody>
      </p:sp>
      <p:sp>
        <p:nvSpPr>
          <p:cNvPr id="1187" name="Line"/>
          <p:cNvSpPr/>
          <p:nvPr/>
        </p:nvSpPr>
        <p:spPr>
          <a:xfrm>
            <a:off x="6675437" y="5113337"/>
            <a:ext cx="1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8" name="Cache"/>
          <p:cNvSpPr txBox="1"/>
          <p:nvPr/>
        </p:nvSpPr>
        <p:spPr>
          <a:xfrm>
            <a:off x="7136390" y="4746625"/>
            <a:ext cx="465570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Cache</a:t>
            </a:r>
          </a:p>
        </p:txBody>
      </p:sp>
      <p:sp>
        <p:nvSpPr>
          <p:cNvPr id="1189" name="Line"/>
          <p:cNvSpPr/>
          <p:nvPr/>
        </p:nvSpPr>
        <p:spPr>
          <a:xfrm>
            <a:off x="7370762" y="5113337"/>
            <a:ext cx="1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0" name="Cache"/>
          <p:cNvSpPr txBox="1"/>
          <p:nvPr/>
        </p:nvSpPr>
        <p:spPr>
          <a:xfrm>
            <a:off x="7833302" y="4746625"/>
            <a:ext cx="46557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Cache</a:t>
            </a:r>
          </a:p>
        </p:txBody>
      </p:sp>
      <p:sp>
        <p:nvSpPr>
          <p:cNvPr id="1191" name="Line"/>
          <p:cNvSpPr/>
          <p:nvPr/>
        </p:nvSpPr>
        <p:spPr>
          <a:xfrm>
            <a:off x="8066087" y="5113337"/>
            <a:ext cx="1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2" name="Rectangle"/>
          <p:cNvSpPr/>
          <p:nvPr/>
        </p:nvSpPr>
        <p:spPr>
          <a:xfrm>
            <a:off x="5668962" y="4732337"/>
            <a:ext cx="633413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93" name="Rectangle"/>
          <p:cNvSpPr/>
          <p:nvPr/>
        </p:nvSpPr>
        <p:spPr>
          <a:xfrm>
            <a:off x="6364287" y="4732337"/>
            <a:ext cx="633413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94" name="Rectangle"/>
          <p:cNvSpPr/>
          <p:nvPr/>
        </p:nvSpPr>
        <p:spPr>
          <a:xfrm>
            <a:off x="7059612" y="4732337"/>
            <a:ext cx="633413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95" name="Rectangle"/>
          <p:cNvSpPr/>
          <p:nvPr/>
        </p:nvSpPr>
        <p:spPr>
          <a:xfrm>
            <a:off x="7756525" y="4732337"/>
            <a:ext cx="631825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196" name="Line"/>
          <p:cNvSpPr/>
          <p:nvPr/>
        </p:nvSpPr>
        <p:spPr>
          <a:xfrm>
            <a:off x="7902575" y="5432425"/>
            <a:ext cx="0" cy="15875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7" name="Dir."/>
          <p:cNvSpPr txBox="1"/>
          <p:nvPr/>
        </p:nvSpPr>
        <p:spPr>
          <a:xfrm>
            <a:off x="7747826" y="5661025"/>
            <a:ext cx="334899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200" b="0"/>
            </a:lvl1pPr>
          </a:lstStyle>
          <a:p>
            <a:r>
              <a:t>Dir.</a:t>
            </a:r>
          </a:p>
        </p:txBody>
      </p:sp>
      <p:sp>
        <p:nvSpPr>
          <p:cNvPr id="1198" name="Line"/>
          <p:cNvSpPr/>
          <p:nvPr/>
        </p:nvSpPr>
        <p:spPr>
          <a:xfrm>
            <a:off x="7902575" y="6015037"/>
            <a:ext cx="0" cy="15875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9" name="Rectangle"/>
          <p:cNvSpPr/>
          <p:nvPr/>
        </p:nvSpPr>
        <p:spPr>
          <a:xfrm>
            <a:off x="7591425" y="5634037"/>
            <a:ext cx="631825" cy="35083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200" name="Line"/>
          <p:cNvSpPr/>
          <p:nvPr/>
        </p:nvSpPr>
        <p:spPr>
          <a:xfrm>
            <a:off x="7143750" y="5722937"/>
            <a:ext cx="44291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1" name="Circle"/>
          <p:cNvSpPr/>
          <p:nvPr/>
        </p:nvSpPr>
        <p:spPr>
          <a:xfrm>
            <a:off x="4495800" y="5257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202" name="Circle"/>
          <p:cNvSpPr/>
          <p:nvPr/>
        </p:nvSpPr>
        <p:spPr>
          <a:xfrm>
            <a:off x="4724400" y="5257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203" name="Circle"/>
          <p:cNvSpPr/>
          <p:nvPr/>
        </p:nvSpPr>
        <p:spPr>
          <a:xfrm>
            <a:off x="4953000" y="52578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 b="0"/>
            </a:pPr>
            <a:endParaRPr/>
          </a:p>
        </p:txBody>
      </p:sp>
      <p:sp>
        <p:nvSpPr>
          <p:cNvPr id="12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CE57-195B-83D6-638E-803CE8EA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arallel Architectures - 2021-22">
            <a:extLst>
              <a:ext uri="{FF2B5EF4-FFF2-40B4-BE49-F238E27FC236}">
                <a16:creationId xmlns:a16="http://schemas.microsoft.com/office/drawing/2014/main" id="{4BF502DA-7A01-6E41-5B79-6B1FE8120222}"/>
              </a:ext>
            </a:extLst>
          </p:cNvPr>
          <p:cNvSpPr txBox="1"/>
          <p:nvPr/>
        </p:nvSpPr>
        <p:spPr>
          <a:xfrm>
            <a:off x="2895600" y="6400800"/>
            <a:ext cx="33528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0"/>
            </a:lvl1pPr>
          </a:lstStyle>
          <a:p>
            <a:r>
              <a:rPr lang="en-US" dirty="0"/>
              <a:t>CS/ECE 6810 Computer Architecture</a:t>
            </a:r>
            <a:endParaRPr dirty="0"/>
          </a:p>
        </p:txBody>
      </p:sp>
      <p:sp>
        <p:nvSpPr>
          <p:cNvPr id="975" name="Notes on Directory Operation">
            <a:extLst>
              <a:ext uri="{FF2B5EF4-FFF2-40B4-BE49-F238E27FC236}">
                <a16:creationId xmlns:a16="http://schemas.microsoft.com/office/drawing/2014/main" id="{B20CA4C9-1C99-1B70-9E8A-4E96694DCA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5800" y="152400"/>
            <a:ext cx="8077200" cy="838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Current Trends on Coherence</a:t>
            </a:r>
            <a:endParaRPr dirty="0"/>
          </a:p>
        </p:txBody>
      </p:sp>
      <p:sp>
        <p:nvSpPr>
          <p:cNvPr id="976" name="On a write with multiple sharers it is necessary to collect and count all the invalidation acknowledgements (ACK) before actually writing…">
            <a:extLst>
              <a:ext uri="{FF2B5EF4-FFF2-40B4-BE49-F238E27FC236}">
                <a16:creationId xmlns:a16="http://schemas.microsoft.com/office/drawing/2014/main" id="{7E2DD459-70D7-BCE8-4DFC-3D0145DCDE6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143000"/>
            <a:ext cx="8534400" cy="43434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defRPr sz="2400"/>
            </a:pPr>
            <a:r>
              <a:rPr lang="en-US" dirty="0"/>
              <a:t>Open protocol specifications</a:t>
            </a:r>
          </a:p>
          <a:p>
            <a:pPr>
              <a:lnSpc>
                <a:spcPct val="90000"/>
              </a:lnSpc>
              <a:spcBef>
                <a:spcPts val="500"/>
              </a:spcBef>
              <a:defRPr sz="2400"/>
            </a:pPr>
            <a:endParaRPr lang="en-US" dirty="0"/>
          </a:p>
          <a:p>
            <a:pPr lvl="1">
              <a:lnSpc>
                <a:spcPct val="90000"/>
              </a:lnSpc>
              <a:spcBef>
                <a:spcPts val="500"/>
              </a:spcBef>
              <a:defRPr sz="2400"/>
            </a:pPr>
            <a:r>
              <a:rPr lang="en-US" dirty="0"/>
              <a:t>CXL: Compute Express Link: cache coherent interconnect for linking different processors (e.g., NICs, GPUs) in a multi-chip multiprocessor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defRPr sz="2400"/>
            </a:pPr>
            <a:endParaRPr lang="en-US" dirty="0"/>
          </a:p>
          <a:p>
            <a:pPr lvl="1">
              <a:lnSpc>
                <a:spcPct val="90000"/>
              </a:lnSpc>
              <a:spcBef>
                <a:spcPts val="500"/>
              </a:spcBef>
              <a:defRPr sz="2400"/>
            </a:pPr>
            <a:r>
              <a:rPr lang="en-US" dirty="0"/>
              <a:t>CHI: cache coherent interconnect for linking different processors within a chip.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defRPr sz="2400"/>
            </a:pPr>
            <a:endParaRPr lang="en-US" dirty="0"/>
          </a:p>
          <a:p>
            <a:pPr lvl="1">
              <a:lnSpc>
                <a:spcPct val="90000"/>
              </a:lnSpc>
              <a:spcBef>
                <a:spcPts val="500"/>
              </a:spcBef>
              <a:defRPr sz="2400"/>
            </a:pPr>
            <a:r>
              <a:rPr lang="en-US" dirty="0"/>
              <a:t>These are all MESI </a:t>
            </a:r>
            <a:r>
              <a:rPr lang="en-US"/>
              <a:t>protocol variants at the end of the day. </a:t>
            </a:r>
            <a:endParaRPr lang="en-US" dirty="0"/>
          </a:p>
        </p:txBody>
      </p:sp>
      <p:sp>
        <p:nvSpPr>
          <p:cNvPr id="977" name="Slide Number">
            <a:extLst>
              <a:ext uri="{FF2B5EF4-FFF2-40B4-BE49-F238E27FC236}">
                <a16:creationId xmlns:a16="http://schemas.microsoft.com/office/drawing/2014/main" id="{E18B4FAA-3706-B118-DD40-42FDB83BC0D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292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name="isca00_transp">
  <a:themeElements>
    <a:clrScheme name="isca00_transp 10">
      <a:dk1>
        <a:srgbClr val="000000"/>
      </a:dk1>
      <a:lt1>
        <a:srgbClr val="FFFFFF"/>
      </a:lt1>
      <a:dk2>
        <a:srgbClr val="000000"/>
      </a:dk2>
      <a:lt2>
        <a:srgbClr val="ABABAB"/>
      </a:lt2>
      <a:accent1>
        <a:srgbClr val="CC3300"/>
      </a:accent1>
      <a:accent2>
        <a:srgbClr val="D70000"/>
      </a:accent2>
      <a:accent3>
        <a:srgbClr val="FFFFFF"/>
      </a:accent3>
      <a:accent4>
        <a:srgbClr val="000000"/>
      </a:accent4>
      <a:accent5>
        <a:srgbClr val="E2ADAA"/>
      </a:accent5>
      <a:accent6>
        <a:srgbClr val="C30000"/>
      </a:accent6>
      <a:hlink>
        <a:srgbClr val="D70000"/>
      </a:hlink>
      <a:folHlink>
        <a:srgbClr val="D70000"/>
      </a:folHlink>
    </a:clrScheme>
    <a:fontScheme name="isca00_transp">
      <a:majorFont>
        <a:latin typeface="Geneva"/>
        <a:ea typeface=""/>
        <a:cs typeface=""/>
      </a:majorFont>
      <a:minorFont>
        <a:latin typeface="Gene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2" charset="0"/>
          </a:defRPr>
        </a:defPPr>
      </a:lstStyle>
    </a:lnDef>
  </a:objectDefaults>
  <a:extraClrSchemeLst>
    <a:extraClrScheme>
      <a:clrScheme name="isca00_trans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ca00_transp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8">
        <a:dk1>
          <a:srgbClr val="ABABAB"/>
        </a:dk1>
        <a:lt1>
          <a:srgbClr val="FFFFFF"/>
        </a:lt1>
        <a:dk2>
          <a:srgbClr val="212142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ABABB0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66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ca00_transp 9">
        <a:dk1>
          <a:srgbClr val="ABABAB"/>
        </a:dk1>
        <a:lt1>
          <a:srgbClr val="FFFFFF"/>
        </a:lt1>
        <a:dk2>
          <a:srgbClr val="333366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ADADB8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66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ca00_transp 10">
        <a:dk1>
          <a:srgbClr val="000000"/>
        </a:dk1>
        <a:lt1>
          <a:srgbClr val="FFFFFF"/>
        </a:lt1>
        <a:dk2>
          <a:srgbClr val="000000"/>
        </a:dk2>
        <a:lt2>
          <a:srgbClr val="ABABAB"/>
        </a:lt2>
        <a:accent1>
          <a:srgbClr val="CC3300"/>
        </a:accent1>
        <a:accent2>
          <a:srgbClr val="D700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C30000"/>
        </a:accent6>
        <a:hlink>
          <a:srgbClr val="D70000"/>
        </a:hlink>
        <a:folHlink>
          <a:srgbClr val="D7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C:\users\cintra\isca00_transp.ppt</Template>
  <TotalTime>285177</TotalTime>
  <Words>3679</Words>
  <Application>Microsoft Macintosh PowerPoint</Application>
  <PresentationFormat>On-screen Show (4:3)</PresentationFormat>
  <Paragraphs>797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Garamond</vt:lpstr>
      <vt:lpstr>Geneva</vt:lpstr>
      <vt:lpstr>Times New Roman</vt:lpstr>
      <vt:lpstr>Wingdings</vt:lpstr>
      <vt:lpstr>isca00_transp</vt:lpstr>
      <vt:lpstr>Lect. 12:  Coherence Protocols</vt:lpstr>
      <vt:lpstr>Snooping Coherence Protocol</vt:lpstr>
      <vt:lpstr>Snooping on a simple bus</vt:lpstr>
      <vt:lpstr>Snooping on Simple Bus</vt:lpstr>
      <vt:lpstr>Snooping on Simple Bus</vt:lpstr>
      <vt:lpstr>Snooping on Simple Bus</vt:lpstr>
      <vt:lpstr>Snooping on Simple Bus</vt:lpstr>
      <vt:lpstr>Snooping on Simple Bus</vt:lpstr>
      <vt:lpstr>Snooping on Simple Bus</vt:lpstr>
      <vt:lpstr>Example: Extended MESI Protocol</vt:lpstr>
      <vt:lpstr>Snooping with Multi-Level Hierarchies</vt:lpstr>
      <vt:lpstr>Snooping with Multi-Level Hierarchies</vt:lpstr>
      <vt:lpstr>Snooping with Multi-Level Hierarchies</vt:lpstr>
      <vt:lpstr>Snooping with Multi-Level Hierarchies</vt:lpstr>
      <vt:lpstr>Snooping with Multi-Level Hierarchies</vt:lpstr>
      <vt:lpstr>Snooping with Split-Transaction Buses</vt:lpstr>
      <vt:lpstr>Snooping with Split-Transaction Buses</vt:lpstr>
      <vt:lpstr>Snooping with Split-Transaction Buses</vt:lpstr>
      <vt:lpstr>Snooping with Ring</vt:lpstr>
      <vt:lpstr>Snooping with Ring</vt:lpstr>
      <vt:lpstr>Directory Coherence Protocol</vt:lpstr>
      <vt:lpstr>Directory Structure</vt:lpstr>
      <vt:lpstr>Directory Operation</vt:lpstr>
      <vt:lpstr>Directory Operation</vt:lpstr>
      <vt:lpstr>Directory Operation</vt:lpstr>
      <vt:lpstr>Directory Operation</vt:lpstr>
      <vt:lpstr>Notes on Directory Operation</vt:lpstr>
      <vt:lpstr>Quantitative Motivation for Directories</vt:lpstr>
      <vt:lpstr>Example Implementation Difficulties</vt:lpstr>
      <vt:lpstr>Directory Overhead</vt:lpstr>
      <vt:lpstr>Scalability of Directory Information</vt:lpstr>
      <vt:lpstr>Distributed Directories</vt:lpstr>
      <vt:lpstr>Combined Coherence Schemes</vt:lpstr>
      <vt:lpstr>Current Trends on Coherence</vt:lpstr>
    </vt:vector>
  </TitlesOfParts>
  <Manager/>
  <Company>Office 2004 Test Drive User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Informatics 3  Computer Architecture</dc:title>
  <dc:subject/>
  <dc:creator>Office 2004 Test Drive User</dc:creator>
  <cp:keywords/>
  <dc:description/>
  <cp:lastModifiedBy>Vijay Nagarajan</cp:lastModifiedBy>
  <cp:revision>626</cp:revision>
  <cp:lastPrinted>2015-01-12T09:43:55Z</cp:lastPrinted>
  <dcterms:created xsi:type="dcterms:W3CDTF">2018-01-13T22:21:21Z</dcterms:created>
  <dcterms:modified xsi:type="dcterms:W3CDTF">2025-11-04T21:22:29Z</dcterms:modified>
  <cp:category/>
</cp:coreProperties>
</file>