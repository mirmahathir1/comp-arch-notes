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803" r:id="rId2"/>
    <p:sldId id="820" r:id="rId3"/>
    <p:sldId id="804" r:id="rId4"/>
    <p:sldId id="805" r:id="rId5"/>
    <p:sldId id="806" r:id="rId6"/>
    <p:sldId id="826" r:id="rId7"/>
    <p:sldId id="808" r:id="rId8"/>
    <p:sldId id="824" r:id="rId9"/>
    <p:sldId id="810" r:id="rId10"/>
    <p:sldId id="825" r:id="rId11"/>
    <p:sldId id="811" r:id="rId12"/>
    <p:sldId id="827" r:id="rId13"/>
    <p:sldId id="828" r:id="rId14"/>
    <p:sldId id="815" r:id="rId15"/>
    <p:sldId id="829" r:id="rId16"/>
    <p:sldId id="816" r:id="rId17"/>
    <p:sldId id="817" r:id="rId18"/>
    <p:sldId id="830" r:id="rId19"/>
    <p:sldId id="831" r:id="rId20"/>
    <p:sldId id="832" r:id="rId21"/>
    <p:sldId id="833" r:id="rId22"/>
    <p:sldId id="834" r:id="rId23"/>
    <p:sldId id="835" r:id="rId24"/>
    <p:sldId id="836" r:id="rId25"/>
    <p:sldId id="837" r:id="rId26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5pPr>
    <a:lvl6pPr marL="2286000" algn="l" defTabSz="457200" rtl="0" eaLnBrk="1" latinLnBrk="0" hangingPunct="1"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6pPr>
    <a:lvl7pPr marL="2743200" algn="l" defTabSz="457200" rtl="0" eaLnBrk="1" latinLnBrk="0" hangingPunct="1"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7pPr>
    <a:lvl8pPr marL="3200400" algn="l" defTabSz="457200" rtl="0" eaLnBrk="1" latinLnBrk="0" hangingPunct="1"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8pPr>
    <a:lvl9pPr marL="3657600" algn="l" defTabSz="457200" rtl="0" eaLnBrk="1" latinLnBrk="0" hangingPunct="1">
      <a:defRPr sz="2400" b="1" kern="1200">
        <a:solidFill>
          <a:schemeClr val="tx1"/>
        </a:solidFill>
        <a:latin typeface="Garamond" pitchFamily="-11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clrMru>
    <a:srgbClr val="606060"/>
    <a:srgbClr val="339933"/>
    <a:srgbClr val="0000FF"/>
    <a:srgbClr val="FF00FF"/>
    <a:srgbClr val="00FFFF"/>
    <a:srgbClr val="00FF00"/>
    <a:srgbClr val="000000"/>
    <a:srgbClr val="A80500"/>
    <a:srgbClr val="781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81009" autoAdjust="0"/>
  </p:normalViewPr>
  <p:slideViewPr>
    <p:cSldViewPr>
      <p:cViewPr varScale="1">
        <p:scale>
          <a:sx n="93" d="100"/>
          <a:sy n="93" d="100"/>
        </p:scale>
        <p:origin x="1216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4736" y="208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-11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5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-112" charset="0"/>
              </a:defRPr>
            </a:lvl1pPr>
          </a:lstStyle>
          <a:p>
            <a:r>
              <a:rPr lang="en-US"/>
              <a:t>2008-2009</a:t>
            </a:r>
          </a:p>
        </p:txBody>
      </p:sp>
      <p:sp>
        <p:nvSpPr>
          <p:cNvPr id="575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-112" charset="0"/>
              </a:defRPr>
            </a:lvl1pPr>
          </a:lstStyle>
          <a:p>
            <a:r>
              <a:rPr lang="en-US"/>
              <a:t>Informatics 3   -   Computer Architecture</a:t>
            </a:r>
          </a:p>
        </p:txBody>
      </p:sp>
      <p:sp>
        <p:nvSpPr>
          <p:cNvPr id="575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-112" charset="0"/>
              </a:defRPr>
            </a:lvl1pPr>
          </a:lstStyle>
          <a:p>
            <a:pPr>
              <a:defRPr/>
            </a:pPr>
            <a:fld id="{BE1F0884-5E63-6845-9E6A-12C0C70E00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817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>
                <a:latin typeface="Times New Roman" pitchFamily="-112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>
                <a:latin typeface="Times New Roman" pitchFamily="-112" charset="0"/>
              </a:defRPr>
            </a:lvl1pPr>
          </a:lstStyle>
          <a:p>
            <a:r>
              <a:rPr lang="en-US"/>
              <a:t>2008-2009</a:t>
            </a:r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85800" y="533400"/>
            <a:ext cx="6172200" cy="434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953000"/>
            <a:ext cx="6172200" cy="19050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34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>
                <a:latin typeface="Times New Roman" pitchFamily="-112" charset="0"/>
              </a:defRPr>
            </a:lvl1pPr>
          </a:lstStyle>
          <a:p>
            <a:r>
              <a:rPr lang="en-US"/>
              <a:t>Informatics 3   -   Computer Architecture</a:t>
            </a:r>
          </a:p>
        </p:txBody>
      </p:sp>
      <p:sp>
        <p:nvSpPr>
          <p:cNvPr id="634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>
                <a:latin typeface="Times New Roman" pitchFamily="-112" charset="0"/>
              </a:defRPr>
            </a:lvl1pPr>
          </a:lstStyle>
          <a:p>
            <a:pPr>
              <a:defRPr/>
            </a:pPr>
            <a:fld id="{3ACFF632-C89B-E148-8D44-977E94A395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40968" name="Group 17"/>
          <p:cNvGrpSpPr>
            <a:grpSpLocks/>
          </p:cNvGrpSpPr>
          <p:nvPr/>
        </p:nvGrpSpPr>
        <p:grpSpPr bwMode="auto">
          <a:xfrm>
            <a:off x="714375" y="7191375"/>
            <a:ext cx="6143625" cy="1981200"/>
            <a:chOff x="450" y="4530"/>
            <a:chExt cx="3389" cy="1248"/>
          </a:xfrm>
        </p:grpSpPr>
        <p:sp>
          <p:nvSpPr>
            <p:cNvPr id="63496" name="Line 8"/>
            <p:cNvSpPr>
              <a:spLocks noChangeShapeType="1"/>
            </p:cNvSpPr>
            <p:nvPr/>
          </p:nvSpPr>
          <p:spPr bwMode="auto">
            <a:xfrm>
              <a:off x="450" y="4530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497" name="Line 9"/>
            <p:cNvSpPr>
              <a:spLocks noChangeShapeType="1"/>
            </p:cNvSpPr>
            <p:nvPr/>
          </p:nvSpPr>
          <p:spPr bwMode="auto">
            <a:xfrm>
              <a:off x="450" y="4709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498" name="Line 10"/>
            <p:cNvSpPr>
              <a:spLocks noChangeShapeType="1"/>
            </p:cNvSpPr>
            <p:nvPr/>
          </p:nvSpPr>
          <p:spPr bwMode="auto">
            <a:xfrm>
              <a:off x="450" y="4886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499" name="Line 11"/>
            <p:cNvSpPr>
              <a:spLocks noChangeShapeType="1"/>
            </p:cNvSpPr>
            <p:nvPr/>
          </p:nvSpPr>
          <p:spPr bwMode="auto">
            <a:xfrm>
              <a:off x="450" y="5065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500" name="Line 12"/>
            <p:cNvSpPr>
              <a:spLocks noChangeShapeType="1"/>
            </p:cNvSpPr>
            <p:nvPr/>
          </p:nvSpPr>
          <p:spPr bwMode="auto">
            <a:xfrm>
              <a:off x="450" y="5243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501" name="Line 13"/>
            <p:cNvSpPr>
              <a:spLocks noChangeShapeType="1"/>
            </p:cNvSpPr>
            <p:nvPr/>
          </p:nvSpPr>
          <p:spPr bwMode="auto">
            <a:xfrm>
              <a:off x="450" y="5421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502" name="Line 14"/>
            <p:cNvSpPr>
              <a:spLocks noChangeShapeType="1"/>
            </p:cNvSpPr>
            <p:nvPr/>
          </p:nvSpPr>
          <p:spPr bwMode="auto">
            <a:xfrm>
              <a:off x="450" y="5600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3503" name="Line 15"/>
            <p:cNvSpPr>
              <a:spLocks noChangeShapeType="1"/>
            </p:cNvSpPr>
            <p:nvPr/>
          </p:nvSpPr>
          <p:spPr bwMode="auto">
            <a:xfrm>
              <a:off x="450" y="5778"/>
              <a:ext cx="3389" cy="0"/>
            </a:xfrm>
            <a:prstGeom prst="line">
              <a:avLst/>
            </a:prstGeom>
            <a:noFill/>
            <a:ln w="9525" cap="rnd">
              <a:solidFill>
                <a:schemeClr val="fol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63504" name="Text Box 16"/>
          <p:cNvSpPr txBox="1">
            <a:spLocks noChangeArrowheads="1"/>
          </p:cNvSpPr>
          <p:nvPr/>
        </p:nvSpPr>
        <p:spPr bwMode="auto">
          <a:xfrm>
            <a:off x="609600" y="6858000"/>
            <a:ext cx="13144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994" tIns="46497" rIns="92994" bIns="46497">
            <a:prstTxWarp prst="textNoShape">
              <a:avLst/>
            </a:prstTxWarp>
            <a:spAutoFit/>
          </a:bodyPr>
          <a:lstStyle/>
          <a:p>
            <a:pPr defTabSz="930275" eaLnBrk="1" hangingPunct="1">
              <a:defRPr/>
            </a:pPr>
            <a:r>
              <a:rPr lang="en-GB" sz="1200" b="0">
                <a:latin typeface="Arial" pitchFamily="-112" charset="0"/>
              </a:rPr>
              <a:t>Additional notes:</a:t>
            </a:r>
          </a:p>
        </p:txBody>
      </p:sp>
    </p:spTree>
    <p:extLst>
      <p:ext uri="{BB962C8B-B14F-4D97-AF65-F5344CB8AC3E}">
        <p14:creationId xmlns:p14="http://schemas.microsoft.com/office/powerpoint/2010/main" val="6547758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253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253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E0C91E-50FA-F147-A3DB-17313B082BEC}" type="slidenum">
              <a:rPr lang="en-US"/>
              <a:pPr/>
              <a:t>1</a:t>
            </a:fld>
            <a:endParaRPr lang="en-US"/>
          </a:p>
        </p:txBody>
      </p:sp>
      <p:sp>
        <p:nvSpPr>
          <p:cNvPr id="5253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5253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253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253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E0C91E-50FA-F147-A3DB-17313B082BEC}" type="slidenum">
              <a:rPr lang="en-US"/>
              <a:pPr/>
              <a:t>2</a:t>
            </a:fld>
            <a:endParaRPr lang="en-US"/>
          </a:p>
        </p:txBody>
      </p:sp>
      <p:sp>
        <p:nvSpPr>
          <p:cNvPr id="5253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5253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273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273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050B6C-DE8C-5C43-8AE0-E623E44A6989}" type="slidenum">
              <a:rPr lang="en-US"/>
              <a:pPr/>
              <a:t>3</a:t>
            </a:fld>
            <a:endParaRPr lang="en-US"/>
          </a:p>
        </p:txBody>
      </p:sp>
      <p:sp>
        <p:nvSpPr>
          <p:cNvPr id="5273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5273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294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294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B769A1-C680-3246-9E29-E20582A27ABD}" type="slidenum">
              <a:rPr lang="en-US"/>
              <a:pPr/>
              <a:t>4</a:t>
            </a:fld>
            <a:endParaRPr lang="en-US"/>
          </a:p>
        </p:txBody>
      </p:sp>
      <p:sp>
        <p:nvSpPr>
          <p:cNvPr id="529413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solidFill>
            <a:srgbClr val="FFFFFF"/>
          </a:solidFill>
          <a:ln/>
        </p:spPr>
      </p:sp>
      <p:sp>
        <p:nvSpPr>
          <p:cNvPr id="52941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dirty="0"/>
              <a:t>Virtual Alias : Two difference virtual</a:t>
            </a:r>
            <a:r>
              <a:rPr lang="en-US" baseline="0" dirty="0"/>
              <a:t> addresses mapped to the same physical address.</a:t>
            </a:r>
          </a:p>
          <a:p>
            <a:r>
              <a:rPr lang="en-US" baseline="0" dirty="0"/>
              <a:t>Reasons: sharing a page (multiple processes). </a:t>
            </a: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314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314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9F7B47-2D7E-A743-9F8C-3D230D4A0D70}" type="slidenum">
              <a:rPr lang="en-US"/>
              <a:pPr/>
              <a:t>5</a:t>
            </a:fld>
            <a:endParaRPr lang="en-US"/>
          </a:p>
        </p:txBody>
      </p:sp>
      <p:sp>
        <p:nvSpPr>
          <p:cNvPr id="531461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solidFill>
            <a:srgbClr val="FFFFFF"/>
          </a:solidFill>
          <a:ln/>
        </p:spPr>
      </p:sp>
      <p:sp>
        <p:nvSpPr>
          <p:cNvPr id="53146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376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376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B27924-39F2-694F-B1B6-89385464B9AA}" type="slidenum">
              <a:rPr lang="en-US"/>
              <a:pPr/>
              <a:t>6</a:t>
            </a:fld>
            <a:endParaRPr lang="en-US"/>
          </a:p>
        </p:txBody>
      </p:sp>
      <p:sp>
        <p:nvSpPr>
          <p:cNvPr id="537605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solidFill>
            <a:srgbClr val="FFFFFF"/>
          </a:solidFill>
          <a:ln/>
        </p:spPr>
      </p:sp>
      <p:sp>
        <p:nvSpPr>
          <p:cNvPr id="53760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 dirty="0"/>
              <a:t>The process of virtual to physical address translation is called a page table walk.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355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355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B3BCEC-DCD3-004C-B70A-DDDB643F376E}" type="slidenum">
              <a:rPr lang="en-US"/>
              <a:pPr/>
              <a:t>7</a:t>
            </a:fld>
            <a:endParaRPr lang="en-US"/>
          </a:p>
        </p:txBody>
      </p:sp>
      <p:sp>
        <p:nvSpPr>
          <p:cNvPr id="53555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solidFill>
            <a:srgbClr val="FFFFFF"/>
          </a:solidFill>
          <a:ln/>
        </p:spPr>
      </p:sp>
      <p:sp>
        <p:nvSpPr>
          <p:cNvPr id="53555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335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335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7FC9F6A-7C9F-2548-8FD5-046305BF9662}" type="slidenum">
              <a:rPr lang="en-US"/>
              <a:pPr/>
              <a:t>8</a:t>
            </a:fld>
            <a:endParaRPr lang="en-US"/>
          </a:p>
        </p:txBody>
      </p:sp>
      <p:sp>
        <p:nvSpPr>
          <p:cNvPr id="5335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5335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396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396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374432-3CF2-714B-914A-04686960022A}" type="slidenum">
              <a:rPr lang="en-US"/>
              <a:pPr/>
              <a:t>9</a:t>
            </a:fld>
            <a:endParaRPr lang="en-US"/>
          </a:p>
        </p:txBody>
      </p:sp>
      <p:sp>
        <p:nvSpPr>
          <p:cNvPr id="5396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5396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/>
              <a:t>Q:</a:t>
            </a:r>
            <a:r>
              <a:rPr lang="en-US" baseline="0" dirty="0"/>
              <a:t> </a:t>
            </a:r>
            <a:r>
              <a:rPr lang="en-US" dirty="0"/>
              <a:t>Can</a:t>
            </a:r>
            <a:r>
              <a:rPr lang="en-US" baseline="0" dirty="0"/>
              <a:t> an application access the PT directly to perform translation? No, it is managed by the hardware page table walker. </a:t>
            </a:r>
          </a:p>
          <a:p>
            <a:endParaRPr lang="en-US" baseline="0" dirty="0"/>
          </a:p>
          <a:p>
            <a:r>
              <a:rPr lang="en-US" baseline="0" dirty="0"/>
              <a:t>Q: why would we want an X bit? </a:t>
            </a:r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376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376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B27924-39F2-694F-B1B6-89385464B9AA}" type="slidenum">
              <a:rPr lang="en-US"/>
              <a:pPr/>
              <a:t>10</a:t>
            </a:fld>
            <a:endParaRPr lang="en-US"/>
          </a:p>
        </p:txBody>
      </p:sp>
      <p:sp>
        <p:nvSpPr>
          <p:cNvPr id="537605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solidFill>
            <a:srgbClr val="FFFFFF"/>
          </a:solidFill>
          <a:ln/>
        </p:spPr>
      </p:sp>
      <p:sp>
        <p:nvSpPr>
          <p:cNvPr id="53760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416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417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A657A07-CA3F-9C43-9392-84A763AAF79C}" type="slidenum">
              <a:rPr lang="en-US"/>
              <a:pPr/>
              <a:t>11</a:t>
            </a:fld>
            <a:endParaRPr lang="en-US"/>
          </a:p>
        </p:txBody>
      </p:sp>
      <p:sp>
        <p:nvSpPr>
          <p:cNvPr id="5417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5417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4986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4986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CE8B76-2181-A546-BBEF-EB75C71443B8}" type="slidenum">
              <a:rPr lang="en-US"/>
              <a:pPr/>
              <a:t>12</a:t>
            </a:fld>
            <a:endParaRPr lang="en-US"/>
          </a:p>
        </p:txBody>
      </p:sp>
      <p:sp>
        <p:nvSpPr>
          <p:cNvPr id="4986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4986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007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007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EE3293-7277-BA47-9717-5FE8FEF3DE84}" type="slidenum">
              <a:rPr lang="en-US"/>
              <a:pPr/>
              <a:t>13</a:t>
            </a:fld>
            <a:endParaRPr lang="en-US"/>
          </a:p>
        </p:txBody>
      </p:sp>
      <p:sp>
        <p:nvSpPr>
          <p:cNvPr id="5007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5007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498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498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03E804-8A77-FE45-8D88-FB46A5FE9C04}" type="slidenum">
              <a:rPr lang="en-US"/>
              <a:pPr/>
              <a:t>14</a:t>
            </a:fld>
            <a:endParaRPr lang="en-US"/>
          </a:p>
        </p:txBody>
      </p:sp>
      <p:sp>
        <p:nvSpPr>
          <p:cNvPr id="5498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5498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498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498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D03E804-8A77-FE45-8D88-FB46A5FE9C04}" type="slidenum">
              <a:rPr lang="en-US"/>
              <a:pPr/>
              <a:t>15</a:t>
            </a:fld>
            <a:endParaRPr lang="en-US"/>
          </a:p>
        </p:txBody>
      </p:sp>
      <p:sp>
        <p:nvSpPr>
          <p:cNvPr id="5498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5498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519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519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C9DF1F-E5E9-8648-8BDB-CDD0B38A3E06}" type="slidenum">
              <a:rPr lang="en-US"/>
              <a:pPr/>
              <a:t>16</a:t>
            </a:fld>
            <a:endParaRPr lang="en-US"/>
          </a:p>
        </p:txBody>
      </p:sp>
      <p:sp>
        <p:nvSpPr>
          <p:cNvPr id="5519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03300" y="720725"/>
            <a:ext cx="5270500" cy="3952875"/>
          </a:xfrm>
          <a:solidFill>
            <a:srgbClr val="FFFFFF"/>
          </a:solidFill>
          <a:ln/>
        </p:spPr>
      </p:sp>
      <p:sp>
        <p:nvSpPr>
          <p:cNvPr id="5519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827588"/>
            <a:ext cx="5851525" cy="18923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539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539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298BFC-3E74-6242-B191-B1025F857BCC}" type="slidenum">
              <a:rPr lang="en-US"/>
              <a:pPr/>
              <a:t>17</a:t>
            </a:fld>
            <a:endParaRPr lang="en-US"/>
          </a:p>
        </p:txBody>
      </p:sp>
      <p:sp>
        <p:nvSpPr>
          <p:cNvPr id="5539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5539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539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539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7298BFC-3E74-6242-B191-B1025F857BCC}" type="slidenum">
              <a:rPr lang="en-US"/>
              <a:pPr/>
              <a:t>18</a:t>
            </a:fld>
            <a:endParaRPr lang="en-US"/>
          </a:p>
        </p:txBody>
      </p:sp>
      <p:sp>
        <p:nvSpPr>
          <p:cNvPr id="5539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6300" y="533400"/>
            <a:ext cx="5791200" cy="4343400"/>
          </a:xfrm>
          <a:ln/>
        </p:spPr>
      </p:sp>
      <p:sp>
        <p:nvSpPr>
          <p:cNvPr id="5539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580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5580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24481B-EC96-2143-B509-603437217D09}" type="slidenum">
              <a:rPr lang="en-US"/>
              <a:pPr/>
              <a:t>19</a:t>
            </a:fld>
            <a:endParaRPr lang="en-US"/>
          </a:p>
        </p:txBody>
      </p:sp>
      <p:sp>
        <p:nvSpPr>
          <p:cNvPr id="5580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33450" y="498475"/>
            <a:ext cx="5405438" cy="4054475"/>
          </a:xfrm>
          <a:solidFill>
            <a:srgbClr val="FFFFFF"/>
          </a:solidFill>
          <a:ln/>
        </p:spPr>
      </p:sp>
      <p:sp>
        <p:nvSpPr>
          <p:cNvPr id="558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7375" y="4560888"/>
            <a:ext cx="6113463" cy="453072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533400"/>
            <a:ext cx="5791200" cy="4343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2008-2009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Informatics 3   -   Computer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ACFF632-C89B-E148-8D44-977E94A3955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314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685800" y="3657600"/>
            <a:ext cx="7772400" cy="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 dirty="0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685800" y="4038600"/>
            <a:ext cx="7772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itchFamily="-112" charset="2"/>
              <a:buNone/>
              <a:defRPr/>
            </a:pPr>
            <a:r>
              <a:rPr lang="en-GB" sz="2000" b="0" baseline="0" dirty="0">
                <a:latin typeface="Geneva" pitchFamily="-112" charset="0"/>
              </a:rPr>
              <a:t>Prof. Vijay Nagarajan</a:t>
            </a:r>
            <a:endParaRPr lang="en-GB" sz="2000" b="0" dirty="0">
              <a:latin typeface="Geneva" pitchFamily="-112" charset="0"/>
            </a:endParaRPr>
          </a:p>
          <a:p>
            <a:pPr algn="ctr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itchFamily="-112" charset="2"/>
              <a:buNone/>
              <a:defRPr/>
            </a:pPr>
            <a:endParaRPr lang="en-GB" sz="1600" b="0" dirty="0">
              <a:latin typeface="Geneva" pitchFamily="-112" charset="0"/>
            </a:endParaRPr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16764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A red and white logo&#10;&#10;Description automatically generated">
            <a:extLst>
              <a:ext uri="{FF2B5EF4-FFF2-40B4-BE49-F238E27FC236}">
                <a16:creationId xmlns:a16="http://schemas.microsoft.com/office/drawing/2014/main" id="{D59D87F7-4D95-717A-4D8A-3EFA7D55EE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29600" y="173383"/>
            <a:ext cx="685800" cy="635000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Fall’25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F10D8AA-72FC-054E-A724-04FB34D4ED2D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Fall’25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39F0767-F541-5C44-BC09-F876CE08E507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438400" y="6553200"/>
            <a:ext cx="3810000" cy="304800"/>
          </a:xfrm>
        </p:spPr>
        <p:txBody>
          <a:bodyPr/>
          <a:lstStyle>
            <a:lvl1pPr>
              <a:defRPr sz="1400" baseline="0" smtClean="0"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latin typeface="Garamond" pitchFamily="-112" charset="0"/>
              </a:rPr>
              <a:t>CS/ECE  Computer Architecture – Fall’25</a:t>
            </a:r>
          </a:p>
          <a:p>
            <a:pPr>
              <a:defRPr/>
            </a:pPr>
            <a:endParaRPr lang="en-US" dirty="0">
              <a:latin typeface="Garamond" pitchFamily="-112" charset="0"/>
            </a:endParaRPr>
          </a:p>
          <a:p>
            <a:pPr>
              <a:defRPr/>
            </a:pPr>
            <a:endParaRPr lang="en-US" dirty="0">
              <a:latin typeface="Garamond" pitchFamily="-11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A40ACE-8BC5-0B40-BBA1-EF9CE833121F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Fall’25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F59B5E2-87DD-EB43-872A-3E0EACCB644F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Fall’25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D26977E-680E-ED4B-94F0-141655F29872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Fall’25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D1CA570-A426-4944-B7E4-1239F68B4EC3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  <p:sp>
        <p:nvSpPr>
          <p:cNvPr id="4" name="Rectangle 3"/>
          <p:cNvSpPr/>
          <p:nvPr userDrawn="1"/>
        </p:nvSpPr>
        <p:spPr bwMode="auto">
          <a:xfrm>
            <a:off x="467544" y="836712"/>
            <a:ext cx="8136904" cy="36004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Fall’25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9E4FD61-08EC-3449-AF81-7DDFB2B32A47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Fall’25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54976B5-A97D-9348-B219-18176D30763E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Fall’25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6EB67F5-B818-A947-B3C0-F7774BB8DB12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6248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6248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Fall’25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76F58A6-734F-3F40-8ACC-F1E1F9649C4A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620000" cy="8382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3810000" cy="4876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876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Fall’25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77F90CF-3290-294A-AFFA-BABFD9F61AFD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620000" cy="8382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524000"/>
            <a:ext cx="7772400" cy="4876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CS/ECE  Computer Architecture – Fall’25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5C3F736-FD0F-AA45-8F37-A57BE49B46B7}" type="slidenum">
              <a:rPr lang="en-US"/>
              <a:pPr>
                <a:defRPr/>
              </a:pPr>
              <a:t>‹#›</a:t>
            </a:fld>
            <a:endParaRPr lang="en-US">
              <a:latin typeface="Garamond" pitchFamily="-112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620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3476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5600" y="6553200"/>
            <a:ext cx="3352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0" smtClean="0"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CS/ECE Computer Architecture – Fall’25</a:t>
            </a:r>
            <a:endParaRPr lang="en-US" sz="1400" dirty="0"/>
          </a:p>
        </p:txBody>
      </p:sp>
      <p:sp>
        <p:nvSpPr>
          <p:cNvPr id="233477" name="Line 5"/>
          <p:cNvSpPr>
            <a:spLocks noChangeShapeType="1"/>
          </p:cNvSpPr>
          <p:nvPr/>
        </p:nvSpPr>
        <p:spPr bwMode="auto">
          <a:xfrm>
            <a:off x="685800" y="990600"/>
            <a:ext cx="7772400" cy="0"/>
          </a:xfrm>
          <a:prstGeom prst="line">
            <a:avLst/>
          </a:prstGeom>
          <a:noFill/>
          <a:ln w="38100">
            <a:solidFill>
              <a:schemeClr val="accent2">
                <a:alpha val="89000"/>
              </a:schemeClr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/>
          </a:p>
        </p:txBody>
      </p:sp>
      <p:sp>
        <p:nvSpPr>
          <p:cNvPr id="23347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</a:defRPr>
            </a:lvl1pPr>
          </a:lstStyle>
          <a:p>
            <a:pPr>
              <a:defRPr/>
            </a:pPr>
            <a:fld id="{153BAC1E-BB0B-A049-B56D-74AA82B13E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3" name="Picture 2" descr="A red and white logo&#10;&#10;Description automatically generated">
            <a:extLst>
              <a:ext uri="{FF2B5EF4-FFF2-40B4-BE49-F238E27FC236}">
                <a16:creationId xmlns:a16="http://schemas.microsoft.com/office/drawing/2014/main" id="{7BA18FEC-871B-E19F-0632-FE1098BEDAA5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305800" y="139700"/>
            <a:ext cx="685800" cy="635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ＭＳ Ｐゴシック" pitchFamily="-112" charset="-128"/>
          <a:cs typeface="ＭＳ Ｐゴシック" pitchFamily="-112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  <a:ea typeface="ＭＳ Ｐゴシック" pitchFamily="-112" charset="-128"/>
          <a:cs typeface="ＭＳ Ｐゴシック" pitchFamily="-112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  <a:ea typeface="ＭＳ Ｐゴシック" pitchFamily="-112" charset="-128"/>
          <a:cs typeface="ＭＳ Ｐゴシック" pitchFamily="-112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  <a:ea typeface="ＭＳ Ｐゴシック" pitchFamily="-112" charset="-128"/>
          <a:cs typeface="ＭＳ Ｐゴシック" pitchFamily="-112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  <a:ea typeface="ＭＳ Ｐゴシック" pitchFamily="-112" charset="-128"/>
          <a:cs typeface="ＭＳ Ｐゴシック" pitchFamily="-112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Geneva" pitchFamily="-112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-112" charset="2"/>
        <a:buChar char="§"/>
        <a:defRPr sz="2400">
          <a:solidFill>
            <a:schemeClr val="tx1"/>
          </a:solidFill>
          <a:latin typeface="+mn-lt"/>
          <a:ea typeface="ＭＳ Ｐゴシック" pitchFamily="-112" charset="-128"/>
          <a:cs typeface="ＭＳ Ｐゴシック" pitchFamily="-112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2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-112" charset="2"/>
        <a:buChar char="§"/>
        <a:defRPr>
          <a:solidFill>
            <a:schemeClr val="tx1"/>
          </a:solidFill>
          <a:latin typeface="+mn-lt"/>
          <a:ea typeface="ＭＳ Ｐゴシック" pitchFamily="-112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ＭＳ Ｐゴシック" pitchFamily="-112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itchFamily="-112" charset="2"/>
        <a:buChar char="w"/>
        <a:defRPr sz="1400">
          <a:solidFill>
            <a:schemeClr val="tx1"/>
          </a:solidFill>
          <a:latin typeface="+mn-lt"/>
          <a:ea typeface="ＭＳ Ｐゴシック" pitchFamily="-112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itchFamily="-112" charset="2"/>
        <a:buChar char="w"/>
        <a:defRPr sz="1400">
          <a:solidFill>
            <a:schemeClr val="tx1"/>
          </a:solidFill>
          <a:latin typeface="+mn-lt"/>
          <a:ea typeface="ＭＳ Ｐゴシック" pitchFamily="-112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itchFamily="-112" charset="2"/>
        <a:buChar char="w"/>
        <a:defRPr sz="1400">
          <a:solidFill>
            <a:schemeClr val="tx1"/>
          </a:solidFill>
          <a:latin typeface="+mn-lt"/>
          <a:ea typeface="ＭＳ Ｐゴシック" pitchFamily="-112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itchFamily="-112" charset="2"/>
        <a:buChar char="w"/>
        <a:defRPr sz="1400">
          <a:solidFill>
            <a:schemeClr val="tx1"/>
          </a:solidFill>
          <a:latin typeface="+mn-lt"/>
          <a:ea typeface="ＭＳ Ｐゴシック" pitchFamily="-112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itchFamily="-112" charset="2"/>
        <a:buChar char="w"/>
        <a:defRPr sz="1400">
          <a:solidFill>
            <a:schemeClr val="tx1"/>
          </a:solidFill>
          <a:latin typeface="+mn-lt"/>
          <a:ea typeface="ＭＳ Ｐゴシック" pitchFamily="-112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3822A7-B3FC-4147-B1E0-2B102320EADC}" type="slidenum">
              <a:rPr lang="en-US"/>
              <a:pPr>
                <a:defRPr/>
              </a:pPr>
              <a:t>1</a:t>
            </a:fld>
            <a:endParaRPr lang="en-US">
              <a:latin typeface="Garamond" pitchFamily="-112" charset="0"/>
            </a:endParaRPr>
          </a:p>
        </p:txBody>
      </p:sp>
      <p:sp>
        <p:nvSpPr>
          <p:cNvPr id="524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Virtual Memory</a:t>
            </a:r>
          </a:p>
        </p:txBody>
      </p:sp>
      <p:sp>
        <p:nvSpPr>
          <p:cNvPr id="524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953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GB" dirty="0"/>
              <a:t>Motivation:</a:t>
            </a:r>
          </a:p>
          <a:p>
            <a:pPr>
              <a:lnSpc>
                <a:spcPct val="100000"/>
              </a:lnSpc>
            </a:pPr>
            <a:r>
              <a:rPr lang="en-GB" sz="2000" dirty="0"/>
              <a:t>Each process would like to see its own, full, address space</a:t>
            </a:r>
          </a:p>
          <a:p>
            <a:pPr>
              <a:lnSpc>
                <a:spcPct val="100000"/>
              </a:lnSpc>
            </a:pPr>
            <a:r>
              <a:rPr lang="en-GB" sz="2000" dirty="0"/>
              <a:t>Clearly impossible to provide full physical memory for all processes</a:t>
            </a:r>
          </a:p>
          <a:p>
            <a:pPr>
              <a:lnSpc>
                <a:spcPct val="100000"/>
              </a:lnSpc>
            </a:pPr>
            <a:r>
              <a:rPr lang="en-GB" sz="2000" dirty="0"/>
              <a:t>Processes may define a large address space but use only a small part of it at any one time</a:t>
            </a:r>
          </a:p>
          <a:p>
            <a:pPr>
              <a:lnSpc>
                <a:spcPct val="100000"/>
              </a:lnSpc>
            </a:pPr>
            <a:r>
              <a:rPr lang="en-GB" sz="2000" dirty="0"/>
              <a:t>Processes would like their memory to be protected from access and modification by other processes</a:t>
            </a:r>
          </a:p>
          <a:p>
            <a:pPr>
              <a:lnSpc>
                <a:spcPct val="100000"/>
              </a:lnSpc>
            </a:pPr>
            <a:r>
              <a:rPr lang="en-GB" sz="2000" dirty="0"/>
              <a:t>The operating system needs to be protected from applications</a:t>
            </a:r>
          </a:p>
          <a:p>
            <a:pPr marL="0" indent="0">
              <a:lnSpc>
                <a:spcPct val="100000"/>
              </a:lnSpc>
              <a:buNone/>
            </a:pPr>
            <a:endParaRPr lang="en-GB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3822A7-B3FC-4147-B1E0-2B102320EADC}" type="slidenum">
              <a:rPr lang="en-US"/>
              <a:pPr>
                <a:defRPr/>
              </a:pPr>
              <a:t>2</a:t>
            </a:fld>
            <a:endParaRPr lang="en-US">
              <a:latin typeface="Garamond" pitchFamily="-112" charset="0"/>
            </a:endParaRPr>
          </a:p>
        </p:txBody>
      </p:sp>
      <p:sp>
        <p:nvSpPr>
          <p:cNvPr id="524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Virtual Memory</a:t>
            </a:r>
          </a:p>
        </p:txBody>
      </p:sp>
      <p:sp>
        <p:nvSpPr>
          <p:cNvPr id="524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953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900"/>
              </a:spcAft>
              <a:buNone/>
            </a:pPr>
            <a:r>
              <a:rPr lang="en-GB" dirty="0"/>
              <a:t>Basic idea:</a:t>
            </a:r>
          </a:p>
          <a:p>
            <a:pPr>
              <a:lnSpc>
                <a:spcPct val="100000"/>
              </a:lnSpc>
              <a:spcBef>
                <a:spcPts val="1080"/>
              </a:spcBef>
            </a:pPr>
            <a:r>
              <a:rPr lang="en-GB" sz="2000" dirty="0"/>
              <a:t>Each process has its own Virtual Address Space, divided into fixed-sized pages</a:t>
            </a:r>
          </a:p>
          <a:p>
            <a:pPr>
              <a:lnSpc>
                <a:spcPct val="100000"/>
              </a:lnSpc>
              <a:spcBef>
                <a:spcPts val="1080"/>
              </a:spcBef>
            </a:pPr>
            <a:r>
              <a:rPr lang="en-GB" sz="2000" dirty="0"/>
              <a:t>Virtual pages that are in use get mapped to pages of physical memory (called </a:t>
            </a:r>
            <a:r>
              <a:rPr lang="en-GB" sz="2000" b="1" dirty="0">
                <a:solidFill>
                  <a:srgbClr val="FF0000"/>
                </a:solidFill>
              </a:rPr>
              <a:t>page frames</a:t>
            </a:r>
            <a:r>
              <a:rPr lang="en-GB" sz="2000" dirty="0"/>
              <a:t>).</a:t>
            </a:r>
          </a:p>
          <a:p>
            <a:pPr lvl="1">
              <a:spcBef>
                <a:spcPts val="400"/>
              </a:spcBef>
            </a:pPr>
            <a:r>
              <a:rPr lang="en-GB" sz="1600" dirty="0"/>
              <a:t>Virtual memory: pages</a:t>
            </a:r>
          </a:p>
          <a:p>
            <a:pPr lvl="1">
              <a:spcBef>
                <a:spcPts val="400"/>
              </a:spcBef>
            </a:pPr>
            <a:r>
              <a:rPr lang="en-GB" sz="1600" dirty="0"/>
              <a:t>Physical memory: frames </a:t>
            </a:r>
          </a:p>
          <a:p>
            <a:pPr>
              <a:lnSpc>
                <a:spcPct val="100000"/>
              </a:lnSpc>
              <a:spcBef>
                <a:spcPts val="1080"/>
              </a:spcBef>
            </a:pPr>
            <a:r>
              <a:rPr lang="en-GB" sz="2000" dirty="0"/>
              <a:t>Virtual pages not recently used may be stored on disk</a:t>
            </a:r>
          </a:p>
          <a:p>
            <a:pPr>
              <a:lnSpc>
                <a:spcPct val="100000"/>
              </a:lnSpc>
              <a:spcBef>
                <a:spcPts val="1080"/>
              </a:spcBef>
            </a:pPr>
            <a:r>
              <a:rPr lang="en-GB" sz="2000" dirty="0"/>
              <a:t>Extends the memory hierarchy out to the swap partition of a disk</a:t>
            </a:r>
          </a:p>
          <a:p>
            <a:pPr>
              <a:lnSpc>
                <a:spcPct val="100000"/>
              </a:lnSpc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4036894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7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509B1EB-9DD3-FC4C-B885-A29AB05050E4}" type="slidenum">
              <a:rPr lang="en-US"/>
              <a:pPr>
                <a:defRPr/>
              </a:pPr>
              <a:t>3</a:t>
            </a:fld>
            <a:endParaRPr lang="en-US">
              <a:latin typeface="Garamond" pitchFamily="-112" charset="0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384800" y="1468438"/>
            <a:ext cx="1538288" cy="2211387"/>
            <a:chOff x="3014" y="925"/>
            <a:chExt cx="969" cy="1393"/>
          </a:xfrm>
        </p:grpSpPr>
        <p:sp>
          <p:nvSpPr>
            <p:cNvPr id="526401" name="Text Box 3"/>
            <p:cNvSpPr txBox="1">
              <a:spLocks noChangeArrowheads="1"/>
            </p:cNvSpPr>
            <p:nvPr/>
          </p:nvSpPr>
          <p:spPr bwMode="auto">
            <a:xfrm>
              <a:off x="3014" y="925"/>
              <a:ext cx="96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400" b="0">
                  <a:latin typeface="Arial" pitchFamily="-112" charset="0"/>
                </a:rPr>
                <a:t>Physical memory</a:t>
              </a:r>
            </a:p>
          </p:txBody>
        </p:sp>
        <p:sp>
          <p:nvSpPr>
            <p:cNvPr id="526402" name="Rectangle 4"/>
            <p:cNvSpPr>
              <a:spLocks noChangeArrowheads="1"/>
            </p:cNvSpPr>
            <p:nvPr/>
          </p:nvSpPr>
          <p:spPr bwMode="auto">
            <a:xfrm>
              <a:off x="3272" y="1154"/>
              <a:ext cx="492" cy="116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403" name="Rectangle 5"/>
            <p:cNvSpPr>
              <a:spLocks noChangeArrowheads="1"/>
            </p:cNvSpPr>
            <p:nvPr/>
          </p:nvSpPr>
          <p:spPr bwMode="auto">
            <a:xfrm>
              <a:off x="3262" y="1144"/>
              <a:ext cx="492" cy="1158"/>
            </a:xfrm>
            <a:prstGeom prst="rect">
              <a:avLst/>
            </a:prstGeom>
            <a:solidFill>
              <a:srgbClr val="E1E3E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404" name="Text Box 6"/>
            <p:cNvSpPr txBox="1">
              <a:spLocks noChangeArrowheads="1"/>
            </p:cNvSpPr>
            <p:nvPr/>
          </p:nvSpPr>
          <p:spPr bwMode="auto">
            <a:xfrm>
              <a:off x="3141" y="1081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0</a:t>
              </a:r>
            </a:p>
          </p:txBody>
        </p:sp>
        <p:sp>
          <p:nvSpPr>
            <p:cNvPr id="526405" name="Text Box 7"/>
            <p:cNvSpPr txBox="1">
              <a:spLocks noChangeArrowheads="1"/>
            </p:cNvSpPr>
            <p:nvPr/>
          </p:nvSpPr>
          <p:spPr bwMode="auto">
            <a:xfrm>
              <a:off x="3083" y="1284"/>
              <a:ext cx="21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4K</a:t>
              </a:r>
            </a:p>
          </p:txBody>
        </p:sp>
        <p:sp>
          <p:nvSpPr>
            <p:cNvPr id="526406" name="Text Box 8"/>
            <p:cNvSpPr txBox="1">
              <a:spLocks noChangeArrowheads="1"/>
            </p:cNvSpPr>
            <p:nvPr/>
          </p:nvSpPr>
          <p:spPr bwMode="auto">
            <a:xfrm>
              <a:off x="3083" y="1487"/>
              <a:ext cx="21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8K</a:t>
              </a:r>
            </a:p>
          </p:txBody>
        </p:sp>
        <p:sp>
          <p:nvSpPr>
            <p:cNvPr id="526407" name="Text Box 9"/>
            <p:cNvSpPr txBox="1">
              <a:spLocks noChangeArrowheads="1"/>
            </p:cNvSpPr>
            <p:nvPr/>
          </p:nvSpPr>
          <p:spPr bwMode="auto">
            <a:xfrm>
              <a:off x="3039" y="1690"/>
              <a:ext cx="26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12K</a:t>
              </a:r>
            </a:p>
          </p:txBody>
        </p:sp>
        <p:sp>
          <p:nvSpPr>
            <p:cNvPr id="526408" name="Text Box 10"/>
            <p:cNvSpPr txBox="1">
              <a:spLocks noChangeArrowheads="1"/>
            </p:cNvSpPr>
            <p:nvPr/>
          </p:nvSpPr>
          <p:spPr bwMode="auto">
            <a:xfrm>
              <a:off x="3039" y="1893"/>
              <a:ext cx="26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16K</a:t>
              </a:r>
            </a:p>
          </p:txBody>
        </p:sp>
        <p:sp>
          <p:nvSpPr>
            <p:cNvPr id="526409" name="Text Box 11"/>
            <p:cNvSpPr txBox="1">
              <a:spLocks noChangeArrowheads="1"/>
            </p:cNvSpPr>
            <p:nvPr/>
          </p:nvSpPr>
          <p:spPr bwMode="auto">
            <a:xfrm>
              <a:off x="3039" y="2097"/>
              <a:ext cx="26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20K</a:t>
              </a:r>
            </a:p>
          </p:txBody>
        </p:sp>
      </p:grpSp>
      <p:sp>
        <p:nvSpPr>
          <p:cNvPr id="526341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Virtual and Physical Memory</a:t>
            </a:r>
          </a:p>
        </p:txBody>
      </p:sp>
      <p:sp>
        <p:nvSpPr>
          <p:cNvPr id="526342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395536" y="1233959"/>
            <a:ext cx="2600325" cy="4859337"/>
          </a:xfrm>
        </p:spPr>
        <p:txBody>
          <a:bodyPr/>
          <a:lstStyle/>
          <a:p>
            <a:pPr marL="182880" indent="-182880">
              <a:lnSpc>
                <a:spcPct val="110000"/>
              </a:lnSpc>
            </a:pPr>
            <a:r>
              <a:rPr lang="en-GB" sz="1400" dirty="0"/>
              <a:t>Example 4K page size</a:t>
            </a:r>
          </a:p>
          <a:p>
            <a:pPr marL="182880" indent="-182880">
              <a:lnSpc>
                <a:spcPct val="110000"/>
              </a:lnSpc>
            </a:pPr>
            <a:endParaRPr lang="en-GB" sz="1400" dirty="0"/>
          </a:p>
          <a:p>
            <a:pPr marL="182880" indent="-182880">
              <a:lnSpc>
                <a:spcPct val="110000"/>
              </a:lnSpc>
            </a:pPr>
            <a:r>
              <a:rPr lang="en-GB" sz="1400" dirty="0"/>
              <a:t>Process 1 has pages </a:t>
            </a:r>
            <a:br>
              <a:rPr lang="en-GB" sz="1400" dirty="0"/>
            </a:br>
            <a:r>
              <a:rPr lang="en-GB" sz="1400" dirty="0"/>
              <a:t>A, B, C and D</a:t>
            </a:r>
          </a:p>
          <a:p>
            <a:pPr marL="182880" indent="-182880">
              <a:lnSpc>
                <a:spcPct val="110000"/>
              </a:lnSpc>
            </a:pPr>
            <a:r>
              <a:rPr lang="en-GB" sz="1400" dirty="0"/>
              <a:t>Page B is held on disk</a:t>
            </a:r>
          </a:p>
          <a:p>
            <a:pPr marL="182880" indent="-182880">
              <a:lnSpc>
                <a:spcPct val="110000"/>
              </a:lnSpc>
            </a:pPr>
            <a:endParaRPr lang="en-GB" sz="1400" dirty="0"/>
          </a:p>
          <a:p>
            <a:pPr marL="182880" indent="-182880">
              <a:lnSpc>
                <a:spcPct val="110000"/>
              </a:lnSpc>
            </a:pPr>
            <a:r>
              <a:rPr lang="en-GB" sz="1400" dirty="0"/>
              <a:t>Process 2 has pages </a:t>
            </a:r>
            <a:br>
              <a:rPr lang="en-GB" sz="1400" dirty="0"/>
            </a:br>
            <a:r>
              <a:rPr lang="en-GB" sz="1400" dirty="0"/>
              <a:t>X, Y, Z</a:t>
            </a:r>
          </a:p>
          <a:p>
            <a:pPr marL="182880" indent="-182880">
              <a:lnSpc>
                <a:spcPct val="110000"/>
              </a:lnSpc>
            </a:pPr>
            <a:r>
              <a:rPr lang="en-GB" sz="1400" dirty="0"/>
              <a:t>Page Z is held on disk</a:t>
            </a:r>
          </a:p>
          <a:p>
            <a:pPr marL="182880" indent="-182880">
              <a:lnSpc>
                <a:spcPct val="110000"/>
              </a:lnSpc>
            </a:pPr>
            <a:endParaRPr lang="en-GB" sz="1400" dirty="0"/>
          </a:p>
          <a:p>
            <a:pPr marL="182880" indent="-182880">
              <a:lnSpc>
                <a:spcPct val="110000"/>
              </a:lnSpc>
            </a:pPr>
            <a:r>
              <a:rPr lang="en-GB" sz="1400" dirty="0"/>
              <a:t>Process 1 cannot access pages X, Y, Z</a:t>
            </a:r>
          </a:p>
          <a:p>
            <a:pPr marL="182880" indent="-182880">
              <a:lnSpc>
                <a:spcPct val="110000"/>
              </a:lnSpc>
            </a:pPr>
            <a:endParaRPr lang="en-GB" sz="1400" dirty="0"/>
          </a:p>
          <a:p>
            <a:pPr marL="182880" indent="-182880">
              <a:lnSpc>
                <a:spcPct val="110000"/>
              </a:lnSpc>
            </a:pPr>
            <a:r>
              <a:rPr lang="en-GB" sz="1400" dirty="0"/>
              <a:t>Process 2 cannot access page A, B, C, D</a:t>
            </a:r>
          </a:p>
          <a:p>
            <a:pPr marL="182880" indent="-182880">
              <a:lnSpc>
                <a:spcPct val="110000"/>
              </a:lnSpc>
            </a:pPr>
            <a:endParaRPr lang="en-GB" sz="1400" dirty="0"/>
          </a:p>
          <a:p>
            <a:pPr marL="182880" indent="-182880">
              <a:lnSpc>
                <a:spcPct val="110000"/>
              </a:lnSpc>
            </a:pPr>
            <a:r>
              <a:rPr lang="en-GB" sz="1400" dirty="0"/>
              <a:t>O/S can access any page (full privileges)</a:t>
            </a:r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5495925" y="3676650"/>
            <a:ext cx="1538288" cy="2336800"/>
            <a:chOff x="3084" y="2316"/>
            <a:chExt cx="969" cy="1472"/>
          </a:xfrm>
        </p:grpSpPr>
        <p:sp>
          <p:nvSpPr>
            <p:cNvPr id="526397" name="AutoShape 15"/>
            <p:cNvSpPr>
              <a:spLocks noChangeArrowheads="1"/>
            </p:cNvSpPr>
            <p:nvPr/>
          </p:nvSpPr>
          <p:spPr bwMode="auto">
            <a:xfrm>
              <a:off x="3084" y="2784"/>
              <a:ext cx="852" cy="798"/>
            </a:xfrm>
            <a:prstGeom prst="flowChartMagneticDisk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398" name="Text Box 16"/>
            <p:cNvSpPr txBox="1">
              <a:spLocks noChangeArrowheads="1"/>
            </p:cNvSpPr>
            <p:nvPr/>
          </p:nvSpPr>
          <p:spPr bwMode="auto">
            <a:xfrm>
              <a:off x="3122" y="3557"/>
              <a:ext cx="7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800" b="0">
                  <a:latin typeface="Arial" pitchFamily="-112" charset="0"/>
                </a:rPr>
                <a:t>Swap disk</a:t>
              </a:r>
            </a:p>
          </p:txBody>
        </p:sp>
        <p:sp>
          <p:nvSpPr>
            <p:cNvPr id="526399" name="Line 17"/>
            <p:cNvSpPr>
              <a:spLocks noChangeShapeType="1"/>
            </p:cNvSpPr>
            <p:nvPr/>
          </p:nvSpPr>
          <p:spPr bwMode="auto">
            <a:xfrm flipV="1">
              <a:off x="3516" y="2316"/>
              <a:ext cx="6" cy="46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400" name="Text Box 18"/>
            <p:cNvSpPr txBox="1">
              <a:spLocks noChangeArrowheads="1"/>
            </p:cNvSpPr>
            <p:nvPr/>
          </p:nvSpPr>
          <p:spPr bwMode="auto">
            <a:xfrm>
              <a:off x="3494" y="2433"/>
              <a:ext cx="55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200">
                  <a:latin typeface="Arial" pitchFamily="-112" charset="0"/>
                </a:rPr>
                <a:t>page</a:t>
              </a:r>
            </a:p>
            <a:p>
              <a:pPr eaLnBrk="1" hangingPunct="1"/>
              <a:r>
                <a:rPr lang="en-GB" sz="1200">
                  <a:latin typeface="Arial" pitchFamily="-112" charset="0"/>
                </a:rPr>
                <a:t>swapping</a:t>
              </a:r>
            </a:p>
          </p:txBody>
        </p:sp>
      </p:grpSp>
      <p:grpSp>
        <p:nvGrpSpPr>
          <p:cNvPr id="4" name="Group 72"/>
          <p:cNvGrpSpPr>
            <a:grpSpLocks/>
          </p:cNvGrpSpPr>
          <p:nvPr/>
        </p:nvGrpSpPr>
        <p:grpSpPr bwMode="auto">
          <a:xfrm>
            <a:off x="3182938" y="1295400"/>
            <a:ext cx="3394075" cy="3889375"/>
            <a:chOff x="2005" y="816"/>
            <a:chExt cx="2138" cy="2450"/>
          </a:xfrm>
        </p:grpSpPr>
        <p:grpSp>
          <p:nvGrpSpPr>
            <p:cNvPr id="5" name="Group 19"/>
            <p:cNvGrpSpPr>
              <a:grpSpLocks/>
            </p:cNvGrpSpPr>
            <p:nvPr/>
          </p:nvGrpSpPr>
          <p:grpSpPr bwMode="auto">
            <a:xfrm>
              <a:off x="2005" y="816"/>
              <a:ext cx="2138" cy="2450"/>
              <a:chOff x="1981" y="821"/>
              <a:chExt cx="2138" cy="2450"/>
            </a:xfrm>
          </p:grpSpPr>
          <p:sp>
            <p:nvSpPr>
              <p:cNvPr id="526371" name="Text Box 20"/>
              <p:cNvSpPr txBox="1">
                <a:spLocks noChangeArrowheads="1"/>
              </p:cNvSpPr>
              <p:nvPr/>
            </p:nvSpPr>
            <p:spPr bwMode="auto">
              <a:xfrm>
                <a:off x="3625" y="3073"/>
                <a:ext cx="494" cy="198"/>
              </a:xfrm>
              <a:prstGeom prst="rect">
                <a:avLst/>
              </a:prstGeom>
              <a:solidFill>
                <a:srgbClr val="F5F9A5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ctr" eaLnBrk="1" hangingPunct="1"/>
                <a:r>
                  <a:rPr lang="en-GB" sz="1400" b="0">
                    <a:latin typeface="Arial" pitchFamily="-112" charset="0"/>
                  </a:rPr>
                  <a:t>B</a:t>
                </a:r>
              </a:p>
            </p:txBody>
          </p:sp>
          <p:grpSp>
            <p:nvGrpSpPr>
              <p:cNvPr id="6" name="Group 21"/>
              <p:cNvGrpSpPr>
                <a:grpSpLocks/>
              </p:cNvGrpSpPr>
              <p:nvPr/>
            </p:nvGrpSpPr>
            <p:grpSpPr bwMode="auto">
              <a:xfrm>
                <a:off x="1981" y="821"/>
                <a:ext cx="2127" cy="2450"/>
                <a:chOff x="1981" y="821"/>
                <a:chExt cx="2127" cy="2450"/>
              </a:xfrm>
            </p:grpSpPr>
            <p:sp>
              <p:nvSpPr>
                <p:cNvPr id="526373" name="Rectangle 22"/>
                <p:cNvSpPr>
                  <a:spLocks noChangeArrowheads="1"/>
                </p:cNvSpPr>
                <p:nvPr/>
              </p:nvSpPr>
              <p:spPr bwMode="auto">
                <a:xfrm>
                  <a:off x="2212" y="1168"/>
                  <a:ext cx="492" cy="2082"/>
                </a:xfrm>
                <a:prstGeom prst="rect">
                  <a:avLst/>
                </a:prstGeom>
                <a:solidFill>
                  <a:schemeClr val="bg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6374" name="Rectangle 23"/>
                <p:cNvSpPr>
                  <a:spLocks noChangeArrowheads="1"/>
                </p:cNvSpPr>
                <p:nvPr/>
              </p:nvSpPr>
              <p:spPr bwMode="auto">
                <a:xfrm>
                  <a:off x="2196" y="1152"/>
                  <a:ext cx="492" cy="2082"/>
                </a:xfrm>
                <a:prstGeom prst="rect">
                  <a:avLst/>
                </a:prstGeom>
                <a:solidFill>
                  <a:srgbClr val="E1E3E3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6375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2197" y="1153"/>
                  <a:ext cx="491" cy="198"/>
                </a:xfrm>
                <a:prstGeom prst="rect">
                  <a:avLst/>
                </a:prstGeom>
                <a:solidFill>
                  <a:srgbClr val="F5F9A5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GB" sz="1400" b="0">
                      <a:latin typeface="Arial" pitchFamily="-112" charset="0"/>
                    </a:rPr>
                    <a:t>A</a:t>
                  </a:r>
                </a:p>
              </p:txBody>
            </p:sp>
            <p:sp>
              <p:nvSpPr>
                <p:cNvPr id="526376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197" y="1351"/>
                  <a:ext cx="491" cy="198"/>
                </a:xfrm>
                <a:prstGeom prst="rect">
                  <a:avLst/>
                </a:prstGeom>
                <a:solidFill>
                  <a:srgbClr val="F5F9A5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GB" sz="1400" b="0">
                      <a:latin typeface="Arial" pitchFamily="-112" charset="0"/>
                    </a:rPr>
                    <a:t>B</a:t>
                  </a:r>
                </a:p>
              </p:txBody>
            </p:sp>
            <p:sp>
              <p:nvSpPr>
                <p:cNvPr id="526377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2197" y="2139"/>
                  <a:ext cx="490" cy="198"/>
                </a:xfrm>
                <a:prstGeom prst="rect">
                  <a:avLst/>
                </a:prstGeom>
                <a:solidFill>
                  <a:srgbClr val="F5F9A5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GB" sz="1400" b="0">
                      <a:latin typeface="Arial" pitchFamily="-112" charset="0"/>
                    </a:rPr>
                    <a:t>C</a:t>
                  </a:r>
                </a:p>
              </p:txBody>
            </p:sp>
            <p:sp>
              <p:nvSpPr>
                <p:cNvPr id="52637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197" y="2755"/>
                  <a:ext cx="490" cy="198"/>
                </a:xfrm>
                <a:prstGeom prst="rect">
                  <a:avLst/>
                </a:prstGeom>
                <a:solidFill>
                  <a:srgbClr val="F5F9A5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GB" sz="1400" b="0">
                      <a:latin typeface="Arial" pitchFamily="-112" charset="0"/>
                    </a:rPr>
                    <a:t>D</a:t>
                  </a:r>
                </a:p>
              </p:txBody>
            </p:sp>
            <p:sp>
              <p:nvSpPr>
                <p:cNvPr id="526379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021" y="821"/>
                  <a:ext cx="869" cy="32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GB" sz="1400" b="0">
                      <a:latin typeface="Arial" pitchFamily="-112" charset="0"/>
                    </a:rPr>
                    <a:t>Virtual memory</a:t>
                  </a:r>
                </a:p>
                <a:p>
                  <a:pPr algn="ctr" eaLnBrk="1" hangingPunct="1"/>
                  <a:r>
                    <a:rPr lang="en-GB" sz="1400" b="0">
                      <a:latin typeface="Arial" pitchFamily="-112" charset="0"/>
                    </a:rPr>
                    <a:t>(process 1)</a:t>
                  </a:r>
                </a:p>
              </p:txBody>
            </p:sp>
            <p:sp>
              <p:nvSpPr>
                <p:cNvPr id="526380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083" y="1085"/>
                  <a:ext cx="160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1" hangingPunct="1"/>
                  <a:r>
                    <a:rPr lang="en-GB" sz="1000">
                      <a:latin typeface="Arial" pitchFamily="-112" charset="0"/>
                    </a:rPr>
                    <a:t>0</a:t>
                  </a:r>
                </a:p>
              </p:txBody>
            </p:sp>
            <p:sp>
              <p:nvSpPr>
                <p:cNvPr id="526381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2025" y="1288"/>
                  <a:ext cx="218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1" hangingPunct="1"/>
                  <a:r>
                    <a:rPr lang="en-GB" sz="1000">
                      <a:latin typeface="Arial" pitchFamily="-112" charset="0"/>
                    </a:rPr>
                    <a:t>4K</a:t>
                  </a:r>
                </a:p>
              </p:txBody>
            </p:sp>
            <p:sp>
              <p:nvSpPr>
                <p:cNvPr id="526382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025" y="1491"/>
                  <a:ext cx="218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1" hangingPunct="1"/>
                  <a:r>
                    <a:rPr lang="en-GB" sz="1000">
                      <a:latin typeface="Arial" pitchFamily="-112" charset="0"/>
                    </a:rPr>
                    <a:t>8K</a:t>
                  </a:r>
                </a:p>
              </p:txBody>
            </p:sp>
            <p:sp>
              <p:nvSpPr>
                <p:cNvPr id="526383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981" y="1694"/>
                  <a:ext cx="263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1" hangingPunct="1"/>
                  <a:r>
                    <a:rPr lang="en-GB" sz="1000">
                      <a:latin typeface="Arial" pitchFamily="-112" charset="0"/>
                    </a:rPr>
                    <a:t>12K</a:t>
                  </a:r>
                </a:p>
              </p:txBody>
            </p:sp>
            <p:sp>
              <p:nvSpPr>
                <p:cNvPr id="526384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1981" y="1897"/>
                  <a:ext cx="263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1" hangingPunct="1"/>
                  <a:r>
                    <a:rPr lang="en-GB" sz="1000">
                      <a:latin typeface="Arial" pitchFamily="-112" charset="0"/>
                    </a:rPr>
                    <a:t>16K</a:t>
                  </a:r>
                </a:p>
              </p:txBody>
            </p:sp>
            <p:sp>
              <p:nvSpPr>
                <p:cNvPr id="526385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981" y="2101"/>
                  <a:ext cx="263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1" hangingPunct="1"/>
                  <a:r>
                    <a:rPr lang="en-GB" sz="1000">
                      <a:latin typeface="Arial" pitchFamily="-112" charset="0"/>
                    </a:rPr>
                    <a:t>20K</a:t>
                  </a:r>
                </a:p>
              </p:txBody>
            </p:sp>
            <p:sp>
              <p:nvSpPr>
                <p:cNvPr id="526386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1981" y="2293"/>
                  <a:ext cx="263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1" hangingPunct="1"/>
                  <a:r>
                    <a:rPr lang="en-GB" sz="1000">
                      <a:latin typeface="Arial" pitchFamily="-112" charset="0"/>
                    </a:rPr>
                    <a:t>24K</a:t>
                  </a:r>
                </a:p>
              </p:txBody>
            </p:sp>
            <p:sp>
              <p:nvSpPr>
                <p:cNvPr id="526387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1981" y="2496"/>
                  <a:ext cx="263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1" hangingPunct="1"/>
                  <a:r>
                    <a:rPr lang="en-GB" sz="1000">
                      <a:latin typeface="Arial" pitchFamily="-112" charset="0"/>
                    </a:rPr>
                    <a:t>28K</a:t>
                  </a:r>
                </a:p>
              </p:txBody>
            </p:sp>
            <p:sp>
              <p:nvSpPr>
                <p:cNvPr id="526388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1981" y="2699"/>
                  <a:ext cx="263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1" hangingPunct="1"/>
                  <a:r>
                    <a:rPr lang="en-GB" sz="1000">
                      <a:latin typeface="Arial" pitchFamily="-112" charset="0"/>
                    </a:rPr>
                    <a:t>32K</a:t>
                  </a:r>
                </a:p>
              </p:txBody>
            </p:sp>
            <p:sp>
              <p:nvSpPr>
                <p:cNvPr id="526389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1981" y="2903"/>
                  <a:ext cx="263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1" hangingPunct="1"/>
                  <a:r>
                    <a:rPr lang="en-GB" sz="1000">
                      <a:latin typeface="Arial" pitchFamily="-112" charset="0"/>
                    </a:rPr>
                    <a:t>36K</a:t>
                  </a:r>
                </a:p>
              </p:txBody>
            </p:sp>
            <p:sp>
              <p:nvSpPr>
                <p:cNvPr id="526390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1981" y="3117"/>
                  <a:ext cx="263" cy="1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1" hangingPunct="1"/>
                  <a:r>
                    <a:rPr lang="en-GB" sz="1000">
                      <a:latin typeface="Arial" pitchFamily="-112" charset="0"/>
                    </a:rPr>
                    <a:t>36K</a:t>
                  </a:r>
                </a:p>
              </p:txBody>
            </p:sp>
            <p:sp>
              <p:nvSpPr>
                <p:cNvPr id="526391" name="Line 40"/>
                <p:cNvSpPr>
                  <a:spLocks noChangeShapeType="1"/>
                </p:cNvSpPr>
                <p:nvPr/>
              </p:nvSpPr>
              <p:spPr bwMode="auto">
                <a:xfrm>
                  <a:off x="2685" y="1153"/>
                  <a:ext cx="915" cy="5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6392" name="Line 41"/>
                <p:cNvSpPr>
                  <a:spLocks noChangeShapeType="1"/>
                </p:cNvSpPr>
                <p:nvPr/>
              </p:nvSpPr>
              <p:spPr bwMode="auto">
                <a:xfrm>
                  <a:off x="2686" y="1349"/>
                  <a:ext cx="938" cy="173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6393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2688" y="1920"/>
                  <a:ext cx="924" cy="2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6394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2690" y="1344"/>
                  <a:ext cx="928" cy="141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26395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3617" y="1719"/>
                  <a:ext cx="491" cy="198"/>
                </a:xfrm>
                <a:prstGeom prst="rect">
                  <a:avLst/>
                </a:prstGeom>
                <a:solidFill>
                  <a:srgbClr val="F5F9A5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GB" sz="1400" b="0">
                      <a:latin typeface="Arial" pitchFamily="-112" charset="0"/>
                    </a:rPr>
                    <a:t>A</a:t>
                  </a:r>
                </a:p>
              </p:txBody>
            </p:sp>
            <p:sp>
              <p:nvSpPr>
                <p:cNvPr id="526396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3617" y="1915"/>
                  <a:ext cx="491" cy="198"/>
                </a:xfrm>
                <a:prstGeom prst="rect">
                  <a:avLst/>
                </a:prstGeom>
                <a:solidFill>
                  <a:srgbClr val="F5F9A5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  <a:spAutoFit/>
                </a:bodyPr>
                <a:lstStyle/>
                <a:p>
                  <a:pPr algn="ctr" eaLnBrk="1" hangingPunct="1"/>
                  <a:r>
                    <a:rPr lang="en-GB" sz="1400" b="0">
                      <a:latin typeface="Arial" pitchFamily="-112" charset="0"/>
                    </a:rPr>
                    <a:t>C</a:t>
                  </a:r>
                </a:p>
              </p:txBody>
            </p:sp>
          </p:grpSp>
        </p:grpSp>
        <p:sp>
          <p:nvSpPr>
            <p:cNvPr id="526370" name="Text Box 47"/>
            <p:cNvSpPr txBox="1">
              <a:spLocks noChangeArrowheads="1"/>
            </p:cNvSpPr>
            <p:nvPr/>
          </p:nvSpPr>
          <p:spPr bwMode="auto">
            <a:xfrm>
              <a:off x="3641" y="1334"/>
              <a:ext cx="491" cy="19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GB" sz="1400" b="0">
                  <a:latin typeface="Arial" pitchFamily="-112" charset="0"/>
                </a:rPr>
                <a:t>D</a:t>
              </a:r>
            </a:p>
          </p:txBody>
        </p:sp>
      </p:grpSp>
      <p:grpSp>
        <p:nvGrpSpPr>
          <p:cNvPr id="7" name="Group 71"/>
          <p:cNvGrpSpPr>
            <a:grpSpLocks/>
          </p:cNvGrpSpPr>
          <p:nvPr/>
        </p:nvGrpSpPr>
        <p:grpSpPr bwMode="auto">
          <a:xfrm>
            <a:off x="5778500" y="1295400"/>
            <a:ext cx="3286125" cy="4257675"/>
            <a:chOff x="3640" y="816"/>
            <a:chExt cx="2070" cy="2682"/>
          </a:xfrm>
        </p:grpSpPr>
        <p:sp>
          <p:nvSpPr>
            <p:cNvPr id="526346" name="Text Box 48"/>
            <p:cNvSpPr txBox="1">
              <a:spLocks noChangeArrowheads="1"/>
            </p:cNvSpPr>
            <p:nvPr/>
          </p:nvSpPr>
          <p:spPr bwMode="auto">
            <a:xfrm>
              <a:off x="3640" y="1136"/>
              <a:ext cx="491" cy="19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GB" sz="1400" b="0">
                  <a:latin typeface="Arial" pitchFamily="-112" charset="0"/>
                </a:rPr>
                <a:t>Y</a:t>
              </a:r>
            </a:p>
          </p:txBody>
        </p:sp>
        <p:sp>
          <p:nvSpPr>
            <p:cNvPr id="526347" name="Text Box 49"/>
            <p:cNvSpPr txBox="1">
              <a:spLocks noChangeArrowheads="1"/>
            </p:cNvSpPr>
            <p:nvPr/>
          </p:nvSpPr>
          <p:spPr bwMode="auto">
            <a:xfrm>
              <a:off x="3640" y="2104"/>
              <a:ext cx="492" cy="19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GB" sz="1400" b="0">
                  <a:latin typeface="Arial" pitchFamily="-112" charset="0"/>
                </a:rPr>
                <a:t>X</a:t>
              </a:r>
            </a:p>
          </p:txBody>
        </p:sp>
        <p:sp>
          <p:nvSpPr>
            <p:cNvPr id="526348" name="Rectangle 50"/>
            <p:cNvSpPr>
              <a:spLocks noChangeArrowheads="1"/>
            </p:cNvSpPr>
            <p:nvPr/>
          </p:nvSpPr>
          <p:spPr bwMode="auto">
            <a:xfrm>
              <a:off x="5032" y="1163"/>
              <a:ext cx="492" cy="2082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349" name="Rectangle 51"/>
            <p:cNvSpPr>
              <a:spLocks noChangeArrowheads="1"/>
            </p:cNvSpPr>
            <p:nvPr/>
          </p:nvSpPr>
          <p:spPr bwMode="auto">
            <a:xfrm>
              <a:off x="5022" y="1147"/>
              <a:ext cx="492" cy="2082"/>
            </a:xfrm>
            <a:prstGeom prst="rect">
              <a:avLst/>
            </a:prstGeom>
            <a:solidFill>
              <a:srgbClr val="E1E3E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350" name="Text Box 52"/>
            <p:cNvSpPr txBox="1">
              <a:spLocks noChangeArrowheads="1"/>
            </p:cNvSpPr>
            <p:nvPr/>
          </p:nvSpPr>
          <p:spPr bwMode="auto">
            <a:xfrm>
              <a:off x="5022" y="1152"/>
              <a:ext cx="491" cy="19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GB" sz="1400" b="0">
                  <a:latin typeface="Arial" pitchFamily="-112" charset="0"/>
                </a:rPr>
                <a:t>X</a:t>
              </a:r>
            </a:p>
          </p:txBody>
        </p:sp>
        <p:sp>
          <p:nvSpPr>
            <p:cNvPr id="526351" name="Text Box 53"/>
            <p:cNvSpPr txBox="1">
              <a:spLocks noChangeArrowheads="1"/>
            </p:cNvSpPr>
            <p:nvPr/>
          </p:nvSpPr>
          <p:spPr bwMode="auto">
            <a:xfrm>
              <a:off x="5022" y="1348"/>
              <a:ext cx="491" cy="19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GB" sz="1400" b="0">
                  <a:latin typeface="Arial" pitchFamily="-112" charset="0"/>
                </a:rPr>
                <a:t>Y</a:t>
              </a:r>
            </a:p>
          </p:txBody>
        </p:sp>
        <p:sp>
          <p:nvSpPr>
            <p:cNvPr id="526352" name="Text Box 54"/>
            <p:cNvSpPr txBox="1">
              <a:spLocks noChangeArrowheads="1"/>
            </p:cNvSpPr>
            <p:nvPr/>
          </p:nvSpPr>
          <p:spPr bwMode="auto">
            <a:xfrm>
              <a:off x="5022" y="2134"/>
              <a:ext cx="491" cy="19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GB" sz="1400" b="0">
                  <a:latin typeface="Arial" pitchFamily="-112" charset="0"/>
                </a:rPr>
                <a:t>Z</a:t>
              </a:r>
            </a:p>
          </p:txBody>
        </p:sp>
        <p:sp>
          <p:nvSpPr>
            <p:cNvPr id="526353" name="Text Box 55"/>
            <p:cNvSpPr txBox="1">
              <a:spLocks noChangeArrowheads="1"/>
            </p:cNvSpPr>
            <p:nvPr/>
          </p:nvSpPr>
          <p:spPr bwMode="auto">
            <a:xfrm>
              <a:off x="4841" y="816"/>
              <a:ext cx="869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GB" sz="1400" b="0">
                  <a:latin typeface="Arial" pitchFamily="-112" charset="0"/>
                </a:rPr>
                <a:t>Virtual memory</a:t>
              </a:r>
            </a:p>
            <a:p>
              <a:pPr algn="ctr" eaLnBrk="1" hangingPunct="1"/>
              <a:r>
                <a:rPr lang="en-GB" sz="1400" b="0">
                  <a:latin typeface="Arial" pitchFamily="-112" charset="0"/>
                </a:rPr>
                <a:t>(process 2)</a:t>
              </a:r>
            </a:p>
          </p:txBody>
        </p:sp>
        <p:sp>
          <p:nvSpPr>
            <p:cNvPr id="526354" name="Text Box 56"/>
            <p:cNvSpPr txBox="1">
              <a:spLocks noChangeArrowheads="1"/>
            </p:cNvSpPr>
            <p:nvPr/>
          </p:nvSpPr>
          <p:spPr bwMode="auto">
            <a:xfrm>
              <a:off x="4903" y="1080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0</a:t>
              </a:r>
            </a:p>
          </p:txBody>
        </p:sp>
        <p:sp>
          <p:nvSpPr>
            <p:cNvPr id="526355" name="Text Box 57"/>
            <p:cNvSpPr txBox="1">
              <a:spLocks noChangeArrowheads="1"/>
            </p:cNvSpPr>
            <p:nvPr/>
          </p:nvSpPr>
          <p:spPr bwMode="auto">
            <a:xfrm>
              <a:off x="4845" y="1283"/>
              <a:ext cx="21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4K</a:t>
              </a:r>
            </a:p>
          </p:txBody>
        </p:sp>
        <p:sp>
          <p:nvSpPr>
            <p:cNvPr id="526356" name="Text Box 58"/>
            <p:cNvSpPr txBox="1">
              <a:spLocks noChangeArrowheads="1"/>
            </p:cNvSpPr>
            <p:nvPr/>
          </p:nvSpPr>
          <p:spPr bwMode="auto">
            <a:xfrm>
              <a:off x="4845" y="1486"/>
              <a:ext cx="21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8K</a:t>
              </a:r>
            </a:p>
          </p:txBody>
        </p:sp>
        <p:sp>
          <p:nvSpPr>
            <p:cNvPr id="526357" name="Text Box 59"/>
            <p:cNvSpPr txBox="1">
              <a:spLocks noChangeArrowheads="1"/>
            </p:cNvSpPr>
            <p:nvPr/>
          </p:nvSpPr>
          <p:spPr bwMode="auto">
            <a:xfrm>
              <a:off x="4801" y="1689"/>
              <a:ext cx="26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12K</a:t>
              </a:r>
            </a:p>
          </p:txBody>
        </p:sp>
        <p:sp>
          <p:nvSpPr>
            <p:cNvPr id="526358" name="Text Box 60"/>
            <p:cNvSpPr txBox="1">
              <a:spLocks noChangeArrowheads="1"/>
            </p:cNvSpPr>
            <p:nvPr/>
          </p:nvSpPr>
          <p:spPr bwMode="auto">
            <a:xfrm>
              <a:off x="4801" y="1892"/>
              <a:ext cx="26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16K</a:t>
              </a:r>
            </a:p>
          </p:txBody>
        </p:sp>
        <p:sp>
          <p:nvSpPr>
            <p:cNvPr id="526359" name="Text Box 61"/>
            <p:cNvSpPr txBox="1">
              <a:spLocks noChangeArrowheads="1"/>
            </p:cNvSpPr>
            <p:nvPr/>
          </p:nvSpPr>
          <p:spPr bwMode="auto">
            <a:xfrm>
              <a:off x="4801" y="2096"/>
              <a:ext cx="26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20K</a:t>
              </a:r>
            </a:p>
          </p:txBody>
        </p:sp>
        <p:sp>
          <p:nvSpPr>
            <p:cNvPr id="526360" name="Text Box 62"/>
            <p:cNvSpPr txBox="1">
              <a:spLocks noChangeArrowheads="1"/>
            </p:cNvSpPr>
            <p:nvPr/>
          </p:nvSpPr>
          <p:spPr bwMode="auto">
            <a:xfrm>
              <a:off x="4801" y="2288"/>
              <a:ext cx="26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24K</a:t>
              </a:r>
            </a:p>
          </p:txBody>
        </p:sp>
        <p:sp>
          <p:nvSpPr>
            <p:cNvPr id="526361" name="Text Box 63"/>
            <p:cNvSpPr txBox="1">
              <a:spLocks noChangeArrowheads="1"/>
            </p:cNvSpPr>
            <p:nvPr/>
          </p:nvSpPr>
          <p:spPr bwMode="auto">
            <a:xfrm>
              <a:off x="4801" y="2491"/>
              <a:ext cx="26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28K</a:t>
              </a:r>
            </a:p>
          </p:txBody>
        </p:sp>
        <p:sp>
          <p:nvSpPr>
            <p:cNvPr id="526362" name="Text Box 64"/>
            <p:cNvSpPr txBox="1">
              <a:spLocks noChangeArrowheads="1"/>
            </p:cNvSpPr>
            <p:nvPr/>
          </p:nvSpPr>
          <p:spPr bwMode="auto">
            <a:xfrm>
              <a:off x="4801" y="2694"/>
              <a:ext cx="26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32K</a:t>
              </a:r>
            </a:p>
          </p:txBody>
        </p:sp>
        <p:sp>
          <p:nvSpPr>
            <p:cNvPr id="526363" name="Text Box 65"/>
            <p:cNvSpPr txBox="1">
              <a:spLocks noChangeArrowheads="1"/>
            </p:cNvSpPr>
            <p:nvPr/>
          </p:nvSpPr>
          <p:spPr bwMode="auto">
            <a:xfrm>
              <a:off x="4801" y="2898"/>
              <a:ext cx="26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36K</a:t>
              </a:r>
            </a:p>
          </p:txBody>
        </p:sp>
        <p:sp>
          <p:nvSpPr>
            <p:cNvPr id="526364" name="Text Box 66"/>
            <p:cNvSpPr txBox="1">
              <a:spLocks noChangeArrowheads="1"/>
            </p:cNvSpPr>
            <p:nvPr/>
          </p:nvSpPr>
          <p:spPr bwMode="auto">
            <a:xfrm>
              <a:off x="4801" y="3112"/>
              <a:ext cx="26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36K</a:t>
              </a:r>
            </a:p>
          </p:txBody>
        </p:sp>
        <p:sp>
          <p:nvSpPr>
            <p:cNvPr id="526365" name="Text Box 67"/>
            <p:cNvSpPr txBox="1">
              <a:spLocks noChangeArrowheads="1"/>
            </p:cNvSpPr>
            <p:nvPr/>
          </p:nvSpPr>
          <p:spPr bwMode="auto">
            <a:xfrm>
              <a:off x="3649" y="3300"/>
              <a:ext cx="494" cy="198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1" hangingPunct="1"/>
              <a:r>
                <a:rPr lang="en-GB" sz="1400" b="0">
                  <a:latin typeface="Arial" pitchFamily="-112" charset="0"/>
                </a:rPr>
                <a:t>Z</a:t>
              </a:r>
            </a:p>
          </p:txBody>
        </p:sp>
        <p:sp>
          <p:nvSpPr>
            <p:cNvPr id="526366" name="Line 68"/>
            <p:cNvSpPr>
              <a:spLocks noChangeShapeType="1"/>
            </p:cNvSpPr>
            <p:nvPr/>
          </p:nvSpPr>
          <p:spPr bwMode="auto">
            <a:xfrm flipH="1">
              <a:off x="4142" y="1147"/>
              <a:ext cx="876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367" name="Line 69"/>
            <p:cNvSpPr>
              <a:spLocks noChangeShapeType="1"/>
            </p:cNvSpPr>
            <p:nvPr/>
          </p:nvSpPr>
          <p:spPr bwMode="auto">
            <a:xfrm flipH="1" flipV="1">
              <a:off x="4136" y="1141"/>
              <a:ext cx="882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368" name="Line 70"/>
            <p:cNvSpPr>
              <a:spLocks noChangeShapeType="1"/>
            </p:cNvSpPr>
            <p:nvPr/>
          </p:nvSpPr>
          <p:spPr bwMode="auto">
            <a:xfrm flipH="1">
              <a:off x="4142" y="2135"/>
              <a:ext cx="878" cy="1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6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6F9CBC-E0DE-DD42-BA1C-7F43B62E2381}" type="slidenum">
              <a:rPr lang="en-US"/>
              <a:pPr>
                <a:defRPr/>
              </a:pPr>
              <a:t>4</a:t>
            </a:fld>
            <a:endParaRPr lang="en-US">
              <a:latin typeface="Garamond" pitchFamily="-112" charset="0"/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384800" y="1468438"/>
            <a:ext cx="1538288" cy="2211387"/>
            <a:chOff x="3014" y="925"/>
            <a:chExt cx="969" cy="1393"/>
          </a:xfrm>
        </p:grpSpPr>
        <p:sp>
          <p:nvSpPr>
            <p:cNvPr id="528438" name="Text Box 3"/>
            <p:cNvSpPr txBox="1">
              <a:spLocks noChangeArrowheads="1"/>
            </p:cNvSpPr>
            <p:nvPr/>
          </p:nvSpPr>
          <p:spPr bwMode="auto">
            <a:xfrm>
              <a:off x="3014" y="925"/>
              <a:ext cx="96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400" b="0">
                  <a:latin typeface="Arial" pitchFamily="-112" charset="0"/>
                </a:rPr>
                <a:t>Physical memory</a:t>
              </a:r>
            </a:p>
          </p:txBody>
        </p:sp>
        <p:sp>
          <p:nvSpPr>
            <p:cNvPr id="528439" name="Rectangle 4"/>
            <p:cNvSpPr>
              <a:spLocks noChangeArrowheads="1"/>
            </p:cNvSpPr>
            <p:nvPr/>
          </p:nvSpPr>
          <p:spPr bwMode="auto">
            <a:xfrm>
              <a:off x="3272" y="1154"/>
              <a:ext cx="492" cy="116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440" name="Rectangle 5"/>
            <p:cNvSpPr>
              <a:spLocks noChangeArrowheads="1"/>
            </p:cNvSpPr>
            <p:nvPr/>
          </p:nvSpPr>
          <p:spPr bwMode="auto">
            <a:xfrm>
              <a:off x="3262" y="1144"/>
              <a:ext cx="492" cy="1158"/>
            </a:xfrm>
            <a:prstGeom prst="rect">
              <a:avLst/>
            </a:prstGeom>
            <a:solidFill>
              <a:srgbClr val="E1E3E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441" name="Text Box 6"/>
            <p:cNvSpPr txBox="1">
              <a:spLocks noChangeArrowheads="1"/>
            </p:cNvSpPr>
            <p:nvPr/>
          </p:nvSpPr>
          <p:spPr bwMode="auto">
            <a:xfrm>
              <a:off x="3141" y="1081"/>
              <a:ext cx="16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0</a:t>
              </a:r>
            </a:p>
          </p:txBody>
        </p:sp>
        <p:sp>
          <p:nvSpPr>
            <p:cNvPr id="528442" name="Text Box 7"/>
            <p:cNvSpPr txBox="1">
              <a:spLocks noChangeArrowheads="1"/>
            </p:cNvSpPr>
            <p:nvPr/>
          </p:nvSpPr>
          <p:spPr bwMode="auto">
            <a:xfrm>
              <a:off x="3083" y="1284"/>
              <a:ext cx="21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4K</a:t>
              </a:r>
            </a:p>
          </p:txBody>
        </p:sp>
        <p:sp>
          <p:nvSpPr>
            <p:cNvPr id="528443" name="Text Box 8"/>
            <p:cNvSpPr txBox="1">
              <a:spLocks noChangeArrowheads="1"/>
            </p:cNvSpPr>
            <p:nvPr/>
          </p:nvSpPr>
          <p:spPr bwMode="auto">
            <a:xfrm>
              <a:off x="3083" y="1487"/>
              <a:ext cx="21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8K</a:t>
              </a:r>
            </a:p>
          </p:txBody>
        </p:sp>
        <p:sp>
          <p:nvSpPr>
            <p:cNvPr id="528444" name="Text Box 9"/>
            <p:cNvSpPr txBox="1">
              <a:spLocks noChangeArrowheads="1"/>
            </p:cNvSpPr>
            <p:nvPr/>
          </p:nvSpPr>
          <p:spPr bwMode="auto">
            <a:xfrm>
              <a:off x="3039" y="1690"/>
              <a:ext cx="26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12K</a:t>
              </a:r>
            </a:p>
          </p:txBody>
        </p:sp>
        <p:sp>
          <p:nvSpPr>
            <p:cNvPr id="528445" name="Text Box 10"/>
            <p:cNvSpPr txBox="1">
              <a:spLocks noChangeArrowheads="1"/>
            </p:cNvSpPr>
            <p:nvPr/>
          </p:nvSpPr>
          <p:spPr bwMode="auto">
            <a:xfrm>
              <a:off x="3039" y="1893"/>
              <a:ext cx="26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16K</a:t>
              </a:r>
            </a:p>
          </p:txBody>
        </p:sp>
        <p:sp>
          <p:nvSpPr>
            <p:cNvPr id="528446" name="Text Box 11"/>
            <p:cNvSpPr txBox="1">
              <a:spLocks noChangeArrowheads="1"/>
            </p:cNvSpPr>
            <p:nvPr/>
          </p:nvSpPr>
          <p:spPr bwMode="auto">
            <a:xfrm>
              <a:off x="3039" y="2097"/>
              <a:ext cx="26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latin typeface="Arial" pitchFamily="-112" charset="0"/>
                </a:rPr>
                <a:t>20K</a:t>
              </a:r>
            </a:p>
          </p:txBody>
        </p:sp>
      </p:grpSp>
      <p:sp>
        <p:nvSpPr>
          <p:cNvPr id="528389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Sharing memory using Virtual Aliases (Synonym)</a:t>
            </a:r>
          </a:p>
        </p:txBody>
      </p:sp>
      <p:sp>
        <p:nvSpPr>
          <p:cNvPr id="528390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323528" y="1219200"/>
            <a:ext cx="2818581" cy="5450160"/>
          </a:xfrm>
        </p:spPr>
        <p:txBody>
          <a:bodyPr/>
          <a:lstStyle/>
          <a:p>
            <a:pPr marL="182880" indent="-182880">
              <a:lnSpc>
                <a:spcPct val="110000"/>
              </a:lnSpc>
            </a:pPr>
            <a:r>
              <a:rPr lang="en-GB" sz="1400" dirty="0"/>
              <a:t>Process 1 and Process 2 want to share a page of memory</a:t>
            </a:r>
          </a:p>
          <a:p>
            <a:pPr marL="182880" indent="-182880">
              <a:lnSpc>
                <a:spcPct val="110000"/>
              </a:lnSpc>
            </a:pPr>
            <a:endParaRPr lang="en-GB" sz="1400" dirty="0"/>
          </a:p>
          <a:p>
            <a:pPr marL="182880" indent="-182880">
              <a:lnSpc>
                <a:spcPct val="110000"/>
              </a:lnSpc>
            </a:pPr>
            <a:r>
              <a:rPr lang="en-GB" sz="1400" dirty="0"/>
              <a:t>Process 1 maps virtual page A to physical page P</a:t>
            </a:r>
          </a:p>
          <a:p>
            <a:pPr marL="182880" indent="-182880">
              <a:lnSpc>
                <a:spcPct val="110000"/>
              </a:lnSpc>
            </a:pPr>
            <a:endParaRPr lang="en-GB" sz="1400" dirty="0"/>
          </a:p>
          <a:p>
            <a:pPr marL="182880" indent="-182880">
              <a:lnSpc>
                <a:spcPct val="110000"/>
              </a:lnSpc>
            </a:pPr>
            <a:r>
              <a:rPr lang="en-GB" sz="1400" dirty="0"/>
              <a:t>Process 2 maps virtual page Z to physical page P</a:t>
            </a:r>
          </a:p>
          <a:p>
            <a:pPr marL="182880" indent="-182880">
              <a:lnSpc>
                <a:spcPct val="110000"/>
              </a:lnSpc>
            </a:pPr>
            <a:endParaRPr lang="en-GB" sz="1400" dirty="0"/>
          </a:p>
          <a:p>
            <a:pPr marL="182880" indent="-182880">
              <a:lnSpc>
                <a:spcPct val="110000"/>
              </a:lnSpc>
            </a:pPr>
            <a:r>
              <a:rPr lang="en-GB" sz="1400" dirty="0"/>
              <a:t>Permissions can vary between the sharing processors.</a:t>
            </a:r>
          </a:p>
          <a:p>
            <a:pPr marL="182880" indent="-182880">
              <a:lnSpc>
                <a:spcPct val="110000"/>
              </a:lnSpc>
            </a:pPr>
            <a:endParaRPr lang="en-GB" sz="1400" dirty="0"/>
          </a:p>
          <a:p>
            <a:pPr marL="182880" indent="-182880">
              <a:lnSpc>
                <a:spcPct val="110000"/>
              </a:lnSpc>
            </a:pPr>
            <a:r>
              <a:rPr lang="en-GB" sz="1400" dirty="0"/>
              <a:t>Note: Process 1 can also map the same physical </a:t>
            </a:r>
            <a:br>
              <a:rPr lang="en-GB" sz="1400" dirty="0"/>
            </a:br>
            <a:r>
              <a:rPr lang="en-GB" sz="1400" dirty="0"/>
              <a:t>page at multiple virtual addresses !! </a:t>
            </a:r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5495925" y="3676650"/>
            <a:ext cx="1538288" cy="2336800"/>
            <a:chOff x="3084" y="2316"/>
            <a:chExt cx="969" cy="1472"/>
          </a:xfrm>
        </p:grpSpPr>
        <p:sp>
          <p:nvSpPr>
            <p:cNvPr id="528434" name="AutoShape 15"/>
            <p:cNvSpPr>
              <a:spLocks noChangeArrowheads="1"/>
            </p:cNvSpPr>
            <p:nvPr/>
          </p:nvSpPr>
          <p:spPr bwMode="auto">
            <a:xfrm>
              <a:off x="3084" y="2784"/>
              <a:ext cx="852" cy="798"/>
            </a:xfrm>
            <a:prstGeom prst="flowChartMagneticDisk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435" name="Text Box 16"/>
            <p:cNvSpPr txBox="1">
              <a:spLocks noChangeArrowheads="1"/>
            </p:cNvSpPr>
            <p:nvPr/>
          </p:nvSpPr>
          <p:spPr bwMode="auto">
            <a:xfrm>
              <a:off x="3122" y="3557"/>
              <a:ext cx="7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800" b="0">
                  <a:latin typeface="Arial" pitchFamily="-112" charset="0"/>
                </a:rPr>
                <a:t>Swap disk</a:t>
              </a:r>
            </a:p>
          </p:txBody>
        </p:sp>
        <p:sp>
          <p:nvSpPr>
            <p:cNvPr id="528436" name="Line 17"/>
            <p:cNvSpPr>
              <a:spLocks noChangeShapeType="1"/>
            </p:cNvSpPr>
            <p:nvPr/>
          </p:nvSpPr>
          <p:spPr bwMode="auto">
            <a:xfrm flipV="1">
              <a:off x="3516" y="2316"/>
              <a:ext cx="6" cy="46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437" name="Text Box 18"/>
            <p:cNvSpPr txBox="1">
              <a:spLocks noChangeArrowheads="1"/>
            </p:cNvSpPr>
            <p:nvPr/>
          </p:nvSpPr>
          <p:spPr bwMode="auto">
            <a:xfrm>
              <a:off x="3494" y="2433"/>
              <a:ext cx="55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200">
                  <a:latin typeface="Arial" pitchFamily="-112" charset="0"/>
                </a:rPr>
                <a:t>page</a:t>
              </a:r>
            </a:p>
            <a:p>
              <a:pPr eaLnBrk="1" hangingPunct="1"/>
              <a:r>
                <a:rPr lang="en-GB" sz="1200">
                  <a:latin typeface="Arial" pitchFamily="-112" charset="0"/>
                </a:rPr>
                <a:t>swapping</a:t>
              </a:r>
            </a:p>
          </p:txBody>
        </p:sp>
      </p:grpSp>
      <p:sp>
        <p:nvSpPr>
          <p:cNvPr id="528392" name="Rectangle 22"/>
          <p:cNvSpPr>
            <a:spLocks noChangeArrowheads="1"/>
          </p:cNvSpPr>
          <p:nvPr/>
        </p:nvSpPr>
        <p:spPr bwMode="auto">
          <a:xfrm>
            <a:off x="3549650" y="1854200"/>
            <a:ext cx="781050" cy="3305175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8393" name="Rectangle 23"/>
          <p:cNvSpPr>
            <a:spLocks noChangeArrowheads="1"/>
          </p:cNvSpPr>
          <p:nvPr/>
        </p:nvSpPr>
        <p:spPr bwMode="auto">
          <a:xfrm>
            <a:off x="3524250" y="1828800"/>
            <a:ext cx="781050" cy="3305175"/>
          </a:xfrm>
          <a:prstGeom prst="rect">
            <a:avLst/>
          </a:prstGeom>
          <a:solidFill>
            <a:srgbClr val="E1E3E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8394" name="Text Box 24"/>
          <p:cNvSpPr txBox="1">
            <a:spLocks noChangeArrowheads="1"/>
          </p:cNvSpPr>
          <p:nvPr/>
        </p:nvSpPr>
        <p:spPr bwMode="auto">
          <a:xfrm>
            <a:off x="3525838" y="1830388"/>
            <a:ext cx="779462" cy="314325"/>
          </a:xfrm>
          <a:prstGeom prst="rect">
            <a:avLst/>
          </a:prstGeom>
          <a:solidFill>
            <a:srgbClr val="F5F9A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GB" sz="1400" b="0">
                <a:latin typeface="Arial" pitchFamily="-112" charset="0"/>
              </a:rPr>
              <a:t>A</a:t>
            </a:r>
          </a:p>
        </p:txBody>
      </p:sp>
      <p:sp>
        <p:nvSpPr>
          <p:cNvPr id="528395" name="Text Box 25"/>
          <p:cNvSpPr txBox="1">
            <a:spLocks noChangeArrowheads="1"/>
          </p:cNvSpPr>
          <p:nvPr/>
        </p:nvSpPr>
        <p:spPr bwMode="auto">
          <a:xfrm>
            <a:off x="3525838" y="2144713"/>
            <a:ext cx="779462" cy="314325"/>
          </a:xfrm>
          <a:prstGeom prst="rect">
            <a:avLst/>
          </a:prstGeom>
          <a:solidFill>
            <a:srgbClr val="F5F9A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GB" sz="1400" b="0">
                <a:latin typeface="Arial" pitchFamily="-112" charset="0"/>
              </a:rPr>
              <a:t>B</a:t>
            </a:r>
          </a:p>
        </p:txBody>
      </p:sp>
      <p:sp>
        <p:nvSpPr>
          <p:cNvPr id="528396" name="Text Box 26"/>
          <p:cNvSpPr txBox="1">
            <a:spLocks noChangeArrowheads="1"/>
          </p:cNvSpPr>
          <p:nvPr/>
        </p:nvSpPr>
        <p:spPr bwMode="auto">
          <a:xfrm>
            <a:off x="3525838" y="3395663"/>
            <a:ext cx="777875" cy="314325"/>
          </a:xfrm>
          <a:prstGeom prst="rect">
            <a:avLst/>
          </a:prstGeom>
          <a:solidFill>
            <a:srgbClr val="F5F9A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GB" sz="1400" b="0">
                <a:latin typeface="Arial" pitchFamily="-112" charset="0"/>
              </a:rPr>
              <a:t>C</a:t>
            </a:r>
          </a:p>
        </p:txBody>
      </p:sp>
      <p:sp>
        <p:nvSpPr>
          <p:cNvPr id="528397" name="Text Box 28"/>
          <p:cNvSpPr txBox="1">
            <a:spLocks noChangeArrowheads="1"/>
          </p:cNvSpPr>
          <p:nvPr/>
        </p:nvSpPr>
        <p:spPr bwMode="auto">
          <a:xfrm>
            <a:off x="3246438" y="1303338"/>
            <a:ext cx="1379537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GB" sz="1400" b="0">
                <a:latin typeface="Arial" pitchFamily="-112" charset="0"/>
              </a:rPr>
              <a:t>Virtual memory</a:t>
            </a:r>
          </a:p>
          <a:p>
            <a:pPr algn="ctr" eaLnBrk="1" hangingPunct="1"/>
            <a:r>
              <a:rPr lang="en-GB" sz="1400" b="0">
                <a:latin typeface="Arial" pitchFamily="-112" charset="0"/>
              </a:rPr>
              <a:t>(process 1)</a:t>
            </a:r>
          </a:p>
        </p:txBody>
      </p:sp>
      <p:sp>
        <p:nvSpPr>
          <p:cNvPr id="528398" name="Text Box 29"/>
          <p:cNvSpPr txBox="1">
            <a:spLocks noChangeArrowheads="1"/>
          </p:cNvSpPr>
          <p:nvPr/>
        </p:nvSpPr>
        <p:spPr bwMode="auto">
          <a:xfrm>
            <a:off x="3344863" y="1722438"/>
            <a:ext cx="254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0</a:t>
            </a:r>
          </a:p>
        </p:txBody>
      </p:sp>
      <p:sp>
        <p:nvSpPr>
          <p:cNvPr id="528399" name="Text Box 30"/>
          <p:cNvSpPr txBox="1">
            <a:spLocks noChangeArrowheads="1"/>
          </p:cNvSpPr>
          <p:nvPr/>
        </p:nvSpPr>
        <p:spPr bwMode="auto">
          <a:xfrm>
            <a:off x="3252788" y="2044700"/>
            <a:ext cx="346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4K</a:t>
            </a:r>
          </a:p>
        </p:txBody>
      </p:sp>
      <p:sp>
        <p:nvSpPr>
          <p:cNvPr id="528400" name="Text Box 31"/>
          <p:cNvSpPr txBox="1">
            <a:spLocks noChangeArrowheads="1"/>
          </p:cNvSpPr>
          <p:nvPr/>
        </p:nvSpPr>
        <p:spPr bwMode="auto">
          <a:xfrm>
            <a:off x="3252788" y="2366963"/>
            <a:ext cx="346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8K</a:t>
            </a:r>
          </a:p>
        </p:txBody>
      </p:sp>
      <p:sp>
        <p:nvSpPr>
          <p:cNvPr id="528401" name="Text Box 32"/>
          <p:cNvSpPr txBox="1">
            <a:spLocks noChangeArrowheads="1"/>
          </p:cNvSpPr>
          <p:nvPr/>
        </p:nvSpPr>
        <p:spPr bwMode="auto">
          <a:xfrm>
            <a:off x="3182938" y="2689225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12K</a:t>
            </a:r>
          </a:p>
        </p:txBody>
      </p:sp>
      <p:sp>
        <p:nvSpPr>
          <p:cNvPr id="528402" name="Text Box 33"/>
          <p:cNvSpPr txBox="1">
            <a:spLocks noChangeArrowheads="1"/>
          </p:cNvSpPr>
          <p:nvPr/>
        </p:nvSpPr>
        <p:spPr bwMode="auto">
          <a:xfrm>
            <a:off x="3182938" y="3011488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16K</a:t>
            </a:r>
          </a:p>
        </p:txBody>
      </p:sp>
      <p:sp>
        <p:nvSpPr>
          <p:cNvPr id="528403" name="Text Box 34"/>
          <p:cNvSpPr txBox="1">
            <a:spLocks noChangeArrowheads="1"/>
          </p:cNvSpPr>
          <p:nvPr/>
        </p:nvSpPr>
        <p:spPr bwMode="auto">
          <a:xfrm>
            <a:off x="3182938" y="3335338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20K</a:t>
            </a:r>
          </a:p>
        </p:txBody>
      </p:sp>
      <p:sp>
        <p:nvSpPr>
          <p:cNvPr id="528404" name="Text Box 35"/>
          <p:cNvSpPr txBox="1">
            <a:spLocks noChangeArrowheads="1"/>
          </p:cNvSpPr>
          <p:nvPr/>
        </p:nvSpPr>
        <p:spPr bwMode="auto">
          <a:xfrm>
            <a:off x="3182938" y="3640138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24K</a:t>
            </a:r>
          </a:p>
        </p:txBody>
      </p:sp>
      <p:sp>
        <p:nvSpPr>
          <p:cNvPr id="528405" name="Text Box 36"/>
          <p:cNvSpPr txBox="1">
            <a:spLocks noChangeArrowheads="1"/>
          </p:cNvSpPr>
          <p:nvPr/>
        </p:nvSpPr>
        <p:spPr bwMode="auto">
          <a:xfrm>
            <a:off x="3182938" y="3962400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28K</a:t>
            </a:r>
          </a:p>
        </p:txBody>
      </p:sp>
      <p:sp>
        <p:nvSpPr>
          <p:cNvPr id="528406" name="Text Box 37"/>
          <p:cNvSpPr txBox="1">
            <a:spLocks noChangeArrowheads="1"/>
          </p:cNvSpPr>
          <p:nvPr/>
        </p:nvSpPr>
        <p:spPr bwMode="auto">
          <a:xfrm>
            <a:off x="3182938" y="4284663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32K</a:t>
            </a:r>
          </a:p>
        </p:txBody>
      </p:sp>
      <p:sp>
        <p:nvSpPr>
          <p:cNvPr id="528407" name="Text Box 38"/>
          <p:cNvSpPr txBox="1">
            <a:spLocks noChangeArrowheads="1"/>
          </p:cNvSpPr>
          <p:nvPr/>
        </p:nvSpPr>
        <p:spPr bwMode="auto">
          <a:xfrm>
            <a:off x="3182938" y="4608513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36K</a:t>
            </a:r>
          </a:p>
        </p:txBody>
      </p:sp>
      <p:sp>
        <p:nvSpPr>
          <p:cNvPr id="528408" name="Text Box 39"/>
          <p:cNvSpPr txBox="1">
            <a:spLocks noChangeArrowheads="1"/>
          </p:cNvSpPr>
          <p:nvPr/>
        </p:nvSpPr>
        <p:spPr bwMode="auto">
          <a:xfrm>
            <a:off x="3182938" y="4948238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36K</a:t>
            </a:r>
          </a:p>
        </p:txBody>
      </p:sp>
      <p:sp>
        <p:nvSpPr>
          <p:cNvPr id="528409" name="Line 40"/>
          <p:cNvSpPr>
            <a:spLocks noChangeShapeType="1"/>
          </p:cNvSpPr>
          <p:nvPr/>
        </p:nvSpPr>
        <p:spPr bwMode="auto">
          <a:xfrm>
            <a:off x="4300538" y="1830388"/>
            <a:ext cx="1490662" cy="684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8410" name="Line 41"/>
          <p:cNvSpPr>
            <a:spLocks noChangeShapeType="1"/>
          </p:cNvSpPr>
          <p:nvPr/>
        </p:nvSpPr>
        <p:spPr bwMode="auto">
          <a:xfrm>
            <a:off x="4302125" y="2141538"/>
            <a:ext cx="1489075" cy="906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8411" name="Line 42"/>
          <p:cNvSpPr>
            <a:spLocks noChangeShapeType="1"/>
          </p:cNvSpPr>
          <p:nvPr/>
        </p:nvSpPr>
        <p:spPr bwMode="auto">
          <a:xfrm flipV="1">
            <a:off x="4305300" y="3048000"/>
            <a:ext cx="1485900" cy="352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8412" name="Text Box 44"/>
          <p:cNvSpPr txBox="1">
            <a:spLocks noChangeArrowheads="1"/>
          </p:cNvSpPr>
          <p:nvPr/>
        </p:nvSpPr>
        <p:spPr bwMode="auto">
          <a:xfrm>
            <a:off x="5780088" y="2505075"/>
            <a:ext cx="779462" cy="314325"/>
          </a:xfrm>
          <a:prstGeom prst="rect">
            <a:avLst/>
          </a:prstGeom>
          <a:solidFill>
            <a:srgbClr val="33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GB" sz="1400" b="0">
                <a:latin typeface="Arial" pitchFamily="-112" charset="0"/>
              </a:rPr>
              <a:t>P</a:t>
            </a:r>
          </a:p>
        </p:txBody>
      </p:sp>
      <p:sp>
        <p:nvSpPr>
          <p:cNvPr id="528413" name="Text Box 45"/>
          <p:cNvSpPr txBox="1">
            <a:spLocks noChangeArrowheads="1"/>
          </p:cNvSpPr>
          <p:nvPr/>
        </p:nvSpPr>
        <p:spPr bwMode="auto">
          <a:xfrm>
            <a:off x="5780088" y="3040063"/>
            <a:ext cx="779462" cy="31432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GB" sz="1400" b="0">
                <a:latin typeface="Arial" pitchFamily="-112" charset="0"/>
              </a:rPr>
              <a:t>Q</a:t>
            </a:r>
          </a:p>
        </p:txBody>
      </p:sp>
      <p:sp>
        <p:nvSpPr>
          <p:cNvPr id="528414" name="Rectangle 50"/>
          <p:cNvSpPr>
            <a:spLocks noChangeArrowheads="1"/>
          </p:cNvSpPr>
          <p:nvPr/>
        </p:nvSpPr>
        <p:spPr bwMode="auto">
          <a:xfrm>
            <a:off x="7988300" y="1854200"/>
            <a:ext cx="781050" cy="3305175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8415" name="Rectangle 51"/>
          <p:cNvSpPr>
            <a:spLocks noChangeArrowheads="1"/>
          </p:cNvSpPr>
          <p:nvPr/>
        </p:nvSpPr>
        <p:spPr bwMode="auto">
          <a:xfrm>
            <a:off x="7972425" y="1828800"/>
            <a:ext cx="781050" cy="3305175"/>
          </a:xfrm>
          <a:prstGeom prst="rect">
            <a:avLst/>
          </a:prstGeom>
          <a:solidFill>
            <a:srgbClr val="E1E3E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8416" name="Text Box 54"/>
          <p:cNvSpPr txBox="1">
            <a:spLocks noChangeArrowheads="1"/>
          </p:cNvSpPr>
          <p:nvPr/>
        </p:nvSpPr>
        <p:spPr bwMode="auto">
          <a:xfrm>
            <a:off x="7972425" y="3395663"/>
            <a:ext cx="779463" cy="314325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GB" sz="1400" b="0">
                <a:latin typeface="Arial" pitchFamily="-112" charset="0"/>
              </a:rPr>
              <a:t>Z</a:t>
            </a:r>
          </a:p>
        </p:txBody>
      </p:sp>
      <p:sp>
        <p:nvSpPr>
          <p:cNvPr id="528417" name="Text Box 55"/>
          <p:cNvSpPr txBox="1">
            <a:spLocks noChangeArrowheads="1"/>
          </p:cNvSpPr>
          <p:nvPr/>
        </p:nvSpPr>
        <p:spPr bwMode="auto">
          <a:xfrm>
            <a:off x="7685088" y="1303338"/>
            <a:ext cx="1379537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GB" sz="1400" b="0">
                <a:latin typeface="Arial" pitchFamily="-112" charset="0"/>
              </a:rPr>
              <a:t>Virtual memory</a:t>
            </a:r>
          </a:p>
          <a:p>
            <a:pPr algn="ctr" eaLnBrk="1" hangingPunct="1"/>
            <a:r>
              <a:rPr lang="en-GB" sz="1400" b="0">
                <a:latin typeface="Arial" pitchFamily="-112" charset="0"/>
              </a:rPr>
              <a:t>(process 2)</a:t>
            </a:r>
          </a:p>
        </p:txBody>
      </p:sp>
      <p:sp>
        <p:nvSpPr>
          <p:cNvPr id="528418" name="Text Box 56"/>
          <p:cNvSpPr txBox="1">
            <a:spLocks noChangeArrowheads="1"/>
          </p:cNvSpPr>
          <p:nvPr/>
        </p:nvSpPr>
        <p:spPr bwMode="auto">
          <a:xfrm>
            <a:off x="7783513" y="1722438"/>
            <a:ext cx="254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0</a:t>
            </a:r>
          </a:p>
        </p:txBody>
      </p:sp>
      <p:sp>
        <p:nvSpPr>
          <p:cNvPr id="528419" name="Text Box 57"/>
          <p:cNvSpPr txBox="1">
            <a:spLocks noChangeArrowheads="1"/>
          </p:cNvSpPr>
          <p:nvPr/>
        </p:nvSpPr>
        <p:spPr bwMode="auto">
          <a:xfrm>
            <a:off x="7691438" y="2044700"/>
            <a:ext cx="346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4K</a:t>
            </a:r>
          </a:p>
        </p:txBody>
      </p:sp>
      <p:sp>
        <p:nvSpPr>
          <p:cNvPr id="528420" name="Text Box 58"/>
          <p:cNvSpPr txBox="1">
            <a:spLocks noChangeArrowheads="1"/>
          </p:cNvSpPr>
          <p:nvPr/>
        </p:nvSpPr>
        <p:spPr bwMode="auto">
          <a:xfrm>
            <a:off x="7691438" y="2366963"/>
            <a:ext cx="3460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8K</a:t>
            </a:r>
          </a:p>
        </p:txBody>
      </p:sp>
      <p:sp>
        <p:nvSpPr>
          <p:cNvPr id="528421" name="Text Box 59"/>
          <p:cNvSpPr txBox="1">
            <a:spLocks noChangeArrowheads="1"/>
          </p:cNvSpPr>
          <p:nvPr/>
        </p:nvSpPr>
        <p:spPr bwMode="auto">
          <a:xfrm>
            <a:off x="7621588" y="2689225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12K</a:t>
            </a:r>
          </a:p>
        </p:txBody>
      </p:sp>
      <p:sp>
        <p:nvSpPr>
          <p:cNvPr id="528422" name="Text Box 60"/>
          <p:cNvSpPr txBox="1">
            <a:spLocks noChangeArrowheads="1"/>
          </p:cNvSpPr>
          <p:nvPr/>
        </p:nvSpPr>
        <p:spPr bwMode="auto">
          <a:xfrm>
            <a:off x="7621588" y="3011488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16K</a:t>
            </a:r>
          </a:p>
        </p:txBody>
      </p:sp>
      <p:sp>
        <p:nvSpPr>
          <p:cNvPr id="528423" name="Text Box 61"/>
          <p:cNvSpPr txBox="1">
            <a:spLocks noChangeArrowheads="1"/>
          </p:cNvSpPr>
          <p:nvPr/>
        </p:nvSpPr>
        <p:spPr bwMode="auto">
          <a:xfrm>
            <a:off x="7621588" y="3335338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20K</a:t>
            </a:r>
          </a:p>
        </p:txBody>
      </p:sp>
      <p:sp>
        <p:nvSpPr>
          <p:cNvPr id="528424" name="Text Box 62"/>
          <p:cNvSpPr txBox="1">
            <a:spLocks noChangeArrowheads="1"/>
          </p:cNvSpPr>
          <p:nvPr/>
        </p:nvSpPr>
        <p:spPr bwMode="auto">
          <a:xfrm>
            <a:off x="7621588" y="3640138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24K</a:t>
            </a:r>
          </a:p>
        </p:txBody>
      </p:sp>
      <p:sp>
        <p:nvSpPr>
          <p:cNvPr id="528425" name="Text Box 63"/>
          <p:cNvSpPr txBox="1">
            <a:spLocks noChangeArrowheads="1"/>
          </p:cNvSpPr>
          <p:nvPr/>
        </p:nvSpPr>
        <p:spPr bwMode="auto">
          <a:xfrm>
            <a:off x="7621588" y="3962400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28K</a:t>
            </a:r>
          </a:p>
        </p:txBody>
      </p:sp>
      <p:sp>
        <p:nvSpPr>
          <p:cNvPr id="528426" name="Text Box 64"/>
          <p:cNvSpPr txBox="1">
            <a:spLocks noChangeArrowheads="1"/>
          </p:cNvSpPr>
          <p:nvPr/>
        </p:nvSpPr>
        <p:spPr bwMode="auto">
          <a:xfrm>
            <a:off x="7621588" y="4284663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32K</a:t>
            </a:r>
          </a:p>
        </p:txBody>
      </p:sp>
      <p:sp>
        <p:nvSpPr>
          <p:cNvPr id="528427" name="Text Box 65"/>
          <p:cNvSpPr txBox="1">
            <a:spLocks noChangeArrowheads="1"/>
          </p:cNvSpPr>
          <p:nvPr/>
        </p:nvSpPr>
        <p:spPr bwMode="auto">
          <a:xfrm>
            <a:off x="7621588" y="4608513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36K</a:t>
            </a:r>
          </a:p>
        </p:txBody>
      </p:sp>
      <p:sp>
        <p:nvSpPr>
          <p:cNvPr id="528428" name="Text Box 66"/>
          <p:cNvSpPr txBox="1">
            <a:spLocks noChangeArrowheads="1"/>
          </p:cNvSpPr>
          <p:nvPr/>
        </p:nvSpPr>
        <p:spPr bwMode="auto">
          <a:xfrm>
            <a:off x="7621588" y="4948238"/>
            <a:ext cx="4175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36K</a:t>
            </a:r>
          </a:p>
        </p:txBody>
      </p:sp>
      <p:sp>
        <p:nvSpPr>
          <p:cNvPr id="528429" name="Line 70"/>
          <p:cNvSpPr>
            <a:spLocks noChangeShapeType="1"/>
          </p:cNvSpPr>
          <p:nvPr/>
        </p:nvSpPr>
        <p:spPr bwMode="auto">
          <a:xfrm flipH="1" flipV="1">
            <a:off x="6553200" y="2514600"/>
            <a:ext cx="1416050" cy="882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8430" name="Text Box 71"/>
          <p:cNvSpPr txBox="1">
            <a:spLocks noChangeArrowheads="1"/>
          </p:cNvSpPr>
          <p:nvPr/>
        </p:nvSpPr>
        <p:spPr bwMode="auto">
          <a:xfrm>
            <a:off x="3352800" y="5562600"/>
            <a:ext cx="779463" cy="314325"/>
          </a:xfrm>
          <a:prstGeom prst="rect">
            <a:avLst/>
          </a:prstGeom>
          <a:solidFill>
            <a:srgbClr val="33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GB" sz="1400" b="0">
                <a:latin typeface="Arial" pitchFamily="-112" charset="0"/>
              </a:rPr>
              <a:t>P</a:t>
            </a:r>
          </a:p>
        </p:txBody>
      </p:sp>
      <p:sp>
        <p:nvSpPr>
          <p:cNvPr id="528431" name="Rectangle 72"/>
          <p:cNvSpPr>
            <a:spLocks noChangeArrowheads="1"/>
          </p:cNvSpPr>
          <p:nvPr/>
        </p:nvSpPr>
        <p:spPr bwMode="auto">
          <a:xfrm>
            <a:off x="4114800" y="5592763"/>
            <a:ext cx="1095375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200" b="0">
                <a:latin typeface="Geneva" pitchFamily="-112" charset="0"/>
              </a:rPr>
              <a:t>Shared page</a:t>
            </a:r>
            <a:endParaRPr lang="en-US" sz="1200" b="0">
              <a:latin typeface="Geneva" pitchFamily="-112" charset="0"/>
            </a:endParaRPr>
          </a:p>
        </p:txBody>
      </p:sp>
      <p:sp>
        <p:nvSpPr>
          <p:cNvPr id="528432" name="Text Box 73"/>
          <p:cNvSpPr txBox="1">
            <a:spLocks noChangeArrowheads="1"/>
          </p:cNvSpPr>
          <p:nvPr/>
        </p:nvSpPr>
        <p:spPr bwMode="auto">
          <a:xfrm>
            <a:off x="3352800" y="6096000"/>
            <a:ext cx="779463" cy="31432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GB" sz="1400" b="0" dirty="0">
                <a:latin typeface="Arial" pitchFamily="-112" charset="0"/>
              </a:rPr>
              <a:t>Q</a:t>
            </a:r>
          </a:p>
        </p:txBody>
      </p:sp>
      <p:sp>
        <p:nvSpPr>
          <p:cNvPr id="528433" name="Rectangle 74"/>
          <p:cNvSpPr>
            <a:spLocks noChangeArrowheads="1"/>
          </p:cNvSpPr>
          <p:nvPr/>
        </p:nvSpPr>
        <p:spPr bwMode="auto">
          <a:xfrm>
            <a:off x="4114800" y="6126163"/>
            <a:ext cx="2135188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200" b="0">
                <a:latin typeface="Geneva" pitchFamily="-112" charset="0"/>
              </a:rPr>
              <a:t>Aliased within one process</a:t>
            </a:r>
            <a:endParaRPr lang="en-US" sz="1200" b="0">
              <a:latin typeface="Geneva" pitchFamily="-11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4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57BDE32-47AB-6247-8F36-1A9E8025ABE6}" type="slidenum">
              <a:rPr lang="en-US"/>
              <a:pPr>
                <a:defRPr/>
              </a:pPr>
              <a:t>5</a:t>
            </a:fld>
            <a:endParaRPr lang="en-US">
              <a:latin typeface="Garamond" pitchFamily="-112" charset="0"/>
            </a:endParaRPr>
          </a:p>
        </p:txBody>
      </p:sp>
      <p:sp>
        <p:nvSpPr>
          <p:cNvPr id="530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Virtual Memory Parameters</a:t>
            </a:r>
            <a:endParaRPr lang="en-US" sz="1000" dirty="0"/>
          </a:p>
        </p:txBody>
      </p:sp>
      <p:sp>
        <p:nvSpPr>
          <p:cNvPr id="530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4437112"/>
            <a:ext cx="8178800" cy="1066800"/>
          </a:xfrm>
          <a:noFill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800" dirty="0"/>
              <a:t>Modern OS’s support several page sizes for flexibility. On Linux:</a:t>
            </a:r>
          </a:p>
          <a:p>
            <a:pPr lvl="1">
              <a:lnSpc>
                <a:spcPct val="80000"/>
              </a:lnSpc>
            </a:pPr>
            <a:r>
              <a:rPr lang="en-US" sz="1600" dirty="0"/>
              <a:t>Normal pages: 4KB</a:t>
            </a:r>
          </a:p>
          <a:p>
            <a:pPr lvl="1">
              <a:lnSpc>
                <a:spcPct val="80000"/>
              </a:lnSpc>
            </a:pPr>
            <a:r>
              <a:rPr lang="en-US" sz="1600" dirty="0"/>
              <a:t>Huge pages: 2MB or 1GB</a:t>
            </a:r>
          </a:p>
          <a:p>
            <a:pPr lvl="1">
              <a:lnSpc>
                <a:spcPct val="80000"/>
              </a:lnSpc>
            </a:pPr>
            <a:endParaRPr lang="en-US" sz="1400" dirty="0"/>
          </a:p>
          <a:p>
            <a:pPr>
              <a:lnSpc>
                <a:spcPct val="80000"/>
              </a:lnSpc>
            </a:pPr>
            <a:r>
              <a:rPr lang="en-US" sz="1800" dirty="0"/>
              <a:t>Virtual Memory miss is called a </a:t>
            </a:r>
            <a:r>
              <a:rPr lang="en-US" sz="1800" dirty="0">
                <a:solidFill>
                  <a:srgbClr val="FF0000"/>
                </a:solidFill>
              </a:rPr>
              <a:t>page fault</a:t>
            </a:r>
            <a:endParaRPr lang="en-US" sz="1800" u="sng" dirty="0">
              <a:solidFill>
                <a:srgbClr val="FF0000"/>
              </a:solidFill>
            </a:endParaRPr>
          </a:p>
        </p:txBody>
      </p:sp>
      <p:sp>
        <p:nvSpPr>
          <p:cNvPr id="530438" name="Text Box 4"/>
          <p:cNvSpPr txBox="1">
            <a:spLocks noChangeArrowheads="1"/>
          </p:cNvSpPr>
          <p:nvPr/>
        </p:nvSpPr>
        <p:spPr bwMode="auto">
          <a:xfrm>
            <a:off x="7452320" y="3496589"/>
            <a:ext cx="1009812" cy="58477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600" dirty="0"/>
              <a:t>H&amp;P 5/e</a:t>
            </a:r>
          </a:p>
          <a:p>
            <a:pPr algn="ctr"/>
            <a:r>
              <a:rPr lang="en-GB" sz="1600" dirty="0"/>
              <a:t>Fig. B.20</a:t>
            </a:r>
          </a:p>
        </p:txBody>
      </p:sp>
      <p:graphicFrame>
        <p:nvGraphicFramePr>
          <p:cNvPr id="1456133" name="Group 5"/>
          <p:cNvGraphicFramePr>
            <a:graphicFrameLocks noGrp="1"/>
          </p:cNvGraphicFramePr>
          <p:nvPr/>
        </p:nvGraphicFramePr>
        <p:xfrm>
          <a:off x="1216496" y="1340768"/>
          <a:ext cx="6019800" cy="2668589"/>
        </p:xfrm>
        <a:graphic>
          <a:graphicData uri="http://schemas.openxmlformats.org/drawingml/2006/table">
            <a:tbl>
              <a:tblPr/>
              <a:tblGrid>
                <a:gridCol w="1611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2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parameter 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L1 cache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memory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Size</a:t>
                      </a:r>
                    </a:p>
                  </a:txBody>
                  <a:tcPr anchor="b" horzOverflow="overflow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4KB-64KB</a:t>
                      </a: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128MB-1TB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block/page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16-128 bytes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4KB-4GB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hit time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1-3 cycles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100-300 cycles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miss penalty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8-300 cycles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1M-10M cycles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miss rate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0.1-10%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-112" charset="0"/>
                          <a:ea typeface="Arial" pitchFamily="-112" charset="0"/>
                          <a:cs typeface="Arial" pitchFamily="-112" charset="0"/>
                        </a:rPr>
                        <a:t>0.00001-0.001%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12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C96B20-54D0-3542-8ED1-382BFB41935E}" type="slidenum">
              <a:rPr lang="en-US"/>
              <a:pPr>
                <a:defRPr/>
              </a:pPr>
              <a:t>6</a:t>
            </a:fld>
            <a:endParaRPr lang="en-US">
              <a:latin typeface="Garamond" pitchFamily="-112" charset="0"/>
            </a:endParaRPr>
          </a:p>
        </p:txBody>
      </p:sp>
      <p:sp>
        <p:nvSpPr>
          <p:cNvPr id="536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 Memory Policies</a:t>
            </a:r>
            <a:endParaRPr lang="en-US" sz="2000"/>
          </a:p>
        </p:txBody>
      </p:sp>
      <p:sp>
        <p:nvSpPr>
          <p:cNvPr id="5365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34363" cy="5166320"/>
          </a:xfrm>
        </p:spPr>
        <p:txBody>
          <a:bodyPr/>
          <a:lstStyle/>
          <a:p>
            <a:r>
              <a:rPr lang="en-US" sz="2000" dirty="0"/>
              <a:t>Block identification: finding the correct page frame</a:t>
            </a:r>
          </a:p>
          <a:p>
            <a:pPr lvl="1">
              <a:lnSpc>
                <a:spcPct val="120000"/>
              </a:lnSpc>
            </a:pPr>
            <a:r>
              <a:rPr lang="en-US" sz="1800" dirty="0"/>
              <a:t>Assigning tags to memory page frames and comparing tags is impractical (but variant of this method is used as we’ll see later)</a:t>
            </a:r>
          </a:p>
          <a:p>
            <a:pPr lvl="1">
              <a:lnSpc>
                <a:spcPct val="120000"/>
              </a:lnSpc>
            </a:pPr>
            <a:r>
              <a:rPr lang="en-US" sz="1800" dirty="0"/>
              <a:t>OS maintains a table that maps all virtual pages to physical page frames: </a:t>
            </a:r>
            <a:r>
              <a:rPr lang="en-US" sz="1800" b="1" dirty="0">
                <a:solidFill>
                  <a:srgbClr val="FF0000"/>
                </a:solidFill>
              </a:rPr>
              <a:t>Page Table (PT)</a:t>
            </a:r>
          </a:p>
          <a:p>
            <a:pPr lvl="1">
              <a:lnSpc>
                <a:spcPct val="120000"/>
              </a:lnSpc>
            </a:pPr>
            <a:r>
              <a:rPr lang="en-US" sz="1800" dirty="0"/>
              <a:t>The OS updates the PT with a new mapping whenever it allocates a page frame to a virtual page</a:t>
            </a:r>
          </a:p>
          <a:p>
            <a:pPr lvl="1">
              <a:lnSpc>
                <a:spcPct val="120000"/>
              </a:lnSpc>
            </a:pPr>
            <a:r>
              <a:rPr lang="en-US" sz="1800" dirty="0"/>
              <a:t>PT is accessed on a memory request to translate virtual to physical address </a:t>
            </a:r>
            <a:r>
              <a:rPr lang="en-US" sz="1800" dirty="0">
                <a:sym typeface="Symbol" pitchFamily="-112" charset="2"/>
              </a:rPr>
              <a:t> inefficient! </a:t>
            </a:r>
          </a:p>
          <a:p>
            <a:pPr lvl="2">
              <a:lnSpc>
                <a:spcPct val="120000"/>
              </a:lnSpc>
            </a:pPr>
            <a:r>
              <a:rPr lang="en-US" sz="1600" dirty="0">
                <a:sym typeface="Symbol" pitchFamily="-112" charset="2"/>
              </a:rPr>
              <a:t>Solution: cache translations (TLB)</a:t>
            </a:r>
            <a:endParaRPr lang="en-US" sz="1600" u="sng" dirty="0">
              <a:sym typeface="Symbol" pitchFamily="-112" charset="2"/>
            </a:endParaRPr>
          </a:p>
          <a:p>
            <a:pPr lvl="1">
              <a:lnSpc>
                <a:spcPct val="120000"/>
              </a:lnSpc>
            </a:pPr>
            <a:r>
              <a:rPr lang="en-US" sz="1800" dirty="0">
                <a:sym typeface="Symbol" pitchFamily="-112" charset="2"/>
              </a:rPr>
              <a:t>One PT per process and one for the OS</a:t>
            </a:r>
          </a:p>
        </p:txBody>
      </p:sp>
    </p:spTree>
    <p:extLst>
      <p:ext uri="{BB962C8B-B14F-4D97-AF65-F5344CB8AC3E}">
        <p14:creationId xmlns:p14="http://schemas.microsoft.com/office/powerpoint/2010/main" val="337668437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2293831-B2EC-1444-B893-6D4F7EDAE0D7}" type="slidenum">
              <a:rPr lang="en-US"/>
              <a:pPr>
                <a:defRPr/>
              </a:pPr>
              <a:t>7</a:t>
            </a:fld>
            <a:endParaRPr lang="en-US">
              <a:latin typeface="Garamond" pitchFamily="-112" charset="0"/>
            </a:endParaRPr>
          </a:p>
        </p:txBody>
      </p:sp>
      <p:sp>
        <p:nvSpPr>
          <p:cNvPr id="534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 Memory Policies</a:t>
            </a:r>
            <a:endParaRPr lang="en-US" sz="2000"/>
          </a:p>
        </p:txBody>
      </p:sp>
      <p:sp>
        <p:nvSpPr>
          <p:cNvPr id="534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34363" cy="4343400"/>
          </a:xfrm>
        </p:spPr>
        <p:txBody>
          <a:bodyPr/>
          <a:lstStyle/>
          <a:p>
            <a:r>
              <a:rPr lang="en-US" sz="2000" dirty="0"/>
              <a:t>Block placement: location of a page in memory</a:t>
            </a:r>
          </a:p>
          <a:p>
            <a:pPr lvl="1"/>
            <a:r>
              <a:rPr lang="en-US" sz="1800" dirty="0"/>
              <a:t>More freedom </a:t>
            </a:r>
            <a:r>
              <a:rPr lang="en-US" sz="1800" dirty="0">
                <a:sym typeface="Symbol" pitchFamily="-112" charset="2"/>
              </a:rPr>
              <a:t> lower miss rates, higher hit and miss penalties</a:t>
            </a:r>
          </a:p>
          <a:p>
            <a:pPr lvl="1"/>
            <a:r>
              <a:rPr lang="en-US" sz="1800" dirty="0">
                <a:sym typeface="Symbol" pitchFamily="-112" charset="2"/>
              </a:rPr>
              <a:t>Memory access time is already high and memory miss penalty (i.e., disk access time) is huge  must minimize miss rates</a:t>
            </a:r>
          </a:p>
          <a:p>
            <a:pPr lvl="1"/>
            <a:r>
              <a:rPr lang="en-US" sz="1800" dirty="0">
                <a:sym typeface="Symbol" pitchFamily="-112" charset="2"/>
              </a:rPr>
              <a:t>As a result, memory is fully associative  a virtual page can be located in any page frame</a:t>
            </a:r>
          </a:p>
          <a:p>
            <a:pPr lvl="2"/>
            <a:r>
              <a:rPr lang="en-US" sz="1600" dirty="0">
                <a:sym typeface="Symbol" pitchFamily="-112" charset="2"/>
              </a:rPr>
              <a:t>No conflict misses</a:t>
            </a:r>
          </a:p>
          <a:p>
            <a:pPr lvl="2"/>
            <a:r>
              <a:rPr lang="en-US" sz="1600" dirty="0">
                <a:sym typeface="Symbol" pitchFamily="-112" charset="2"/>
              </a:rPr>
              <a:t>Important to reduce time to find a page in memory (hit time)</a:t>
            </a:r>
          </a:p>
          <a:p>
            <a:pPr lvl="1"/>
            <a:r>
              <a:rPr lang="en-US" sz="1800" dirty="0">
                <a:sym typeface="Symbol" pitchFamily="-112" charset="2"/>
              </a:rPr>
              <a:t>To place new pages in memory, OS maintains a list of free frames</a:t>
            </a:r>
          </a:p>
          <a:p>
            <a:pPr lvl="1"/>
            <a:endParaRPr lang="en-US" sz="1800" dirty="0">
              <a:sym typeface="Symbol" pitchFamily="-112" charset="2"/>
            </a:endParaRPr>
          </a:p>
          <a:p>
            <a:r>
              <a:rPr lang="en-US" sz="2000" dirty="0">
                <a:sym typeface="Symbol" pitchFamily="-112" charset="2"/>
              </a:rPr>
              <a:t>Block placement may be constrained by use of translated virtual address bits when indexing the cache (see later)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39212F-F365-6449-B488-5F3CDBD42406}" type="slidenum">
              <a:rPr lang="en-US"/>
              <a:pPr>
                <a:defRPr/>
              </a:pPr>
              <a:t>8</a:t>
            </a:fld>
            <a:endParaRPr lang="en-US">
              <a:latin typeface="Garamond" pitchFamily="-112" charset="0"/>
            </a:endParaRPr>
          </a:p>
        </p:txBody>
      </p:sp>
      <p:sp>
        <p:nvSpPr>
          <p:cNvPr id="532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 Memory Policies</a:t>
            </a:r>
            <a:endParaRPr lang="en-US" sz="2000"/>
          </a:p>
        </p:txBody>
      </p:sp>
      <p:sp>
        <p:nvSpPr>
          <p:cNvPr id="532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34363" cy="4950296"/>
          </a:xfrm>
        </p:spPr>
        <p:txBody>
          <a:bodyPr/>
          <a:lstStyle/>
          <a:p>
            <a:r>
              <a:rPr lang="en-US" sz="2000" dirty="0"/>
              <a:t>Block replacement: choosing a page frame to reuse</a:t>
            </a:r>
          </a:p>
          <a:p>
            <a:pPr lvl="1"/>
            <a:r>
              <a:rPr lang="en-US" sz="1800" dirty="0"/>
              <a:t>Minimize misses (page faults) </a:t>
            </a:r>
            <a:r>
              <a:rPr lang="en-US" sz="1800" dirty="0">
                <a:sym typeface="Symbol" pitchFamily="-112" charset="2"/>
              </a:rPr>
              <a:t> LRU policy</a:t>
            </a:r>
          </a:p>
          <a:p>
            <a:pPr lvl="2"/>
            <a:r>
              <a:rPr lang="en-US" sz="1600" dirty="0">
                <a:sym typeface="Symbol" pitchFamily="-112" charset="2"/>
              </a:rPr>
              <a:t>True LRU expensive – must minimize CPU time of the algorithm</a:t>
            </a:r>
          </a:p>
          <a:p>
            <a:pPr lvl="2"/>
            <a:r>
              <a:rPr lang="en-US" sz="1600" dirty="0">
                <a:sym typeface="Symbol" pitchFamily="-112" charset="2"/>
              </a:rPr>
              <a:t>Simple solution: OS sets a Used bit whenever a page is accessed in a time quantum. In the next quantum, any page with its Used bit clear is eligible for replacement.</a:t>
            </a:r>
          </a:p>
          <a:p>
            <a:pPr lvl="1"/>
            <a:r>
              <a:rPr lang="en-US" sz="1800" dirty="0">
                <a:sym typeface="Symbol" pitchFamily="-112" charset="2"/>
              </a:rPr>
              <a:t>Minimize write backs to disk  give priority to </a:t>
            </a:r>
            <a:r>
              <a:rPr lang="en-US" sz="1800" dirty="0">
                <a:solidFill>
                  <a:srgbClr val="FF0000"/>
                </a:solidFill>
                <a:sym typeface="Symbol" pitchFamily="-112" charset="2"/>
              </a:rPr>
              <a:t>clean</a:t>
            </a:r>
            <a:r>
              <a:rPr lang="en-US" sz="1800" dirty="0">
                <a:sym typeface="Symbol" pitchFamily="-112" charset="2"/>
              </a:rPr>
              <a:t> pages</a:t>
            </a:r>
          </a:p>
          <a:p>
            <a:pPr>
              <a:spcBef>
                <a:spcPts val="1680"/>
              </a:spcBef>
            </a:pPr>
            <a:r>
              <a:rPr lang="en-US" sz="2000" dirty="0"/>
              <a:t>Write strategy: what happens when a page is written</a:t>
            </a:r>
          </a:p>
          <a:p>
            <a:pPr lvl="1"/>
            <a:r>
              <a:rPr lang="en-US" sz="1800" dirty="0"/>
              <a:t>Write-through: would mean writing the cache block back to disk whenever the page is updated in main memory </a:t>
            </a:r>
            <a:br>
              <a:rPr lang="en-US" sz="1800" dirty="0"/>
            </a:br>
            <a:r>
              <a:rPr lang="en-US" sz="1800" dirty="0"/>
              <a:t>  </a:t>
            </a:r>
            <a:r>
              <a:rPr lang="en-US" sz="1800" dirty="0">
                <a:sym typeface="Symbol" pitchFamily="-112" charset="2"/>
              </a:rPr>
              <a:t> not practical due to latency and bandwidth considerations</a:t>
            </a:r>
            <a:br>
              <a:rPr lang="en-US" sz="1800" dirty="0">
                <a:sym typeface="Symbol" pitchFamily="-112" charset="2"/>
              </a:rPr>
            </a:br>
            <a:r>
              <a:rPr lang="en-US" sz="1800" dirty="0">
                <a:sym typeface="Symbol" pitchFamily="-112" charset="2"/>
              </a:rPr>
              <a:t>  (~4 orders of magnitude latency gap between memory &amp; disk)</a:t>
            </a:r>
          </a:p>
          <a:p>
            <a:pPr lvl="1"/>
            <a:r>
              <a:rPr lang="en-US" sz="1800" dirty="0">
                <a:sym typeface="Symbol" pitchFamily="-112" charset="2"/>
              </a:rPr>
              <a:t>Write-back: the norm in today’s virtual memory systems</a:t>
            </a:r>
          </a:p>
          <a:p>
            <a:pPr lvl="2"/>
            <a:r>
              <a:rPr lang="en-US" sz="1600" dirty="0">
                <a:sym typeface="Symbol" pitchFamily="-112" charset="2"/>
              </a:rPr>
              <a:t>OS tracks modified pages through the use of Dirty bits in page table entries</a:t>
            </a:r>
          </a:p>
        </p:txBody>
      </p:sp>
    </p:spTree>
    <p:extLst>
      <p:ext uri="{BB962C8B-B14F-4D97-AF65-F5344CB8AC3E}">
        <p14:creationId xmlns:p14="http://schemas.microsoft.com/office/powerpoint/2010/main" val="29098342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4284178" y="2836793"/>
            <a:ext cx="3024125" cy="320745"/>
            <a:chOff x="4284178" y="2836793"/>
            <a:chExt cx="3024125" cy="320745"/>
          </a:xfrm>
        </p:grpSpPr>
        <p:grpSp>
          <p:nvGrpSpPr>
            <p:cNvPr id="2" name="Group 6"/>
            <p:cNvGrpSpPr>
              <a:grpSpLocks/>
            </p:cNvGrpSpPr>
            <p:nvPr/>
          </p:nvGrpSpPr>
          <p:grpSpPr bwMode="auto">
            <a:xfrm>
              <a:off x="4284178" y="2843213"/>
              <a:ext cx="3024125" cy="314325"/>
              <a:chOff x="2632" y="2387"/>
              <a:chExt cx="1694" cy="198"/>
            </a:xfrm>
          </p:grpSpPr>
          <p:sp>
            <p:nvSpPr>
              <p:cNvPr id="538689" name="Rectangle 7"/>
              <p:cNvSpPr>
                <a:spLocks noChangeArrowheads="1"/>
              </p:cNvSpPr>
              <p:nvPr/>
            </p:nvSpPr>
            <p:spPr bwMode="auto">
              <a:xfrm>
                <a:off x="2632" y="2387"/>
                <a:ext cx="991" cy="1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 dirty="0">
                    <a:latin typeface="Arial" pitchFamily="-112" charset="0"/>
                  </a:rPr>
                  <a:t>Physical Page Number</a:t>
                </a:r>
              </a:p>
            </p:txBody>
          </p:sp>
          <p:sp>
            <p:nvSpPr>
              <p:cNvPr id="538690" name="Rectangle 8"/>
              <p:cNvSpPr>
                <a:spLocks noChangeArrowheads="1"/>
              </p:cNvSpPr>
              <p:nvPr/>
            </p:nvSpPr>
            <p:spPr bwMode="auto">
              <a:xfrm>
                <a:off x="3519" y="2387"/>
                <a:ext cx="381" cy="1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 dirty="0" err="1">
                    <a:latin typeface="Arial" pitchFamily="-112" charset="0"/>
                  </a:rPr>
                  <a:t>Permiss</a:t>
                </a:r>
                <a:r>
                  <a:rPr lang="en-GB" sz="1000" dirty="0">
                    <a:latin typeface="Arial" pitchFamily="-112" charset="0"/>
                  </a:rPr>
                  <a:t>.</a:t>
                </a:r>
              </a:p>
            </p:txBody>
          </p:sp>
          <p:sp>
            <p:nvSpPr>
              <p:cNvPr id="538691" name="Rectangle 9"/>
              <p:cNvSpPr>
                <a:spLocks noChangeArrowheads="1"/>
              </p:cNvSpPr>
              <p:nvPr/>
            </p:nvSpPr>
            <p:spPr bwMode="auto">
              <a:xfrm>
                <a:off x="4099" y="2387"/>
                <a:ext cx="227" cy="1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 dirty="0">
                    <a:latin typeface="Arial" pitchFamily="-112" charset="0"/>
                  </a:rPr>
                  <a:t>Valid</a:t>
                </a:r>
              </a:p>
            </p:txBody>
          </p:sp>
        </p:grpSp>
        <p:sp>
          <p:nvSpPr>
            <p:cNvPr id="71" name="Rectangle 9"/>
            <p:cNvSpPr>
              <a:spLocks noChangeArrowheads="1"/>
            </p:cNvSpPr>
            <p:nvPr/>
          </p:nvSpPr>
          <p:spPr bwMode="auto">
            <a:xfrm>
              <a:off x="6516216" y="2836793"/>
              <a:ext cx="405240" cy="314325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000" dirty="0">
                  <a:latin typeface="Arial" pitchFamily="-112" charset="0"/>
                </a:rPr>
                <a:t>Dirty</a:t>
              </a:r>
            </a:p>
          </p:txBody>
        </p:sp>
      </p:grpSp>
      <p:sp>
        <p:nvSpPr>
          <p:cNvPr id="6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67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355EE48-596D-C143-BD25-B05A1C549ECC}" type="slidenum">
              <a:rPr lang="en-US"/>
              <a:pPr>
                <a:defRPr/>
              </a:pPr>
              <a:t>9</a:t>
            </a:fld>
            <a:endParaRPr lang="en-US">
              <a:latin typeface="Garamond" pitchFamily="-112" charset="0"/>
            </a:endParaRPr>
          </a:p>
        </p:txBody>
      </p:sp>
      <p:sp>
        <p:nvSpPr>
          <p:cNvPr id="538628" name="Rectangle 2"/>
          <p:cNvSpPr>
            <a:spLocks noChangeArrowheads="1"/>
          </p:cNvSpPr>
          <p:nvPr/>
        </p:nvSpPr>
        <p:spPr bwMode="auto">
          <a:xfrm>
            <a:off x="4047294" y="3160713"/>
            <a:ext cx="3276749" cy="1528762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862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Page Tables and Address Translation</a:t>
            </a:r>
          </a:p>
        </p:txBody>
      </p:sp>
      <p:sp>
        <p:nvSpPr>
          <p:cNvPr id="53863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9512" y="2924944"/>
            <a:ext cx="3528392" cy="3672408"/>
          </a:xfrm>
        </p:spPr>
        <p:txBody>
          <a:bodyPr/>
          <a:lstStyle/>
          <a:p>
            <a:pPr marL="0" indent="0">
              <a:buNone/>
            </a:pPr>
            <a:r>
              <a:rPr lang="en-GB" sz="1600" dirty="0"/>
              <a:t>Page Table Entry (PTE):</a:t>
            </a:r>
          </a:p>
          <a:p>
            <a:r>
              <a:rPr lang="en-GB" sz="1600" dirty="0"/>
              <a:t>Track access permissions for each page</a:t>
            </a:r>
          </a:p>
          <a:p>
            <a:pPr lvl="1">
              <a:lnSpc>
                <a:spcPct val="120000"/>
              </a:lnSpc>
            </a:pPr>
            <a:r>
              <a:rPr lang="en-GB" sz="1200" dirty="0"/>
              <a:t>Read, Write, Execute</a:t>
            </a:r>
          </a:p>
          <a:p>
            <a:r>
              <a:rPr lang="en-GB" sz="1600" dirty="0"/>
              <a:t>Bit indicates if page is on disk, in which case Physical Page Number indicates location within swap file</a:t>
            </a:r>
          </a:p>
          <a:p>
            <a:r>
              <a:rPr lang="en-GB" sz="1600" dirty="0"/>
              <a:t>“Dirty” bit indicates if there were any writes to the page</a:t>
            </a:r>
          </a:p>
          <a:p>
            <a:r>
              <a:rPr lang="en-GB" sz="1600" dirty="0"/>
              <a:t>4B per PTE in this example</a:t>
            </a:r>
          </a:p>
        </p:txBody>
      </p:sp>
      <p:sp>
        <p:nvSpPr>
          <p:cNvPr id="538631" name="Rectangle 5"/>
          <p:cNvSpPr>
            <a:spLocks noChangeArrowheads="1"/>
          </p:cNvSpPr>
          <p:nvPr/>
        </p:nvSpPr>
        <p:spPr bwMode="auto">
          <a:xfrm>
            <a:off x="3968625" y="1403350"/>
            <a:ext cx="1979613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GB" sz="1000">
                <a:latin typeface="Arial" pitchFamily="-112" charset="0"/>
              </a:rPr>
              <a:t>Page Table Address Register</a:t>
            </a: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4373438" y="3114675"/>
            <a:ext cx="2887338" cy="314325"/>
            <a:chOff x="2682" y="2387"/>
            <a:chExt cx="1701" cy="198"/>
          </a:xfrm>
        </p:grpSpPr>
        <p:sp>
          <p:nvSpPr>
            <p:cNvPr id="538686" name="Rectangle 11"/>
            <p:cNvSpPr>
              <a:spLocks noChangeArrowheads="1"/>
            </p:cNvSpPr>
            <p:nvPr/>
          </p:nvSpPr>
          <p:spPr bwMode="auto">
            <a:xfrm>
              <a:off x="2682" y="2387"/>
              <a:ext cx="923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endParaRPr lang="en-GB" sz="1000">
                <a:latin typeface="Arial" pitchFamily="-112" charset="0"/>
              </a:endParaRPr>
            </a:p>
          </p:txBody>
        </p:sp>
        <p:sp>
          <p:nvSpPr>
            <p:cNvPr id="538687" name="Rectangle 12"/>
            <p:cNvSpPr>
              <a:spLocks noChangeArrowheads="1"/>
            </p:cNvSpPr>
            <p:nvPr/>
          </p:nvSpPr>
          <p:spPr bwMode="auto">
            <a:xfrm>
              <a:off x="3605" y="2387"/>
              <a:ext cx="339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endParaRPr lang="en-GB" sz="1000">
                <a:latin typeface="Arial" pitchFamily="-112" charset="0"/>
              </a:endParaRPr>
            </a:p>
          </p:txBody>
        </p:sp>
        <p:sp>
          <p:nvSpPr>
            <p:cNvPr id="538688" name="Rectangle 13"/>
            <p:cNvSpPr>
              <a:spLocks noChangeArrowheads="1"/>
            </p:cNvSpPr>
            <p:nvPr/>
          </p:nvSpPr>
          <p:spPr bwMode="auto">
            <a:xfrm>
              <a:off x="4156" y="2387"/>
              <a:ext cx="227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endParaRPr lang="en-GB" sz="1000">
                <a:latin typeface="Arial" pitchFamily="-112" charset="0"/>
              </a:endParaRP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4373437" y="3384550"/>
            <a:ext cx="2887338" cy="314325"/>
            <a:chOff x="2682" y="2387"/>
            <a:chExt cx="1701" cy="198"/>
          </a:xfrm>
        </p:grpSpPr>
        <p:sp>
          <p:nvSpPr>
            <p:cNvPr id="538683" name="Rectangle 15"/>
            <p:cNvSpPr>
              <a:spLocks noChangeArrowheads="1"/>
            </p:cNvSpPr>
            <p:nvPr/>
          </p:nvSpPr>
          <p:spPr bwMode="auto">
            <a:xfrm>
              <a:off x="2682" y="2387"/>
              <a:ext cx="923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endParaRPr lang="en-GB" sz="1000">
                <a:latin typeface="Arial" pitchFamily="-112" charset="0"/>
              </a:endParaRPr>
            </a:p>
          </p:txBody>
        </p:sp>
        <p:sp>
          <p:nvSpPr>
            <p:cNvPr id="538684" name="Rectangle 16"/>
            <p:cNvSpPr>
              <a:spLocks noChangeArrowheads="1"/>
            </p:cNvSpPr>
            <p:nvPr/>
          </p:nvSpPr>
          <p:spPr bwMode="auto">
            <a:xfrm>
              <a:off x="3605" y="2387"/>
              <a:ext cx="35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endParaRPr lang="en-GB" sz="1000">
                <a:latin typeface="Arial" pitchFamily="-112" charset="0"/>
              </a:endParaRPr>
            </a:p>
          </p:txBody>
        </p:sp>
        <p:sp>
          <p:nvSpPr>
            <p:cNvPr id="538685" name="Rectangle 17"/>
            <p:cNvSpPr>
              <a:spLocks noChangeArrowheads="1"/>
            </p:cNvSpPr>
            <p:nvPr/>
          </p:nvSpPr>
          <p:spPr bwMode="auto">
            <a:xfrm>
              <a:off x="4156" y="2387"/>
              <a:ext cx="227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endParaRPr lang="en-GB" sz="1000">
                <a:latin typeface="Arial" pitchFamily="-112" charset="0"/>
              </a:endParaRPr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4373438" y="3697288"/>
            <a:ext cx="2889038" cy="317500"/>
            <a:chOff x="2682" y="2385"/>
            <a:chExt cx="1702" cy="200"/>
          </a:xfrm>
        </p:grpSpPr>
        <p:sp>
          <p:nvSpPr>
            <p:cNvPr id="538680" name="Rectangle 19"/>
            <p:cNvSpPr>
              <a:spLocks noChangeArrowheads="1"/>
            </p:cNvSpPr>
            <p:nvPr/>
          </p:nvSpPr>
          <p:spPr bwMode="auto">
            <a:xfrm>
              <a:off x="2682" y="2387"/>
              <a:ext cx="923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endParaRPr lang="en-GB" sz="1000">
                <a:latin typeface="Arial" pitchFamily="-112" charset="0"/>
              </a:endParaRPr>
            </a:p>
          </p:txBody>
        </p:sp>
        <p:sp>
          <p:nvSpPr>
            <p:cNvPr id="538681" name="Rectangle 20"/>
            <p:cNvSpPr>
              <a:spLocks noChangeArrowheads="1"/>
            </p:cNvSpPr>
            <p:nvPr/>
          </p:nvSpPr>
          <p:spPr bwMode="auto">
            <a:xfrm>
              <a:off x="3605" y="2387"/>
              <a:ext cx="35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endParaRPr lang="en-GB" sz="1000">
                <a:latin typeface="Arial" pitchFamily="-112" charset="0"/>
              </a:endParaRPr>
            </a:p>
          </p:txBody>
        </p:sp>
        <p:sp>
          <p:nvSpPr>
            <p:cNvPr id="538682" name="Rectangle 21"/>
            <p:cNvSpPr>
              <a:spLocks noChangeArrowheads="1"/>
            </p:cNvSpPr>
            <p:nvPr/>
          </p:nvSpPr>
          <p:spPr bwMode="auto">
            <a:xfrm>
              <a:off x="4157" y="2385"/>
              <a:ext cx="227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endParaRPr lang="en-GB" sz="1000">
                <a:latin typeface="Arial" pitchFamily="-112" charset="0"/>
              </a:endParaRPr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4373438" y="4014788"/>
            <a:ext cx="2887338" cy="314325"/>
            <a:chOff x="2682" y="2387"/>
            <a:chExt cx="1701" cy="198"/>
          </a:xfrm>
        </p:grpSpPr>
        <p:sp>
          <p:nvSpPr>
            <p:cNvPr id="538677" name="Rectangle 23"/>
            <p:cNvSpPr>
              <a:spLocks noChangeArrowheads="1"/>
            </p:cNvSpPr>
            <p:nvPr/>
          </p:nvSpPr>
          <p:spPr bwMode="auto">
            <a:xfrm>
              <a:off x="2682" y="2387"/>
              <a:ext cx="923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endParaRPr lang="en-GB" sz="1000">
                <a:latin typeface="Arial" pitchFamily="-112" charset="0"/>
              </a:endParaRPr>
            </a:p>
          </p:txBody>
        </p:sp>
        <p:sp>
          <p:nvSpPr>
            <p:cNvPr id="538678" name="Rectangle 24"/>
            <p:cNvSpPr>
              <a:spLocks noChangeArrowheads="1"/>
            </p:cNvSpPr>
            <p:nvPr/>
          </p:nvSpPr>
          <p:spPr bwMode="auto">
            <a:xfrm>
              <a:off x="3605" y="2387"/>
              <a:ext cx="35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endParaRPr lang="en-GB" sz="1000">
                <a:latin typeface="Arial" pitchFamily="-112" charset="0"/>
              </a:endParaRPr>
            </a:p>
          </p:txBody>
        </p:sp>
        <p:sp>
          <p:nvSpPr>
            <p:cNvPr id="538679" name="Rectangle 25"/>
            <p:cNvSpPr>
              <a:spLocks noChangeArrowheads="1"/>
            </p:cNvSpPr>
            <p:nvPr/>
          </p:nvSpPr>
          <p:spPr bwMode="auto">
            <a:xfrm>
              <a:off x="4156" y="2387"/>
              <a:ext cx="227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endParaRPr lang="en-GB" sz="1000">
                <a:latin typeface="Arial" pitchFamily="-112" charset="0"/>
              </a:endParaRPr>
            </a:p>
          </p:txBody>
        </p:sp>
      </p:grpSp>
      <p:grpSp>
        <p:nvGrpSpPr>
          <p:cNvPr id="7" name="Group 26"/>
          <p:cNvGrpSpPr>
            <a:grpSpLocks/>
          </p:cNvGrpSpPr>
          <p:nvPr/>
        </p:nvGrpSpPr>
        <p:grpSpPr bwMode="auto">
          <a:xfrm>
            <a:off x="4373438" y="4330700"/>
            <a:ext cx="2887336" cy="314325"/>
            <a:chOff x="2682" y="2387"/>
            <a:chExt cx="1701" cy="198"/>
          </a:xfrm>
        </p:grpSpPr>
        <p:sp>
          <p:nvSpPr>
            <p:cNvPr id="538674" name="Rectangle 27"/>
            <p:cNvSpPr>
              <a:spLocks noChangeArrowheads="1"/>
            </p:cNvSpPr>
            <p:nvPr/>
          </p:nvSpPr>
          <p:spPr bwMode="auto">
            <a:xfrm>
              <a:off x="2682" y="2387"/>
              <a:ext cx="923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endParaRPr lang="en-GB" sz="1000">
                <a:latin typeface="Arial" pitchFamily="-112" charset="0"/>
              </a:endParaRPr>
            </a:p>
          </p:txBody>
        </p:sp>
        <p:sp>
          <p:nvSpPr>
            <p:cNvPr id="538675" name="Rectangle 28"/>
            <p:cNvSpPr>
              <a:spLocks noChangeArrowheads="1"/>
            </p:cNvSpPr>
            <p:nvPr/>
          </p:nvSpPr>
          <p:spPr bwMode="auto">
            <a:xfrm>
              <a:off x="3605" y="2387"/>
              <a:ext cx="35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endParaRPr lang="en-GB" sz="1000">
                <a:latin typeface="Arial" pitchFamily="-112" charset="0"/>
              </a:endParaRPr>
            </a:p>
          </p:txBody>
        </p:sp>
        <p:sp>
          <p:nvSpPr>
            <p:cNvPr id="538676" name="Rectangle 29"/>
            <p:cNvSpPr>
              <a:spLocks noChangeArrowheads="1"/>
            </p:cNvSpPr>
            <p:nvPr/>
          </p:nvSpPr>
          <p:spPr bwMode="auto">
            <a:xfrm>
              <a:off x="4156" y="2387"/>
              <a:ext cx="227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endParaRPr lang="en-GB" sz="1000">
                <a:latin typeface="Arial" pitchFamily="-112" charset="0"/>
              </a:endParaRPr>
            </a:p>
          </p:txBody>
        </p:sp>
      </p:grp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5229100" y="5138738"/>
            <a:ext cx="2746375" cy="539750"/>
            <a:chOff x="2823" y="1621"/>
            <a:chExt cx="1730" cy="340"/>
          </a:xfrm>
        </p:grpSpPr>
        <p:sp>
          <p:nvSpPr>
            <p:cNvPr id="538668" name="Rectangle 31"/>
            <p:cNvSpPr>
              <a:spLocks noChangeArrowheads="1"/>
            </p:cNvSpPr>
            <p:nvPr/>
          </p:nvSpPr>
          <p:spPr bwMode="auto">
            <a:xfrm>
              <a:off x="2880" y="1763"/>
              <a:ext cx="936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000">
                  <a:latin typeface="Arial" pitchFamily="-112" charset="0"/>
                </a:rPr>
                <a:t>Physical Page Number</a:t>
              </a:r>
            </a:p>
          </p:txBody>
        </p:sp>
        <p:sp>
          <p:nvSpPr>
            <p:cNvPr id="538669" name="Rectangle 32"/>
            <p:cNvSpPr>
              <a:spLocks noChangeArrowheads="1"/>
            </p:cNvSpPr>
            <p:nvPr/>
          </p:nvSpPr>
          <p:spPr bwMode="auto">
            <a:xfrm>
              <a:off x="3816" y="1763"/>
              <a:ext cx="68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000">
                  <a:latin typeface="Arial" pitchFamily="-112" charset="0"/>
                </a:rPr>
                <a:t>PageOffset</a:t>
              </a:r>
            </a:p>
          </p:txBody>
        </p:sp>
        <p:sp>
          <p:nvSpPr>
            <p:cNvPr id="538670" name="Text Box 33"/>
            <p:cNvSpPr txBox="1">
              <a:spLocks noChangeArrowheads="1"/>
            </p:cNvSpPr>
            <p:nvPr/>
          </p:nvSpPr>
          <p:spPr bwMode="auto">
            <a:xfrm>
              <a:off x="2823" y="1621"/>
              <a:ext cx="19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900">
                  <a:latin typeface="Arial" pitchFamily="-112" charset="0"/>
                </a:rPr>
                <a:t>31</a:t>
              </a:r>
            </a:p>
          </p:txBody>
        </p:sp>
        <p:sp>
          <p:nvSpPr>
            <p:cNvPr id="538671" name="Text Box 34"/>
            <p:cNvSpPr txBox="1">
              <a:spLocks noChangeArrowheads="1"/>
            </p:cNvSpPr>
            <p:nvPr/>
          </p:nvSpPr>
          <p:spPr bwMode="auto">
            <a:xfrm>
              <a:off x="4397" y="1621"/>
              <a:ext cx="1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900">
                  <a:latin typeface="Arial" pitchFamily="-112" charset="0"/>
                </a:rPr>
                <a:t>0</a:t>
              </a:r>
            </a:p>
          </p:txBody>
        </p:sp>
        <p:sp>
          <p:nvSpPr>
            <p:cNvPr id="538672" name="Text Box 35"/>
            <p:cNvSpPr txBox="1">
              <a:spLocks noChangeArrowheads="1"/>
            </p:cNvSpPr>
            <p:nvPr/>
          </p:nvSpPr>
          <p:spPr bwMode="auto">
            <a:xfrm>
              <a:off x="3759" y="1621"/>
              <a:ext cx="19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900">
                  <a:latin typeface="Arial" pitchFamily="-112" charset="0"/>
                </a:rPr>
                <a:t>11</a:t>
              </a:r>
            </a:p>
          </p:txBody>
        </p:sp>
        <p:sp>
          <p:nvSpPr>
            <p:cNvPr id="538673" name="Text Box 36"/>
            <p:cNvSpPr txBox="1">
              <a:spLocks noChangeArrowheads="1"/>
            </p:cNvSpPr>
            <p:nvPr/>
          </p:nvSpPr>
          <p:spPr bwMode="auto">
            <a:xfrm>
              <a:off x="3617" y="1621"/>
              <a:ext cx="19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900">
                  <a:latin typeface="Arial" pitchFamily="-112" charset="0"/>
                </a:rPr>
                <a:t>12</a:t>
              </a:r>
            </a:p>
          </p:txBody>
        </p:sp>
      </p:grpSp>
      <p:sp>
        <p:nvSpPr>
          <p:cNvPr id="538639" name="Line 37"/>
          <p:cNvSpPr>
            <a:spLocks noChangeShapeType="1"/>
          </p:cNvSpPr>
          <p:nvPr/>
        </p:nvSpPr>
        <p:spPr bwMode="auto">
          <a:xfrm>
            <a:off x="4959225" y="1719263"/>
            <a:ext cx="0" cy="269875"/>
          </a:xfrm>
          <a:prstGeom prst="line">
            <a:avLst/>
          </a:prstGeom>
          <a:noFill/>
          <a:ln w="19050">
            <a:solidFill>
              <a:srgbClr val="5F5F5F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8640" name="Line 38"/>
          <p:cNvSpPr>
            <a:spLocks noChangeShapeType="1"/>
          </p:cNvSpPr>
          <p:nvPr/>
        </p:nvSpPr>
        <p:spPr bwMode="auto">
          <a:xfrm flipH="1">
            <a:off x="3879725" y="1989138"/>
            <a:ext cx="1079500" cy="0"/>
          </a:xfrm>
          <a:prstGeom prst="line">
            <a:avLst/>
          </a:prstGeom>
          <a:noFill/>
          <a:ln w="19050">
            <a:solidFill>
              <a:srgbClr val="5F5F5F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8641" name="Line 39"/>
          <p:cNvSpPr>
            <a:spLocks noChangeShapeType="1"/>
          </p:cNvSpPr>
          <p:nvPr/>
        </p:nvSpPr>
        <p:spPr bwMode="auto">
          <a:xfrm>
            <a:off x="3879725" y="1989138"/>
            <a:ext cx="0" cy="1125537"/>
          </a:xfrm>
          <a:prstGeom prst="line">
            <a:avLst/>
          </a:prstGeom>
          <a:noFill/>
          <a:ln w="19050">
            <a:solidFill>
              <a:srgbClr val="5F5F5F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8642" name="Line 40"/>
          <p:cNvSpPr>
            <a:spLocks noChangeShapeType="1"/>
          </p:cNvSpPr>
          <p:nvPr/>
        </p:nvSpPr>
        <p:spPr bwMode="auto">
          <a:xfrm>
            <a:off x="5814888" y="2619375"/>
            <a:ext cx="0" cy="1395413"/>
          </a:xfrm>
          <a:prstGeom prst="line">
            <a:avLst/>
          </a:prstGeom>
          <a:noFill/>
          <a:ln w="19050">
            <a:solidFill>
              <a:srgbClr val="5F5F5F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8643" name="Line 41"/>
          <p:cNvSpPr>
            <a:spLocks noChangeShapeType="1"/>
          </p:cNvSpPr>
          <p:nvPr/>
        </p:nvSpPr>
        <p:spPr bwMode="auto">
          <a:xfrm>
            <a:off x="5138613" y="3878263"/>
            <a:ext cx="0" cy="990600"/>
          </a:xfrm>
          <a:prstGeom prst="line">
            <a:avLst/>
          </a:prstGeom>
          <a:noFill/>
          <a:ln w="19050">
            <a:solidFill>
              <a:srgbClr val="5F5F5F"/>
            </a:solidFill>
            <a:round/>
            <a:headEnd type="oval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8644" name="Line 42"/>
          <p:cNvSpPr>
            <a:spLocks noChangeShapeType="1"/>
          </p:cNvSpPr>
          <p:nvPr/>
        </p:nvSpPr>
        <p:spPr bwMode="auto">
          <a:xfrm>
            <a:off x="5138613" y="4868863"/>
            <a:ext cx="855662" cy="0"/>
          </a:xfrm>
          <a:prstGeom prst="line">
            <a:avLst/>
          </a:prstGeom>
          <a:noFill/>
          <a:ln w="19050">
            <a:solidFill>
              <a:srgbClr val="5F5F5F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8645" name="Line 43"/>
          <p:cNvSpPr>
            <a:spLocks noChangeShapeType="1"/>
          </p:cNvSpPr>
          <p:nvPr/>
        </p:nvSpPr>
        <p:spPr bwMode="auto">
          <a:xfrm>
            <a:off x="5994275" y="4868863"/>
            <a:ext cx="0" cy="495300"/>
          </a:xfrm>
          <a:prstGeom prst="line">
            <a:avLst/>
          </a:prstGeom>
          <a:noFill/>
          <a:ln w="19050">
            <a:solidFill>
              <a:srgbClr val="5F5F5F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8646" name="Line 44"/>
          <p:cNvSpPr>
            <a:spLocks noChangeShapeType="1"/>
          </p:cNvSpPr>
          <p:nvPr/>
        </p:nvSpPr>
        <p:spPr bwMode="auto">
          <a:xfrm>
            <a:off x="7452320" y="2619375"/>
            <a:ext cx="0" cy="2744788"/>
          </a:xfrm>
          <a:prstGeom prst="line">
            <a:avLst/>
          </a:prstGeom>
          <a:noFill/>
          <a:ln w="19050">
            <a:solidFill>
              <a:srgbClr val="5F5F5F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8647" name="Text Box 45"/>
          <p:cNvSpPr txBox="1">
            <a:spLocks noChangeArrowheads="1"/>
          </p:cNvSpPr>
          <p:nvPr/>
        </p:nvSpPr>
        <p:spPr bwMode="auto">
          <a:xfrm>
            <a:off x="7553232" y="3140968"/>
            <a:ext cx="160235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GB" sz="1800" b="0" dirty="0">
                <a:latin typeface="Arial" pitchFamily="-112" charset="0"/>
              </a:rPr>
              <a:t>Page Table</a:t>
            </a:r>
          </a:p>
        </p:txBody>
      </p:sp>
      <p:grpSp>
        <p:nvGrpSpPr>
          <p:cNvPr id="9" name="Group 46"/>
          <p:cNvGrpSpPr>
            <a:grpSpLocks/>
          </p:cNvGrpSpPr>
          <p:nvPr/>
        </p:nvGrpSpPr>
        <p:grpSpPr bwMode="auto">
          <a:xfrm>
            <a:off x="5229100" y="2078038"/>
            <a:ext cx="3722688" cy="687387"/>
            <a:chOff x="3050" y="1309"/>
            <a:chExt cx="2345" cy="433"/>
          </a:xfrm>
        </p:grpSpPr>
        <p:grpSp>
          <p:nvGrpSpPr>
            <p:cNvPr id="10" name="Group 47"/>
            <p:cNvGrpSpPr>
              <a:grpSpLocks/>
            </p:cNvGrpSpPr>
            <p:nvPr/>
          </p:nvGrpSpPr>
          <p:grpSpPr bwMode="auto">
            <a:xfrm>
              <a:off x="3050" y="1309"/>
              <a:ext cx="1730" cy="340"/>
              <a:chOff x="2823" y="1621"/>
              <a:chExt cx="1730" cy="340"/>
            </a:xfrm>
          </p:grpSpPr>
          <p:sp>
            <p:nvSpPr>
              <p:cNvPr id="538662" name="Rectangle 48"/>
              <p:cNvSpPr>
                <a:spLocks noChangeArrowheads="1"/>
              </p:cNvSpPr>
              <p:nvPr/>
            </p:nvSpPr>
            <p:spPr bwMode="auto">
              <a:xfrm>
                <a:off x="2880" y="1763"/>
                <a:ext cx="936" cy="1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>
                    <a:latin typeface="Arial" pitchFamily="-112" charset="0"/>
                  </a:rPr>
                  <a:t>Virtual Page Number</a:t>
                </a:r>
              </a:p>
            </p:txBody>
          </p:sp>
          <p:sp>
            <p:nvSpPr>
              <p:cNvPr id="538663" name="Rectangle 49"/>
              <p:cNvSpPr>
                <a:spLocks noChangeArrowheads="1"/>
              </p:cNvSpPr>
              <p:nvPr/>
            </p:nvSpPr>
            <p:spPr bwMode="auto">
              <a:xfrm>
                <a:off x="3816" y="1763"/>
                <a:ext cx="680" cy="1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>
                    <a:latin typeface="Arial" pitchFamily="-112" charset="0"/>
                  </a:rPr>
                  <a:t>PageOffset</a:t>
                </a:r>
              </a:p>
            </p:txBody>
          </p:sp>
          <p:sp>
            <p:nvSpPr>
              <p:cNvPr id="538664" name="Text Box 50"/>
              <p:cNvSpPr txBox="1">
                <a:spLocks noChangeArrowheads="1"/>
              </p:cNvSpPr>
              <p:nvPr/>
            </p:nvSpPr>
            <p:spPr bwMode="auto">
              <a:xfrm>
                <a:off x="2823" y="1621"/>
                <a:ext cx="19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n-GB" sz="900">
                    <a:latin typeface="Arial" pitchFamily="-112" charset="0"/>
                  </a:rPr>
                  <a:t>31</a:t>
                </a:r>
              </a:p>
            </p:txBody>
          </p:sp>
          <p:sp>
            <p:nvSpPr>
              <p:cNvPr id="538665" name="Text Box 51"/>
              <p:cNvSpPr txBox="1">
                <a:spLocks noChangeArrowheads="1"/>
              </p:cNvSpPr>
              <p:nvPr/>
            </p:nvSpPr>
            <p:spPr bwMode="auto">
              <a:xfrm>
                <a:off x="4397" y="1621"/>
                <a:ext cx="15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n-GB" sz="900">
                    <a:latin typeface="Arial" pitchFamily="-112" charset="0"/>
                  </a:rPr>
                  <a:t>0</a:t>
                </a:r>
              </a:p>
            </p:txBody>
          </p:sp>
          <p:sp>
            <p:nvSpPr>
              <p:cNvPr id="538666" name="Text Box 52"/>
              <p:cNvSpPr txBox="1">
                <a:spLocks noChangeArrowheads="1"/>
              </p:cNvSpPr>
              <p:nvPr/>
            </p:nvSpPr>
            <p:spPr bwMode="auto">
              <a:xfrm>
                <a:off x="3759" y="1621"/>
                <a:ext cx="19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n-GB" sz="900">
                    <a:latin typeface="Arial" pitchFamily="-112" charset="0"/>
                  </a:rPr>
                  <a:t>11</a:t>
                </a:r>
              </a:p>
            </p:txBody>
          </p:sp>
          <p:sp>
            <p:nvSpPr>
              <p:cNvPr id="538667" name="Text Box 53"/>
              <p:cNvSpPr txBox="1">
                <a:spLocks noChangeArrowheads="1"/>
              </p:cNvSpPr>
              <p:nvPr/>
            </p:nvSpPr>
            <p:spPr bwMode="auto">
              <a:xfrm>
                <a:off x="3617" y="1621"/>
                <a:ext cx="19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n-GB" sz="900">
                    <a:latin typeface="Arial" pitchFamily="-112" charset="0"/>
                  </a:rPr>
                  <a:t>12</a:t>
                </a:r>
              </a:p>
            </p:txBody>
          </p:sp>
        </p:grpSp>
        <p:sp>
          <p:nvSpPr>
            <p:cNvPr id="538661" name="Text Box 54"/>
            <p:cNvSpPr txBox="1">
              <a:spLocks noChangeArrowheads="1"/>
            </p:cNvSpPr>
            <p:nvPr/>
          </p:nvSpPr>
          <p:spPr bwMode="auto">
            <a:xfrm>
              <a:off x="4751" y="1338"/>
              <a:ext cx="64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800" b="0">
                  <a:latin typeface="Arial" pitchFamily="-112" charset="0"/>
                </a:rPr>
                <a:t>Virtual</a:t>
              </a:r>
            </a:p>
            <a:p>
              <a:pPr eaLnBrk="1" hangingPunct="1"/>
              <a:r>
                <a:rPr lang="en-GB" sz="1800" b="0">
                  <a:latin typeface="Arial" pitchFamily="-112" charset="0"/>
                </a:rPr>
                <a:t>Address</a:t>
              </a:r>
            </a:p>
          </p:txBody>
        </p:sp>
      </p:grpSp>
      <p:sp>
        <p:nvSpPr>
          <p:cNvPr id="538649" name="Text Box 55"/>
          <p:cNvSpPr txBox="1">
            <a:spLocks noChangeArrowheads="1"/>
          </p:cNvSpPr>
          <p:nvPr/>
        </p:nvSpPr>
        <p:spPr bwMode="auto">
          <a:xfrm>
            <a:off x="7929438" y="5173663"/>
            <a:ext cx="10350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800" b="0">
                <a:latin typeface="Arial" pitchFamily="-112" charset="0"/>
              </a:rPr>
              <a:t>Physical</a:t>
            </a:r>
          </a:p>
          <a:p>
            <a:pPr eaLnBrk="1" hangingPunct="1"/>
            <a:r>
              <a:rPr lang="en-GB" sz="1800" b="0">
                <a:latin typeface="Arial" pitchFamily="-112" charset="0"/>
              </a:rPr>
              <a:t>Address</a:t>
            </a:r>
          </a:p>
        </p:txBody>
      </p:sp>
      <p:sp>
        <p:nvSpPr>
          <p:cNvPr id="538650" name="Text Box 56"/>
          <p:cNvSpPr txBox="1">
            <a:spLocks noChangeArrowheads="1"/>
          </p:cNvSpPr>
          <p:nvPr/>
        </p:nvSpPr>
        <p:spPr bwMode="auto">
          <a:xfrm>
            <a:off x="6933563" y="3698875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400" b="0" dirty="0">
                <a:latin typeface="Arial" pitchFamily="-112" charset="0"/>
              </a:rPr>
              <a:t>1</a:t>
            </a:r>
          </a:p>
        </p:txBody>
      </p:sp>
      <p:sp>
        <p:nvSpPr>
          <p:cNvPr id="538651" name="Text Box 57"/>
          <p:cNvSpPr txBox="1">
            <a:spLocks noChangeArrowheads="1"/>
          </p:cNvSpPr>
          <p:nvPr/>
        </p:nvSpPr>
        <p:spPr bwMode="auto">
          <a:xfrm>
            <a:off x="5940152" y="3698875"/>
            <a:ext cx="5794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400" b="0" dirty="0">
                <a:latin typeface="Arial" pitchFamily="-112" charset="0"/>
              </a:rPr>
              <a:t>r-w-x</a:t>
            </a:r>
          </a:p>
        </p:txBody>
      </p:sp>
      <p:sp>
        <p:nvSpPr>
          <p:cNvPr id="538652" name="Rectangle 58"/>
          <p:cNvSpPr>
            <a:spLocks noChangeArrowheads="1"/>
          </p:cNvSpPr>
          <p:nvPr/>
        </p:nvSpPr>
        <p:spPr bwMode="auto">
          <a:xfrm>
            <a:off x="4059113" y="3114675"/>
            <a:ext cx="314325" cy="269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8653" name="Rectangle 59"/>
          <p:cNvSpPr>
            <a:spLocks noChangeArrowheads="1"/>
          </p:cNvSpPr>
          <p:nvPr/>
        </p:nvSpPr>
        <p:spPr bwMode="auto">
          <a:xfrm>
            <a:off x="3968625" y="2889250"/>
            <a:ext cx="5302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000">
                <a:latin typeface="Arial" pitchFamily="-112" charset="0"/>
              </a:rPr>
              <a:t>Disk?</a:t>
            </a:r>
          </a:p>
        </p:txBody>
      </p:sp>
      <p:sp>
        <p:nvSpPr>
          <p:cNvPr id="538654" name="Line 60"/>
          <p:cNvSpPr>
            <a:spLocks noChangeShapeType="1"/>
          </p:cNvSpPr>
          <p:nvPr/>
        </p:nvSpPr>
        <p:spPr bwMode="auto">
          <a:xfrm>
            <a:off x="3879725" y="3114675"/>
            <a:ext cx="179388" cy="0"/>
          </a:xfrm>
          <a:prstGeom prst="line">
            <a:avLst/>
          </a:prstGeom>
          <a:noFill/>
          <a:ln w="19050">
            <a:solidFill>
              <a:srgbClr val="5F5F5F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8655" name="Rectangle 61"/>
          <p:cNvSpPr>
            <a:spLocks noChangeArrowheads="1"/>
          </p:cNvSpPr>
          <p:nvPr/>
        </p:nvSpPr>
        <p:spPr bwMode="auto">
          <a:xfrm>
            <a:off x="4059113" y="3384550"/>
            <a:ext cx="314325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8656" name="Rectangle 62"/>
          <p:cNvSpPr>
            <a:spLocks noChangeArrowheads="1"/>
          </p:cNvSpPr>
          <p:nvPr/>
        </p:nvSpPr>
        <p:spPr bwMode="auto">
          <a:xfrm>
            <a:off x="4059113" y="3698875"/>
            <a:ext cx="314325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8657" name="Rectangle 63"/>
          <p:cNvSpPr>
            <a:spLocks noChangeArrowheads="1"/>
          </p:cNvSpPr>
          <p:nvPr/>
        </p:nvSpPr>
        <p:spPr bwMode="auto">
          <a:xfrm>
            <a:off x="4059113" y="4014788"/>
            <a:ext cx="314325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8658" name="Rectangle 64"/>
          <p:cNvSpPr>
            <a:spLocks noChangeArrowheads="1"/>
          </p:cNvSpPr>
          <p:nvPr/>
        </p:nvSpPr>
        <p:spPr bwMode="auto">
          <a:xfrm>
            <a:off x="4059113" y="4329113"/>
            <a:ext cx="314325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8659" name="Text Box 65"/>
          <p:cNvSpPr txBox="1">
            <a:spLocks noChangeArrowheads="1"/>
          </p:cNvSpPr>
          <p:nvPr/>
        </p:nvSpPr>
        <p:spPr bwMode="auto">
          <a:xfrm>
            <a:off x="4059113" y="3698875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400" b="0">
                <a:latin typeface="Arial" pitchFamily="-112" charset="0"/>
              </a:rPr>
              <a:t>0</a:t>
            </a:r>
          </a:p>
        </p:txBody>
      </p:sp>
      <p:sp>
        <p:nvSpPr>
          <p:cNvPr id="68" name="Rectangle 13"/>
          <p:cNvSpPr>
            <a:spLocks noChangeArrowheads="1"/>
          </p:cNvSpPr>
          <p:nvPr/>
        </p:nvSpPr>
        <p:spPr bwMode="auto">
          <a:xfrm>
            <a:off x="6516216" y="3114675"/>
            <a:ext cx="385318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1" hangingPunct="1"/>
            <a:endParaRPr lang="en-GB" sz="1000">
              <a:latin typeface="Arial" pitchFamily="-112" charset="0"/>
            </a:endParaRPr>
          </a:p>
        </p:txBody>
      </p:sp>
      <p:sp>
        <p:nvSpPr>
          <p:cNvPr id="69" name="Rectangle 13"/>
          <p:cNvSpPr>
            <a:spLocks noChangeArrowheads="1"/>
          </p:cNvSpPr>
          <p:nvPr/>
        </p:nvSpPr>
        <p:spPr bwMode="auto">
          <a:xfrm>
            <a:off x="6516216" y="3386564"/>
            <a:ext cx="385318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1" hangingPunct="1"/>
            <a:endParaRPr lang="en-GB" sz="1000">
              <a:latin typeface="Arial" pitchFamily="-112" charset="0"/>
            </a:endParaRPr>
          </a:p>
        </p:txBody>
      </p:sp>
      <p:sp>
        <p:nvSpPr>
          <p:cNvPr id="73" name="Rectangle 21"/>
          <p:cNvSpPr>
            <a:spLocks noChangeArrowheads="1"/>
          </p:cNvSpPr>
          <p:nvPr/>
        </p:nvSpPr>
        <p:spPr bwMode="auto">
          <a:xfrm>
            <a:off x="6516216" y="3698326"/>
            <a:ext cx="385318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1" hangingPunct="1"/>
            <a:endParaRPr lang="en-GB" sz="1000">
              <a:latin typeface="Arial" pitchFamily="-112" charset="0"/>
            </a:endParaRPr>
          </a:p>
        </p:txBody>
      </p:sp>
      <p:sp>
        <p:nvSpPr>
          <p:cNvPr id="74" name="Text Box 56"/>
          <p:cNvSpPr txBox="1">
            <a:spLocks noChangeArrowheads="1"/>
          </p:cNvSpPr>
          <p:nvPr/>
        </p:nvSpPr>
        <p:spPr bwMode="auto">
          <a:xfrm>
            <a:off x="6568066" y="3700264"/>
            <a:ext cx="2825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400" b="0" dirty="0">
                <a:latin typeface="Arial" pitchFamily="-112" charset="0"/>
              </a:rPr>
              <a:t>0</a:t>
            </a:r>
          </a:p>
        </p:txBody>
      </p:sp>
      <p:sp>
        <p:nvSpPr>
          <p:cNvPr id="75" name="Rectangle 25"/>
          <p:cNvSpPr>
            <a:spLocks noChangeArrowheads="1"/>
          </p:cNvSpPr>
          <p:nvPr/>
        </p:nvSpPr>
        <p:spPr bwMode="auto">
          <a:xfrm>
            <a:off x="6516216" y="4014589"/>
            <a:ext cx="385318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1" hangingPunct="1"/>
            <a:endParaRPr lang="en-GB" sz="1000">
              <a:latin typeface="Arial" pitchFamily="-112" charset="0"/>
            </a:endParaRPr>
          </a:p>
        </p:txBody>
      </p:sp>
      <p:sp>
        <p:nvSpPr>
          <p:cNvPr id="76" name="Rectangle 29"/>
          <p:cNvSpPr>
            <a:spLocks noChangeArrowheads="1"/>
          </p:cNvSpPr>
          <p:nvPr/>
        </p:nvSpPr>
        <p:spPr bwMode="auto">
          <a:xfrm>
            <a:off x="6516216" y="4332461"/>
            <a:ext cx="385318" cy="314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1" hangingPunct="1"/>
            <a:endParaRPr lang="en-GB" sz="1000">
              <a:latin typeface="Arial" pitchFamily="-112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3851920" y="3618288"/>
            <a:ext cx="3600400" cy="504056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-112" charset="0"/>
            </a:endParaRPr>
          </a:p>
        </p:txBody>
      </p:sp>
      <p:sp>
        <p:nvSpPr>
          <p:cNvPr id="77" name="Text Box 45"/>
          <p:cNvSpPr txBox="1">
            <a:spLocks noChangeArrowheads="1"/>
          </p:cNvSpPr>
          <p:nvPr/>
        </p:nvSpPr>
        <p:spPr bwMode="auto">
          <a:xfrm>
            <a:off x="7380312" y="3717032"/>
            <a:ext cx="8640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 eaLnBrk="1" hangingPunct="1"/>
            <a:r>
              <a:rPr lang="en-GB" sz="1800" b="0" dirty="0">
                <a:solidFill>
                  <a:srgbClr val="FF0000"/>
                </a:solidFill>
                <a:latin typeface="Arial" pitchFamily="-112" charset="0"/>
              </a:rPr>
              <a:t>PTE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30" grpId="0" build="p"/>
      <p:bldP spid="12" grpId="0" animBg="1"/>
      <p:bldP spid="7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C96B20-54D0-3542-8ED1-382BFB41935E}" type="slidenum">
              <a:rPr lang="en-US"/>
              <a:pPr>
                <a:defRPr/>
              </a:pPr>
              <a:t>10</a:t>
            </a:fld>
            <a:endParaRPr lang="en-US">
              <a:latin typeface="Garamond" pitchFamily="-112" charset="0"/>
            </a:endParaRPr>
          </a:p>
        </p:txBody>
      </p:sp>
      <p:sp>
        <p:nvSpPr>
          <p:cNvPr id="536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Page Tables space-efficient</a:t>
            </a:r>
            <a:endParaRPr lang="en-US" sz="2000" dirty="0"/>
          </a:p>
        </p:txBody>
      </p:sp>
      <p:sp>
        <p:nvSpPr>
          <p:cNvPr id="5365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34363" cy="5310336"/>
          </a:xfrm>
        </p:spPr>
        <p:txBody>
          <a:bodyPr>
            <a:normAutofit/>
          </a:bodyPr>
          <a:lstStyle/>
          <a:p>
            <a:r>
              <a:rPr lang="en-US" sz="2000" dirty="0"/>
              <a:t>The number of entries in the table is the number of virtual pages </a:t>
            </a:r>
            <a:r>
              <a:rPr lang="en-US" sz="2000" dirty="0">
                <a:sym typeface="Symbol" pitchFamily="-112" charset="2"/>
              </a:rPr>
              <a:t> </a:t>
            </a:r>
            <a:r>
              <a:rPr lang="en-US" sz="2000" u="sng" dirty="0">
                <a:sym typeface="Symbol" pitchFamily="-112" charset="2"/>
              </a:rPr>
              <a:t>many!</a:t>
            </a:r>
            <a:r>
              <a:rPr lang="en-US" sz="2000" dirty="0">
                <a:sym typeface="Symbol" pitchFamily="-112" charset="2"/>
              </a:rPr>
              <a:t> </a:t>
            </a:r>
          </a:p>
          <a:p>
            <a:pPr lvl="1">
              <a:lnSpc>
                <a:spcPct val="120000"/>
              </a:lnSpc>
            </a:pPr>
            <a:r>
              <a:rPr lang="en-US" sz="1800" dirty="0">
                <a:sym typeface="Symbol" pitchFamily="-112" charset="2"/>
              </a:rPr>
              <a:t>e.g., 4KB pages</a:t>
            </a:r>
            <a:br>
              <a:rPr lang="en-US" sz="1800" dirty="0">
                <a:sym typeface="Symbol" pitchFamily="-112" charset="2"/>
              </a:rPr>
            </a:br>
            <a:r>
              <a:rPr lang="en-US" sz="1800" dirty="0">
                <a:sym typeface="Symbol" pitchFamily="-112" charset="2"/>
              </a:rPr>
              <a:t> </a:t>
            </a:r>
            <a:r>
              <a:rPr lang="en-US" sz="1800" dirty="0">
                <a:sym typeface="Wingdings"/>
              </a:rPr>
              <a:t></a:t>
            </a:r>
            <a:r>
              <a:rPr lang="en-US" sz="1800" dirty="0">
                <a:sym typeface="Symbol" pitchFamily="-112" charset="2"/>
              </a:rPr>
              <a:t> 2</a:t>
            </a:r>
            <a:r>
              <a:rPr lang="en-US" sz="1800" baseline="30000" dirty="0">
                <a:sym typeface="Symbol" pitchFamily="-112" charset="2"/>
              </a:rPr>
              <a:t>20</a:t>
            </a:r>
            <a:r>
              <a:rPr lang="en-US" sz="1800" dirty="0">
                <a:sym typeface="Symbol" pitchFamily="-112" charset="2"/>
              </a:rPr>
              <a:t>=1M entries for a 32b address space </a:t>
            </a:r>
            <a:r>
              <a:rPr lang="en-US" sz="1800" dirty="0">
                <a:sym typeface="Wingdings"/>
              </a:rPr>
              <a:t> need </a:t>
            </a:r>
            <a:r>
              <a:rPr lang="en-US" sz="1800" dirty="0">
                <a:sym typeface="Symbol" pitchFamily="-112" charset="2"/>
              </a:rPr>
              <a:t>4MB/process</a:t>
            </a:r>
            <a:br>
              <a:rPr lang="en-US" sz="1800" dirty="0">
                <a:sym typeface="Symbol" pitchFamily="-112" charset="2"/>
              </a:rPr>
            </a:br>
            <a:r>
              <a:rPr lang="en-US" sz="1800" dirty="0">
                <a:sym typeface="Symbol" pitchFamily="-112" charset="2"/>
              </a:rPr>
              <a:t> </a:t>
            </a:r>
            <a:r>
              <a:rPr lang="en-US" sz="1800" dirty="0">
                <a:sym typeface="Wingdings"/>
              </a:rPr>
              <a:t> </a:t>
            </a:r>
            <a:r>
              <a:rPr lang="en-US" sz="1800" dirty="0">
                <a:sym typeface="Symbol" pitchFamily="-112" charset="2"/>
              </a:rPr>
              <a:t>2</a:t>
            </a:r>
            <a:r>
              <a:rPr lang="en-US" sz="1800" baseline="30000" dirty="0">
                <a:sym typeface="Symbol" pitchFamily="-112" charset="2"/>
              </a:rPr>
              <a:t>36</a:t>
            </a:r>
            <a:r>
              <a:rPr lang="en-US" sz="1800" dirty="0">
                <a:sym typeface="Symbol" pitchFamily="-112" charset="2"/>
              </a:rPr>
              <a:t> entries for a 48b address space </a:t>
            </a:r>
            <a:r>
              <a:rPr lang="en-US" sz="1800" dirty="0">
                <a:sym typeface="Wingdings"/>
              </a:rPr>
              <a:t> 64GB per process!</a:t>
            </a:r>
            <a:endParaRPr lang="en-US" sz="1800" dirty="0">
              <a:sym typeface="Symbol" pitchFamily="-112" charset="2"/>
            </a:endParaRPr>
          </a:p>
          <a:p>
            <a:r>
              <a:rPr lang="en-US" sz="2200" dirty="0">
                <a:sym typeface="Symbol" pitchFamily="-112" charset="2"/>
              </a:rPr>
              <a:t>Solutions: </a:t>
            </a:r>
          </a:p>
          <a:p>
            <a:pPr lvl="1">
              <a:lnSpc>
                <a:spcPct val="120000"/>
              </a:lnSpc>
            </a:pPr>
            <a:r>
              <a:rPr lang="en-US" sz="1800" dirty="0">
                <a:sym typeface="Symbol" pitchFamily="-112" charset="2"/>
              </a:rPr>
              <a:t>Observation that the virtual address space of each process is sparse  only a fraction of all virtual addresses actually used</a:t>
            </a:r>
          </a:p>
          <a:p>
            <a:pPr lvl="2">
              <a:lnSpc>
                <a:spcPct val="120000"/>
              </a:lnSpc>
            </a:pPr>
            <a:r>
              <a:rPr lang="en-US" sz="1600" dirty="0">
                <a:sym typeface="Symbol" pitchFamily="-112" charset="2"/>
              </a:rPr>
              <a:t>Mapping between physical and virtual pages: </a:t>
            </a:r>
            <a:r>
              <a:rPr lang="en-US" sz="1600" b="1" dirty="0">
                <a:solidFill>
                  <a:srgbClr val="FF0000"/>
                </a:solidFill>
                <a:sym typeface="Wingdings"/>
              </a:rPr>
              <a:t>inverted page table</a:t>
            </a:r>
            <a:r>
              <a:rPr lang="en-US" sz="1600" b="1" dirty="0">
                <a:solidFill>
                  <a:srgbClr val="FF0000"/>
                </a:solidFill>
                <a:sym typeface="Symbol" pitchFamily="-112" charset="2"/>
              </a:rPr>
              <a:t>; </a:t>
            </a:r>
            <a:r>
              <a:rPr lang="en-US" sz="1600" dirty="0">
                <a:sym typeface="Symbol" pitchFamily="-112" charset="2"/>
              </a:rPr>
              <a:t>hash virtual addresses to optimize search (PowerPC)</a:t>
            </a:r>
          </a:p>
          <a:p>
            <a:pPr lvl="2">
              <a:spcBef>
                <a:spcPts val="1224"/>
              </a:spcBef>
            </a:pPr>
            <a:r>
              <a:rPr lang="en-GB" sz="1600" dirty="0"/>
              <a:t>Hierarchical page tables. (Intel, ARM)</a:t>
            </a:r>
          </a:p>
          <a:p>
            <a:pPr lvl="1">
              <a:lnSpc>
                <a:spcPct val="120000"/>
              </a:lnSpc>
            </a:pPr>
            <a:r>
              <a:rPr lang="en-GB" sz="1800" dirty="0">
                <a:sym typeface="Symbol" pitchFamily="-112" charset="2"/>
              </a:rPr>
              <a:t>Use large pages</a:t>
            </a:r>
            <a:endParaRPr lang="en-US" sz="1600" u="sng" dirty="0">
              <a:solidFill>
                <a:srgbClr val="0000FF"/>
              </a:solidFill>
              <a:sym typeface="Symbol" pitchFamily="-11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753552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10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1BE557-8074-2F4E-B88D-F3DA741C5F44}" type="slidenum">
              <a:rPr lang="en-US"/>
              <a:pPr>
                <a:defRPr/>
              </a:pPr>
              <a:t>11</a:t>
            </a:fld>
            <a:endParaRPr lang="en-US">
              <a:latin typeface="Garamond" pitchFamily="-112" charset="0"/>
            </a:endParaRPr>
          </a:p>
        </p:txBody>
      </p:sp>
      <p:sp>
        <p:nvSpPr>
          <p:cNvPr id="540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Fast address translation: TLB</a:t>
            </a:r>
          </a:p>
        </p:txBody>
      </p:sp>
      <p:sp>
        <p:nvSpPr>
          <p:cNvPr id="5406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3440113" cy="522922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GB" sz="1400" dirty="0"/>
              <a:t>Typically a small, fully- associative cache of Page Table Entries (PTE)</a:t>
            </a:r>
          </a:p>
          <a:p>
            <a:pPr>
              <a:lnSpc>
                <a:spcPct val="110000"/>
              </a:lnSpc>
            </a:pPr>
            <a:r>
              <a:rPr lang="en-GB" sz="1400" dirty="0"/>
              <a:t>Tag given by VPN for that PTE</a:t>
            </a:r>
          </a:p>
          <a:p>
            <a:pPr>
              <a:lnSpc>
                <a:spcPct val="110000"/>
              </a:lnSpc>
            </a:pPr>
            <a:r>
              <a:rPr lang="en-GB" sz="1400" dirty="0"/>
              <a:t>PPN taken from PTE</a:t>
            </a:r>
          </a:p>
          <a:p>
            <a:pPr>
              <a:lnSpc>
                <a:spcPct val="110000"/>
              </a:lnSpc>
            </a:pPr>
            <a:r>
              <a:rPr lang="en-GB" sz="1400" dirty="0"/>
              <a:t>Valid bit required</a:t>
            </a:r>
          </a:p>
          <a:p>
            <a:pPr>
              <a:lnSpc>
                <a:spcPct val="110000"/>
              </a:lnSpc>
            </a:pPr>
            <a:r>
              <a:rPr lang="en-GB" sz="1400" dirty="0"/>
              <a:t>D bit (dirty) indicates whether page has been modified</a:t>
            </a:r>
          </a:p>
          <a:p>
            <a:pPr>
              <a:lnSpc>
                <a:spcPct val="110000"/>
              </a:lnSpc>
            </a:pPr>
            <a:r>
              <a:rPr lang="en-GB" sz="1400" dirty="0"/>
              <a:t>R, W, X bits indicate Read, Write and Execute permission</a:t>
            </a:r>
          </a:p>
          <a:p>
            <a:pPr>
              <a:lnSpc>
                <a:spcPct val="110000"/>
              </a:lnSpc>
            </a:pPr>
            <a:r>
              <a:rPr lang="en-GB" sz="1400" dirty="0"/>
              <a:t>Permissions are checked on every memory access</a:t>
            </a:r>
          </a:p>
          <a:p>
            <a:pPr>
              <a:lnSpc>
                <a:spcPct val="110000"/>
              </a:lnSpc>
            </a:pPr>
            <a:r>
              <a:rPr lang="en-GB" sz="1400" dirty="0"/>
              <a:t>Physical address formed from PPN and Page Offset</a:t>
            </a:r>
          </a:p>
          <a:p>
            <a:pPr>
              <a:lnSpc>
                <a:spcPct val="110000"/>
              </a:lnSpc>
            </a:pPr>
            <a:r>
              <a:rPr lang="en-GB" sz="1400" dirty="0"/>
              <a:t>TLB Exceptions:</a:t>
            </a:r>
          </a:p>
          <a:p>
            <a:pPr lvl="1">
              <a:lnSpc>
                <a:spcPct val="90000"/>
              </a:lnSpc>
            </a:pPr>
            <a:r>
              <a:rPr lang="en-GB" sz="1200" dirty="0"/>
              <a:t>TLB miss (no matching entry)</a:t>
            </a:r>
          </a:p>
          <a:p>
            <a:pPr lvl="1">
              <a:lnSpc>
                <a:spcPct val="90000"/>
              </a:lnSpc>
            </a:pPr>
            <a:r>
              <a:rPr lang="en-GB" sz="1200" dirty="0"/>
              <a:t>Privilege violation</a:t>
            </a:r>
          </a:p>
          <a:p>
            <a:pPr>
              <a:lnSpc>
                <a:spcPct val="110000"/>
              </a:lnSpc>
            </a:pPr>
            <a:r>
              <a:rPr lang="en-GB" sz="1400" dirty="0"/>
              <a:t>Often separate TLBs for Instruction and Data references</a:t>
            </a:r>
          </a:p>
          <a:p>
            <a:pPr>
              <a:lnSpc>
                <a:spcPct val="110000"/>
              </a:lnSpc>
            </a:pPr>
            <a:endParaRPr lang="en-GB" sz="14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716338" y="1223963"/>
            <a:ext cx="5356225" cy="3971925"/>
            <a:chOff x="2341" y="771"/>
            <a:chExt cx="3374" cy="2502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836" y="771"/>
              <a:ext cx="1730" cy="340"/>
              <a:chOff x="2823" y="1621"/>
              <a:chExt cx="1730" cy="340"/>
            </a:xfrm>
          </p:grpSpPr>
          <p:sp>
            <p:nvSpPr>
              <p:cNvPr id="540767" name="Rectangle 6"/>
              <p:cNvSpPr>
                <a:spLocks noChangeArrowheads="1"/>
              </p:cNvSpPr>
              <p:nvPr/>
            </p:nvSpPr>
            <p:spPr bwMode="auto">
              <a:xfrm>
                <a:off x="2880" y="1763"/>
                <a:ext cx="936" cy="1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>
                    <a:latin typeface="Arial" pitchFamily="-112" charset="0"/>
                  </a:rPr>
                  <a:t>Virtual Page Number</a:t>
                </a:r>
              </a:p>
            </p:txBody>
          </p:sp>
          <p:sp>
            <p:nvSpPr>
              <p:cNvPr id="540768" name="Rectangle 7"/>
              <p:cNvSpPr>
                <a:spLocks noChangeArrowheads="1"/>
              </p:cNvSpPr>
              <p:nvPr/>
            </p:nvSpPr>
            <p:spPr bwMode="auto">
              <a:xfrm>
                <a:off x="3816" y="1763"/>
                <a:ext cx="680" cy="1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>
                    <a:latin typeface="Arial" pitchFamily="-112" charset="0"/>
                  </a:rPr>
                  <a:t>PageOffset</a:t>
                </a:r>
              </a:p>
            </p:txBody>
          </p:sp>
          <p:sp>
            <p:nvSpPr>
              <p:cNvPr id="540769" name="Text Box 8"/>
              <p:cNvSpPr txBox="1">
                <a:spLocks noChangeArrowheads="1"/>
              </p:cNvSpPr>
              <p:nvPr/>
            </p:nvSpPr>
            <p:spPr bwMode="auto">
              <a:xfrm>
                <a:off x="2823" y="1621"/>
                <a:ext cx="19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n-GB" sz="900">
                    <a:latin typeface="Arial" pitchFamily="-112" charset="0"/>
                  </a:rPr>
                  <a:t>31</a:t>
                </a:r>
              </a:p>
            </p:txBody>
          </p:sp>
          <p:sp>
            <p:nvSpPr>
              <p:cNvPr id="540770" name="Text Box 9"/>
              <p:cNvSpPr txBox="1">
                <a:spLocks noChangeArrowheads="1"/>
              </p:cNvSpPr>
              <p:nvPr/>
            </p:nvSpPr>
            <p:spPr bwMode="auto">
              <a:xfrm>
                <a:off x="4397" y="1621"/>
                <a:ext cx="15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n-GB" sz="900">
                    <a:latin typeface="Arial" pitchFamily="-112" charset="0"/>
                  </a:rPr>
                  <a:t>0</a:t>
                </a:r>
              </a:p>
            </p:txBody>
          </p:sp>
          <p:sp>
            <p:nvSpPr>
              <p:cNvPr id="540771" name="Text Box 10"/>
              <p:cNvSpPr txBox="1">
                <a:spLocks noChangeArrowheads="1"/>
              </p:cNvSpPr>
              <p:nvPr/>
            </p:nvSpPr>
            <p:spPr bwMode="auto">
              <a:xfrm>
                <a:off x="3759" y="1621"/>
                <a:ext cx="19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n-GB" sz="900">
                    <a:latin typeface="Arial" pitchFamily="-112" charset="0"/>
                  </a:rPr>
                  <a:t>11</a:t>
                </a:r>
              </a:p>
            </p:txBody>
          </p:sp>
          <p:sp>
            <p:nvSpPr>
              <p:cNvPr id="540772" name="Text Box 11"/>
              <p:cNvSpPr txBox="1">
                <a:spLocks noChangeArrowheads="1"/>
              </p:cNvSpPr>
              <p:nvPr/>
            </p:nvSpPr>
            <p:spPr bwMode="auto">
              <a:xfrm>
                <a:off x="3617" y="1621"/>
                <a:ext cx="19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n-GB" sz="900">
                    <a:latin typeface="Arial" pitchFamily="-112" charset="0"/>
                  </a:rPr>
                  <a:t>12</a:t>
                </a:r>
              </a:p>
            </p:txBody>
          </p:sp>
        </p:grpSp>
        <p:sp>
          <p:nvSpPr>
            <p:cNvPr id="540680" name="Text Box 12"/>
            <p:cNvSpPr txBox="1">
              <a:spLocks noChangeArrowheads="1"/>
            </p:cNvSpPr>
            <p:nvPr/>
          </p:nvSpPr>
          <p:spPr bwMode="auto">
            <a:xfrm>
              <a:off x="4537" y="800"/>
              <a:ext cx="64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800" b="0">
                  <a:latin typeface="Arial" pitchFamily="-112" charset="0"/>
                </a:rPr>
                <a:t>Virtual</a:t>
              </a:r>
            </a:p>
            <a:p>
              <a:pPr eaLnBrk="1" hangingPunct="1"/>
              <a:r>
                <a:rPr lang="en-GB" sz="1800" b="0">
                  <a:latin typeface="Arial" pitchFamily="-112" charset="0"/>
                </a:rPr>
                <a:t>Address</a:t>
              </a:r>
            </a:p>
          </p:txBody>
        </p:sp>
        <p:grpSp>
          <p:nvGrpSpPr>
            <p:cNvPr id="4" name="Group 13"/>
            <p:cNvGrpSpPr>
              <a:grpSpLocks/>
            </p:cNvGrpSpPr>
            <p:nvPr/>
          </p:nvGrpSpPr>
          <p:grpSpPr bwMode="auto">
            <a:xfrm>
              <a:off x="2496" y="1479"/>
              <a:ext cx="2494" cy="199"/>
              <a:chOff x="1831" y="1962"/>
              <a:chExt cx="2494" cy="199"/>
            </a:xfrm>
          </p:grpSpPr>
          <p:sp>
            <p:nvSpPr>
              <p:cNvPr id="540760" name="Rectangle 14"/>
              <p:cNvSpPr>
                <a:spLocks noChangeArrowheads="1"/>
              </p:cNvSpPr>
              <p:nvPr/>
            </p:nvSpPr>
            <p:spPr bwMode="auto">
              <a:xfrm>
                <a:off x="3334" y="1962"/>
                <a:ext cx="991" cy="19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>
                    <a:latin typeface="Arial" pitchFamily="-112" charset="0"/>
                  </a:rPr>
                  <a:t>Physical Page Number</a:t>
                </a:r>
              </a:p>
            </p:txBody>
          </p:sp>
          <p:sp>
            <p:nvSpPr>
              <p:cNvPr id="540761" name="Rectangle 15"/>
              <p:cNvSpPr>
                <a:spLocks noChangeArrowheads="1"/>
              </p:cNvSpPr>
              <p:nvPr/>
            </p:nvSpPr>
            <p:spPr bwMode="auto">
              <a:xfrm>
                <a:off x="1831" y="1962"/>
                <a:ext cx="114" cy="19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>
                    <a:latin typeface="Arial" pitchFamily="-112" charset="0"/>
                  </a:rPr>
                  <a:t>V</a:t>
                </a:r>
              </a:p>
            </p:txBody>
          </p:sp>
          <p:sp>
            <p:nvSpPr>
              <p:cNvPr id="540762" name="Rectangle 16"/>
              <p:cNvSpPr>
                <a:spLocks noChangeArrowheads="1"/>
              </p:cNvSpPr>
              <p:nvPr/>
            </p:nvSpPr>
            <p:spPr bwMode="auto">
              <a:xfrm>
                <a:off x="2398" y="1962"/>
                <a:ext cx="936" cy="19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>
                    <a:latin typeface="Arial" pitchFamily="-112" charset="0"/>
                  </a:rPr>
                  <a:t>Tag</a:t>
                </a:r>
              </a:p>
            </p:txBody>
          </p:sp>
          <p:sp>
            <p:nvSpPr>
              <p:cNvPr id="540763" name="Rectangle 17"/>
              <p:cNvSpPr>
                <a:spLocks noChangeArrowheads="1"/>
              </p:cNvSpPr>
              <p:nvPr/>
            </p:nvSpPr>
            <p:spPr bwMode="auto">
              <a:xfrm>
                <a:off x="1945" y="1962"/>
                <a:ext cx="113" cy="19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>
                    <a:latin typeface="Arial" pitchFamily="-112" charset="0"/>
                  </a:rPr>
                  <a:t>D</a:t>
                </a:r>
              </a:p>
            </p:txBody>
          </p:sp>
          <p:sp>
            <p:nvSpPr>
              <p:cNvPr id="540764" name="Rectangle 18"/>
              <p:cNvSpPr>
                <a:spLocks noChangeArrowheads="1"/>
              </p:cNvSpPr>
              <p:nvPr/>
            </p:nvSpPr>
            <p:spPr bwMode="auto">
              <a:xfrm>
                <a:off x="2058" y="1963"/>
                <a:ext cx="114" cy="19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>
                    <a:latin typeface="Arial" pitchFamily="-112" charset="0"/>
                  </a:rPr>
                  <a:t>R</a:t>
                </a:r>
              </a:p>
            </p:txBody>
          </p:sp>
          <p:sp>
            <p:nvSpPr>
              <p:cNvPr id="540765" name="Rectangle 19"/>
              <p:cNvSpPr>
                <a:spLocks noChangeArrowheads="1"/>
              </p:cNvSpPr>
              <p:nvPr/>
            </p:nvSpPr>
            <p:spPr bwMode="auto">
              <a:xfrm>
                <a:off x="2172" y="1963"/>
                <a:ext cx="114" cy="19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>
                    <a:latin typeface="Arial" pitchFamily="-112" charset="0"/>
                  </a:rPr>
                  <a:t>W</a:t>
                </a:r>
              </a:p>
            </p:txBody>
          </p:sp>
          <p:sp>
            <p:nvSpPr>
              <p:cNvPr id="540766" name="Rectangle 20"/>
              <p:cNvSpPr>
                <a:spLocks noChangeArrowheads="1"/>
              </p:cNvSpPr>
              <p:nvPr/>
            </p:nvSpPr>
            <p:spPr bwMode="auto">
              <a:xfrm>
                <a:off x="2285" y="1962"/>
                <a:ext cx="114" cy="19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>
                    <a:latin typeface="Arial" pitchFamily="-112" charset="0"/>
                  </a:rPr>
                  <a:t>X</a:t>
                </a:r>
              </a:p>
            </p:txBody>
          </p:sp>
        </p:grpSp>
        <p:grpSp>
          <p:nvGrpSpPr>
            <p:cNvPr id="5" name="Group 21"/>
            <p:cNvGrpSpPr>
              <a:grpSpLocks/>
            </p:cNvGrpSpPr>
            <p:nvPr/>
          </p:nvGrpSpPr>
          <p:grpSpPr bwMode="auto">
            <a:xfrm>
              <a:off x="2496" y="1650"/>
              <a:ext cx="2494" cy="199"/>
              <a:chOff x="1803" y="2160"/>
              <a:chExt cx="2494" cy="199"/>
            </a:xfrm>
          </p:grpSpPr>
          <p:grpSp>
            <p:nvGrpSpPr>
              <p:cNvPr id="6" name="Group 22"/>
              <p:cNvGrpSpPr>
                <a:grpSpLocks/>
              </p:cNvGrpSpPr>
              <p:nvPr/>
            </p:nvGrpSpPr>
            <p:grpSpPr bwMode="auto">
              <a:xfrm>
                <a:off x="1803" y="2160"/>
                <a:ext cx="2494" cy="199"/>
                <a:chOff x="1831" y="2670"/>
                <a:chExt cx="2494" cy="199"/>
              </a:xfrm>
            </p:grpSpPr>
            <p:sp>
              <p:nvSpPr>
                <p:cNvPr id="540753" name="Rectangle 23"/>
                <p:cNvSpPr>
                  <a:spLocks noChangeArrowheads="1"/>
                </p:cNvSpPr>
                <p:nvPr/>
              </p:nvSpPr>
              <p:spPr bwMode="auto">
                <a:xfrm>
                  <a:off x="3334" y="2670"/>
                  <a:ext cx="991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54" name="Rectangle 24"/>
                <p:cNvSpPr>
                  <a:spLocks noChangeArrowheads="1"/>
                </p:cNvSpPr>
                <p:nvPr/>
              </p:nvSpPr>
              <p:spPr bwMode="auto">
                <a:xfrm>
                  <a:off x="1831" y="2670"/>
                  <a:ext cx="114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55" name="Rectangle 25"/>
                <p:cNvSpPr>
                  <a:spLocks noChangeArrowheads="1"/>
                </p:cNvSpPr>
                <p:nvPr/>
              </p:nvSpPr>
              <p:spPr bwMode="auto">
                <a:xfrm>
                  <a:off x="2398" y="2670"/>
                  <a:ext cx="936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56" name="Rectangle 26"/>
                <p:cNvSpPr>
                  <a:spLocks noChangeArrowheads="1"/>
                </p:cNvSpPr>
                <p:nvPr/>
              </p:nvSpPr>
              <p:spPr bwMode="auto">
                <a:xfrm>
                  <a:off x="1945" y="2670"/>
                  <a:ext cx="113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57" name="Rectangle 27"/>
                <p:cNvSpPr>
                  <a:spLocks noChangeArrowheads="1"/>
                </p:cNvSpPr>
                <p:nvPr/>
              </p:nvSpPr>
              <p:spPr bwMode="auto">
                <a:xfrm>
                  <a:off x="2058" y="2671"/>
                  <a:ext cx="114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58" name="Rectangle 28"/>
                <p:cNvSpPr>
                  <a:spLocks noChangeArrowheads="1"/>
                </p:cNvSpPr>
                <p:nvPr/>
              </p:nvSpPr>
              <p:spPr bwMode="auto">
                <a:xfrm>
                  <a:off x="2172" y="2671"/>
                  <a:ext cx="114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59" name="Rectangle 29"/>
                <p:cNvSpPr>
                  <a:spLocks noChangeArrowheads="1"/>
                </p:cNvSpPr>
                <p:nvPr/>
              </p:nvSpPr>
              <p:spPr bwMode="auto">
                <a:xfrm>
                  <a:off x="2285" y="2670"/>
                  <a:ext cx="114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</p:grpSp>
          <p:grpSp>
            <p:nvGrpSpPr>
              <p:cNvPr id="7" name="Group 30"/>
              <p:cNvGrpSpPr>
                <a:grpSpLocks/>
              </p:cNvGrpSpPr>
              <p:nvPr/>
            </p:nvGrpSpPr>
            <p:grpSpPr bwMode="auto">
              <a:xfrm>
                <a:off x="2455" y="2166"/>
                <a:ext cx="181" cy="192"/>
                <a:chOff x="2256" y="2703"/>
                <a:chExt cx="181" cy="192"/>
              </a:xfrm>
            </p:grpSpPr>
            <p:sp>
              <p:nvSpPr>
                <p:cNvPr id="540751" name="Oval 31"/>
                <p:cNvSpPr>
                  <a:spLocks noChangeArrowheads="1"/>
                </p:cNvSpPr>
                <p:nvPr/>
              </p:nvSpPr>
              <p:spPr bwMode="auto">
                <a:xfrm>
                  <a:off x="2256" y="2727"/>
                  <a:ext cx="170" cy="14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0752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2256" y="2703"/>
                  <a:ext cx="181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1" hangingPunct="1"/>
                  <a:r>
                    <a:rPr lang="en-GB" sz="1400" b="0">
                      <a:latin typeface="Arial" pitchFamily="-112" charset="0"/>
                    </a:rPr>
                    <a:t>=</a:t>
                  </a:r>
                </a:p>
              </p:txBody>
            </p:sp>
          </p:grpSp>
          <p:sp>
            <p:nvSpPr>
              <p:cNvPr id="540750" name="Line 33"/>
              <p:cNvSpPr>
                <a:spLocks noChangeShapeType="1"/>
              </p:cNvSpPr>
              <p:nvPr/>
            </p:nvSpPr>
            <p:spPr bwMode="auto">
              <a:xfrm flipH="1">
                <a:off x="2625" y="2245"/>
                <a:ext cx="8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oup 34"/>
            <p:cNvGrpSpPr>
              <a:grpSpLocks/>
            </p:cNvGrpSpPr>
            <p:nvPr/>
          </p:nvGrpSpPr>
          <p:grpSpPr bwMode="auto">
            <a:xfrm>
              <a:off x="2496" y="1848"/>
              <a:ext cx="2494" cy="199"/>
              <a:chOff x="1803" y="2160"/>
              <a:chExt cx="2494" cy="199"/>
            </a:xfrm>
          </p:grpSpPr>
          <p:grpSp>
            <p:nvGrpSpPr>
              <p:cNvPr id="9" name="Group 35"/>
              <p:cNvGrpSpPr>
                <a:grpSpLocks/>
              </p:cNvGrpSpPr>
              <p:nvPr/>
            </p:nvGrpSpPr>
            <p:grpSpPr bwMode="auto">
              <a:xfrm>
                <a:off x="1803" y="2160"/>
                <a:ext cx="2494" cy="199"/>
                <a:chOff x="1831" y="2670"/>
                <a:chExt cx="2494" cy="199"/>
              </a:xfrm>
            </p:grpSpPr>
            <p:sp>
              <p:nvSpPr>
                <p:cNvPr id="540741" name="Rectangle 36"/>
                <p:cNvSpPr>
                  <a:spLocks noChangeArrowheads="1"/>
                </p:cNvSpPr>
                <p:nvPr/>
              </p:nvSpPr>
              <p:spPr bwMode="auto">
                <a:xfrm>
                  <a:off x="3334" y="2670"/>
                  <a:ext cx="991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42" name="Rectangle 37"/>
                <p:cNvSpPr>
                  <a:spLocks noChangeArrowheads="1"/>
                </p:cNvSpPr>
                <p:nvPr/>
              </p:nvSpPr>
              <p:spPr bwMode="auto">
                <a:xfrm>
                  <a:off x="1831" y="2670"/>
                  <a:ext cx="114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43" name="Rectangle 38"/>
                <p:cNvSpPr>
                  <a:spLocks noChangeArrowheads="1"/>
                </p:cNvSpPr>
                <p:nvPr/>
              </p:nvSpPr>
              <p:spPr bwMode="auto">
                <a:xfrm>
                  <a:off x="2398" y="2670"/>
                  <a:ext cx="936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44" name="Rectangle 39"/>
                <p:cNvSpPr>
                  <a:spLocks noChangeArrowheads="1"/>
                </p:cNvSpPr>
                <p:nvPr/>
              </p:nvSpPr>
              <p:spPr bwMode="auto">
                <a:xfrm>
                  <a:off x="1945" y="2670"/>
                  <a:ext cx="113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45" name="Rectangle 40"/>
                <p:cNvSpPr>
                  <a:spLocks noChangeArrowheads="1"/>
                </p:cNvSpPr>
                <p:nvPr/>
              </p:nvSpPr>
              <p:spPr bwMode="auto">
                <a:xfrm>
                  <a:off x="2058" y="2671"/>
                  <a:ext cx="114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46" name="Rectangle 41"/>
                <p:cNvSpPr>
                  <a:spLocks noChangeArrowheads="1"/>
                </p:cNvSpPr>
                <p:nvPr/>
              </p:nvSpPr>
              <p:spPr bwMode="auto">
                <a:xfrm>
                  <a:off x="2172" y="2671"/>
                  <a:ext cx="114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47" name="Rectangle 42"/>
                <p:cNvSpPr>
                  <a:spLocks noChangeArrowheads="1"/>
                </p:cNvSpPr>
                <p:nvPr/>
              </p:nvSpPr>
              <p:spPr bwMode="auto">
                <a:xfrm>
                  <a:off x="2285" y="2670"/>
                  <a:ext cx="114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</p:grpSp>
          <p:grpSp>
            <p:nvGrpSpPr>
              <p:cNvPr id="10" name="Group 43"/>
              <p:cNvGrpSpPr>
                <a:grpSpLocks/>
              </p:cNvGrpSpPr>
              <p:nvPr/>
            </p:nvGrpSpPr>
            <p:grpSpPr bwMode="auto">
              <a:xfrm>
                <a:off x="2455" y="2166"/>
                <a:ext cx="181" cy="192"/>
                <a:chOff x="2256" y="2703"/>
                <a:chExt cx="181" cy="192"/>
              </a:xfrm>
            </p:grpSpPr>
            <p:sp>
              <p:nvSpPr>
                <p:cNvPr id="540739" name="Oval 44"/>
                <p:cNvSpPr>
                  <a:spLocks noChangeArrowheads="1"/>
                </p:cNvSpPr>
                <p:nvPr/>
              </p:nvSpPr>
              <p:spPr bwMode="auto">
                <a:xfrm>
                  <a:off x="2256" y="2727"/>
                  <a:ext cx="170" cy="14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0740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2256" y="2703"/>
                  <a:ext cx="181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1" hangingPunct="1"/>
                  <a:r>
                    <a:rPr lang="en-GB" sz="1400" b="0">
                      <a:latin typeface="Arial" pitchFamily="-112" charset="0"/>
                    </a:rPr>
                    <a:t>=</a:t>
                  </a:r>
                </a:p>
              </p:txBody>
            </p:sp>
          </p:grpSp>
          <p:sp>
            <p:nvSpPr>
              <p:cNvPr id="540738" name="Line 46"/>
              <p:cNvSpPr>
                <a:spLocks noChangeShapeType="1"/>
              </p:cNvSpPr>
              <p:nvPr/>
            </p:nvSpPr>
            <p:spPr bwMode="auto">
              <a:xfrm flipH="1">
                <a:off x="2625" y="2245"/>
                <a:ext cx="8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1" name="Group 47"/>
            <p:cNvGrpSpPr>
              <a:grpSpLocks/>
            </p:cNvGrpSpPr>
            <p:nvPr/>
          </p:nvGrpSpPr>
          <p:grpSpPr bwMode="auto">
            <a:xfrm>
              <a:off x="2496" y="2245"/>
              <a:ext cx="2494" cy="199"/>
              <a:chOff x="1803" y="2160"/>
              <a:chExt cx="2494" cy="199"/>
            </a:xfrm>
          </p:grpSpPr>
          <p:grpSp>
            <p:nvGrpSpPr>
              <p:cNvPr id="12" name="Group 48"/>
              <p:cNvGrpSpPr>
                <a:grpSpLocks/>
              </p:cNvGrpSpPr>
              <p:nvPr/>
            </p:nvGrpSpPr>
            <p:grpSpPr bwMode="auto">
              <a:xfrm>
                <a:off x="1803" y="2160"/>
                <a:ext cx="2494" cy="199"/>
                <a:chOff x="1831" y="2670"/>
                <a:chExt cx="2494" cy="199"/>
              </a:xfrm>
            </p:grpSpPr>
            <p:sp>
              <p:nvSpPr>
                <p:cNvPr id="540729" name="Rectangle 49"/>
                <p:cNvSpPr>
                  <a:spLocks noChangeArrowheads="1"/>
                </p:cNvSpPr>
                <p:nvPr/>
              </p:nvSpPr>
              <p:spPr bwMode="auto">
                <a:xfrm>
                  <a:off x="3334" y="2670"/>
                  <a:ext cx="991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30" name="Rectangle 50"/>
                <p:cNvSpPr>
                  <a:spLocks noChangeArrowheads="1"/>
                </p:cNvSpPr>
                <p:nvPr/>
              </p:nvSpPr>
              <p:spPr bwMode="auto">
                <a:xfrm>
                  <a:off x="1831" y="2670"/>
                  <a:ext cx="114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31" name="Rectangle 51"/>
                <p:cNvSpPr>
                  <a:spLocks noChangeArrowheads="1"/>
                </p:cNvSpPr>
                <p:nvPr/>
              </p:nvSpPr>
              <p:spPr bwMode="auto">
                <a:xfrm>
                  <a:off x="2398" y="2670"/>
                  <a:ext cx="936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32" name="Rectangle 52"/>
                <p:cNvSpPr>
                  <a:spLocks noChangeArrowheads="1"/>
                </p:cNvSpPr>
                <p:nvPr/>
              </p:nvSpPr>
              <p:spPr bwMode="auto">
                <a:xfrm>
                  <a:off x="1945" y="2670"/>
                  <a:ext cx="113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33" name="Rectangle 53"/>
                <p:cNvSpPr>
                  <a:spLocks noChangeArrowheads="1"/>
                </p:cNvSpPr>
                <p:nvPr/>
              </p:nvSpPr>
              <p:spPr bwMode="auto">
                <a:xfrm>
                  <a:off x="2058" y="2671"/>
                  <a:ext cx="114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34" name="Rectangle 54"/>
                <p:cNvSpPr>
                  <a:spLocks noChangeArrowheads="1"/>
                </p:cNvSpPr>
                <p:nvPr/>
              </p:nvSpPr>
              <p:spPr bwMode="auto">
                <a:xfrm>
                  <a:off x="2172" y="2671"/>
                  <a:ext cx="114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35" name="Rectangle 55"/>
                <p:cNvSpPr>
                  <a:spLocks noChangeArrowheads="1"/>
                </p:cNvSpPr>
                <p:nvPr/>
              </p:nvSpPr>
              <p:spPr bwMode="auto">
                <a:xfrm>
                  <a:off x="2285" y="2670"/>
                  <a:ext cx="114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</p:grpSp>
          <p:grpSp>
            <p:nvGrpSpPr>
              <p:cNvPr id="13" name="Group 56"/>
              <p:cNvGrpSpPr>
                <a:grpSpLocks/>
              </p:cNvGrpSpPr>
              <p:nvPr/>
            </p:nvGrpSpPr>
            <p:grpSpPr bwMode="auto">
              <a:xfrm>
                <a:off x="2455" y="2166"/>
                <a:ext cx="181" cy="192"/>
                <a:chOff x="2256" y="2703"/>
                <a:chExt cx="181" cy="192"/>
              </a:xfrm>
            </p:grpSpPr>
            <p:sp>
              <p:nvSpPr>
                <p:cNvPr id="540727" name="Oval 57"/>
                <p:cNvSpPr>
                  <a:spLocks noChangeArrowheads="1"/>
                </p:cNvSpPr>
                <p:nvPr/>
              </p:nvSpPr>
              <p:spPr bwMode="auto">
                <a:xfrm>
                  <a:off x="2256" y="2727"/>
                  <a:ext cx="170" cy="14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0728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2256" y="2703"/>
                  <a:ext cx="181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1" hangingPunct="1"/>
                  <a:r>
                    <a:rPr lang="en-GB" sz="1400" b="0">
                      <a:latin typeface="Arial" pitchFamily="-112" charset="0"/>
                    </a:rPr>
                    <a:t>=</a:t>
                  </a:r>
                </a:p>
              </p:txBody>
            </p:sp>
          </p:grpSp>
          <p:sp>
            <p:nvSpPr>
              <p:cNvPr id="540726" name="Line 59"/>
              <p:cNvSpPr>
                <a:spLocks noChangeShapeType="1"/>
              </p:cNvSpPr>
              <p:nvPr/>
            </p:nvSpPr>
            <p:spPr bwMode="auto">
              <a:xfrm flipH="1">
                <a:off x="2625" y="2245"/>
                <a:ext cx="8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4" name="Group 60"/>
            <p:cNvGrpSpPr>
              <a:grpSpLocks/>
            </p:cNvGrpSpPr>
            <p:nvPr/>
          </p:nvGrpSpPr>
          <p:grpSpPr bwMode="auto">
            <a:xfrm>
              <a:off x="2496" y="2443"/>
              <a:ext cx="2494" cy="199"/>
              <a:chOff x="1803" y="2160"/>
              <a:chExt cx="2494" cy="199"/>
            </a:xfrm>
          </p:grpSpPr>
          <p:grpSp>
            <p:nvGrpSpPr>
              <p:cNvPr id="15" name="Group 61"/>
              <p:cNvGrpSpPr>
                <a:grpSpLocks/>
              </p:cNvGrpSpPr>
              <p:nvPr/>
            </p:nvGrpSpPr>
            <p:grpSpPr bwMode="auto">
              <a:xfrm>
                <a:off x="1803" y="2160"/>
                <a:ext cx="2494" cy="199"/>
                <a:chOff x="1831" y="2670"/>
                <a:chExt cx="2494" cy="199"/>
              </a:xfrm>
            </p:grpSpPr>
            <p:sp>
              <p:nvSpPr>
                <p:cNvPr id="540717" name="Rectangle 62"/>
                <p:cNvSpPr>
                  <a:spLocks noChangeArrowheads="1"/>
                </p:cNvSpPr>
                <p:nvPr/>
              </p:nvSpPr>
              <p:spPr bwMode="auto">
                <a:xfrm>
                  <a:off x="3334" y="2670"/>
                  <a:ext cx="991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18" name="Rectangle 63"/>
                <p:cNvSpPr>
                  <a:spLocks noChangeArrowheads="1"/>
                </p:cNvSpPr>
                <p:nvPr/>
              </p:nvSpPr>
              <p:spPr bwMode="auto">
                <a:xfrm>
                  <a:off x="1831" y="2670"/>
                  <a:ext cx="114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19" name="Rectangle 64"/>
                <p:cNvSpPr>
                  <a:spLocks noChangeArrowheads="1"/>
                </p:cNvSpPr>
                <p:nvPr/>
              </p:nvSpPr>
              <p:spPr bwMode="auto">
                <a:xfrm>
                  <a:off x="2398" y="2670"/>
                  <a:ext cx="936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20" name="Rectangle 65"/>
                <p:cNvSpPr>
                  <a:spLocks noChangeArrowheads="1"/>
                </p:cNvSpPr>
                <p:nvPr/>
              </p:nvSpPr>
              <p:spPr bwMode="auto">
                <a:xfrm>
                  <a:off x="1945" y="2670"/>
                  <a:ext cx="113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21" name="Rectangle 66"/>
                <p:cNvSpPr>
                  <a:spLocks noChangeArrowheads="1"/>
                </p:cNvSpPr>
                <p:nvPr/>
              </p:nvSpPr>
              <p:spPr bwMode="auto">
                <a:xfrm>
                  <a:off x="2058" y="2671"/>
                  <a:ext cx="114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22" name="Rectangle 67"/>
                <p:cNvSpPr>
                  <a:spLocks noChangeArrowheads="1"/>
                </p:cNvSpPr>
                <p:nvPr/>
              </p:nvSpPr>
              <p:spPr bwMode="auto">
                <a:xfrm>
                  <a:off x="2172" y="2671"/>
                  <a:ext cx="114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23" name="Rectangle 68"/>
                <p:cNvSpPr>
                  <a:spLocks noChangeArrowheads="1"/>
                </p:cNvSpPr>
                <p:nvPr/>
              </p:nvSpPr>
              <p:spPr bwMode="auto">
                <a:xfrm>
                  <a:off x="2285" y="2670"/>
                  <a:ext cx="114" cy="19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</p:grpSp>
          <p:grpSp>
            <p:nvGrpSpPr>
              <p:cNvPr id="16" name="Group 69"/>
              <p:cNvGrpSpPr>
                <a:grpSpLocks/>
              </p:cNvGrpSpPr>
              <p:nvPr/>
            </p:nvGrpSpPr>
            <p:grpSpPr bwMode="auto">
              <a:xfrm>
                <a:off x="2455" y="2166"/>
                <a:ext cx="181" cy="192"/>
                <a:chOff x="2256" y="2703"/>
                <a:chExt cx="181" cy="192"/>
              </a:xfrm>
            </p:grpSpPr>
            <p:sp>
              <p:nvSpPr>
                <p:cNvPr id="540715" name="Oval 70"/>
                <p:cNvSpPr>
                  <a:spLocks noChangeArrowheads="1"/>
                </p:cNvSpPr>
                <p:nvPr/>
              </p:nvSpPr>
              <p:spPr bwMode="auto">
                <a:xfrm>
                  <a:off x="2256" y="2727"/>
                  <a:ext cx="170" cy="14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0716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2256" y="2703"/>
                  <a:ext cx="181" cy="19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pPr eaLnBrk="1" hangingPunct="1"/>
                  <a:r>
                    <a:rPr lang="en-GB" sz="1400" b="0">
                      <a:latin typeface="Arial" pitchFamily="-112" charset="0"/>
                    </a:rPr>
                    <a:t>=</a:t>
                  </a:r>
                </a:p>
              </p:txBody>
            </p:sp>
          </p:grpSp>
          <p:sp>
            <p:nvSpPr>
              <p:cNvPr id="540714" name="Line 72"/>
              <p:cNvSpPr>
                <a:spLocks noChangeShapeType="1"/>
              </p:cNvSpPr>
              <p:nvPr/>
            </p:nvSpPr>
            <p:spPr bwMode="auto">
              <a:xfrm flipH="1">
                <a:off x="2625" y="2245"/>
                <a:ext cx="8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7" name="Group 73"/>
            <p:cNvGrpSpPr>
              <a:grpSpLocks/>
            </p:cNvGrpSpPr>
            <p:nvPr/>
          </p:nvGrpSpPr>
          <p:grpSpPr bwMode="auto">
            <a:xfrm>
              <a:off x="2496" y="2046"/>
              <a:ext cx="2494" cy="199"/>
              <a:chOff x="1803" y="2556"/>
              <a:chExt cx="2494" cy="199"/>
            </a:xfrm>
          </p:grpSpPr>
          <p:grpSp>
            <p:nvGrpSpPr>
              <p:cNvPr id="18" name="Group 74"/>
              <p:cNvGrpSpPr>
                <a:grpSpLocks/>
              </p:cNvGrpSpPr>
              <p:nvPr/>
            </p:nvGrpSpPr>
            <p:grpSpPr bwMode="auto">
              <a:xfrm>
                <a:off x="1803" y="2556"/>
                <a:ext cx="2494" cy="199"/>
                <a:chOff x="1831" y="2670"/>
                <a:chExt cx="2494" cy="199"/>
              </a:xfrm>
            </p:grpSpPr>
            <p:sp>
              <p:nvSpPr>
                <p:cNvPr id="540705" name="Rectangle 75"/>
                <p:cNvSpPr>
                  <a:spLocks noChangeArrowheads="1"/>
                </p:cNvSpPr>
                <p:nvPr/>
              </p:nvSpPr>
              <p:spPr bwMode="auto">
                <a:xfrm>
                  <a:off x="3334" y="2670"/>
                  <a:ext cx="991" cy="19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06" name="Rectangle 76"/>
                <p:cNvSpPr>
                  <a:spLocks noChangeArrowheads="1"/>
                </p:cNvSpPr>
                <p:nvPr/>
              </p:nvSpPr>
              <p:spPr bwMode="auto">
                <a:xfrm>
                  <a:off x="1831" y="2670"/>
                  <a:ext cx="114" cy="19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07" name="Rectangle 77"/>
                <p:cNvSpPr>
                  <a:spLocks noChangeArrowheads="1"/>
                </p:cNvSpPr>
                <p:nvPr/>
              </p:nvSpPr>
              <p:spPr bwMode="auto">
                <a:xfrm>
                  <a:off x="2398" y="2670"/>
                  <a:ext cx="936" cy="19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08" name="Rectangle 78"/>
                <p:cNvSpPr>
                  <a:spLocks noChangeArrowheads="1"/>
                </p:cNvSpPr>
                <p:nvPr/>
              </p:nvSpPr>
              <p:spPr bwMode="auto">
                <a:xfrm>
                  <a:off x="1945" y="2670"/>
                  <a:ext cx="113" cy="19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09" name="Rectangle 79"/>
                <p:cNvSpPr>
                  <a:spLocks noChangeArrowheads="1"/>
                </p:cNvSpPr>
                <p:nvPr/>
              </p:nvSpPr>
              <p:spPr bwMode="auto">
                <a:xfrm>
                  <a:off x="2058" y="2671"/>
                  <a:ext cx="114" cy="19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10" name="Rectangle 80"/>
                <p:cNvSpPr>
                  <a:spLocks noChangeArrowheads="1"/>
                </p:cNvSpPr>
                <p:nvPr/>
              </p:nvSpPr>
              <p:spPr bwMode="auto">
                <a:xfrm>
                  <a:off x="2172" y="2671"/>
                  <a:ext cx="114" cy="19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  <p:sp>
              <p:nvSpPr>
                <p:cNvPr id="540711" name="Rectangle 81"/>
                <p:cNvSpPr>
                  <a:spLocks noChangeArrowheads="1"/>
                </p:cNvSpPr>
                <p:nvPr/>
              </p:nvSpPr>
              <p:spPr bwMode="auto">
                <a:xfrm>
                  <a:off x="2285" y="2670"/>
                  <a:ext cx="114" cy="19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endParaRPr lang="en-GB" sz="1000">
                    <a:latin typeface="Arial" pitchFamily="-112" charset="0"/>
                  </a:endParaRPr>
                </a:p>
              </p:txBody>
            </p:sp>
          </p:grpSp>
          <p:sp>
            <p:nvSpPr>
              <p:cNvPr id="540702" name="Oval 82"/>
              <p:cNvSpPr>
                <a:spLocks noChangeArrowheads="1"/>
              </p:cNvSpPr>
              <p:nvPr/>
            </p:nvSpPr>
            <p:spPr bwMode="auto">
              <a:xfrm>
                <a:off x="2455" y="2586"/>
                <a:ext cx="170" cy="14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0703" name="Line 83"/>
              <p:cNvSpPr>
                <a:spLocks noChangeShapeType="1"/>
              </p:cNvSpPr>
              <p:nvPr/>
            </p:nvSpPr>
            <p:spPr bwMode="auto">
              <a:xfrm flipH="1">
                <a:off x="2625" y="2641"/>
                <a:ext cx="85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0704" name="Text Box 84"/>
              <p:cNvSpPr txBox="1">
                <a:spLocks noChangeArrowheads="1"/>
              </p:cNvSpPr>
              <p:nvPr/>
            </p:nvSpPr>
            <p:spPr bwMode="auto">
              <a:xfrm>
                <a:off x="2455" y="2562"/>
                <a:ext cx="181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eaLnBrk="1" hangingPunct="1"/>
                <a:r>
                  <a:rPr lang="en-GB" sz="1400" b="0">
                    <a:latin typeface="Arial" pitchFamily="-112" charset="0"/>
                  </a:rPr>
                  <a:t>=</a:t>
                </a:r>
              </a:p>
            </p:txBody>
          </p:sp>
        </p:grpSp>
        <p:sp>
          <p:nvSpPr>
            <p:cNvPr id="540687" name="Line 85"/>
            <p:cNvSpPr>
              <a:spLocks noChangeShapeType="1"/>
            </p:cNvSpPr>
            <p:nvPr/>
          </p:nvSpPr>
          <p:spPr bwMode="auto">
            <a:xfrm flipV="1">
              <a:off x="3403" y="1111"/>
              <a:ext cx="0" cy="1418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688" name="Line 86"/>
            <p:cNvSpPr>
              <a:spLocks noChangeShapeType="1"/>
            </p:cNvSpPr>
            <p:nvPr/>
          </p:nvSpPr>
          <p:spPr bwMode="auto">
            <a:xfrm>
              <a:off x="2540" y="2160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689" name="Text Box 87"/>
            <p:cNvSpPr txBox="1">
              <a:spLocks noChangeArrowheads="1"/>
            </p:cNvSpPr>
            <p:nvPr/>
          </p:nvSpPr>
          <p:spPr bwMode="auto">
            <a:xfrm>
              <a:off x="2341" y="2812"/>
              <a:ext cx="391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000">
                  <a:solidFill>
                    <a:schemeClr val="accent2"/>
                  </a:solidFill>
                  <a:latin typeface="Arial" pitchFamily="-112" charset="0"/>
                </a:rPr>
                <a:t>TLB hit</a:t>
              </a:r>
            </a:p>
          </p:txBody>
        </p:sp>
        <p:sp>
          <p:nvSpPr>
            <p:cNvPr id="540690" name="Rectangle 88"/>
            <p:cNvSpPr>
              <a:spLocks noChangeArrowheads="1"/>
            </p:cNvSpPr>
            <p:nvPr/>
          </p:nvSpPr>
          <p:spPr bwMode="auto">
            <a:xfrm>
              <a:off x="4013" y="3011"/>
              <a:ext cx="992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000">
                  <a:latin typeface="Arial" pitchFamily="-112" charset="0"/>
                </a:rPr>
                <a:t>Physical Page Number</a:t>
              </a:r>
            </a:p>
          </p:txBody>
        </p:sp>
        <p:sp>
          <p:nvSpPr>
            <p:cNvPr id="540691" name="Rectangle 89"/>
            <p:cNvSpPr>
              <a:spLocks noChangeArrowheads="1"/>
            </p:cNvSpPr>
            <p:nvPr/>
          </p:nvSpPr>
          <p:spPr bwMode="auto">
            <a:xfrm>
              <a:off x="4978" y="3011"/>
              <a:ext cx="68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000">
                  <a:latin typeface="Arial" pitchFamily="-112" charset="0"/>
                </a:rPr>
                <a:t>PageOffset</a:t>
              </a:r>
            </a:p>
          </p:txBody>
        </p:sp>
        <p:sp>
          <p:nvSpPr>
            <p:cNvPr id="540692" name="Text Box 90"/>
            <p:cNvSpPr txBox="1">
              <a:spLocks noChangeArrowheads="1"/>
            </p:cNvSpPr>
            <p:nvPr/>
          </p:nvSpPr>
          <p:spPr bwMode="auto">
            <a:xfrm>
              <a:off x="3985" y="2869"/>
              <a:ext cx="19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900">
                  <a:latin typeface="Arial" pitchFamily="-112" charset="0"/>
                </a:rPr>
                <a:t>31</a:t>
              </a:r>
            </a:p>
          </p:txBody>
        </p:sp>
        <p:sp>
          <p:nvSpPr>
            <p:cNvPr id="540693" name="Text Box 91"/>
            <p:cNvSpPr txBox="1">
              <a:spLocks noChangeArrowheads="1"/>
            </p:cNvSpPr>
            <p:nvPr/>
          </p:nvSpPr>
          <p:spPr bwMode="auto">
            <a:xfrm>
              <a:off x="5559" y="2869"/>
              <a:ext cx="1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900">
                  <a:latin typeface="Arial" pitchFamily="-112" charset="0"/>
                </a:rPr>
                <a:t>0</a:t>
              </a:r>
            </a:p>
          </p:txBody>
        </p:sp>
        <p:sp>
          <p:nvSpPr>
            <p:cNvPr id="540694" name="Text Box 92"/>
            <p:cNvSpPr txBox="1">
              <a:spLocks noChangeArrowheads="1"/>
            </p:cNvSpPr>
            <p:nvPr/>
          </p:nvSpPr>
          <p:spPr bwMode="auto">
            <a:xfrm>
              <a:off x="4921" y="2869"/>
              <a:ext cx="19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900">
                  <a:latin typeface="Arial" pitchFamily="-112" charset="0"/>
                </a:rPr>
                <a:t>11</a:t>
              </a:r>
            </a:p>
          </p:txBody>
        </p:sp>
        <p:sp>
          <p:nvSpPr>
            <p:cNvPr id="540695" name="Text Box 93"/>
            <p:cNvSpPr txBox="1">
              <a:spLocks noChangeArrowheads="1"/>
            </p:cNvSpPr>
            <p:nvPr/>
          </p:nvSpPr>
          <p:spPr bwMode="auto">
            <a:xfrm>
              <a:off x="4779" y="2869"/>
              <a:ext cx="19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900">
                  <a:latin typeface="Arial" pitchFamily="-112" charset="0"/>
                </a:rPr>
                <a:t>12</a:t>
              </a:r>
            </a:p>
          </p:txBody>
        </p:sp>
        <p:sp>
          <p:nvSpPr>
            <p:cNvPr id="540696" name="Text Box 94"/>
            <p:cNvSpPr txBox="1">
              <a:spLocks noChangeArrowheads="1"/>
            </p:cNvSpPr>
            <p:nvPr/>
          </p:nvSpPr>
          <p:spPr bwMode="auto">
            <a:xfrm>
              <a:off x="3290" y="2869"/>
              <a:ext cx="65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800" b="0">
                  <a:latin typeface="Arial" pitchFamily="-112" charset="0"/>
                </a:rPr>
                <a:t>Physical</a:t>
              </a:r>
            </a:p>
            <a:p>
              <a:pPr eaLnBrk="1" hangingPunct="1"/>
              <a:r>
                <a:rPr lang="en-GB" sz="1800" b="0">
                  <a:latin typeface="Arial" pitchFamily="-112" charset="0"/>
                </a:rPr>
                <a:t>Address</a:t>
              </a:r>
            </a:p>
          </p:txBody>
        </p:sp>
        <p:sp>
          <p:nvSpPr>
            <p:cNvPr id="540697" name="Line 95"/>
            <p:cNvSpPr>
              <a:spLocks noChangeShapeType="1"/>
            </p:cNvSpPr>
            <p:nvPr/>
          </p:nvSpPr>
          <p:spPr bwMode="auto">
            <a:xfrm flipV="1">
              <a:off x="4480" y="2160"/>
              <a:ext cx="0" cy="823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 type="triangle" w="med" len="med"/>
              <a:tailEnd type="oval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698" name="Line 96"/>
            <p:cNvSpPr>
              <a:spLocks noChangeShapeType="1"/>
            </p:cNvSpPr>
            <p:nvPr/>
          </p:nvSpPr>
          <p:spPr bwMode="auto">
            <a:xfrm>
              <a:off x="4168" y="1111"/>
              <a:ext cx="0" cy="199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699" name="Line 97"/>
            <p:cNvSpPr>
              <a:spLocks noChangeShapeType="1"/>
            </p:cNvSpPr>
            <p:nvPr/>
          </p:nvSpPr>
          <p:spPr bwMode="auto">
            <a:xfrm>
              <a:off x="4168" y="1310"/>
              <a:ext cx="113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700" name="Line 98"/>
            <p:cNvSpPr>
              <a:spLocks noChangeShapeType="1"/>
            </p:cNvSpPr>
            <p:nvPr/>
          </p:nvSpPr>
          <p:spPr bwMode="auto">
            <a:xfrm>
              <a:off x="5302" y="1310"/>
              <a:ext cx="0" cy="1701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3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73D0F5C-4108-204D-9547-96BC24E1DC7E}" type="slidenum">
              <a:rPr lang="en-US"/>
              <a:pPr>
                <a:defRPr/>
              </a:pPr>
              <a:t>12</a:t>
            </a:fld>
            <a:endParaRPr lang="en-US">
              <a:latin typeface="Garamond" pitchFamily="-112" charset="0"/>
            </a:endParaRPr>
          </a:p>
        </p:txBody>
      </p:sp>
      <p:sp>
        <p:nvSpPr>
          <p:cNvPr id="4976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300" dirty="0"/>
              <a:t>How to address a cache in a virtual-memory system</a:t>
            </a:r>
          </a:p>
        </p:txBody>
      </p:sp>
      <p:sp>
        <p:nvSpPr>
          <p:cNvPr id="4976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4343400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>
                <a:sym typeface="Symbol" pitchFamily="-112" charset="2"/>
              </a:rPr>
              <a:t>Option 1: </a:t>
            </a:r>
            <a:r>
              <a:rPr lang="en-US" sz="2000" dirty="0">
                <a:solidFill>
                  <a:srgbClr val="0000FF"/>
                </a:solidFill>
                <a:sym typeface="Symbol" pitchFamily="-112" charset="2"/>
              </a:rPr>
              <a:t>physically-addressed caches </a:t>
            </a:r>
            <a:r>
              <a:rPr lang="en-US" sz="2000" dirty="0">
                <a:sym typeface="Symbol" pitchFamily="-112" charset="2"/>
              </a:rPr>
              <a:t> perform address translation before cache access</a:t>
            </a:r>
          </a:p>
          <a:p>
            <a:pPr lvl="1"/>
            <a:r>
              <a:rPr lang="en-US" sz="1800" dirty="0">
                <a:sym typeface="Symbol" pitchFamily="-112" charset="2"/>
              </a:rPr>
              <a:t>Hit time is increased to accommodate translation  </a:t>
            </a:r>
            <a:r>
              <a:rPr lang="en-US" sz="1800" dirty="0">
                <a:sym typeface="Wingdings"/>
              </a:rPr>
              <a:t></a:t>
            </a:r>
            <a:endParaRPr lang="en-US" sz="1800" dirty="0">
              <a:sym typeface="Symbol" pitchFamily="-112" charset="2"/>
            </a:endParaRPr>
          </a:p>
        </p:txBody>
      </p:sp>
      <p:grpSp>
        <p:nvGrpSpPr>
          <p:cNvPr id="38" name="Group 5"/>
          <p:cNvGrpSpPr>
            <a:grpSpLocks/>
          </p:cNvGrpSpPr>
          <p:nvPr/>
        </p:nvGrpSpPr>
        <p:grpSpPr bwMode="auto">
          <a:xfrm>
            <a:off x="1905000" y="3437384"/>
            <a:ext cx="654050" cy="533400"/>
            <a:chOff x="432" y="2784"/>
            <a:chExt cx="412" cy="336"/>
          </a:xfrm>
        </p:grpSpPr>
        <p:sp>
          <p:nvSpPr>
            <p:cNvPr id="39" name="Oval 6"/>
            <p:cNvSpPr>
              <a:spLocks noChangeArrowheads="1"/>
            </p:cNvSpPr>
            <p:nvPr/>
          </p:nvSpPr>
          <p:spPr bwMode="auto">
            <a:xfrm>
              <a:off x="446" y="2784"/>
              <a:ext cx="384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Text Box 7"/>
            <p:cNvSpPr txBox="1">
              <a:spLocks noChangeArrowheads="1"/>
            </p:cNvSpPr>
            <p:nvPr/>
          </p:nvSpPr>
          <p:spPr bwMode="auto">
            <a:xfrm>
              <a:off x="432" y="2832"/>
              <a:ext cx="412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CPU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1" name="Rectangle 8"/>
          <p:cNvSpPr>
            <a:spLocks noChangeArrowheads="1"/>
          </p:cNvSpPr>
          <p:nvPr/>
        </p:nvSpPr>
        <p:spPr bwMode="auto">
          <a:xfrm>
            <a:off x="4191000" y="4275584"/>
            <a:ext cx="381000" cy="838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Rectangle 9"/>
          <p:cNvSpPr>
            <a:spLocks noChangeArrowheads="1"/>
          </p:cNvSpPr>
          <p:nvPr/>
        </p:nvSpPr>
        <p:spPr bwMode="auto">
          <a:xfrm>
            <a:off x="4572000" y="4275584"/>
            <a:ext cx="685800" cy="838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Text Box 10"/>
          <p:cNvSpPr txBox="1">
            <a:spLocks noChangeArrowheads="1"/>
          </p:cNvSpPr>
          <p:nvPr/>
        </p:nvSpPr>
        <p:spPr bwMode="auto">
          <a:xfrm>
            <a:off x="4191000" y="3894584"/>
            <a:ext cx="10350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L1 cache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4" name="Text Box 11"/>
          <p:cNvSpPr txBox="1">
            <a:spLocks noChangeArrowheads="1"/>
          </p:cNvSpPr>
          <p:nvPr/>
        </p:nvSpPr>
        <p:spPr bwMode="auto">
          <a:xfrm>
            <a:off x="4114800" y="4504184"/>
            <a:ext cx="4889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tag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5" name="Text Box 12"/>
          <p:cNvSpPr txBox="1">
            <a:spLocks noChangeArrowheads="1"/>
          </p:cNvSpPr>
          <p:nvPr/>
        </p:nvSpPr>
        <p:spPr bwMode="auto">
          <a:xfrm>
            <a:off x="4648200" y="4504184"/>
            <a:ext cx="60007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data</a:t>
            </a:r>
            <a:endParaRPr lang="en-GB" sz="1800">
              <a:solidFill>
                <a:srgbClr val="FF0000"/>
              </a:solidFill>
            </a:endParaRPr>
          </a:p>
        </p:txBody>
      </p:sp>
      <p:grpSp>
        <p:nvGrpSpPr>
          <p:cNvPr id="46" name="Group 13"/>
          <p:cNvGrpSpPr>
            <a:grpSpLocks/>
          </p:cNvGrpSpPr>
          <p:nvPr/>
        </p:nvGrpSpPr>
        <p:grpSpPr bwMode="auto">
          <a:xfrm>
            <a:off x="4267200" y="5418584"/>
            <a:ext cx="304800" cy="366713"/>
            <a:chOff x="3936" y="2932"/>
            <a:chExt cx="192" cy="231"/>
          </a:xfrm>
        </p:grpSpPr>
        <p:sp>
          <p:nvSpPr>
            <p:cNvPr id="47" name="Oval 14"/>
            <p:cNvSpPr>
              <a:spLocks noChangeArrowheads="1"/>
            </p:cNvSpPr>
            <p:nvPr/>
          </p:nvSpPr>
          <p:spPr bwMode="auto">
            <a:xfrm>
              <a:off x="3936" y="2952"/>
              <a:ext cx="192" cy="192"/>
            </a:xfrm>
            <a:prstGeom prst="ellipse">
              <a:avLst/>
            </a:prstGeom>
            <a:solidFill>
              <a:srgbClr val="FF0000">
                <a:alpha val="30196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3944" y="2932"/>
              <a:ext cx="176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?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9" name="Line 16"/>
          <p:cNvSpPr>
            <a:spLocks noChangeShapeType="1"/>
          </p:cNvSpPr>
          <p:nvPr/>
        </p:nvSpPr>
        <p:spPr bwMode="auto">
          <a:xfrm flipH="1">
            <a:off x="3886200" y="4580384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Line 17"/>
          <p:cNvSpPr>
            <a:spLocks noChangeShapeType="1"/>
          </p:cNvSpPr>
          <p:nvPr/>
        </p:nvSpPr>
        <p:spPr bwMode="auto">
          <a:xfrm>
            <a:off x="3429000" y="3742184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Line 18"/>
          <p:cNvSpPr>
            <a:spLocks noChangeShapeType="1"/>
          </p:cNvSpPr>
          <p:nvPr/>
        </p:nvSpPr>
        <p:spPr bwMode="auto">
          <a:xfrm flipV="1">
            <a:off x="3886200" y="3810000"/>
            <a:ext cx="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Line 19"/>
          <p:cNvSpPr>
            <a:spLocks noChangeShapeType="1"/>
          </p:cNvSpPr>
          <p:nvPr/>
        </p:nvSpPr>
        <p:spPr bwMode="auto">
          <a:xfrm rot="5400000" flipH="1">
            <a:off x="4267200" y="5266184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Line 20"/>
          <p:cNvSpPr>
            <a:spLocks noChangeShapeType="1"/>
          </p:cNvSpPr>
          <p:nvPr/>
        </p:nvSpPr>
        <p:spPr bwMode="auto">
          <a:xfrm flipH="1">
            <a:off x="3886200" y="5570984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Line 21"/>
          <p:cNvSpPr>
            <a:spLocks noChangeShapeType="1"/>
          </p:cNvSpPr>
          <p:nvPr/>
        </p:nvSpPr>
        <p:spPr bwMode="auto">
          <a:xfrm>
            <a:off x="4876800" y="5113784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Line 22"/>
          <p:cNvSpPr>
            <a:spLocks noChangeShapeType="1"/>
          </p:cNvSpPr>
          <p:nvPr/>
        </p:nvSpPr>
        <p:spPr bwMode="auto">
          <a:xfrm flipH="1">
            <a:off x="2209800" y="5951984"/>
            <a:ext cx="266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Line 23"/>
          <p:cNvSpPr>
            <a:spLocks noChangeShapeType="1"/>
          </p:cNvSpPr>
          <p:nvPr/>
        </p:nvSpPr>
        <p:spPr bwMode="auto">
          <a:xfrm flipV="1">
            <a:off x="2209800" y="3970784"/>
            <a:ext cx="0" cy="1981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7" name="Group 24"/>
          <p:cNvGrpSpPr>
            <a:grpSpLocks/>
          </p:cNvGrpSpPr>
          <p:nvPr/>
        </p:nvGrpSpPr>
        <p:grpSpPr bwMode="auto">
          <a:xfrm>
            <a:off x="7086600" y="3513584"/>
            <a:ext cx="990600" cy="914400"/>
            <a:chOff x="4416" y="2400"/>
            <a:chExt cx="624" cy="576"/>
          </a:xfrm>
        </p:grpSpPr>
        <p:sp>
          <p:nvSpPr>
            <p:cNvPr id="58" name="AutoShape 25"/>
            <p:cNvSpPr>
              <a:spLocks noChangeArrowheads="1"/>
            </p:cNvSpPr>
            <p:nvPr/>
          </p:nvSpPr>
          <p:spPr bwMode="auto">
            <a:xfrm>
              <a:off x="4416" y="2400"/>
              <a:ext cx="624" cy="576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Text Box 26"/>
            <p:cNvSpPr txBox="1">
              <a:spLocks noChangeArrowheads="1"/>
            </p:cNvSpPr>
            <p:nvPr/>
          </p:nvSpPr>
          <p:spPr bwMode="auto">
            <a:xfrm>
              <a:off x="4417" y="2496"/>
              <a:ext cx="619" cy="4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sz="1800"/>
                <a:t>Main</a:t>
              </a:r>
            </a:p>
            <a:p>
              <a:pPr algn="ctr"/>
              <a:r>
                <a:rPr lang="en-GB" sz="1800"/>
                <a:t>memory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60" name="Line 27"/>
          <p:cNvSpPr>
            <a:spLocks noChangeShapeType="1"/>
          </p:cNvSpPr>
          <p:nvPr/>
        </p:nvSpPr>
        <p:spPr bwMode="auto">
          <a:xfrm flipV="1">
            <a:off x="7543800" y="4427984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Line 28"/>
          <p:cNvSpPr>
            <a:spLocks noChangeShapeType="1"/>
          </p:cNvSpPr>
          <p:nvPr/>
        </p:nvSpPr>
        <p:spPr bwMode="auto">
          <a:xfrm flipH="1">
            <a:off x="5257800" y="4732784"/>
            <a:ext cx="228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Rectangle 47"/>
          <p:cNvSpPr>
            <a:spLocks noChangeArrowheads="1"/>
          </p:cNvSpPr>
          <p:nvPr/>
        </p:nvSpPr>
        <p:spPr bwMode="auto">
          <a:xfrm>
            <a:off x="3048000" y="3589784"/>
            <a:ext cx="381000" cy="381000"/>
          </a:xfrm>
          <a:prstGeom prst="rect">
            <a:avLst/>
          </a:prstGeom>
          <a:solidFill>
            <a:srgbClr val="00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" name="Text Box 50"/>
          <p:cNvSpPr txBox="1">
            <a:spLocks noChangeArrowheads="1"/>
          </p:cNvSpPr>
          <p:nvPr/>
        </p:nvSpPr>
        <p:spPr bwMode="auto">
          <a:xfrm>
            <a:off x="2516188" y="3970784"/>
            <a:ext cx="1214437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800">
                <a:solidFill>
                  <a:srgbClr val="0000FF"/>
                </a:solidFill>
              </a:rPr>
              <a:t>address</a:t>
            </a:r>
          </a:p>
          <a:p>
            <a:pPr algn="ctr"/>
            <a:r>
              <a:rPr lang="en-GB" sz="1800">
                <a:solidFill>
                  <a:srgbClr val="0000FF"/>
                </a:solidFill>
              </a:rPr>
              <a:t>translation</a:t>
            </a:r>
          </a:p>
        </p:txBody>
      </p:sp>
      <p:sp>
        <p:nvSpPr>
          <p:cNvPr id="65" name="Line 51"/>
          <p:cNvSpPr>
            <a:spLocks noChangeShapeType="1"/>
          </p:cNvSpPr>
          <p:nvPr/>
        </p:nvSpPr>
        <p:spPr bwMode="auto">
          <a:xfrm flipH="1">
            <a:off x="2514600" y="3742184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Text Box 30"/>
          <p:cNvSpPr txBox="1">
            <a:spLocks noChangeArrowheads="1"/>
          </p:cNvSpPr>
          <p:nvPr/>
        </p:nvSpPr>
        <p:spPr bwMode="auto">
          <a:xfrm>
            <a:off x="831927" y="2996952"/>
            <a:ext cx="1723849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 dirty="0">
                <a:solidFill>
                  <a:srgbClr val="FF0000"/>
                </a:solidFill>
                <a:latin typeface="Garamond"/>
                <a:cs typeface="Garamond"/>
              </a:rPr>
              <a:t>Virtual address:</a:t>
            </a:r>
          </a:p>
          <a:p>
            <a:r>
              <a:rPr lang="en-GB" sz="1800" dirty="0">
                <a:solidFill>
                  <a:srgbClr val="FF0000"/>
                </a:solidFill>
                <a:latin typeface="Lucida Console" pitchFamily="-112" charset="0"/>
              </a:rPr>
              <a:t>0x0004</a:t>
            </a:r>
          </a:p>
        </p:txBody>
      </p:sp>
      <p:sp>
        <p:nvSpPr>
          <p:cNvPr id="68" name="Text Box 30"/>
          <p:cNvSpPr txBox="1">
            <a:spLocks noChangeArrowheads="1"/>
          </p:cNvSpPr>
          <p:nvPr/>
        </p:nvSpPr>
        <p:spPr bwMode="auto">
          <a:xfrm>
            <a:off x="3644493" y="3068960"/>
            <a:ext cx="1863611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 dirty="0">
                <a:solidFill>
                  <a:srgbClr val="FF0000"/>
                </a:solidFill>
                <a:latin typeface="Garamond"/>
                <a:cs typeface="Garamond"/>
              </a:rPr>
              <a:t>Physical address:</a:t>
            </a:r>
          </a:p>
          <a:p>
            <a:r>
              <a:rPr lang="en-GB" sz="1800" dirty="0">
                <a:solidFill>
                  <a:srgbClr val="FF0000"/>
                </a:solidFill>
                <a:latin typeface="Lucida Console" pitchFamily="-112" charset="0"/>
              </a:rPr>
              <a:t>0xc104</a:t>
            </a:r>
          </a:p>
        </p:txBody>
      </p:sp>
    </p:spTree>
    <p:extLst>
      <p:ext uri="{BB962C8B-B14F-4D97-AF65-F5344CB8AC3E}">
        <p14:creationId xmlns:p14="http://schemas.microsoft.com/office/powerpoint/2010/main" val="166120585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3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4A5C509-2110-C540-A6A8-7C6C1F1F8F05}" type="slidenum">
              <a:rPr lang="en-US"/>
              <a:pPr>
                <a:defRPr/>
              </a:pPr>
              <a:t>13</a:t>
            </a:fld>
            <a:endParaRPr lang="en-US">
              <a:latin typeface="Garamond" pitchFamily="-112" charset="0"/>
            </a:endParaRPr>
          </a:p>
        </p:txBody>
      </p:sp>
      <p:sp>
        <p:nvSpPr>
          <p:cNvPr id="4997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382000" cy="4343400"/>
          </a:xfrm>
        </p:spPr>
        <p:txBody>
          <a:bodyPr/>
          <a:lstStyle/>
          <a:p>
            <a:pPr marL="57150" indent="0">
              <a:spcBef>
                <a:spcPts val="600"/>
              </a:spcBef>
              <a:buNone/>
            </a:pPr>
            <a:r>
              <a:rPr lang="en-US" sz="2000" dirty="0">
                <a:sym typeface="Symbol" pitchFamily="-112" charset="2"/>
              </a:rPr>
              <a:t>Option 2: </a:t>
            </a:r>
            <a:r>
              <a:rPr lang="en-US" sz="2000" dirty="0">
                <a:solidFill>
                  <a:srgbClr val="0000FF"/>
                </a:solidFill>
                <a:sym typeface="Symbol" pitchFamily="-112" charset="2"/>
              </a:rPr>
              <a:t>virtually-addressed caches </a:t>
            </a:r>
            <a:r>
              <a:rPr lang="en-US" sz="2000" dirty="0">
                <a:sym typeface="Symbol" pitchFamily="-112" charset="2"/>
              </a:rPr>
              <a:t> perform address translation after cache access if miss</a:t>
            </a:r>
          </a:p>
          <a:p>
            <a:pPr lvl="1"/>
            <a:r>
              <a:rPr lang="en-US" sz="1800" dirty="0">
                <a:sym typeface="Symbol" pitchFamily="-112" charset="2"/>
              </a:rPr>
              <a:t>Hit time does not include translation  </a:t>
            </a:r>
            <a:r>
              <a:rPr lang="en-US" sz="1800" dirty="0">
                <a:sym typeface="Wingdings"/>
              </a:rPr>
              <a:t> </a:t>
            </a:r>
          </a:p>
          <a:p>
            <a:pPr lvl="1"/>
            <a:r>
              <a:rPr lang="en-US" sz="1800" dirty="0">
                <a:sym typeface="Wingdings"/>
              </a:rPr>
              <a:t>Aliases </a:t>
            </a:r>
            <a:endParaRPr lang="en-US" sz="1800" dirty="0">
              <a:sym typeface="Symbol" pitchFamily="-112" charset="2"/>
            </a:endParaRPr>
          </a:p>
        </p:txBody>
      </p:sp>
      <p:grpSp>
        <p:nvGrpSpPr>
          <p:cNvPr id="499718" name="Group 5"/>
          <p:cNvGrpSpPr>
            <a:grpSpLocks/>
          </p:cNvGrpSpPr>
          <p:nvPr/>
        </p:nvGrpSpPr>
        <p:grpSpPr bwMode="auto">
          <a:xfrm>
            <a:off x="1905000" y="3434680"/>
            <a:ext cx="654050" cy="533400"/>
            <a:chOff x="432" y="2784"/>
            <a:chExt cx="412" cy="336"/>
          </a:xfrm>
        </p:grpSpPr>
        <p:sp>
          <p:nvSpPr>
            <p:cNvPr id="499745" name="Oval 6"/>
            <p:cNvSpPr>
              <a:spLocks noChangeArrowheads="1"/>
            </p:cNvSpPr>
            <p:nvPr/>
          </p:nvSpPr>
          <p:spPr bwMode="auto">
            <a:xfrm>
              <a:off x="446" y="2784"/>
              <a:ext cx="384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746" name="Text Box 7"/>
            <p:cNvSpPr txBox="1">
              <a:spLocks noChangeArrowheads="1"/>
            </p:cNvSpPr>
            <p:nvPr/>
          </p:nvSpPr>
          <p:spPr bwMode="auto">
            <a:xfrm>
              <a:off x="432" y="2832"/>
              <a:ext cx="412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CPU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99719" name="Rectangle 8"/>
          <p:cNvSpPr>
            <a:spLocks noChangeArrowheads="1"/>
          </p:cNvSpPr>
          <p:nvPr/>
        </p:nvSpPr>
        <p:spPr bwMode="auto">
          <a:xfrm>
            <a:off x="3276600" y="4272880"/>
            <a:ext cx="381000" cy="838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20" name="Rectangle 9"/>
          <p:cNvSpPr>
            <a:spLocks noChangeArrowheads="1"/>
          </p:cNvSpPr>
          <p:nvPr/>
        </p:nvSpPr>
        <p:spPr bwMode="auto">
          <a:xfrm>
            <a:off x="3657600" y="4272880"/>
            <a:ext cx="685800" cy="8382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21" name="Text Box 10"/>
          <p:cNvSpPr txBox="1">
            <a:spLocks noChangeArrowheads="1"/>
          </p:cNvSpPr>
          <p:nvPr/>
        </p:nvSpPr>
        <p:spPr bwMode="auto">
          <a:xfrm>
            <a:off x="3276600" y="3891880"/>
            <a:ext cx="10350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L1 cache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99722" name="Text Box 11"/>
          <p:cNvSpPr txBox="1">
            <a:spLocks noChangeArrowheads="1"/>
          </p:cNvSpPr>
          <p:nvPr/>
        </p:nvSpPr>
        <p:spPr bwMode="auto">
          <a:xfrm>
            <a:off x="3200400" y="4501480"/>
            <a:ext cx="4889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tag</a:t>
            </a:r>
            <a:endParaRPr lang="en-GB" sz="1800">
              <a:solidFill>
                <a:srgbClr val="FF0000"/>
              </a:solidFill>
            </a:endParaRPr>
          </a:p>
        </p:txBody>
      </p:sp>
      <p:sp>
        <p:nvSpPr>
          <p:cNvPr id="499723" name="Text Box 12"/>
          <p:cNvSpPr txBox="1">
            <a:spLocks noChangeArrowheads="1"/>
          </p:cNvSpPr>
          <p:nvPr/>
        </p:nvSpPr>
        <p:spPr bwMode="auto">
          <a:xfrm>
            <a:off x="3733800" y="4501480"/>
            <a:ext cx="600075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/>
              <a:t>data</a:t>
            </a:r>
            <a:endParaRPr lang="en-GB" sz="1800">
              <a:solidFill>
                <a:srgbClr val="FF0000"/>
              </a:solidFill>
            </a:endParaRPr>
          </a:p>
        </p:txBody>
      </p:sp>
      <p:grpSp>
        <p:nvGrpSpPr>
          <p:cNvPr id="499724" name="Group 13"/>
          <p:cNvGrpSpPr>
            <a:grpSpLocks/>
          </p:cNvGrpSpPr>
          <p:nvPr/>
        </p:nvGrpSpPr>
        <p:grpSpPr bwMode="auto">
          <a:xfrm>
            <a:off x="3352800" y="5415880"/>
            <a:ext cx="304800" cy="366713"/>
            <a:chOff x="3936" y="2932"/>
            <a:chExt cx="192" cy="231"/>
          </a:xfrm>
        </p:grpSpPr>
        <p:sp>
          <p:nvSpPr>
            <p:cNvPr id="499743" name="Oval 14"/>
            <p:cNvSpPr>
              <a:spLocks noChangeArrowheads="1"/>
            </p:cNvSpPr>
            <p:nvPr/>
          </p:nvSpPr>
          <p:spPr bwMode="auto">
            <a:xfrm>
              <a:off x="3936" y="2952"/>
              <a:ext cx="192" cy="192"/>
            </a:xfrm>
            <a:prstGeom prst="ellipse">
              <a:avLst/>
            </a:prstGeom>
            <a:solidFill>
              <a:srgbClr val="FF0000">
                <a:alpha val="30196"/>
              </a:srgbClr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744" name="Text Box 15"/>
            <p:cNvSpPr txBox="1">
              <a:spLocks noChangeArrowheads="1"/>
            </p:cNvSpPr>
            <p:nvPr/>
          </p:nvSpPr>
          <p:spPr bwMode="auto">
            <a:xfrm>
              <a:off x="3944" y="2932"/>
              <a:ext cx="176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GB" sz="1800"/>
                <a:t>?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99725" name="Line 16"/>
          <p:cNvSpPr>
            <a:spLocks noChangeShapeType="1"/>
          </p:cNvSpPr>
          <p:nvPr/>
        </p:nvSpPr>
        <p:spPr bwMode="auto">
          <a:xfrm flipH="1">
            <a:off x="2971800" y="457768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26" name="Line 17"/>
          <p:cNvSpPr>
            <a:spLocks noChangeShapeType="1"/>
          </p:cNvSpPr>
          <p:nvPr/>
        </p:nvSpPr>
        <p:spPr bwMode="auto">
          <a:xfrm>
            <a:off x="5486400" y="373948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27" name="Line 18"/>
          <p:cNvSpPr>
            <a:spLocks noChangeShapeType="1"/>
          </p:cNvSpPr>
          <p:nvPr/>
        </p:nvSpPr>
        <p:spPr bwMode="auto">
          <a:xfrm flipV="1">
            <a:off x="2971800" y="3739480"/>
            <a:ext cx="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28" name="Line 19"/>
          <p:cNvSpPr>
            <a:spLocks noChangeShapeType="1"/>
          </p:cNvSpPr>
          <p:nvPr/>
        </p:nvSpPr>
        <p:spPr bwMode="auto">
          <a:xfrm rot="5400000" flipH="1">
            <a:off x="3352800" y="526348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29" name="Line 20"/>
          <p:cNvSpPr>
            <a:spLocks noChangeShapeType="1"/>
          </p:cNvSpPr>
          <p:nvPr/>
        </p:nvSpPr>
        <p:spPr bwMode="auto">
          <a:xfrm flipH="1">
            <a:off x="2971800" y="556828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30" name="Line 21"/>
          <p:cNvSpPr>
            <a:spLocks noChangeShapeType="1"/>
          </p:cNvSpPr>
          <p:nvPr/>
        </p:nvSpPr>
        <p:spPr bwMode="auto">
          <a:xfrm>
            <a:off x="3962400" y="511108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31" name="Line 22"/>
          <p:cNvSpPr>
            <a:spLocks noChangeShapeType="1"/>
          </p:cNvSpPr>
          <p:nvPr/>
        </p:nvSpPr>
        <p:spPr bwMode="auto">
          <a:xfrm flipH="1">
            <a:off x="2209800" y="5949280"/>
            <a:ext cx="175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32" name="Line 23"/>
          <p:cNvSpPr>
            <a:spLocks noChangeShapeType="1"/>
          </p:cNvSpPr>
          <p:nvPr/>
        </p:nvSpPr>
        <p:spPr bwMode="auto">
          <a:xfrm flipV="1">
            <a:off x="2209800" y="3968080"/>
            <a:ext cx="0" cy="1981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99733" name="Group 24"/>
          <p:cNvGrpSpPr>
            <a:grpSpLocks/>
          </p:cNvGrpSpPr>
          <p:nvPr/>
        </p:nvGrpSpPr>
        <p:grpSpPr bwMode="auto">
          <a:xfrm>
            <a:off x="7086600" y="3510880"/>
            <a:ext cx="990600" cy="914400"/>
            <a:chOff x="4416" y="2400"/>
            <a:chExt cx="624" cy="576"/>
          </a:xfrm>
        </p:grpSpPr>
        <p:sp>
          <p:nvSpPr>
            <p:cNvPr id="499741" name="AutoShape 25"/>
            <p:cNvSpPr>
              <a:spLocks noChangeArrowheads="1"/>
            </p:cNvSpPr>
            <p:nvPr/>
          </p:nvSpPr>
          <p:spPr bwMode="auto">
            <a:xfrm>
              <a:off x="4416" y="2400"/>
              <a:ext cx="624" cy="576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742" name="Text Box 26"/>
            <p:cNvSpPr txBox="1">
              <a:spLocks noChangeArrowheads="1"/>
            </p:cNvSpPr>
            <p:nvPr/>
          </p:nvSpPr>
          <p:spPr bwMode="auto">
            <a:xfrm>
              <a:off x="4417" y="2496"/>
              <a:ext cx="619" cy="40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GB" sz="1800"/>
                <a:t>Main</a:t>
              </a:r>
            </a:p>
            <a:p>
              <a:pPr algn="ctr"/>
              <a:r>
                <a:rPr lang="en-GB" sz="1800"/>
                <a:t>memory</a:t>
              </a:r>
              <a:endParaRPr lang="en-GB" sz="1800">
                <a:solidFill>
                  <a:srgbClr val="FF0000"/>
                </a:solidFill>
              </a:endParaRPr>
            </a:p>
          </p:txBody>
        </p:sp>
      </p:grpSp>
      <p:sp>
        <p:nvSpPr>
          <p:cNvPr id="499734" name="Line 27"/>
          <p:cNvSpPr>
            <a:spLocks noChangeShapeType="1"/>
          </p:cNvSpPr>
          <p:nvPr/>
        </p:nvSpPr>
        <p:spPr bwMode="auto">
          <a:xfrm flipV="1">
            <a:off x="7543800" y="442528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35" name="Line 28"/>
          <p:cNvSpPr>
            <a:spLocks noChangeShapeType="1"/>
          </p:cNvSpPr>
          <p:nvPr/>
        </p:nvSpPr>
        <p:spPr bwMode="auto">
          <a:xfrm flipH="1">
            <a:off x="4343400" y="4730080"/>
            <a:ext cx="3200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37" name="Rectangle 30"/>
          <p:cNvSpPr>
            <a:spLocks noChangeArrowheads="1"/>
          </p:cNvSpPr>
          <p:nvPr/>
        </p:nvSpPr>
        <p:spPr bwMode="auto">
          <a:xfrm>
            <a:off x="5105400" y="3510880"/>
            <a:ext cx="381000" cy="381000"/>
          </a:xfrm>
          <a:prstGeom prst="rect">
            <a:avLst/>
          </a:prstGeom>
          <a:solidFill>
            <a:srgbClr val="00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9738" name="Text Box 31"/>
          <p:cNvSpPr txBox="1">
            <a:spLocks noChangeArrowheads="1"/>
          </p:cNvSpPr>
          <p:nvPr/>
        </p:nvSpPr>
        <p:spPr bwMode="auto">
          <a:xfrm>
            <a:off x="4573588" y="3891880"/>
            <a:ext cx="1214437" cy="641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800">
                <a:solidFill>
                  <a:srgbClr val="0000FF"/>
                </a:solidFill>
              </a:rPr>
              <a:t>address</a:t>
            </a:r>
          </a:p>
          <a:p>
            <a:pPr algn="ctr"/>
            <a:r>
              <a:rPr lang="en-GB" sz="1800">
                <a:solidFill>
                  <a:srgbClr val="0000FF"/>
                </a:solidFill>
              </a:rPr>
              <a:t>translation</a:t>
            </a:r>
          </a:p>
        </p:txBody>
      </p:sp>
      <p:sp>
        <p:nvSpPr>
          <p:cNvPr id="499740" name="Line 34"/>
          <p:cNvSpPr>
            <a:spLocks noChangeShapeType="1"/>
          </p:cNvSpPr>
          <p:nvPr/>
        </p:nvSpPr>
        <p:spPr bwMode="auto">
          <a:xfrm>
            <a:off x="2514600" y="3739480"/>
            <a:ext cx="2590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620000" cy="838200"/>
          </a:xfrm>
        </p:spPr>
        <p:txBody>
          <a:bodyPr/>
          <a:lstStyle/>
          <a:p>
            <a:r>
              <a:rPr lang="en-US" sz="2300" dirty="0"/>
              <a:t>How to address a cache in a virtual-memory system</a:t>
            </a:r>
          </a:p>
        </p:txBody>
      </p:sp>
      <p:sp>
        <p:nvSpPr>
          <p:cNvPr id="37" name="Text Box 30"/>
          <p:cNvSpPr txBox="1">
            <a:spLocks noChangeArrowheads="1"/>
          </p:cNvSpPr>
          <p:nvPr/>
        </p:nvSpPr>
        <p:spPr bwMode="auto">
          <a:xfrm>
            <a:off x="831927" y="2996952"/>
            <a:ext cx="1723849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 dirty="0">
                <a:solidFill>
                  <a:srgbClr val="FF0000"/>
                </a:solidFill>
                <a:latin typeface="Garamond"/>
                <a:cs typeface="Garamond"/>
              </a:rPr>
              <a:t>Virtual address:</a:t>
            </a:r>
          </a:p>
          <a:p>
            <a:r>
              <a:rPr lang="en-GB" sz="1800" dirty="0">
                <a:solidFill>
                  <a:srgbClr val="FF0000"/>
                </a:solidFill>
                <a:latin typeface="Lucida Console" pitchFamily="-112" charset="0"/>
              </a:rPr>
              <a:t>0x0004</a:t>
            </a:r>
          </a:p>
        </p:txBody>
      </p:sp>
      <p:sp>
        <p:nvSpPr>
          <p:cNvPr id="38" name="Text Box 30"/>
          <p:cNvSpPr txBox="1">
            <a:spLocks noChangeArrowheads="1"/>
          </p:cNvSpPr>
          <p:nvPr/>
        </p:nvSpPr>
        <p:spPr bwMode="auto">
          <a:xfrm>
            <a:off x="5516701" y="3068960"/>
            <a:ext cx="1863611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GB" sz="1800" dirty="0">
                <a:solidFill>
                  <a:srgbClr val="FF0000"/>
                </a:solidFill>
                <a:latin typeface="Garamond"/>
                <a:cs typeface="Garamond"/>
              </a:rPr>
              <a:t>Physical address:</a:t>
            </a:r>
          </a:p>
          <a:p>
            <a:r>
              <a:rPr lang="en-GB" sz="1800" dirty="0">
                <a:solidFill>
                  <a:srgbClr val="FF0000"/>
                </a:solidFill>
                <a:latin typeface="Lucida Console" pitchFamily="-112" charset="0"/>
              </a:rPr>
              <a:t>0xc104</a:t>
            </a:r>
          </a:p>
        </p:txBody>
      </p:sp>
    </p:spTree>
    <p:extLst>
      <p:ext uri="{BB962C8B-B14F-4D97-AF65-F5344CB8AC3E}">
        <p14:creationId xmlns:p14="http://schemas.microsoft.com/office/powerpoint/2010/main" val="29652879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347832-46B4-C84F-86E9-6E6D6C0CF456}" type="slidenum">
              <a:rPr lang="en-US"/>
              <a:pPr>
                <a:defRPr/>
              </a:pPr>
              <a:t>14</a:t>
            </a:fld>
            <a:endParaRPr lang="en-US">
              <a:latin typeface="Garamond" pitchFamily="-112" charset="0"/>
            </a:endParaRPr>
          </a:p>
        </p:txBody>
      </p:sp>
      <p:sp>
        <p:nvSpPr>
          <p:cNvPr id="548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virtually addressed caches</a:t>
            </a:r>
          </a:p>
        </p:txBody>
      </p:sp>
      <p:sp>
        <p:nvSpPr>
          <p:cNvPr id="548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51054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1800" dirty="0"/>
              <a:t>Virtually tagged data cache problems:</a:t>
            </a:r>
          </a:p>
          <a:p>
            <a:pPr>
              <a:lnSpc>
                <a:spcPct val="110000"/>
              </a:lnSpc>
            </a:pPr>
            <a:endParaRPr lang="en-US" sz="1800" dirty="0"/>
          </a:p>
          <a:p>
            <a:pPr lvl="1">
              <a:lnSpc>
                <a:spcPct val="90000"/>
              </a:lnSpc>
            </a:pPr>
            <a:r>
              <a:rPr lang="en-US" sz="1600" dirty="0"/>
              <a:t>A program may use different virtual addresses pointing to the same physical address (Aliases or Synonyms)</a:t>
            </a:r>
          </a:p>
          <a:p>
            <a:pPr lvl="2">
              <a:lnSpc>
                <a:spcPct val="90000"/>
              </a:lnSpc>
            </a:pPr>
            <a:r>
              <a:rPr lang="en-US" sz="1400" dirty="0"/>
              <a:t>Two copies could exist in the same data cache</a:t>
            </a:r>
          </a:p>
          <a:p>
            <a:pPr lvl="2">
              <a:lnSpc>
                <a:spcPct val="90000"/>
              </a:lnSpc>
            </a:pPr>
            <a:r>
              <a:rPr lang="en-US" sz="1400" dirty="0"/>
              <a:t>Writing to copy 1 would not be reflected in copy 2</a:t>
            </a:r>
          </a:p>
          <a:p>
            <a:pPr lvl="2">
              <a:lnSpc>
                <a:spcPct val="90000"/>
              </a:lnSpc>
            </a:pPr>
            <a:r>
              <a:rPr lang="en-US" sz="1400" dirty="0"/>
              <a:t>Reading copy 2 would get stale data</a:t>
            </a:r>
          </a:p>
          <a:p>
            <a:pPr lvl="2">
              <a:lnSpc>
                <a:spcPct val="90000"/>
              </a:lnSpc>
            </a:pPr>
            <a:r>
              <a:rPr lang="en-US" sz="1400" dirty="0"/>
              <a:t>Thus, does not provide a </a:t>
            </a:r>
            <a:r>
              <a:rPr lang="en-US" sz="1400" b="1" dirty="0">
                <a:solidFill>
                  <a:srgbClr val="FF0000"/>
                </a:solidFill>
              </a:rPr>
              <a:t>coherent</a:t>
            </a:r>
            <a:r>
              <a:rPr lang="en-US" sz="1400" dirty="0"/>
              <a:t> view of memory</a:t>
            </a:r>
          </a:p>
          <a:p>
            <a:pPr lvl="2">
              <a:lnSpc>
                <a:spcPct val="90000"/>
              </a:lnSpc>
            </a:pPr>
            <a:endParaRPr lang="en-US" sz="1400" dirty="0"/>
          </a:p>
          <a:p>
            <a:pPr lvl="1">
              <a:lnSpc>
                <a:spcPct val="90000"/>
              </a:lnSpc>
            </a:pPr>
            <a:r>
              <a:rPr lang="en-US" sz="1600" dirty="0"/>
              <a:t>Also, must be able to distinguish across different processes: same VA, different PA (Homonyms)</a:t>
            </a:r>
          </a:p>
          <a:p>
            <a:pPr lvl="1">
              <a:lnSpc>
                <a:spcPct val="90000"/>
              </a:lnSpc>
            </a:pPr>
            <a:endParaRPr lang="en-US" sz="1600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1347832-46B4-C84F-86E9-6E6D6C0CF456}" type="slidenum">
              <a:rPr lang="en-US"/>
              <a:pPr>
                <a:defRPr/>
              </a:pPr>
              <a:t>15</a:t>
            </a:fld>
            <a:endParaRPr lang="en-US">
              <a:latin typeface="Garamond" pitchFamily="-112" charset="0"/>
            </a:endParaRPr>
          </a:p>
        </p:txBody>
      </p:sp>
      <p:sp>
        <p:nvSpPr>
          <p:cNvPr id="548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for handling homonyms and synonyms</a:t>
            </a:r>
          </a:p>
        </p:txBody>
      </p:sp>
      <p:sp>
        <p:nvSpPr>
          <p:cNvPr id="548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51054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z="1800" dirty="0"/>
              <a:t>Flush cache on context switch or add process ID to each tag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Will solve the homonym problem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But will not solve the synonym problem. </a:t>
            </a:r>
          </a:p>
          <a:p>
            <a:pPr>
              <a:lnSpc>
                <a:spcPct val="110000"/>
              </a:lnSpc>
              <a:spcBef>
                <a:spcPts val="1032"/>
              </a:spcBef>
            </a:pPr>
            <a:r>
              <a:rPr lang="en-US" sz="1800" dirty="0"/>
              <a:t>Use physically addressed caches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Will solve homonym problem.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Will also solve synonym problem. </a:t>
            </a:r>
          </a:p>
          <a:p>
            <a:pPr lvl="2">
              <a:lnSpc>
                <a:spcPct val="90000"/>
              </a:lnSpc>
            </a:pPr>
            <a:r>
              <a:rPr lang="en-US" sz="1400" dirty="0"/>
              <a:t>Synonyms all have same physical address, thus one copy exists in each cache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Implication: need to do address translation before accessing cache. </a:t>
            </a:r>
          </a:p>
          <a:p>
            <a:pPr>
              <a:lnSpc>
                <a:spcPct val="110000"/>
              </a:lnSpc>
              <a:spcBef>
                <a:spcPts val="1032"/>
              </a:spcBef>
            </a:pPr>
            <a:r>
              <a:rPr lang="en-US" sz="1800" dirty="0"/>
              <a:t>Use physically addressed tags? 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Must translate addresses before cache tag check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May still be able to index cache using non-translated low-order address bits under certain circumstances.</a:t>
            </a:r>
          </a:p>
          <a:p>
            <a:pPr lvl="1">
              <a:lnSpc>
                <a:spcPct val="90000"/>
              </a:lnSpc>
            </a:pPr>
            <a:endParaRPr lang="en-US" sz="16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3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D316C23-5A2F-A946-B0FD-C5213E4ACA92}" type="slidenum">
              <a:rPr lang="en-US"/>
              <a:pPr>
                <a:defRPr/>
              </a:pPr>
              <a:t>16</a:t>
            </a:fld>
            <a:endParaRPr lang="en-US">
              <a:latin typeface="Garamond" pitchFamily="-112" charset="0"/>
            </a:endParaRPr>
          </a:p>
        </p:txBody>
      </p:sp>
      <p:sp>
        <p:nvSpPr>
          <p:cNvPr id="550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VI-PT: translating in parallel with L1-$ access</a:t>
            </a:r>
          </a:p>
        </p:txBody>
      </p:sp>
      <p:sp>
        <p:nvSpPr>
          <p:cNvPr id="550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55000" cy="180816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1900" dirty="0"/>
              <a:t>Access TLB and L1-$ in parallel</a:t>
            </a:r>
          </a:p>
          <a:p>
            <a:pPr>
              <a:lnSpc>
                <a:spcPct val="100000"/>
              </a:lnSpc>
            </a:pPr>
            <a:r>
              <a:rPr lang="en-GB" sz="1900" dirty="0"/>
              <a:t>Requires that L1-$ index be obtained from the non-translated bits of the virtual address.</a:t>
            </a:r>
          </a:p>
          <a:p>
            <a:pPr>
              <a:lnSpc>
                <a:spcPct val="100000"/>
              </a:lnSpc>
            </a:pPr>
            <a:r>
              <a:rPr lang="en-GB" sz="1900" b="1" dirty="0">
                <a:solidFill>
                  <a:srgbClr val="FF0000"/>
                </a:solidFill>
              </a:rPr>
              <a:t>This constraint in the number of bits available for the index limits the size of the cache!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906713" y="2933526"/>
            <a:ext cx="3722687" cy="1087437"/>
            <a:chOff x="1718" y="2668"/>
            <a:chExt cx="2345" cy="685"/>
          </a:xfrm>
        </p:grpSpPr>
        <p:sp>
          <p:nvSpPr>
            <p:cNvPr id="550936" name="Text Box 5"/>
            <p:cNvSpPr txBox="1">
              <a:spLocks noChangeArrowheads="1"/>
            </p:cNvSpPr>
            <p:nvPr/>
          </p:nvSpPr>
          <p:spPr bwMode="auto">
            <a:xfrm>
              <a:off x="1718" y="2668"/>
              <a:ext cx="19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900">
                  <a:latin typeface="Arial" pitchFamily="-112" charset="0"/>
                </a:rPr>
                <a:t>31</a:t>
              </a:r>
            </a:p>
          </p:txBody>
        </p:sp>
        <p:sp>
          <p:nvSpPr>
            <p:cNvPr id="550937" name="Text Box 6"/>
            <p:cNvSpPr txBox="1">
              <a:spLocks noChangeArrowheads="1"/>
            </p:cNvSpPr>
            <p:nvPr/>
          </p:nvSpPr>
          <p:spPr bwMode="auto">
            <a:xfrm>
              <a:off x="3292" y="2668"/>
              <a:ext cx="1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900">
                  <a:latin typeface="Arial" pitchFamily="-112" charset="0"/>
                </a:rPr>
                <a:t>0</a:t>
              </a:r>
            </a:p>
          </p:txBody>
        </p:sp>
        <p:sp>
          <p:nvSpPr>
            <p:cNvPr id="550938" name="Text Box 7"/>
            <p:cNvSpPr txBox="1">
              <a:spLocks noChangeArrowheads="1"/>
            </p:cNvSpPr>
            <p:nvPr/>
          </p:nvSpPr>
          <p:spPr bwMode="auto">
            <a:xfrm>
              <a:off x="2654" y="2668"/>
              <a:ext cx="19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900">
                  <a:latin typeface="Arial" pitchFamily="-112" charset="0"/>
                </a:rPr>
                <a:t>11</a:t>
              </a:r>
            </a:p>
          </p:txBody>
        </p:sp>
        <p:sp>
          <p:nvSpPr>
            <p:cNvPr id="550939" name="Text Box 8"/>
            <p:cNvSpPr txBox="1">
              <a:spLocks noChangeArrowheads="1"/>
            </p:cNvSpPr>
            <p:nvPr/>
          </p:nvSpPr>
          <p:spPr bwMode="auto">
            <a:xfrm>
              <a:off x="2512" y="2668"/>
              <a:ext cx="19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900">
                  <a:latin typeface="Arial" pitchFamily="-112" charset="0"/>
                </a:rPr>
                <a:t>12</a:t>
              </a:r>
            </a:p>
          </p:txBody>
        </p:sp>
        <p:sp>
          <p:nvSpPr>
            <p:cNvPr id="550940" name="Text Box 9"/>
            <p:cNvSpPr txBox="1">
              <a:spLocks noChangeArrowheads="1"/>
            </p:cNvSpPr>
            <p:nvPr/>
          </p:nvSpPr>
          <p:spPr bwMode="auto">
            <a:xfrm>
              <a:off x="3419" y="2805"/>
              <a:ext cx="64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1800" b="0">
                  <a:latin typeface="Arial" pitchFamily="-112" charset="0"/>
                </a:rPr>
                <a:t>Virtual</a:t>
              </a:r>
            </a:p>
            <a:p>
              <a:pPr eaLnBrk="1" hangingPunct="1"/>
              <a:r>
                <a:rPr lang="en-GB" sz="1800" b="0">
                  <a:latin typeface="Arial" pitchFamily="-112" charset="0"/>
                </a:rPr>
                <a:t>Address</a:t>
              </a:r>
            </a:p>
          </p:txBody>
        </p:sp>
        <p:sp>
          <p:nvSpPr>
            <p:cNvPr id="550941" name="Rectangle 10"/>
            <p:cNvSpPr>
              <a:spLocks noChangeArrowheads="1"/>
            </p:cNvSpPr>
            <p:nvPr/>
          </p:nvSpPr>
          <p:spPr bwMode="auto">
            <a:xfrm>
              <a:off x="1774" y="2812"/>
              <a:ext cx="936" cy="39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000">
                  <a:latin typeface="Arial" pitchFamily="-112" charset="0"/>
                </a:rPr>
                <a:t>Virtual Page Number</a:t>
              </a:r>
            </a:p>
          </p:txBody>
        </p:sp>
        <p:sp>
          <p:nvSpPr>
            <p:cNvPr id="550942" name="Rectangle 11"/>
            <p:cNvSpPr>
              <a:spLocks noChangeArrowheads="1"/>
            </p:cNvSpPr>
            <p:nvPr/>
          </p:nvSpPr>
          <p:spPr bwMode="auto">
            <a:xfrm>
              <a:off x="2710" y="2812"/>
              <a:ext cx="680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000">
                  <a:latin typeface="Arial" pitchFamily="-112" charset="0"/>
                </a:rPr>
                <a:t>PageOffset</a:t>
              </a:r>
            </a:p>
          </p:txBody>
        </p:sp>
        <p:sp>
          <p:nvSpPr>
            <p:cNvPr id="550943" name="Rectangle 12"/>
            <p:cNvSpPr>
              <a:spLocks noChangeArrowheads="1"/>
            </p:cNvSpPr>
            <p:nvPr/>
          </p:nvSpPr>
          <p:spPr bwMode="auto">
            <a:xfrm>
              <a:off x="3078" y="3010"/>
              <a:ext cx="312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000">
                  <a:latin typeface="Arial" pitchFamily="-112" charset="0"/>
                </a:rPr>
                <a:t>Offset</a:t>
              </a:r>
            </a:p>
          </p:txBody>
        </p:sp>
        <p:sp>
          <p:nvSpPr>
            <p:cNvPr id="550944" name="Rectangle 13"/>
            <p:cNvSpPr>
              <a:spLocks noChangeArrowheads="1"/>
            </p:cNvSpPr>
            <p:nvPr/>
          </p:nvSpPr>
          <p:spPr bwMode="auto">
            <a:xfrm>
              <a:off x="2710" y="3010"/>
              <a:ext cx="368" cy="19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GB" sz="1000">
                  <a:latin typeface="Arial" pitchFamily="-112" charset="0"/>
                </a:rPr>
                <a:t>Index</a:t>
              </a:r>
            </a:p>
          </p:txBody>
        </p:sp>
        <p:sp>
          <p:nvSpPr>
            <p:cNvPr id="550945" name="Text Box 14"/>
            <p:cNvSpPr txBox="1">
              <a:spLocks noChangeArrowheads="1"/>
            </p:cNvSpPr>
            <p:nvPr/>
          </p:nvSpPr>
          <p:spPr bwMode="auto">
            <a:xfrm>
              <a:off x="1718" y="3209"/>
              <a:ext cx="19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900">
                  <a:latin typeface="Arial" pitchFamily="-112" charset="0"/>
                </a:rPr>
                <a:t>31</a:t>
              </a:r>
            </a:p>
          </p:txBody>
        </p:sp>
        <p:sp>
          <p:nvSpPr>
            <p:cNvPr id="550946" name="Text Box 15"/>
            <p:cNvSpPr txBox="1">
              <a:spLocks noChangeArrowheads="1"/>
            </p:cNvSpPr>
            <p:nvPr/>
          </p:nvSpPr>
          <p:spPr bwMode="auto">
            <a:xfrm>
              <a:off x="3292" y="3209"/>
              <a:ext cx="1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900">
                  <a:latin typeface="Arial" pitchFamily="-112" charset="0"/>
                </a:rPr>
                <a:t>0</a:t>
              </a:r>
            </a:p>
          </p:txBody>
        </p:sp>
        <p:sp>
          <p:nvSpPr>
            <p:cNvPr id="550947" name="Text Box 16"/>
            <p:cNvSpPr txBox="1">
              <a:spLocks noChangeArrowheads="1"/>
            </p:cNvSpPr>
            <p:nvPr/>
          </p:nvSpPr>
          <p:spPr bwMode="auto">
            <a:xfrm>
              <a:off x="2654" y="3209"/>
              <a:ext cx="19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900">
                  <a:latin typeface="Arial" pitchFamily="-112" charset="0"/>
                </a:rPr>
                <a:t>11</a:t>
              </a:r>
            </a:p>
          </p:txBody>
        </p:sp>
        <p:sp>
          <p:nvSpPr>
            <p:cNvPr id="550948" name="Text Box 17"/>
            <p:cNvSpPr txBox="1">
              <a:spLocks noChangeArrowheads="1"/>
            </p:cNvSpPr>
            <p:nvPr/>
          </p:nvSpPr>
          <p:spPr bwMode="auto">
            <a:xfrm>
              <a:off x="2512" y="3209"/>
              <a:ext cx="19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900">
                  <a:latin typeface="Arial" pitchFamily="-112" charset="0"/>
                </a:rPr>
                <a:t>12</a:t>
              </a:r>
            </a:p>
          </p:txBody>
        </p:sp>
        <p:sp>
          <p:nvSpPr>
            <p:cNvPr id="550949" name="Text Box 18"/>
            <p:cNvSpPr txBox="1">
              <a:spLocks noChangeArrowheads="1"/>
            </p:cNvSpPr>
            <p:nvPr/>
          </p:nvSpPr>
          <p:spPr bwMode="auto">
            <a:xfrm>
              <a:off x="3050" y="3209"/>
              <a:ext cx="1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900">
                  <a:latin typeface="Arial" pitchFamily="-112" charset="0"/>
                </a:rPr>
                <a:t>4</a:t>
              </a:r>
            </a:p>
          </p:txBody>
        </p:sp>
        <p:sp>
          <p:nvSpPr>
            <p:cNvPr id="550950" name="Text Box 19"/>
            <p:cNvSpPr txBox="1">
              <a:spLocks noChangeArrowheads="1"/>
            </p:cNvSpPr>
            <p:nvPr/>
          </p:nvSpPr>
          <p:spPr bwMode="auto">
            <a:xfrm>
              <a:off x="2965" y="3209"/>
              <a:ext cx="1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GB" sz="900">
                  <a:latin typeface="Arial" pitchFamily="-112" charset="0"/>
                </a:rPr>
                <a:t>5</a:t>
              </a:r>
            </a:p>
          </p:txBody>
        </p:sp>
      </p:grpSp>
      <p:sp>
        <p:nvSpPr>
          <p:cNvPr id="550919" name="Rectangle 20"/>
          <p:cNvSpPr>
            <a:spLocks noChangeArrowheads="1"/>
          </p:cNvSpPr>
          <p:nvPr/>
        </p:nvSpPr>
        <p:spPr bwMode="auto">
          <a:xfrm>
            <a:off x="1466850" y="4598813"/>
            <a:ext cx="2070100" cy="53975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GB" sz="1800" b="0">
                <a:latin typeface="Arial" pitchFamily="-112" charset="0"/>
              </a:rPr>
              <a:t>TLB</a:t>
            </a:r>
          </a:p>
        </p:txBody>
      </p:sp>
      <p:sp>
        <p:nvSpPr>
          <p:cNvPr id="550920" name="Rectangle 21"/>
          <p:cNvSpPr>
            <a:spLocks noChangeArrowheads="1"/>
          </p:cNvSpPr>
          <p:nvPr/>
        </p:nvSpPr>
        <p:spPr bwMode="auto">
          <a:xfrm>
            <a:off x="5067300" y="4417838"/>
            <a:ext cx="1125538" cy="900113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GB" sz="1600" b="0">
                <a:latin typeface="Arial" pitchFamily="-112" charset="0"/>
              </a:rPr>
              <a:t>L1-$</a:t>
            </a:r>
          </a:p>
          <a:p>
            <a:pPr algn="ctr" eaLnBrk="1" hangingPunct="1"/>
            <a:endParaRPr lang="en-GB" sz="1200" b="0">
              <a:latin typeface="Arial" pitchFamily="-112" charset="0"/>
            </a:endParaRPr>
          </a:p>
          <a:p>
            <a:pPr algn="ctr" eaLnBrk="1" hangingPunct="1"/>
            <a:r>
              <a:rPr lang="en-GB" sz="1200" b="0">
                <a:latin typeface="Arial" pitchFamily="-112" charset="0"/>
              </a:rPr>
              <a:t>4 KB D-M</a:t>
            </a:r>
          </a:p>
          <a:p>
            <a:pPr algn="ctr" eaLnBrk="1" hangingPunct="1"/>
            <a:r>
              <a:rPr lang="en-GB" sz="1200" b="0">
                <a:latin typeface="Arial" pitchFamily="-112" charset="0"/>
              </a:rPr>
              <a:t>32-byte line</a:t>
            </a:r>
          </a:p>
        </p:txBody>
      </p:sp>
      <p:sp>
        <p:nvSpPr>
          <p:cNvPr id="550921" name="Line 22"/>
          <p:cNvSpPr>
            <a:spLocks noChangeShapeType="1"/>
          </p:cNvSpPr>
          <p:nvPr/>
        </p:nvSpPr>
        <p:spPr bwMode="auto">
          <a:xfrm>
            <a:off x="3851275" y="3787601"/>
            <a:ext cx="0" cy="1081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0922" name="Line 23"/>
          <p:cNvSpPr>
            <a:spLocks noChangeShapeType="1"/>
          </p:cNvSpPr>
          <p:nvPr/>
        </p:nvSpPr>
        <p:spPr bwMode="auto">
          <a:xfrm flipH="1">
            <a:off x="3536950" y="4868688"/>
            <a:ext cx="31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0923" name="Line 24"/>
          <p:cNvSpPr>
            <a:spLocks noChangeShapeType="1"/>
          </p:cNvSpPr>
          <p:nvPr/>
        </p:nvSpPr>
        <p:spPr bwMode="auto">
          <a:xfrm>
            <a:off x="4797425" y="3787601"/>
            <a:ext cx="0" cy="1081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0924" name="Line 25"/>
          <p:cNvSpPr>
            <a:spLocks noChangeShapeType="1"/>
          </p:cNvSpPr>
          <p:nvPr/>
        </p:nvSpPr>
        <p:spPr bwMode="auto">
          <a:xfrm>
            <a:off x="4797425" y="4868688"/>
            <a:ext cx="269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0925" name="Line 26"/>
          <p:cNvSpPr>
            <a:spLocks noChangeShapeType="1"/>
          </p:cNvSpPr>
          <p:nvPr/>
        </p:nvSpPr>
        <p:spPr bwMode="auto">
          <a:xfrm>
            <a:off x="5337175" y="3787601"/>
            <a:ext cx="0" cy="630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0926" name="Line 27"/>
          <p:cNvSpPr>
            <a:spLocks noChangeShapeType="1"/>
          </p:cNvSpPr>
          <p:nvPr/>
        </p:nvSpPr>
        <p:spPr bwMode="auto">
          <a:xfrm>
            <a:off x="1784350" y="5148088"/>
            <a:ext cx="0" cy="53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0927" name="Text Box 28"/>
          <p:cNvSpPr txBox="1">
            <a:spLocks noChangeArrowheads="1"/>
          </p:cNvSpPr>
          <p:nvPr/>
        </p:nvSpPr>
        <p:spPr bwMode="auto">
          <a:xfrm>
            <a:off x="1403350" y="5719588"/>
            <a:ext cx="7477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400" b="0">
                <a:latin typeface="Arial" pitchFamily="-112" charset="0"/>
              </a:rPr>
              <a:t>TLB hit</a:t>
            </a:r>
          </a:p>
        </p:txBody>
      </p:sp>
      <p:sp>
        <p:nvSpPr>
          <p:cNvPr id="550928" name="Text Box 29"/>
          <p:cNvSpPr txBox="1">
            <a:spLocks noChangeArrowheads="1"/>
          </p:cNvSpPr>
          <p:nvPr/>
        </p:nvSpPr>
        <p:spPr bwMode="auto">
          <a:xfrm>
            <a:off x="6775450" y="4016375"/>
            <a:ext cx="1973014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400" i="1" dirty="0">
                <a:solidFill>
                  <a:schemeClr val="accent2"/>
                </a:solidFill>
                <a:latin typeface="Arial" pitchFamily="-112" charset="0"/>
              </a:rPr>
              <a:t>IMPORTANT:</a:t>
            </a:r>
            <a:endParaRPr lang="en-GB" sz="1400" b="0" i="1" dirty="0">
              <a:solidFill>
                <a:schemeClr val="accent2"/>
              </a:solidFill>
              <a:latin typeface="Arial" pitchFamily="-112" charset="0"/>
            </a:endParaRPr>
          </a:p>
          <a:p>
            <a:pPr eaLnBrk="1" hangingPunct="1"/>
            <a:r>
              <a:rPr lang="en-GB" sz="1400" b="0" i="1" dirty="0">
                <a:solidFill>
                  <a:schemeClr val="accent2"/>
                </a:solidFill>
                <a:latin typeface="Arial" pitchFamily="-112" charset="0"/>
              </a:rPr>
              <a:t>If the cache Index extends beyond bit 11, into the translated part of the address, then translation must take place before the cache can be indexed</a:t>
            </a:r>
          </a:p>
        </p:txBody>
      </p:sp>
      <p:sp>
        <p:nvSpPr>
          <p:cNvPr id="550929" name="Oval 30"/>
          <p:cNvSpPr>
            <a:spLocks noChangeArrowheads="1"/>
          </p:cNvSpPr>
          <p:nvPr/>
        </p:nvSpPr>
        <p:spPr bwMode="auto">
          <a:xfrm>
            <a:off x="3724275" y="5445224"/>
            <a:ext cx="1276350" cy="762000"/>
          </a:xfrm>
          <a:prstGeom prst="ellipse">
            <a:avLst/>
          </a:prstGeom>
          <a:solidFill>
            <a:schemeClr val="bg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46800" rIns="0" bIns="46800" anchor="ctr">
            <a:prstTxWarp prst="textNoShape">
              <a:avLst/>
            </a:prstTxWarp>
          </a:bodyPr>
          <a:lstStyle/>
          <a:p>
            <a:pPr algn="ctr">
              <a:spcBef>
                <a:spcPct val="50000"/>
              </a:spcBef>
            </a:pPr>
            <a:r>
              <a:rPr lang="en-GB" sz="1200">
                <a:latin typeface="Arial" pitchFamily="-112" charset="0"/>
              </a:rPr>
              <a:t>Tag </a:t>
            </a:r>
          </a:p>
          <a:p>
            <a:pPr algn="ctr">
              <a:spcBef>
                <a:spcPct val="50000"/>
              </a:spcBef>
            </a:pPr>
            <a:r>
              <a:rPr lang="en-GB" sz="1200">
                <a:latin typeface="Arial" pitchFamily="-112" charset="0"/>
              </a:rPr>
              <a:t>Comparison</a:t>
            </a:r>
            <a:endParaRPr lang="en-US" sz="1200">
              <a:latin typeface="Arial" pitchFamily="-112" charset="0"/>
            </a:endParaRPr>
          </a:p>
        </p:txBody>
      </p:sp>
      <p:sp>
        <p:nvSpPr>
          <p:cNvPr id="550930" name="Line 31"/>
          <p:cNvSpPr>
            <a:spLocks noChangeShapeType="1"/>
          </p:cNvSpPr>
          <p:nvPr/>
        </p:nvSpPr>
        <p:spPr bwMode="auto">
          <a:xfrm>
            <a:off x="5657850" y="5319538"/>
            <a:ext cx="0" cy="4983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46800" rIns="0" bIns="4680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0931" name="Line 32"/>
          <p:cNvSpPr>
            <a:spLocks noChangeShapeType="1"/>
          </p:cNvSpPr>
          <p:nvPr/>
        </p:nvSpPr>
        <p:spPr bwMode="auto">
          <a:xfrm flipH="1">
            <a:off x="5000625" y="5826528"/>
            <a:ext cx="657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0" tIns="46800" rIns="0" bIns="4680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0932" name="Line 33"/>
          <p:cNvSpPr>
            <a:spLocks noChangeShapeType="1"/>
          </p:cNvSpPr>
          <p:nvPr/>
        </p:nvSpPr>
        <p:spPr bwMode="auto">
          <a:xfrm>
            <a:off x="3036888" y="5146501"/>
            <a:ext cx="0" cy="6804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0" tIns="46800" rIns="0" bIns="4680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0933" name="Line 34"/>
          <p:cNvSpPr>
            <a:spLocks noChangeShapeType="1"/>
          </p:cNvSpPr>
          <p:nvPr/>
        </p:nvSpPr>
        <p:spPr bwMode="auto">
          <a:xfrm flipH="1">
            <a:off x="3040718" y="5822349"/>
            <a:ext cx="6762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0" tIns="46800" rIns="0" bIns="4680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0934" name="Text Box 35"/>
          <p:cNvSpPr txBox="1">
            <a:spLocks noChangeArrowheads="1"/>
          </p:cNvSpPr>
          <p:nvPr/>
        </p:nvSpPr>
        <p:spPr bwMode="auto">
          <a:xfrm>
            <a:off x="4344586" y="6265787"/>
            <a:ext cx="9350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400" b="0" dirty="0">
                <a:latin typeface="Arial" pitchFamily="-112" charset="0"/>
              </a:rPr>
              <a:t>Cache hit</a:t>
            </a:r>
          </a:p>
        </p:txBody>
      </p:sp>
      <p:sp>
        <p:nvSpPr>
          <p:cNvPr id="550935" name="Line 36"/>
          <p:cNvSpPr>
            <a:spLocks noChangeShapeType="1"/>
          </p:cNvSpPr>
          <p:nvPr/>
        </p:nvSpPr>
        <p:spPr bwMode="auto">
          <a:xfrm>
            <a:off x="4352925" y="6219041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0" tIns="46800" rIns="0" bIns="46800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3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D1ABF0F-46B8-3545-84A6-13BB5AB938E2}" type="slidenum">
              <a:rPr lang="en-US"/>
              <a:pPr>
                <a:defRPr/>
              </a:pPr>
              <a:t>17</a:t>
            </a:fld>
            <a:endParaRPr lang="en-US">
              <a:latin typeface="Garamond" pitchFamily="-112" charset="0"/>
            </a:endParaRPr>
          </a:p>
        </p:txBody>
      </p:sp>
      <p:sp>
        <p:nvSpPr>
          <p:cNvPr id="552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Coping with large VI-PT caches</a:t>
            </a:r>
          </a:p>
        </p:txBody>
      </p:sp>
      <p:sp>
        <p:nvSpPr>
          <p:cNvPr id="5529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4632" cy="4878288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sz="2000" dirty="0"/>
              <a:t>Problem: typical OS page size is 4-8KB. What if we want a larger L1 cache?</a:t>
            </a:r>
          </a:p>
          <a:p>
            <a:r>
              <a:rPr lang="en-US" sz="2000" dirty="0"/>
              <a:t>Multi-way caches: multiple blocks in the same set</a:t>
            </a:r>
          </a:p>
          <a:p>
            <a:pPr lvl="1"/>
            <a:r>
              <a:rPr lang="en-US" sz="1800" dirty="0"/>
              <a:t>E.g., Intel i7: 32KB 8-way cache w/ 4KB pages</a:t>
            </a:r>
          </a:p>
          <a:p>
            <a:pPr lvl="1">
              <a:buFont typeface="Wingdings" charset="0"/>
              <a:buChar char="à"/>
            </a:pPr>
            <a:r>
              <a:rPr lang="en-US" sz="1800" dirty="0"/>
              <a:t>High associativity affords large capacity</a:t>
            </a:r>
          </a:p>
          <a:p>
            <a:pPr marL="457200" lvl="1" indent="0">
              <a:buNone/>
            </a:pPr>
            <a:endParaRPr lang="en-US" sz="1600" dirty="0"/>
          </a:p>
          <a:p>
            <a:pPr>
              <a:spcBef>
                <a:spcPts val="480"/>
              </a:spcBef>
            </a:pPr>
            <a:r>
              <a:rPr lang="en-US" sz="2000" dirty="0"/>
              <a:t>Check other potential sets for aliases on a miss</a:t>
            </a:r>
          </a:p>
          <a:p>
            <a:pPr lvl="1"/>
            <a:r>
              <a:rPr lang="en-US" sz="1800" dirty="0"/>
              <a:t>E.g., AMD Opteron: 64KB 2-way cache w/ 4KB pages </a:t>
            </a:r>
          </a:p>
          <a:p>
            <a:pPr lvl="1">
              <a:buFont typeface="Wingdings" charset="0"/>
              <a:buChar char="à"/>
            </a:pPr>
            <a:r>
              <a:rPr lang="en-US" sz="1800" dirty="0"/>
              <a:t>on a miss, 7 </a:t>
            </a:r>
            <a:r>
              <a:rPr lang="en-US" sz="1800" dirty="0" err="1"/>
              <a:t>add’l</a:t>
            </a:r>
            <a:r>
              <a:rPr lang="en-US" sz="1800" dirty="0"/>
              <a:t> cycles to check for aliases in other sets</a:t>
            </a:r>
          </a:p>
          <a:p>
            <a:pPr>
              <a:spcBef>
                <a:spcPts val="1080"/>
              </a:spcBef>
            </a:pPr>
            <a:endParaRPr lang="en-US" sz="2000" dirty="0"/>
          </a:p>
          <a:p>
            <a:pPr>
              <a:spcBef>
                <a:spcPts val="480"/>
              </a:spcBef>
            </a:pPr>
            <a:r>
              <a:rPr lang="en-US" sz="2000" dirty="0"/>
              <a:t>Larger page size: more bits available for the index</a:t>
            </a:r>
          </a:p>
          <a:p>
            <a:pPr lvl="1"/>
            <a:r>
              <a:rPr lang="en-US" sz="1800" dirty="0"/>
              <a:t>Not a universal solution, since most OS’s have a “standard” page size of 4-8KB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3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D1ABF0F-46B8-3545-84A6-13BB5AB938E2}" type="slidenum">
              <a:rPr lang="en-US"/>
              <a:pPr>
                <a:defRPr/>
              </a:pPr>
              <a:t>18</a:t>
            </a:fld>
            <a:endParaRPr lang="en-US">
              <a:latin typeface="Garamond" pitchFamily="-112" charset="0"/>
            </a:endParaRPr>
          </a:p>
        </p:txBody>
      </p:sp>
      <p:sp>
        <p:nvSpPr>
          <p:cNvPr id="552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Coping with large VI-PT caches (</a:t>
            </a:r>
            <a:r>
              <a:rPr lang="en-US" dirty="0" err="1"/>
              <a:t>con’d</a:t>
            </a:r>
            <a:r>
              <a:rPr lang="en-US" dirty="0"/>
              <a:t>)</a:t>
            </a:r>
          </a:p>
        </p:txBody>
      </p:sp>
      <p:sp>
        <p:nvSpPr>
          <p:cNvPr id="5529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3006080"/>
          </a:xfrm>
        </p:spPr>
        <p:txBody>
          <a:bodyPr/>
          <a:lstStyle/>
          <a:p>
            <a:r>
              <a:rPr lang="en-US" sz="1800" dirty="0"/>
              <a:t>Rely on page allocator in the O/S to allocate pages such that the translation of index bits would always be an identity relation</a:t>
            </a:r>
          </a:p>
          <a:p>
            <a:pPr lvl="1"/>
            <a:r>
              <a:rPr lang="en-US" sz="1500" dirty="0"/>
              <a:t>Hence, if virtual address A translates to physical address P, then </a:t>
            </a:r>
            <a:br>
              <a:rPr lang="en-US" sz="1500" dirty="0"/>
            </a:br>
            <a:r>
              <a:rPr lang="en-US" sz="1500" dirty="0"/>
              <a:t>Page Allocator must guarantee that:  V[12] == P[12]</a:t>
            </a:r>
          </a:p>
          <a:p>
            <a:pPr lvl="1"/>
            <a:r>
              <a:rPr lang="en-US" sz="1500" dirty="0"/>
              <a:t>This approach is referred to as “page coloring”.</a:t>
            </a:r>
          </a:p>
        </p:txBody>
      </p:sp>
      <p:sp>
        <p:nvSpPr>
          <p:cNvPr id="552966" name="Text Box 9"/>
          <p:cNvSpPr txBox="1">
            <a:spLocks noChangeArrowheads="1"/>
          </p:cNvSpPr>
          <p:nvPr/>
        </p:nvSpPr>
        <p:spPr bwMode="auto">
          <a:xfrm>
            <a:off x="7010400" y="3080752"/>
            <a:ext cx="161766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400" b="0">
                <a:latin typeface="Arial" pitchFamily="-112" charset="0"/>
              </a:rPr>
              <a:t>Cache addressing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914400" y="3080752"/>
            <a:ext cx="6248400" cy="1219200"/>
            <a:chOff x="1726" y="2544"/>
            <a:chExt cx="1732" cy="768"/>
          </a:xfrm>
        </p:grpSpPr>
        <p:grpSp>
          <p:nvGrpSpPr>
            <p:cNvPr id="3" name="Group 24"/>
            <p:cNvGrpSpPr>
              <a:grpSpLocks/>
            </p:cNvGrpSpPr>
            <p:nvPr/>
          </p:nvGrpSpPr>
          <p:grpSpPr bwMode="auto">
            <a:xfrm>
              <a:off x="1728" y="2544"/>
              <a:ext cx="1730" cy="349"/>
              <a:chOff x="1728" y="2544"/>
              <a:chExt cx="1730" cy="349"/>
            </a:xfrm>
          </p:grpSpPr>
          <p:sp>
            <p:nvSpPr>
              <p:cNvPr id="552981" name="Rectangle 10"/>
              <p:cNvSpPr>
                <a:spLocks noChangeArrowheads="1"/>
              </p:cNvSpPr>
              <p:nvPr/>
            </p:nvSpPr>
            <p:spPr bwMode="auto">
              <a:xfrm>
                <a:off x="1784" y="2544"/>
                <a:ext cx="936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>
                    <a:latin typeface="Arial" pitchFamily="-112" charset="0"/>
                  </a:rPr>
                  <a:t>Cache tag bits</a:t>
                </a:r>
              </a:p>
            </p:txBody>
          </p:sp>
          <p:sp>
            <p:nvSpPr>
              <p:cNvPr id="552982" name="Rectangle 12"/>
              <p:cNvSpPr>
                <a:spLocks noChangeArrowheads="1"/>
              </p:cNvSpPr>
              <p:nvPr/>
            </p:nvSpPr>
            <p:spPr bwMode="auto">
              <a:xfrm>
                <a:off x="3088" y="2550"/>
                <a:ext cx="312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>
                    <a:latin typeface="Arial" pitchFamily="-112" charset="0"/>
                  </a:rPr>
                  <a:t>Offset</a:t>
                </a:r>
              </a:p>
            </p:txBody>
          </p:sp>
          <p:sp>
            <p:nvSpPr>
              <p:cNvPr id="552983" name="Rectangle 13"/>
              <p:cNvSpPr>
                <a:spLocks noChangeArrowheads="1"/>
              </p:cNvSpPr>
              <p:nvPr/>
            </p:nvSpPr>
            <p:spPr bwMode="auto">
              <a:xfrm>
                <a:off x="2720" y="2550"/>
                <a:ext cx="368" cy="18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>
                    <a:latin typeface="Arial" pitchFamily="-112" charset="0"/>
                  </a:rPr>
                  <a:t>Index</a:t>
                </a:r>
              </a:p>
            </p:txBody>
          </p:sp>
          <p:sp>
            <p:nvSpPr>
              <p:cNvPr id="552984" name="Text Box 14"/>
              <p:cNvSpPr txBox="1">
                <a:spLocks noChangeArrowheads="1"/>
              </p:cNvSpPr>
              <p:nvPr/>
            </p:nvSpPr>
            <p:spPr bwMode="auto">
              <a:xfrm>
                <a:off x="1728" y="2749"/>
                <a:ext cx="19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pPr eaLnBrk="1" hangingPunct="1"/>
                <a:r>
                  <a:rPr lang="en-GB" sz="900">
                    <a:latin typeface="Arial" pitchFamily="-112" charset="0"/>
                  </a:rPr>
                  <a:t>31</a:t>
                </a:r>
              </a:p>
            </p:txBody>
          </p:sp>
          <p:sp>
            <p:nvSpPr>
              <p:cNvPr id="552985" name="Text Box 15"/>
              <p:cNvSpPr txBox="1">
                <a:spLocks noChangeArrowheads="1"/>
              </p:cNvSpPr>
              <p:nvPr/>
            </p:nvSpPr>
            <p:spPr bwMode="auto">
              <a:xfrm>
                <a:off x="3302" y="2749"/>
                <a:ext cx="15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pPr eaLnBrk="1" hangingPunct="1"/>
                <a:r>
                  <a:rPr lang="en-GB" sz="900">
                    <a:latin typeface="Arial" pitchFamily="-112" charset="0"/>
                  </a:rPr>
                  <a:t>0</a:t>
                </a:r>
              </a:p>
            </p:txBody>
          </p:sp>
          <p:sp>
            <p:nvSpPr>
              <p:cNvPr id="552986" name="Text Box 16"/>
              <p:cNvSpPr txBox="1">
                <a:spLocks noChangeArrowheads="1"/>
              </p:cNvSpPr>
              <p:nvPr/>
            </p:nvSpPr>
            <p:spPr bwMode="auto">
              <a:xfrm>
                <a:off x="2664" y="2749"/>
                <a:ext cx="19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pPr eaLnBrk="1" hangingPunct="1"/>
                <a:r>
                  <a:rPr lang="en-GB" sz="900">
                    <a:latin typeface="Arial" pitchFamily="-112" charset="0"/>
                  </a:rPr>
                  <a:t>12</a:t>
                </a:r>
              </a:p>
            </p:txBody>
          </p:sp>
          <p:sp>
            <p:nvSpPr>
              <p:cNvPr id="552987" name="Text Box 17"/>
              <p:cNvSpPr txBox="1">
                <a:spLocks noChangeArrowheads="1"/>
              </p:cNvSpPr>
              <p:nvPr/>
            </p:nvSpPr>
            <p:spPr bwMode="auto">
              <a:xfrm>
                <a:off x="2522" y="2749"/>
                <a:ext cx="19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pPr eaLnBrk="1" hangingPunct="1"/>
                <a:r>
                  <a:rPr lang="en-GB" sz="900">
                    <a:latin typeface="Arial" pitchFamily="-112" charset="0"/>
                  </a:rPr>
                  <a:t>13</a:t>
                </a:r>
              </a:p>
            </p:txBody>
          </p:sp>
          <p:sp>
            <p:nvSpPr>
              <p:cNvPr id="552988" name="Text Box 18"/>
              <p:cNvSpPr txBox="1">
                <a:spLocks noChangeArrowheads="1"/>
              </p:cNvSpPr>
              <p:nvPr/>
            </p:nvSpPr>
            <p:spPr bwMode="auto">
              <a:xfrm>
                <a:off x="3060" y="2749"/>
                <a:ext cx="15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pPr eaLnBrk="1" hangingPunct="1"/>
                <a:r>
                  <a:rPr lang="en-GB" sz="900">
                    <a:latin typeface="Arial" pitchFamily="-112" charset="0"/>
                  </a:rPr>
                  <a:t>4</a:t>
                </a:r>
              </a:p>
            </p:txBody>
          </p:sp>
          <p:sp>
            <p:nvSpPr>
              <p:cNvPr id="552989" name="Text Box 19"/>
              <p:cNvSpPr txBox="1">
                <a:spLocks noChangeArrowheads="1"/>
              </p:cNvSpPr>
              <p:nvPr/>
            </p:nvSpPr>
            <p:spPr bwMode="auto">
              <a:xfrm>
                <a:off x="2975" y="2749"/>
                <a:ext cx="15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pPr eaLnBrk="1" hangingPunct="1"/>
                <a:r>
                  <a:rPr lang="en-GB" sz="900">
                    <a:latin typeface="Arial" pitchFamily="-112" charset="0"/>
                  </a:rPr>
                  <a:t>5</a:t>
                </a:r>
              </a:p>
            </p:txBody>
          </p:sp>
          <p:sp>
            <p:nvSpPr>
              <p:cNvPr id="552990" name="Rectangle 20"/>
              <p:cNvSpPr>
                <a:spLocks noChangeArrowheads="1"/>
              </p:cNvSpPr>
              <p:nvPr/>
            </p:nvSpPr>
            <p:spPr bwMode="auto">
              <a:xfrm>
                <a:off x="3172" y="2555"/>
                <a:ext cx="116" cy="288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" name="Group 25"/>
            <p:cNvGrpSpPr>
              <a:grpSpLocks/>
            </p:cNvGrpSpPr>
            <p:nvPr/>
          </p:nvGrpSpPr>
          <p:grpSpPr bwMode="auto">
            <a:xfrm>
              <a:off x="1726" y="2976"/>
              <a:ext cx="1730" cy="336"/>
              <a:chOff x="1726" y="2976"/>
              <a:chExt cx="1730" cy="336"/>
            </a:xfrm>
          </p:grpSpPr>
          <p:sp>
            <p:nvSpPr>
              <p:cNvPr id="552975" name="Text Box 5"/>
              <p:cNvSpPr txBox="1">
                <a:spLocks noChangeArrowheads="1"/>
              </p:cNvSpPr>
              <p:nvPr/>
            </p:nvSpPr>
            <p:spPr bwMode="auto">
              <a:xfrm>
                <a:off x="1726" y="2976"/>
                <a:ext cx="19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pPr eaLnBrk="1" hangingPunct="1"/>
                <a:r>
                  <a:rPr lang="en-GB" sz="900">
                    <a:latin typeface="Arial" pitchFamily="-112" charset="0"/>
                  </a:rPr>
                  <a:t>31</a:t>
                </a:r>
              </a:p>
            </p:txBody>
          </p:sp>
          <p:sp>
            <p:nvSpPr>
              <p:cNvPr id="552976" name="Text Box 6"/>
              <p:cNvSpPr txBox="1">
                <a:spLocks noChangeArrowheads="1"/>
              </p:cNvSpPr>
              <p:nvPr/>
            </p:nvSpPr>
            <p:spPr bwMode="auto">
              <a:xfrm>
                <a:off x="3300" y="2976"/>
                <a:ext cx="15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pPr eaLnBrk="1" hangingPunct="1"/>
                <a:r>
                  <a:rPr lang="en-GB" sz="900">
                    <a:latin typeface="Arial" pitchFamily="-112" charset="0"/>
                  </a:rPr>
                  <a:t>0</a:t>
                </a:r>
              </a:p>
            </p:txBody>
          </p:sp>
          <p:sp>
            <p:nvSpPr>
              <p:cNvPr id="552977" name="Text Box 7"/>
              <p:cNvSpPr txBox="1">
                <a:spLocks noChangeArrowheads="1"/>
              </p:cNvSpPr>
              <p:nvPr/>
            </p:nvSpPr>
            <p:spPr bwMode="auto">
              <a:xfrm>
                <a:off x="2782" y="2976"/>
                <a:ext cx="19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pPr eaLnBrk="1" hangingPunct="1"/>
                <a:r>
                  <a:rPr lang="en-GB" sz="900">
                    <a:latin typeface="Arial" pitchFamily="-112" charset="0"/>
                  </a:rPr>
                  <a:t>11</a:t>
                </a:r>
              </a:p>
            </p:txBody>
          </p:sp>
          <p:sp>
            <p:nvSpPr>
              <p:cNvPr id="552978" name="Text Box 8"/>
              <p:cNvSpPr txBox="1">
                <a:spLocks noChangeArrowheads="1"/>
              </p:cNvSpPr>
              <p:nvPr/>
            </p:nvSpPr>
            <p:spPr bwMode="auto">
              <a:xfrm>
                <a:off x="2640" y="2976"/>
                <a:ext cx="196" cy="1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</a:bodyPr>
              <a:lstStyle/>
              <a:p>
                <a:pPr eaLnBrk="1" hangingPunct="1"/>
                <a:r>
                  <a:rPr lang="en-GB" sz="900">
                    <a:latin typeface="Arial" pitchFamily="-112" charset="0"/>
                  </a:rPr>
                  <a:t>12</a:t>
                </a:r>
              </a:p>
            </p:txBody>
          </p:sp>
          <p:sp>
            <p:nvSpPr>
              <p:cNvPr id="552979" name="Rectangle 21"/>
              <p:cNvSpPr>
                <a:spLocks noChangeArrowheads="1"/>
              </p:cNvSpPr>
              <p:nvPr/>
            </p:nvSpPr>
            <p:spPr bwMode="auto">
              <a:xfrm>
                <a:off x="1776" y="3120"/>
                <a:ext cx="1056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>
                    <a:latin typeface="Arial" pitchFamily="-112" charset="0"/>
                  </a:rPr>
                  <a:t>Virtual Page Number</a:t>
                </a:r>
              </a:p>
            </p:txBody>
          </p:sp>
          <p:sp>
            <p:nvSpPr>
              <p:cNvPr id="552980" name="Rectangle 22"/>
              <p:cNvSpPr>
                <a:spLocks noChangeArrowheads="1"/>
              </p:cNvSpPr>
              <p:nvPr/>
            </p:nvSpPr>
            <p:spPr bwMode="auto">
              <a:xfrm>
                <a:off x="2832" y="3120"/>
                <a:ext cx="576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/>
                <a:r>
                  <a:rPr lang="en-GB" sz="1000">
                    <a:latin typeface="Arial" pitchFamily="-112" charset="0"/>
                  </a:rPr>
                  <a:t>Page offset</a:t>
                </a:r>
              </a:p>
            </p:txBody>
          </p:sp>
        </p:grpSp>
      </p:grpSp>
      <p:sp>
        <p:nvSpPr>
          <p:cNvPr id="552968" name="Text Box 27"/>
          <p:cNvSpPr txBox="1">
            <a:spLocks noChangeArrowheads="1"/>
          </p:cNvSpPr>
          <p:nvPr/>
        </p:nvSpPr>
        <p:spPr bwMode="auto">
          <a:xfrm>
            <a:off x="7010400" y="3995152"/>
            <a:ext cx="16065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/>
            <a:r>
              <a:rPr lang="en-GB" sz="1400" b="0">
                <a:latin typeface="Arial" pitchFamily="-112" charset="0"/>
              </a:rPr>
              <a:t>Virtual addressing</a:t>
            </a:r>
          </a:p>
        </p:txBody>
      </p:sp>
      <p:sp>
        <p:nvSpPr>
          <p:cNvPr id="552969" name="Rectangle 31"/>
          <p:cNvSpPr>
            <a:spLocks noChangeArrowheads="1"/>
          </p:cNvSpPr>
          <p:nvPr/>
        </p:nvSpPr>
        <p:spPr bwMode="auto">
          <a:xfrm>
            <a:off x="3275856" y="4489956"/>
            <a:ext cx="5495082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400" b="0" dirty="0">
                <a:latin typeface="Geneva" pitchFamily="-112" charset="0"/>
              </a:rPr>
              <a:t>Any translated bit used to index the cache must be identical in both the Virtual and Physical addresses</a:t>
            </a:r>
          </a:p>
        </p:txBody>
      </p:sp>
      <p:sp>
        <p:nvSpPr>
          <p:cNvPr id="552971" name="Line 34"/>
          <p:cNvSpPr>
            <a:spLocks noChangeShapeType="1"/>
          </p:cNvSpPr>
          <p:nvPr/>
        </p:nvSpPr>
        <p:spPr bwMode="auto">
          <a:xfrm flipV="1">
            <a:off x="4716016" y="4299952"/>
            <a:ext cx="8384" cy="262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2972" name="Line 35"/>
          <p:cNvSpPr>
            <a:spLocks noChangeShapeType="1"/>
          </p:cNvSpPr>
          <p:nvPr/>
        </p:nvSpPr>
        <p:spPr bwMode="auto">
          <a:xfrm>
            <a:off x="4495800" y="3995152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2828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6810 Computer Architecture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18663C-6035-2D49-82C2-EE094B92F034}" type="slidenum">
              <a:rPr lang="en-US"/>
              <a:pPr>
                <a:defRPr/>
              </a:pPr>
              <a:t>19</a:t>
            </a:fld>
            <a:endParaRPr lang="en-US">
              <a:latin typeface="Garamond" pitchFamily="-112" charset="0"/>
            </a:endParaRPr>
          </a:p>
        </p:txBody>
      </p:sp>
      <p:sp>
        <p:nvSpPr>
          <p:cNvPr id="557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Summary: how to address a cache</a:t>
            </a:r>
          </a:p>
        </p:txBody>
      </p:sp>
      <p:sp>
        <p:nvSpPr>
          <p:cNvPr id="5570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5181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1800" dirty="0">
                <a:solidFill>
                  <a:srgbClr val="0000FF"/>
                </a:solidFill>
              </a:rPr>
              <a:t>PI-PT</a:t>
            </a:r>
            <a:r>
              <a:rPr lang="en-GB" sz="1800" dirty="0"/>
              <a:t> : Physically indexed, physically tagged</a:t>
            </a:r>
          </a:p>
          <a:p>
            <a:pPr lvl="1"/>
            <a:r>
              <a:rPr lang="en-GB" sz="1600" dirty="0"/>
              <a:t>Translation first; then cache access</a:t>
            </a:r>
          </a:p>
          <a:p>
            <a:pPr lvl="1"/>
            <a:r>
              <a:rPr lang="en-GB" sz="1600" dirty="0"/>
              <a:t>Con: Translation occurs in sequence with L1-$ access </a:t>
            </a:r>
            <a:r>
              <a:rPr lang="en-US" sz="1600" dirty="0">
                <a:sym typeface="Symbol" pitchFamily="-112" charset="2"/>
              </a:rPr>
              <a:t></a:t>
            </a:r>
            <a:r>
              <a:rPr lang="en-GB" sz="1600" dirty="0"/>
              <a:t> high latency</a:t>
            </a:r>
            <a:endParaRPr lang="en-GB" sz="180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1800" dirty="0">
                <a:solidFill>
                  <a:srgbClr val="0000FF"/>
                </a:solidFill>
              </a:rPr>
              <a:t>VI-VT</a:t>
            </a:r>
            <a:r>
              <a:rPr lang="en-GB" sz="1800" dirty="0"/>
              <a:t> : Virtually indexed, virtually tagged</a:t>
            </a:r>
          </a:p>
          <a:p>
            <a:pPr lvl="1"/>
            <a:r>
              <a:rPr lang="en-GB" sz="1600" dirty="0"/>
              <a:t>L1-$ indexed with virtual address, tag contains virtual address</a:t>
            </a:r>
          </a:p>
          <a:p>
            <a:pPr lvl="1"/>
            <a:r>
              <a:rPr lang="en-GB" sz="1600" dirty="0"/>
              <a:t>Con: Cannot distinguish synonyms/homonyms in cache</a:t>
            </a:r>
          </a:p>
          <a:p>
            <a:pPr lvl="1"/>
            <a:r>
              <a:rPr lang="en-GB" sz="1600" dirty="0"/>
              <a:t>Pro:  Only perform TLB lookup on L1-$ miss</a:t>
            </a:r>
            <a:endParaRPr lang="en-GB" sz="180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1800" dirty="0">
                <a:solidFill>
                  <a:srgbClr val="0000FF"/>
                </a:solidFill>
              </a:rPr>
              <a:t>VI-PT</a:t>
            </a:r>
            <a:r>
              <a:rPr lang="en-GB" sz="1800" dirty="0"/>
              <a:t> : Virtually indexed, physically tagged</a:t>
            </a:r>
          </a:p>
          <a:p>
            <a:pPr lvl="1"/>
            <a:r>
              <a:rPr lang="en-GB" sz="1600" dirty="0"/>
              <a:t>L1-$ indexed with virtual address, or often just the un-translated bits</a:t>
            </a:r>
          </a:p>
          <a:p>
            <a:pPr lvl="1"/>
            <a:r>
              <a:rPr lang="en-GB" sz="1600" dirty="0"/>
              <a:t>Translation must take place before tag can be checked</a:t>
            </a:r>
          </a:p>
          <a:p>
            <a:pPr lvl="1"/>
            <a:r>
              <a:rPr lang="en-GB" sz="1600" dirty="0"/>
              <a:t>Con: Translation must take place on every L1-$ access</a:t>
            </a:r>
          </a:p>
          <a:p>
            <a:pPr lvl="1"/>
            <a:r>
              <a:rPr lang="en-GB" sz="1600" dirty="0"/>
              <a:t>Pro:  No synonyms/homonyms in the cache</a:t>
            </a:r>
            <a:endParaRPr lang="en-GB" sz="180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1800" dirty="0">
                <a:solidFill>
                  <a:srgbClr val="0000FF"/>
                </a:solidFill>
              </a:rPr>
              <a:t>PI-VT</a:t>
            </a:r>
            <a:r>
              <a:rPr lang="en-GB" sz="1800" dirty="0"/>
              <a:t> : Physically indexed, virtually tagged</a:t>
            </a:r>
          </a:p>
          <a:p>
            <a:pPr lvl="1"/>
            <a:r>
              <a:rPr lang="en-GB" sz="1600" dirty="0"/>
              <a:t>Not interesting</a:t>
            </a:r>
          </a:p>
        </p:txBody>
      </p:sp>
    </p:spTree>
    <p:extLst>
      <p:ext uri="{BB962C8B-B14F-4D97-AF65-F5344CB8AC3E}">
        <p14:creationId xmlns:p14="http://schemas.microsoft.com/office/powerpoint/2010/main" val="2589944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96702-4FE1-53FB-70D7-AA6DBA016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Cortex- A53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010D4-8EC6-79E0-94CF-574A0B2788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 Computer Architecture – Fall’25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28D47-1259-9B61-E274-9B289D3148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10D8AA-72FC-054E-A724-04FB34D4ED2D}" type="slidenum">
              <a:rPr lang="en-US" smtClean="0"/>
              <a:pPr>
                <a:defRPr/>
              </a:pPr>
              <a:t>20</a:t>
            </a:fld>
            <a:endParaRPr lang="en-US">
              <a:latin typeface="Garamond" pitchFamily="-11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34B27-2C96-389F-B21E-BF6DEA093075}"/>
              </a:ext>
            </a:extLst>
          </p:cNvPr>
          <p:cNvSpPr txBox="1"/>
          <p:nvPr/>
        </p:nvSpPr>
        <p:spPr>
          <a:xfrm>
            <a:off x="3756520" y="6091535"/>
            <a:ext cx="1630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Hp 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CB14CF-302B-E7DE-3008-D6092D035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429" y="1442740"/>
            <a:ext cx="9286855" cy="415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6447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0A39-BCDC-6774-466F-A8801BC8D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A53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16AC6-F608-0FCE-58CE-3C31227CF9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 Computer Architecture – Fall’25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84AF8-5986-6175-0099-C42408151F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10D8AA-72FC-054E-A724-04FB34D4ED2D}" type="slidenum">
              <a:rPr lang="en-US" smtClean="0"/>
              <a:pPr>
                <a:defRPr/>
              </a:pPr>
              <a:t>21</a:t>
            </a:fld>
            <a:endParaRPr lang="en-US">
              <a:latin typeface="Garamond" pitchFamily="-11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8D5618-6F65-F661-8BA6-602D5376A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295399"/>
            <a:ext cx="7086600" cy="31444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7E2D2D-9EEB-DCA6-479E-53F27A452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778022"/>
            <a:ext cx="7025169" cy="12573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56C88B-D747-6E49-D5C4-B022F4ADEE03}"/>
              </a:ext>
            </a:extLst>
          </p:cNvPr>
          <p:cNvSpPr txBox="1"/>
          <p:nvPr/>
        </p:nvSpPr>
        <p:spPr>
          <a:xfrm>
            <a:off x="7086600" y="1274998"/>
            <a:ext cx="18817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64K page</a:t>
            </a:r>
          </a:p>
          <a:p>
            <a:r>
              <a:rPr lang="en-US" sz="1600" dirty="0"/>
              <a:t>L1 I: 32K, 2-way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67140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A47B5-2D41-3C51-09E8-DC7DD3C38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A53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C69ABA-401A-DE72-82E0-1F27E1A03B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10D8AA-72FC-054E-A724-04FB34D4ED2D}" type="slidenum">
              <a:rPr lang="en-US" smtClean="0"/>
              <a:pPr>
                <a:defRPr/>
              </a:pPr>
              <a:t>22</a:t>
            </a:fld>
            <a:endParaRPr lang="en-US">
              <a:latin typeface="Garamond" pitchFamily="-11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942F3E-7355-2691-B9C6-F5A7B8087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4800"/>
            <a:ext cx="7543800" cy="50920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036794-5D9A-1DDE-0413-AAC646A8C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950" y="5715000"/>
            <a:ext cx="5727700" cy="1143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0B6925-69B7-B2F8-E6CB-D3DA8B716F98}"/>
              </a:ext>
            </a:extLst>
          </p:cNvPr>
          <p:cNvSpPr txBox="1"/>
          <p:nvPr/>
        </p:nvSpPr>
        <p:spPr>
          <a:xfrm>
            <a:off x="0" y="1143000"/>
            <a:ext cx="188170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64K page</a:t>
            </a:r>
          </a:p>
          <a:p>
            <a:r>
              <a:rPr lang="en-US" sz="1600" dirty="0"/>
              <a:t>L1 D: 32K, 4-way</a:t>
            </a:r>
          </a:p>
          <a:p>
            <a:r>
              <a:rPr lang="en-US" sz="1600" dirty="0"/>
              <a:t>L2 TLB: 512, 4-way</a:t>
            </a:r>
          </a:p>
          <a:p>
            <a:r>
              <a:rPr lang="en-US" sz="1600" dirty="0"/>
              <a:t>L2: 1MB, 16-way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83697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3B8F-07C5-45CE-1ECB-4B07BC0AA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A53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BD3E6-3E33-3A9C-7293-A2C0EA2DD81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 Computer Architecture – Fall’25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E9D1F1-7B12-D469-3739-B1F48E0822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10D8AA-72FC-054E-A724-04FB34D4ED2D}" type="slidenum">
              <a:rPr lang="en-US" smtClean="0"/>
              <a:pPr>
                <a:defRPr/>
              </a:pPr>
              <a:t>23</a:t>
            </a:fld>
            <a:endParaRPr lang="en-US">
              <a:latin typeface="Garamond" pitchFamily="-11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159433-6033-81EF-0AEE-281270A37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676400"/>
            <a:ext cx="6565900" cy="416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355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1CA2C-10EB-78D9-B230-59888186F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 i7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FF968-B64F-A445-80AB-3B2FC07633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10D8AA-72FC-054E-A724-04FB34D4ED2D}" type="slidenum">
              <a:rPr lang="en-US" smtClean="0"/>
              <a:pPr>
                <a:defRPr/>
              </a:pPr>
              <a:t>24</a:t>
            </a:fld>
            <a:endParaRPr lang="en-US">
              <a:latin typeface="Garamond" pitchFamily="-11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76415E-134B-1F5A-97AD-D8A4722A4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900" y="1655618"/>
            <a:ext cx="73599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835865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B4142-E6CD-74C1-2570-CFB5CEBBB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 i7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8056EE-6F2E-C173-2CC4-A261C39E86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CS/ECE  Computer Architecture – Fall’25</a:t>
            </a:r>
            <a:endParaRPr lang="en-US" sz="1400" dirty="0">
              <a:latin typeface="Garamond" pitchFamily="-11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0D55B-9509-E160-7E24-36F7A31A4E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10D8AA-72FC-054E-A724-04FB34D4ED2D}" type="slidenum">
              <a:rPr lang="en-US" smtClean="0"/>
              <a:pPr>
                <a:defRPr/>
              </a:pPr>
              <a:t>25</a:t>
            </a:fld>
            <a:endParaRPr lang="en-US">
              <a:latin typeface="Garamond" pitchFamily="-11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9E9443-49CC-1D0C-9AB2-97EE28A47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399" y="1676400"/>
            <a:ext cx="6163733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4263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isca00_transp">
  <a:themeElements>
    <a:clrScheme name="isca00_transp 10">
      <a:dk1>
        <a:srgbClr val="000000"/>
      </a:dk1>
      <a:lt1>
        <a:srgbClr val="FFFFFF"/>
      </a:lt1>
      <a:dk2>
        <a:srgbClr val="000000"/>
      </a:dk2>
      <a:lt2>
        <a:srgbClr val="ABABAB"/>
      </a:lt2>
      <a:accent1>
        <a:srgbClr val="CC3300"/>
      </a:accent1>
      <a:accent2>
        <a:srgbClr val="D70000"/>
      </a:accent2>
      <a:accent3>
        <a:srgbClr val="FFFFFF"/>
      </a:accent3>
      <a:accent4>
        <a:srgbClr val="000000"/>
      </a:accent4>
      <a:accent5>
        <a:srgbClr val="E2ADAA"/>
      </a:accent5>
      <a:accent6>
        <a:srgbClr val="C30000"/>
      </a:accent6>
      <a:hlink>
        <a:srgbClr val="D70000"/>
      </a:hlink>
      <a:folHlink>
        <a:srgbClr val="D70000"/>
      </a:folHlink>
    </a:clrScheme>
    <a:fontScheme name="isca00_transp">
      <a:majorFont>
        <a:latin typeface="Geneva"/>
        <a:ea typeface=""/>
        <a:cs typeface=""/>
      </a:majorFont>
      <a:minorFont>
        <a:latin typeface="Gene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2" charset="0"/>
          </a:defRPr>
        </a:defPPr>
      </a:lstStyle>
    </a:lnDef>
  </a:objectDefaults>
  <a:extraClrSchemeLst>
    <a:extraClrScheme>
      <a:clrScheme name="isca00_trans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ca00_transp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sca00_transp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ca00_transp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ca00_trans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ca00_trans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ca00_trans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ca00_transp 8">
        <a:dk1>
          <a:srgbClr val="ABABAB"/>
        </a:dk1>
        <a:lt1>
          <a:srgbClr val="FFFFFF"/>
        </a:lt1>
        <a:dk2>
          <a:srgbClr val="212142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ABABB0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66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sca00_transp 9">
        <a:dk1>
          <a:srgbClr val="ABABAB"/>
        </a:dk1>
        <a:lt1>
          <a:srgbClr val="FFFFFF"/>
        </a:lt1>
        <a:dk2>
          <a:srgbClr val="333366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ADADB8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66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sca00_transp 10">
        <a:dk1>
          <a:srgbClr val="000000"/>
        </a:dk1>
        <a:lt1>
          <a:srgbClr val="FFFFFF"/>
        </a:lt1>
        <a:dk2>
          <a:srgbClr val="000000"/>
        </a:dk2>
        <a:lt2>
          <a:srgbClr val="ABABAB"/>
        </a:lt2>
        <a:accent1>
          <a:srgbClr val="CC3300"/>
        </a:accent1>
        <a:accent2>
          <a:srgbClr val="D700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C30000"/>
        </a:accent6>
        <a:hlink>
          <a:srgbClr val="D70000"/>
        </a:hlink>
        <a:folHlink>
          <a:srgbClr val="D7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C:\users\cintra\isca00_transp.ppt</Template>
  <TotalTime>279725</TotalTime>
  <Words>2361</Words>
  <Application>Microsoft Macintosh PowerPoint</Application>
  <PresentationFormat>On-screen Show (4:3)</PresentationFormat>
  <Paragraphs>536</Paragraphs>
  <Slides>25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Garamond</vt:lpstr>
      <vt:lpstr>Geneva</vt:lpstr>
      <vt:lpstr>Lucida Console</vt:lpstr>
      <vt:lpstr>Symbol</vt:lpstr>
      <vt:lpstr>Times New Roman</vt:lpstr>
      <vt:lpstr>Wingdings</vt:lpstr>
      <vt:lpstr>isca00_transp</vt:lpstr>
      <vt:lpstr>Virtual Memory</vt:lpstr>
      <vt:lpstr>Virtual Memory</vt:lpstr>
      <vt:lpstr>Virtual and Physical Memory</vt:lpstr>
      <vt:lpstr>Sharing memory using Virtual Aliases (Synonym)</vt:lpstr>
      <vt:lpstr>Typical Virtual Memory Parameters</vt:lpstr>
      <vt:lpstr>Virtual Memory Policies</vt:lpstr>
      <vt:lpstr>Virtual Memory Policies</vt:lpstr>
      <vt:lpstr>Virtual Memory Policies</vt:lpstr>
      <vt:lpstr>Page Tables and Address Translation</vt:lpstr>
      <vt:lpstr>Making Page Tables space-efficient</vt:lpstr>
      <vt:lpstr>Fast address translation: TLB</vt:lpstr>
      <vt:lpstr>How to address a cache in a virtual-memory system</vt:lpstr>
      <vt:lpstr>How to address a cache in a virtual-memory system</vt:lpstr>
      <vt:lpstr>Problems with virtually addressed caches</vt:lpstr>
      <vt:lpstr>Solutions for handling homonyms and synonyms</vt:lpstr>
      <vt:lpstr>VI-PT: translating in parallel with L1-$ access</vt:lpstr>
      <vt:lpstr>Coping with large VI-PT caches</vt:lpstr>
      <vt:lpstr>Coping with large VI-PT caches (con’d)</vt:lpstr>
      <vt:lpstr>Summary: how to address a cache</vt:lpstr>
      <vt:lpstr>ARM Cortex- A53</vt:lpstr>
      <vt:lpstr>A53</vt:lpstr>
      <vt:lpstr>A53</vt:lpstr>
      <vt:lpstr>A53 </vt:lpstr>
      <vt:lpstr>Intel i7</vt:lpstr>
      <vt:lpstr>Intel i7</vt:lpstr>
    </vt:vector>
  </TitlesOfParts>
  <Manager/>
  <Company>Office 2004 Test Drive User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Informatics 3  Computer Architecture</dc:title>
  <dc:subject/>
  <dc:creator>Office 2004 Test Drive User</dc:creator>
  <cp:keywords/>
  <dc:description/>
  <cp:lastModifiedBy>Vijay Nagarajan</cp:lastModifiedBy>
  <cp:revision>628</cp:revision>
  <cp:lastPrinted>2015-01-12T09:43:55Z</cp:lastPrinted>
  <dcterms:created xsi:type="dcterms:W3CDTF">2018-01-13T22:21:21Z</dcterms:created>
  <dcterms:modified xsi:type="dcterms:W3CDTF">2025-10-27T04:43:35Z</dcterms:modified>
  <cp:category/>
</cp:coreProperties>
</file>