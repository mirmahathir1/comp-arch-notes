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2"/>
  </p:notesMasterIdLst>
  <p:handoutMasterIdLst>
    <p:handoutMasterId r:id="rId33"/>
  </p:handoutMasterIdLst>
  <p:sldIdLst>
    <p:sldId id="668" r:id="rId2"/>
    <p:sldId id="822" r:id="rId3"/>
    <p:sldId id="823" r:id="rId4"/>
    <p:sldId id="669" r:id="rId5"/>
    <p:sldId id="670" r:id="rId6"/>
    <p:sldId id="671" r:id="rId7"/>
    <p:sldId id="672" r:id="rId8"/>
    <p:sldId id="673" r:id="rId9"/>
    <p:sldId id="674" r:id="rId10"/>
    <p:sldId id="677" r:id="rId11"/>
    <p:sldId id="678" r:id="rId12"/>
    <p:sldId id="679" r:id="rId13"/>
    <p:sldId id="681" r:id="rId14"/>
    <p:sldId id="682" r:id="rId15"/>
    <p:sldId id="683" r:id="rId16"/>
    <p:sldId id="802" r:id="rId17"/>
    <p:sldId id="680" r:id="rId18"/>
    <p:sldId id="685" r:id="rId19"/>
    <p:sldId id="686" r:id="rId20"/>
    <p:sldId id="687" r:id="rId21"/>
    <p:sldId id="688" r:id="rId22"/>
    <p:sldId id="689" r:id="rId23"/>
    <p:sldId id="690" r:id="rId24"/>
    <p:sldId id="691" r:id="rId25"/>
    <p:sldId id="692" r:id="rId26"/>
    <p:sldId id="821" r:id="rId27"/>
    <p:sldId id="693" r:id="rId28"/>
    <p:sldId id="694" r:id="rId29"/>
    <p:sldId id="695" r:id="rId30"/>
    <p:sldId id="697" r:id="rId31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Garamond" pitchFamily="-112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Garamond" pitchFamily="-112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Garamond" pitchFamily="-112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Garamond" pitchFamily="-112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Garamond" pitchFamily="-112" charset="0"/>
        <a:ea typeface="+mn-ea"/>
        <a:cs typeface="+mn-cs"/>
      </a:defRPr>
    </a:lvl5pPr>
    <a:lvl6pPr marL="2286000" algn="l" defTabSz="457200" rtl="0" eaLnBrk="1" latinLnBrk="0" hangingPunct="1">
      <a:defRPr sz="2400" b="1" kern="1200">
        <a:solidFill>
          <a:schemeClr val="tx1"/>
        </a:solidFill>
        <a:latin typeface="Garamond" pitchFamily="-112" charset="0"/>
        <a:ea typeface="+mn-ea"/>
        <a:cs typeface="+mn-cs"/>
      </a:defRPr>
    </a:lvl6pPr>
    <a:lvl7pPr marL="2743200" algn="l" defTabSz="457200" rtl="0" eaLnBrk="1" latinLnBrk="0" hangingPunct="1">
      <a:defRPr sz="2400" b="1" kern="1200">
        <a:solidFill>
          <a:schemeClr val="tx1"/>
        </a:solidFill>
        <a:latin typeface="Garamond" pitchFamily="-112" charset="0"/>
        <a:ea typeface="+mn-ea"/>
        <a:cs typeface="+mn-cs"/>
      </a:defRPr>
    </a:lvl7pPr>
    <a:lvl8pPr marL="3200400" algn="l" defTabSz="457200" rtl="0" eaLnBrk="1" latinLnBrk="0" hangingPunct="1">
      <a:defRPr sz="2400" b="1" kern="1200">
        <a:solidFill>
          <a:schemeClr val="tx1"/>
        </a:solidFill>
        <a:latin typeface="Garamond" pitchFamily="-112" charset="0"/>
        <a:ea typeface="+mn-ea"/>
        <a:cs typeface="+mn-cs"/>
      </a:defRPr>
    </a:lvl8pPr>
    <a:lvl9pPr marL="3657600" algn="l" defTabSz="457200" rtl="0" eaLnBrk="1" latinLnBrk="0" hangingPunct="1">
      <a:defRPr sz="2400" b="1" kern="1200">
        <a:solidFill>
          <a:schemeClr val="tx1"/>
        </a:solidFill>
        <a:latin typeface="Garamond" pitchFamily="-112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6" frameSlides="1"/>
  <p:clrMru>
    <a:srgbClr val="606060"/>
    <a:srgbClr val="339933"/>
    <a:srgbClr val="0000FF"/>
    <a:srgbClr val="FF00FF"/>
    <a:srgbClr val="00FFFF"/>
    <a:srgbClr val="00FF00"/>
    <a:srgbClr val="000000"/>
    <a:srgbClr val="A80500"/>
    <a:srgbClr val="7819A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0000" autoAdjust="0"/>
    <p:restoredTop sz="81020" autoAdjust="0"/>
  </p:normalViewPr>
  <p:slideViewPr>
    <p:cSldViewPr>
      <p:cViewPr varScale="1">
        <p:scale>
          <a:sx n="102" d="100"/>
          <a:sy n="102" d="100"/>
        </p:scale>
        <p:origin x="1544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93" d="100"/>
          <a:sy n="93" d="100"/>
        </p:scale>
        <p:origin x="4736" y="208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4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Times New Roman" pitchFamily="-112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754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Times New Roman" pitchFamily="-112" charset="0"/>
              </a:defRPr>
            </a:lvl1pPr>
          </a:lstStyle>
          <a:p>
            <a:r>
              <a:rPr lang="en-US"/>
              <a:t>2008-2009</a:t>
            </a:r>
          </a:p>
        </p:txBody>
      </p:sp>
      <p:sp>
        <p:nvSpPr>
          <p:cNvPr id="5754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18600"/>
            <a:ext cx="3170238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Times New Roman" pitchFamily="-112" charset="0"/>
              </a:defRPr>
            </a:lvl1pPr>
          </a:lstStyle>
          <a:p>
            <a:r>
              <a:rPr lang="en-US"/>
              <a:t>Informatics 3   -   Computer Architecture</a:t>
            </a:r>
          </a:p>
        </p:txBody>
      </p:sp>
      <p:sp>
        <p:nvSpPr>
          <p:cNvPr id="5754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18600"/>
            <a:ext cx="3170238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Times New Roman" pitchFamily="-112" charset="0"/>
              </a:defRPr>
            </a:lvl1pPr>
          </a:lstStyle>
          <a:p>
            <a:pPr>
              <a:defRPr/>
            </a:pPr>
            <a:fld id="{BE1F0884-5E63-6845-9E6A-12C0C70E007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68171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>
            <a:lvl1pPr defTabSz="922338">
              <a:defRPr sz="1200" b="0">
                <a:latin typeface="Times New Roman" pitchFamily="-112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>
            <a:lvl1pPr algn="r" defTabSz="922338">
              <a:defRPr sz="1200" b="0">
                <a:latin typeface="Times New Roman" pitchFamily="-112" charset="0"/>
              </a:defRPr>
            </a:lvl1pPr>
          </a:lstStyle>
          <a:p>
            <a:r>
              <a:rPr lang="en-US"/>
              <a:t>2008-2009</a:t>
            </a:r>
          </a:p>
        </p:txBody>
      </p:sp>
      <p:sp>
        <p:nvSpPr>
          <p:cNvPr id="409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685800" y="533400"/>
            <a:ext cx="6172200" cy="43434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349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953000"/>
            <a:ext cx="6172200" cy="19050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349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2226" tIns="46113" rIns="92226" bIns="46113" numCol="1" anchor="b" anchorCtr="0" compatLnSpc="1">
            <a:prstTxWarp prst="textNoShape">
              <a:avLst/>
            </a:prstTxWarp>
          </a:bodyPr>
          <a:lstStyle>
            <a:lvl1pPr defTabSz="922338">
              <a:defRPr sz="1200" b="0">
                <a:latin typeface="Times New Roman" pitchFamily="-112" charset="0"/>
              </a:defRPr>
            </a:lvl1pPr>
          </a:lstStyle>
          <a:p>
            <a:r>
              <a:rPr lang="en-US"/>
              <a:t>Informatics 3   -   Computer Architecture</a:t>
            </a:r>
          </a:p>
        </p:txBody>
      </p:sp>
      <p:sp>
        <p:nvSpPr>
          <p:cNvPr id="6349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2226" tIns="46113" rIns="92226" bIns="46113" numCol="1" anchor="b" anchorCtr="0" compatLnSpc="1">
            <a:prstTxWarp prst="textNoShape">
              <a:avLst/>
            </a:prstTxWarp>
          </a:bodyPr>
          <a:lstStyle>
            <a:lvl1pPr algn="r" defTabSz="922338">
              <a:defRPr sz="1200" b="0">
                <a:latin typeface="Times New Roman" pitchFamily="-112" charset="0"/>
              </a:defRPr>
            </a:lvl1pPr>
          </a:lstStyle>
          <a:p>
            <a:pPr>
              <a:defRPr/>
            </a:pPr>
            <a:fld id="{3ACFF632-C89B-E148-8D44-977E94A3955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grpSp>
        <p:nvGrpSpPr>
          <p:cNvPr id="40968" name="Group 17"/>
          <p:cNvGrpSpPr>
            <a:grpSpLocks/>
          </p:cNvGrpSpPr>
          <p:nvPr/>
        </p:nvGrpSpPr>
        <p:grpSpPr bwMode="auto">
          <a:xfrm>
            <a:off x="714375" y="7191375"/>
            <a:ext cx="6143625" cy="1981200"/>
            <a:chOff x="450" y="4530"/>
            <a:chExt cx="3389" cy="1248"/>
          </a:xfrm>
        </p:grpSpPr>
        <p:sp>
          <p:nvSpPr>
            <p:cNvPr id="63496" name="Line 8"/>
            <p:cNvSpPr>
              <a:spLocks noChangeShapeType="1"/>
            </p:cNvSpPr>
            <p:nvPr/>
          </p:nvSpPr>
          <p:spPr bwMode="auto">
            <a:xfrm>
              <a:off x="450" y="4530"/>
              <a:ext cx="3389" cy="0"/>
            </a:xfrm>
            <a:prstGeom prst="line">
              <a:avLst/>
            </a:prstGeom>
            <a:noFill/>
            <a:ln w="9525" cap="rnd">
              <a:solidFill>
                <a:schemeClr val="folHlink"/>
              </a:solidFill>
              <a:prstDash val="sysDot"/>
              <a:round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63497" name="Line 9"/>
            <p:cNvSpPr>
              <a:spLocks noChangeShapeType="1"/>
            </p:cNvSpPr>
            <p:nvPr/>
          </p:nvSpPr>
          <p:spPr bwMode="auto">
            <a:xfrm>
              <a:off x="450" y="4709"/>
              <a:ext cx="3389" cy="0"/>
            </a:xfrm>
            <a:prstGeom prst="line">
              <a:avLst/>
            </a:prstGeom>
            <a:noFill/>
            <a:ln w="9525" cap="rnd">
              <a:solidFill>
                <a:schemeClr val="folHlink"/>
              </a:solidFill>
              <a:prstDash val="sysDot"/>
              <a:round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63498" name="Line 10"/>
            <p:cNvSpPr>
              <a:spLocks noChangeShapeType="1"/>
            </p:cNvSpPr>
            <p:nvPr/>
          </p:nvSpPr>
          <p:spPr bwMode="auto">
            <a:xfrm>
              <a:off x="450" y="4886"/>
              <a:ext cx="3389" cy="0"/>
            </a:xfrm>
            <a:prstGeom prst="line">
              <a:avLst/>
            </a:prstGeom>
            <a:noFill/>
            <a:ln w="9525" cap="rnd">
              <a:solidFill>
                <a:schemeClr val="folHlink"/>
              </a:solidFill>
              <a:prstDash val="sysDot"/>
              <a:round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63499" name="Line 11"/>
            <p:cNvSpPr>
              <a:spLocks noChangeShapeType="1"/>
            </p:cNvSpPr>
            <p:nvPr/>
          </p:nvSpPr>
          <p:spPr bwMode="auto">
            <a:xfrm>
              <a:off x="450" y="5065"/>
              <a:ext cx="3389" cy="0"/>
            </a:xfrm>
            <a:prstGeom prst="line">
              <a:avLst/>
            </a:prstGeom>
            <a:noFill/>
            <a:ln w="9525" cap="rnd">
              <a:solidFill>
                <a:schemeClr val="folHlink"/>
              </a:solidFill>
              <a:prstDash val="sysDot"/>
              <a:round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63500" name="Line 12"/>
            <p:cNvSpPr>
              <a:spLocks noChangeShapeType="1"/>
            </p:cNvSpPr>
            <p:nvPr/>
          </p:nvSpPr>
          <p:spPr bwMode="auto">
            <a:xfrm>
              <a:off x="450" y="5243"/>
              <a:ext cx="3389" cy="0"/>
            </a:xfrm>
            <a:prstGeom prst="line">
              <a:avLst/>
            </a:prstGeom>
            <a:noFill/>
            <a:ln w="9525" cap="rnd">
              <a:solidFill>
                <a:schemeClr val="folHlink"/>
              </a:solidFill>
              <a:prstDash val="sysDot"/>
              <a:round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63501" name="Line 13"/>
            <p:cNvSpPr>
              <a:spLocks noChangeShapeType="1"/>
            </p:cNvSpPr>
            <p:nvPr/>
          </p:nvSpPr>
          <p:spPr bwMode="auto">
            <a:xfrm>
              <a:off x="450" y="5421"/>
              <a:ext cx="3389" cy="0"/>
            </a:xfrm>
            <a:prstGeom prst="line">
              <a:avLst/>
            </a:prstGeom>
            <a:noFill/>
            <a:ln w="9525" cap="rnd">
              <a:solidFill>
                <a:schemeClr val="folHlink"/>
              </a:solidFill>
              <a:prstDash val="sysDot"/>
              <a:round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63502" name="Line 14"/>
            <p:cNvSpPr>
              <a:spLocks noChangeShapeType="1"/>
            </p:cNvSpPr>
            <p:nvPr/>
          </p:nvSpPr>
          <p:spPr bwMode="auto">
            <a:xfrm>
              <a:off x="450" y="5600"/>
              <a:ext cx="3389" cy="0"/>
            </a:xfrm>
            <a:prstGeom prst="line">
              <a:avLst/>
            </a:prstGeom>
            <a:noFill/>
            <a:ln w="9525" cap="rnd">
              <a:solidFill>
                <a:schemeClr val="folHlink"/>
              </a:solidFill>
              <a:prstDash val="sysDot"/>
              <a:round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63503" name="Line 15"/>
            <p:cNvSpPr>
              <a:spLocks noChangeShapeType="1"/>
            </p:cNvSpPr>
            <p:nvPr/>
          </p:nvSpPr>
          <p:spPr bwMode="auto">
            <a:xfrm>
              <a:off x="450" y="5778"/>
              <a:ext cx="3389" cy="0"/>
            </a:xfrm>
            <a:prstGeom prst="line">
              <a:avLst/>
            </a:prstGeom>
            <a:noFill/>
            <a:ln w="9525" cap="rnd">
              <a:solidFill>
                <a:schemeClr val="folHlink"/>
              </a:solidFill>
              <a:prstDash val="sysDot"/>
              <a:round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63504" name="Text Box 16"/>
          <p:cNvSpPr txBox="1">
            <a:spLocks noChangeArrowheads="1"/>
          </p:cNvSpPr>
          <p:nvPr/>
        </p:nvSpPr>
        <p:spPr bwMode="auto">
          <a:xfrm>
            <a:off x="609600" y="6858000"/>
            <a:ext cx="13144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994" tIns="46497" rIns="92994" bIns="46497">
            <a:prstTxWarp prst="textNoShape">
              <a:avLst/>
            </a:prstTxWarp>
            <a:spAutoFit/>
          </a:bodyPr>
          <a:lstStyle/>
          <a:p>
            <a:pPr defTabSz="930275" eaLnBrk="1" hangingPunct="1">
              <a:defRPr/>
            </a:pPr>
            <a:r>
              <a:rPr lang="en-GB" sz="1200" b="0">
                <a:latin typeface="Arial" pitchFamily="-112" charset="0"/>
              </a:rPr>
              <a:t>Additional notes:</a:t>
            </a:r>
          </a:p>
        </p:txBody>
      </p:sp>
    </p:spTree>
    <p:extLst>
      <p:ext uri="{BB962C8B-B14F-4D97-AF65-F5344CB8AC3E}">
        <p14:creationId xmlns:p14="http://schemas.microsoft.com/office/powerpoint/2010/main" val="65477586"/>
      </p:ext>
    </p:extLst>
  </p:cSld>
  <p:clrMap bg1="lt1" tx1="dk1" bg2="lt2" tx2="dk2" accent1="accent1" accent2="accent2" accent3="accent3" accent4="accent4" accent5="accent5" accent6="accent6" hlink="hlink" folHlink="folHlink"/>
  <p:hf hdr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-112" charset="0"/>
        <a:ea typeface="ＭＳ Ｐゴシック" pitchFamily="-112" charset="-128"/>
        <a:cs typeface="ＭＳ Ｐゴシック" pitchFamily="-112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-112" charset="0"/>
        <a:ea typeface="ＭＳ Ｐゴシック" pitchFamily="-112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-112" charset="0"/>
        <a:ea typeface="ＭＳ Ｐゴシック" pitchFamily="-112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-112" charset="0"/>
        <a:ea typeface="ＭＳ Ｐゴシック" pitchFamily="-112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-112" charset="0"/>
        <a:ea typeface="ＭＳ Ｐゴシック" pitchFamily="-112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r>
              <a:rPr lang="en-US"/>
              <a:t>2008-2009</a:t>
            </a:r>
          </a:p>
        </p:txBody>
      </p:sp>
      <p:sp>
        <p:nvSpPr>
          <p:cNvPr id="44544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Informatics 3   -   Computer Architecture</a:t>
            </a:r>
          </a:p>
        </p:txBody>
      </p:sp>
      <p:sp>
        <p:nvSpPr>
          <p:cNvPr id="44544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CEAB87A-CB2A-224F-9946-E7A7185B7C9B}" type="slidenum">
              <a:rPr lang="en-US"/>
              <a:pPr/>
              <a:t>1</a:t>
            </a:fld>
            <a:endParaRPr lang="en-US"/>
          </a:p>
        </p:txBody>
      </p:sp>
      <p:sp>
        <p:nvSpPr>
          <p:cNvPr id="4454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6300" y="533400"/>
            <a:ext cx="5791200" cy="4343400"/>
          </a:xfrm>
          <a:ln/>
        </p:spPr>
      </p:sp>
      <p:sp>
        <p:nvSpPr>
          <p:cNvPr id="4454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490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r>
              <a:rPr lang="en-US"/>
              <a:t>2008-2009</a:t>
            </a:r>
          </a:p>
        </p:txBody>
      </p:sp>
      <p:sp>
        <p:nvSpPr>
          <p:cNvPr id="44749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Informatics 3   -   Computer Architecture</a:t>
            </a:r>
          </a:p>
        </p:txBody>
      </p:sp>
      <p:sp>
        <p:nvSpPr>
          <p:cNvPr id="44749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4D25E05-9007-7B4C-A88D-BA9036A94132}" type="slidenum">
              <a:rPr lang="en-US"/>
              <a:pPr/>
              <a:t>4</a:t>
            </a:fld>
            <a:endParaRPr lang="en-US"/>
          </a:p>
        </p:txBody>
      </p:sp>
      <p:sp>
        <p:nvSpPr>
          <p:cNvPr id="44749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6300" y="533400"/>
            <a:ext cx="5791200" cy="4343400"/>
          </a:xfrm>
          <a:ln/>
        </p:spPr>
      </p:sp>
      <p:sp>
        <p:nvSpPr>
          <p:cNvPr id="44749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538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r>
              <a:rPr lang="en-US"/>
              <a:t>2008-2009</a:t>
            </a:r>
          </a:p>
        </p:txBody>
      </p:sp>
      <p:sp>
        <p:nvSpPr>
          <p:cNvPr id="44953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Informatics 3   -   Computer Architecture</a:t>
            </a:r>
          </a:p>
        </p:txBody>
      </p:sp>
      <p:sp>
        <p:nvSpPr>
          <p:cNvPr id="44954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B44F3AE-4CEB-CD43-BD40-D533BC65A5B6}" type="slidenum">
              <a:rPr lang="en-US"/>
              <a:pPr/>
              <a:t>5</a:t>
            </a:fld>
            <a:endParaRPr lang="en-US"/>
          </a:p>
        </p:txBody>
      </p:sp>
      <p:sp>
        <p:nvSpPr>
          <p:cNvPr id="44954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6300" y="533400"/>
            <a:ext cx="5791200" cy="4343400"/>
          </a:xfrm>
          <a:ln/>
        </p:spPr>
      </p:sp>
      <p:sp>
        <p:nvSpPr>
          <p:cNvPr id="44954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r>
              <a:rPr lang="en-US" dirty="0" err="1"/>
              <a:t>Sqrt</a:t>
            </a:r>
            <a:r>
              <a:rPr lang="en-US" dirty="0"/>
              <a:t> 2 =</a:t>
            </a:r>
            <a:r>
              <a:rPr lang="en-US" baseline="0" dirty="0"/>
              <a:t> 1.4</a:t>
            </a:r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58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r>
              <a:rPr lang="en-US"/>
              <a:t>2008-2009</a:t>
            </a:r>
          </a:p>
        </p:txBody>
      </p:sp>
      <p:sp>
        <p:nvSpPr>
          <p:cNvPr id="45158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Informatics 3   -   Computer Architecture</a:t>
            </a:r>
          </a:p>
        </p:txBody>
      </p:sp>
      <p:sp>
        <p:nvSpPr>
          <p:cNvPr id="45158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4ED0407-07FD-7546-B8F7-DD8991979405}" type="slidenum">
              <a:rPr lang="en-US"/>
              <a:pPr/>
              <a:t>6</a:t>
            </a:fld>
            <a:endParaRPr lang="en-US"/>
          </a:p>
        </p:txBody>
      </p:sp>
      <p:sp>
        <p:nvSpPr>
          <p:cNvPr id="45158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6300" y="533400"/>
            <a:ext cx="5791200" cy="4343400"/>
          </a:xfrm>
          <a:ln/>
        </p:spPr>
      </p:sp>
      <p:sp>
        <p:nvSpPr>
          <p:cNvPr id="45159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r>
              <a:rPr lang="en-US" dirty="0"/>
              <a:t>Why does too large a block size increase conflict misses? Because the probability of conflicts increases with a large block size. </a:t>
            </a:r>
          </a:p>
          <a:p>
            <a:endParaRPr lang="en-US" dirty="0"/>
          </a:p>
          <a:p>
            <a:r>
              <a:rPr lang="en-US" dirty="0"/>
              <a:t>It increases capacity misses because of increased cache pollution. 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634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r>
              <a:rPr lang="en-US"/>
              <a:t>2008-2009</a:t>
            </a:r>
          </a:p>
        </p:txBody>
      </p:sp>
      <p:sp>
        <p:nvSpPr>
          <p:cNvPr id="45363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Informatics 3   -   Computer Architecture</a:t>
            </a:r>
          </a:p>
        </p:txBody>
      </p:sp>
      <p:sp>
        <p:nvSpPr>
          <p:cNvPr id="45363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6930CE4-26E3-6F43-A17E-3B3A9857D9AA}" type="slidenum">
              <a:rPr lang="en-US"/>
              <a:pPr/>
              <a:t>7</a:t>
            </a:fld>
            <a:endParaRPr lang="en-US"/>
          </a:p>
        </p:txBody>
      </p:sp>
      <p:sp>
        <p:nvSpPr>
          <p:cNvPr id="45363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6300" y="533400"/>
            <a:ext cx="5791200" cy="4343400"/>
          </a:xfrm>
          <a:ln/>
        </p:spPr>
      </p:sp>
      <p:sp>
        <p:nvSpPr>
          <p:cNvPr id="45363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682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r>
              <a:rPr lang="en-US"/>
              <a:t>2008-2009</a:t>
            </a:r>
          </a:p>
        </p:txBody>
      </p:sp>
      <p:sp>
        <p:nvSpPr>
          <p:cNvPr id="45568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Informatics 3   -   Computer Architecture</a:t>
            </a:r>
          </a:p>
        </p:txBody>
      </p:sp>
      <p:sp>
        <p:nvSpPr>
          <p:cNvPr id="45568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C1330A5-9209-C74F-B601-C54E73F7EE2A}" type="slidenum">
              <a:rPr lang="en-US"/>
              <a:pPr/>
              <a:t>8</a:t>
            </a:fld>
            <a:endParaRPr lang="en-US"/>
          </a:p>
        </p:txBody>
      </p:sp>
      <p:sp>
        <p:nvSpPr>
          <p:cNvPr id="45568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6300" y="533400"/>
            <a:ext cx="5791200" cy="4343400"/>
          </a:xfrm>
          <a:ln/>
        </p:spPr>
      </p:sp>
      <p:sp>
        <p:nvSpPr>
          <p:cNvPr id="45568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730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r>
              <a:rPr lang="en-US"/>
              <a:t>2008-2009</a:t>
            </a:r>
          </a:p>
        </p:txBody>
      </p:sp>
      <p:sp>
        <p:nvSpPr>
          <p:cNvPr id="45773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Informatics 3   -   Computer Architecture</a:t>
            </a:r>
          </a:p>
        </p:txBody>
      </p:sp>
      <p:sp>
        <p:nvSpPr>
          <p:cNvPr id="45773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11744AD-9460-D647-8E25-BD662E9C08D4}" type="slidenum">
              <a:rPr lang="en-US"/>
              <a:pPr/>
              <a:t>9</a:t>
            </a:fld>
            <a:endParaRPr lang="en-US"/>
          </a:p>
        </p:txBody>
      </p:sp>
      <p:sp>
        <p:nvSpPr>
          <p:cNvPr id="45773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6300" y="533400"/>
            <a:ext cx="5791200" cy="4343400"/>
          </a:xfrm>
          <a:ln/>
        </p:spPr>
      </p:sp>
      <p:sp>
        <p:nvSpPr>
          <p:cNvPr id="45773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82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r>
              <a:rPr lang="en-US"/>
              <a:t>2008-2009</a:t>
            </a:r>
          </a:p>
        </p:txBody>
      </p:sp>
      <p:sp>
        <p:nvSpPr>
          <p:cNvPr id="46182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Informatics 3   -   Computer Architecture</a:t>
            </a:r>
          </a:p>
        </p:txBody>
      </p:sp>
      <p:sp>
        <p:nvSpPr>
          <p:cNvPr id="46182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113DD7F-97A3-234A-94FD-0BAB6D50A978}" type="slidenum">
              <a:rPr lang="en-US"/>
              <a:pPr/>
              <a:t>10</a:t>
            </a:fld>
            <a:endParaRPr lang="en-US"/>
          </a:p>
        </p:txBody>
      </p:sp>
      <p:sp>
        <p:nvSpPr>
          <p:cNvPr id="46182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6300" y="533400"/>
            <a:ext cx="5791200" cy="4343400"/>
          </a:xfrm>
          <a:ln/>
        </p:spPr>
      </p:sp>
      <p:sp>
        <p:nvSpPr>
          <p:cNvPr id="46183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874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r>
              <a:rPr lang="en-US"/>
              <a:t>2008-2009</a:t>
            </a:r>
          </a:p>
        </p:txBody>
      </p:sp>
      <p:sp>
        <p:nvSpPr>
          <p:cNvPr id="46387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Informatics 3   -   Computer Architecture</a:t>
            </a:r>
          </a:p>
        </p:txBody>
      </p:sp>
      <p:sp>
        <p:nvSpPr>
          <p:cNvPr id="46387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BB49ACC-79B7-534D-96C4-2B2301BC8D3D}" type="slidenum">
              <a:rPr lang="en-US"/>
              <a:pPr/>
              <a:t>11</a:t>
            </a:fld>
            <a:endParaRPr lang="en-US"/>
          </a:p>
        </p:txBody>
      </p:sp>
      <p:sp>
        <p:nvSpPr>
          <p:cNvPr id="46387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6300" y="533400"/>
            <a:ext cx="5791200" cy="4343400"/>
          </a:xfrm>
          <a:ln/>
        </p:spPr>
      </p:sp>
      <p:sp>
        <p:nvSpPr>
          <p:cNvPr id="46387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922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r>
              <a:rPr lang="en-US"/>
              <a:t>2008-2009</a:t>
            </a:r>
          </a:p>
        </p:txBody>
      </p:sp>
      <p:sp>
        <p:nvSpPr>
          <p:cNvPr id="46592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Informatics 3   -   Computer Architecture</a:t>
            </a:r>
          </a:p>
        </p:txBody>
      </p:sp>
      <p:sp>
        <p:nvSpPr>
          <p:cNvPr id="46592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4236ABF-4F0E-8D46-8728-B4DAA11790B2}" type="slidenum">
              <a:rPr lang="en-US"/>
              <a:pPr/>
              <a:t>12</a:t>
            </a:fld>
            <a:endParaRPr lang="en-US"/>
          </a:p>
        </p:txBody>
      </p:sp>
      <p:sp>
        <p:nvSpPr>
          <p:cNvPr id="46592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6300" y="533400"/>
            <a:ext cx="5791200" cy="4343400"/>
          </a:xfrm>
          <a:ln/>
        </p:spPr>
      </p:sp>
      <p:sp>
        <p:nvSpPr>
          <p:cNvPr id="46592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970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r>
              <a:rPr lang="en-US"/>
              <a:t>2008-2009</a:t>
            </a:r>
          </a:p>
        </p:txBody>
      </p:sp>
      <p:sp>
        <p:nvSpPr>
          <p:cNvPr id="46797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Informatics 3   -   Computer Architecture</a:t>
            </a:r>
          </a:p>
        </p:txBody>
      </p:sp>
      <p:sp>
        <p:nvSpPr>
          <p:cNvPr id="46797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26A5234-50A5-ED42-B049-65742C631ACE}" type="slidenum">
              <a:rPr lang="en-US"/>
              <a:pPr/>
              <a:t>13</a:t>
            </a:fld>
            <a:endParaRPr lang="en-US"/>
          </a:p>
        </p:txBody>
      </p:sp>
      <p:sp>
        <p:nvSpPr>
          <p:cNvPr id="46797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6300" y="533400"/>
            <a:ext cx="5791200" cy="4343400"/>
          </a:xfrm>
          <a:ln/>
        </p:spPr>
      </p:sp>
      <p:sp>
        <p:nvSpPr>
          <p:cNvPr id="46797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r>
              <a:rPr lang="en-US" dirty="0"/>
              <a:t>Merging arrays: NOT</a:t>
            </a:r>
            <a:r>
              <a:rPr lang="en-US" baseline="0" dirty="0"/>
              <a:t> beneficial of walking through every array element (spatial locality will cover both arrays). Very beneficial for random accesses</a:t>
            </a:r>
            <a:endParaRPr 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018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r>
              <a:rPr lang="en-US"/>
              <a:t>2008-2009</a:t>
            </a:r>
          </a:p>
        </p:txBody>
      </p:sp>
      <p:sp>
        <p:nvSpPr>
          <p:cNvPr id="47001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Informatics 3   -   Computer Architecture</a:t>
            </a:r>
          </a:p>
        </p:txBody>
      </p:sp>
      <p:sp>
        <p:nvSpPr>
          <p:cNvPr id="47002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34F6CBF-557E-0845-8D17-707C51980937}" type="slidenum">
              <a:rPr lang="en-US"/>
              <a:pPr/>
              <a:t>14</a:t>
            </a:fld>
            <a:endParaRPr lang="en-US"/>
          </a:p>
        </p:txBody>
      </p:sp>
      <p:sp>
        <p:nvSpPr>
          <p:cNvPr id="47002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6300" y="533400"/>
            <a:ext cx="5791200" cy="4343400"/>
          </a:xfrm>
          <a:ln/>
        </p:spPr>
      </p:sp>
      <p:sp>
        <p:nvSpPr>
          <p:cNvPr id="47002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06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r>
              <a:rPr lang="en-US"/>
              <a:t>2008-2009</a:t>
            </a:r>
          </a:p>
        </p:txBody>
      </p:sp>
      <p:sp>
        <p:nvSpPr>
          <p:cNvPr id="47206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Informatics 3   -   Computer Architecture</a:t>
            </a:r>
          </a:p>
        </p:txBody>
      </p:sp>
      <p:sp>
        <p:nvSpPr>
          <p:cNvPr id="4720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51C9800-11F3-F847-8586-566765AFEDDD}" type="slidenum">
              <a:rPr lang="en-US"/>
              <a:pPr/>
              <a:t>15</a:t>
            </a:fld>
            <a:endParaRPr lang="en-US"/>
          </a:p>
        </p:txBody>
      </p:sp>
      <p:sp>
        <p:nvSpPr>
          <p:cNvPr id="4720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6300" y="533400"/>
            <a:ext cx="5791200" cy="4343400"/>
          </a:xfrm>
          <a:ln/>
        </p:spPr>
      </p:sp>
      <p:sp>
        <p:nvSpPr>
          <p:cNvPr id="4720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r>
              <a:rPr lang="en-US" dirty="0"/>
              <a:t>For full details, see H &amp; P,</a:t>
            </a:r>
            <a:r>
              <a:rPr lang="en-US" baseline="0" dirty="0"/>
              <a:t> 4/e, pages 302-305.</a:t>
            </a:r>
            <a:endParaRPr 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162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r>
              <a:rPr lang="en-US"/>
              <a:t>2008-2009</a:t>
            </a:r>
          </a:p>
        </p:txBody>
      </p:sp>
      <p:sp>
        <p:nvSpPr>
          <p:cNvPr id="47616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Informatics 3   -   Computer Architecture</a:t>
            </a:r>
          </a:p>
        </p:txBody>
      </p:sp>
      <p:sp>
        <p:nvSpPr>
          <p:cNvPr id="47616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5053647-3B36-E543-A435-AE5646B3A107}" type="slidenum">
              <a:rPr lang="en-US"/>
              <a:pPr/>
              <a:t>16</a:t>
            </a:fld>
            <a:endParaRPr lang="en-US"/>
          </a:p>
        </p:txBody>
      </p:sp>
      <p:sp>
        <p:nvSpPr>
          <p:cNvPr id="47616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6300" y="533400"/>
            <a:ext cx="5791200" cy="4343400"/>
          </a:xfrm>
          <a:ln/>
        </p:spPr>
      </p:sp>
      <p:sp>
        <p:nvSpPr>
          <p:cNvPr id="47616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210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r>
              <a:rPr lang="en-US"/>
              <a:t>2008-2009</a:t>
            </a:r>
          </a:p>
        </p:txBody>
      </p:sp>
      <p:sp>
        <p:nvSpPr>
          <p:cNvPr id="47821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Informatics 3   -   Computer Architecture</a:t>
            </a:r>
          </a:p>
        </p:txBody>
      </p:sp>
      <p:sp>
        <p:nvSpPr>
          <p:cNvPr id="47821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85CBA82-2208-114F-953D-E8FCB3CC8ABD}" type="slidenum">
              <a:rPr lang="en-US"/>
              <a:pPr/>
              <a:t>17</a:t>
            </a:fld>
            <a:endParaRPr lang="en-US"/>
          </a:p>
        </p:txBody>
      </p:sp>
      <p:sp>
        <p:nvSpPr>
          <p:cNvPr id="47821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6300" y="533400"/>
            <a:ext cx="5791200" cy="4343400"/>
          </a:xfrm>
          <a:ln/>
        </p:spPr>
      </p:sp>
      <p:sp>
        <p:nvSpPr>
          <p:cNvPr id="47821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258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r>
              <a:rPr lang="en-US"/>
              <a:t>2008-2009</a:t>
            </a:r>
          </a:p>
        </p:txBody>
      </p:sp>
      <p:sp>
        <p:nvSpPr>
          <p:cNvPr id="48025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Informatics 3   -   Computer Architecture</a:t>
            </a:r>
          </a:p>
        </p:txBody>
      </p:sp>
      <p:sp>
        <p:nvSpPr>
          <p:cNvPr id="48026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CE17803-E316-E34F-B91C-5E9F084FAE40}" type="slidenum">
              <a:rPr lang="en-US"/>
              <a:pPr/>
              <a:t>18</a:t>
            </a:fld>
            <a:endParaRPr lang="en-US"/>
          </a:p>
        </p:txBody>
      </p:sp>
      <p:sp>
        <p:nvSpPr>
          <p:cNvPr id="48026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6300" y="533400"/>
            <a:ext cx="5791200" cy="4343400"/>
          </a:xfrm>
          <a:ln/>
        </p:spPr>
      </p:sp>
      <p:sp>
        <p:nvSpPr>
          <p:cNvPr id="48026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r>
              <a:rPr lang="en-US" dirty="0"/>
              <a:t>Reduces hit time too!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30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r>
              <a:rPr lang="en-US"/>
              <a:t>2008-2009</a:t>
            </a:r>
          </a:p>
        </p:txBody>
      </p:sp>
      <p:sp>
        <p:nvSpPr>
          <p:cNvPr id="4823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Informatics 3   -   Computer Architecture</a:t>
            </a:r>
          </a:p>
        </p:txBody>
      </p:sp>
      <p:sp>
        <p:nvSpPr>
          <p:cNvPr id="4823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414301B-FC48-DE47-AE62-6E1B20E92102}" type="slidenum">
              <a:rPr lang="en-US"/>
              <a:pPr/>
              <a:t>19</a:t>
            </a:fld>
            <a:endParaRPr lang="en-US"/>
          </a:p>
        </p:txBody>
      </p:sp>
      <p:sp>
        <p:nvSpPr>
          <p:cNvPr id="48230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6300" y="533400"/>
            <a:ext cx="5791200" cy="4343400"/>
          </a:xfrm>
          <a:ln/>
        </p:spPr>
      </p:sp>
      <p:sp>
        <p:nvSpPr>
          <p:cNvPr id="48231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354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r>
              <a:rPr lang="en-US"/>
              <a:t>2008-2009</a:t>
            </a:r>
          </a:p>
        </p:txBody>
      </p:sp>
      <p:sp>
        <p:nvSpPr>
          <p:cNvPr id="48435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Informatics 3   -   Computer Architecture</a:t>
            </a:r>
          </a:p>
        </p:txBody>
      </p:sp>
      <p:sp>
        <p:nvSpPr>
          <p:cNvPr id="48435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A4B0608-96EF-F84B-9D30-39C0EEEACCC2}" type="slidenum">
              <a:rPr lang="en-US"/>
              <a:pPr/>
              <a:t>20</a:t>
            </a:fld>
            <a:endParaRPr lang="en-US"/>
          </a:p>
        </p:txBody>
      </p:sp>
      <p:sp>
        <p:nvSpPr>
          <p:cNvPr id="48435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6300" y="533400"/>
            <a:ext cx="5791200" cy="4343400"/>
          </a:xfrm>
          <a:ln/>
        </p:spPr>
      </p:sp>
      <p:sp>
        <p:nvSpPr>
          <p:cNvPr id="48435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402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r>
              <a:rPr lang="en-US"/>
              <a:t>2008-2009</a:t>
            </a:r>
          </a:p>
        </p:txBody>
      </p:sp>
      <p:sp>
        <p:nvSpPr>
          <p:cNvPr id="48640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Informatics 3   -   Computer Architecture</a:t>
            </a:r>
          </a:p>
        </p:txBody>
      </p:sp>
      <p:sp>
        <p:nvSpPr>
          <p:cNvPr id="48640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5E3BF38-E732-0C40-8BB4-53A0C0B36242}" type="slidenum">
              <a:rPr lang="en-US"/>
              <a:pPr/>
              <a:t>21</a:t>
            </a:fld>
            <a:endParaRPr lang="en-US"/>
          </a:p>
        </p:txBody>
      </p:sp>
      <p:sp>
        <p:nvSpPr>
          <p:cNvPr id="48640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6300" y="533400"/>
            <a:ext cx="5791200" cy="4343400"/>
          </a:xfrm>
          <a:ln/>
        </p:spPr>
      </p:sp>
      <p:sp>
        <p:nvSpPr>
          <p:cNvPr id="48640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450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r>
              <a:rPr lang="en-US"/>
              <a:t>2008-2009</a:t>
            </a:r>
          </a:p>
        </p:txBody>
      </p:sp>
      <p:sp>
        <p:nvSpPr>
          <p:cNvPr id="48845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Informatics 3   -   Computer Architecture</a:t>
            </a:r>
          </a:p>
        </p:txBody>
      </p:sp>
      <p:sp>
        <p:nvSpPr>
          <p:cNvPr id="48845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807B25B-7C0B-1D44-918F-C453BE38359B}" type="slidenum">
              <a:rPr lang="en-US"/>
              <a:pPr/>
              <a:t>22</a:t>
            </a:fld>
            <a:endParaRPr lang="en-US"/>
          </a:p>
        </p:txBody>
      </p:sp>
      <p:sp>
        <p:nvSpPr>
          <p:cNvPr id="48845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6300" y="533400"/>
            <a:ext cx="5791200" cy="4343400"/>
          </a:xfrm>
          <a:ln/>
        </p:spPr>
      </p:sp>
      <p:sp>
        <p:nvSpPr>
          <p:cNvPr id="48845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498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r>
              <a:rPr lang="en-US"/>
              <a:t>2008-2009</a:t>
            </a:r>
          </a:p>
        </p:txBody>
      </p:sp>
      <p:sp>
        <p:nvSpPr>
          <p:cNvPr id="49049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Informatics 3   -   Computer Architecture</a:t>
            </a:r>
          </a:p>
        </p:txBody>
      </p:sp>
      <p:sp>
        <p:nvSpPr>
          <p:cNvPr id="49050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0D66BF3-AA9D-3C47-AAED-A2410A0D78FC}" type="slidenum">
              <a:rPr lang="en-US"/>
              <a:pPr/>
              <a:t>23</a:t>
            </a:fld>
            <a:endParaRPr lang="en-US"/>
          </a:p>
        </p:txBody>
      </p:sp>
      <p:sp>
        <p:nvSpPr>
          <p:cNvPr id="49050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6300" y="533400"/>
            <a:ext cx="5791200" cy="4343400"/>
          </a:xfrm>
          <a:ln/>
        </p:spPr>
      </p:sp>
      <p:sp>
        <p:nvSpPr>
          <p:cNvPr id="49050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54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r>
              <a:rPr lang="en-US"/>
              <a:t>2008-2009</a:t>
            </a:r>
          </a:p>
        </p:txBody>
      </p:sp>
      <p:sp>
        <p:nvSpPr>
          <p:cNvPr id="49254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Informatics 3   -   Computer Architecture</a:t>
            </a:r>
          </a:p>
        </p:txBody>
      </p:sp>
      <p:sp>
        <p:nvSpPr>
          <p:cNvPr id="49254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5A4AF5B-CEC4-B242-AC7F-FC933D43C395}" type="slidenum">
              <a:rPr lang="en-US"/>
              <a:pPr/>
              <a:t>24</a:t>
            </a:fld>
            <a:endParaRPr lang="en-US"/>
          </a:p>
        </p:txBody>
      </p:sp>
      <p:sp>
        <p:nvSpPr>
          <p:cNvPr id="49254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6300" y="533400"/>
            <a:ext cx="5791200" cy="4343400"/>
          </a:xfrm>
          <a:ln/>
        </p:spPr>
      </p:sp>
      <p:sp>
        <p:nvSpPr>
          <p:cNvPr id="49255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594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r>
              <a:rPr lang="en-US"/>
              <a:t>2008-2009</a:t>
            </a:r>
          </a:p>
        </p:txBody>
      </p:sp>
      <p:sp>
        <p:nvSpPr>
          <p:cNvPr id="49459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Informatics 3   -   Computer Architecture</a:t>
            </a:r>
          </a:p>
        </p:txBody>
      </p:sp>
      <p:sp>
        <p:nvSpPr>
          <p:cNvPr id="49459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9D3A7B7-008D-EB40-83F9-84C1012432EE}" type="slidenum">
              <a:rPr lang="en-US"/>
              <a:pPr/>
              <a:t>25</a:t>
            </a:fld>
            <a:endParaRPr lang="en-US"/>
          </a:p>
        </p:txBody>
      </p:sp>
      <p:sp>
        <p:nvSpPr>
          <p:cNvPr id="49459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6300" y="533400"/>
            <a:ext cx="5791200" cy="4343400"/>
          </a:xfrm>
          <a:ln/>
        </p:spPr>
      </p:sp>
      <p:sp>
        <p:nvSpPr>
          <p:cNvPr id="49459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162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r>
              <a:rPr lang="en-US"/>
              <a:t>2008-2009</a:t>
            </a:r>
          </a:p>
        </p:txBody>
      </p:sp>
      <p:sp>
        <p:nvSpPr>
          <p:cNvPr id="47616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Informatics 3   -   Computer Architecture</a:t>
            </a:r>
          </a:p>
        </p:txBody>
      </p:sp>
      <p:sp>
        <p:nvSpPr>
          <p:cNvPr id="47616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5053647-3B36-E543-A435-AE5646B3A107}" type="slidenum">
              <a:rPr lang="en-US"/>
              <a:pPr/>
              <a:t>26</a:t>
            </a:fld>
            <a:endParaRPr lang="en-US"/>
          </a:p>
        </p:txBody>
      </p:sp>
      <p:sp>
        <p:nvSpPr>
          <p:cNvPr id="47616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6300" y="533400"/>
            <a:ext cx="5791200" cy="4343400"/>
          </a:xfrm>
          <a:ln/>
        </p:spPr>
      </p:sp>
      <p:sp>
        <p:nvSpPr>
          <p:cNvPr id="47616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642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r>
              <a:rPr lang="en-US"/>
              <a:t>2008-2009</a:t>
            </a:r>
          </a:p>
        </p:txBody>
      </p:sp>
      <p:sp>
        <p:nvSpPr>
          <p:cNvPr id="49664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Informatics 3   -   Computer Architecture</a:t>
            </a:r>
          </a:p>
        </p:txBody>
      </p:sp>
      <p:sp>
        <p:nvSpPr>
          <p:cNvPr id="49664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BF68D38-EB50-C945-A63C-552850FDD985}" type="slidenum">
              <a:rPr lang="en-US"/>
              <a:pPr/>
              <a:t>27</a:t>
            </a:fld>
            <a:endParaRPr lang="en-US"/>
          </a:p>
        </p:txBody>
      </p:sp>
      <p:sp>
        <p:nvSpPr>
          <p:cNvPr id="4966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6300" y="533400"/>
            <a:ext cx="5791200" cy="4343400"/>
          </a:xfrm>
          <a:ln/>
        </p:spPr>
      </p:sp>
      <p:sp>
        <p:nvSpPr>
          <p:cNvPr id="4966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690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r>
              <a:rPr lang="en-US"/>
              <a:t>2008-2009</a:t>
            </a:r>
          </a:p>
        </p:txBody>
      </p:sp>
      <p:sp>
        <p:nvSpPr>
          <p:cNvPr id="49869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Informatics 3   -   Computer Architecture</a:t>
            </a:r>
          </a:p>
        </p:txBody>
      </p:sp>
      <p:sp>
        <p:nvSpPr>
          <p:cNvPr id="49869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6CE8B76-2181-A546-BBEF-EB75C71443B8}" type="slidenum">
              <a:rPr lang="en-US"/>
              <a:pPr/>
              <a:t>28</a:t>
            </a:fld>
            <a:endParaRPr lang="en-US"/>
          </a:p>
        </p:txBody>
      </p:sp>
      <p:sp>
        <p:nvSpPr>
          <p:cNvPr id="49869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6300" y="533400"/>
            <a:ext cx="5791200" cy="4343400"/>
          </a:xfrm>
          <a:ln/>
        </p:spPr>
      </p:sp>
      <p:sp>
        <p:nvSpPr>
          <p:cNvPr id="49869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738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r>
              <a:rPr lang="en-US"/>
              <a:t>2008-2009</a:t>
            </a:r>
          </a:p>
        </p:txBody>
      </p:sp>
      <p:sp>
        <p:nvSpPr>
          <p:cNvPr id="50073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Informatics 3   -   Computer Architecture</a:t>
            </a:r>
          </a:p>
        </p:txBody>
      </p:sp>
      <p:sp>
        <p:nvSpPr>
          <p:cNvPr id="50074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9EE3293-7277-BA47-9717-5FE8FEF3DE84}" type="slidenum">
              <a:rPr lang="en-US"/>
              <a:pPr/>
              <a:t>29</a:t>
            </a:fld>
            <a:endParaRPr lang="en-US"/>
          </a:p>
        </p:txBody>
      </p:sp>
      <p:sp>
        <p:nvSpPr>
          <p:cNvPr id="50074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6300" y="533400"/>
            <a:ext cx="5791200" cy="4343400"/>
          </a:xfrm>
          <a:ln/>
        </p:spPr>
      </p:sp>
      <p:sp>
        <p:nvSpPr>
          <p:cNvPr id="50074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834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r>
              <a:rPr lang="en-US"/>
              <a:t>2008-2009</a:t>
            </a:r>
          </a:p>
        </p:txBody>
      </p:sp>
      <p:sp>
        <p:nvSpPr>
          <p:cNvPr id="50483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Informatics 3   -   Computer Architecture</a:t>
            </a:r>
          </a:p>
        </p:txBody>
      </p:sp>
      <p:sp>
        <p:nvSpPr>
          <p:cNvPr id="50483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0906D70-5C40-5B42-9627-9ADBCB1B30E9}" type="slidenum">
              <a:rPr lang="en-US"/>
              <a:pPr/>
              <a:t>30</a:t>
            </a:fld>
            <a:endParaRPr lang="en-US"/>
          </a:p>
        </p:txBody>
      </p:sp>
      <p:sp>
        <p:nvSpPr>
          <p:cNvPr id="50483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6300" y="533400"/>
            <a:ext cx="5791200" cy="4343400"/>
          </a:xfrm>
          <a:ln/>
        </p:spPr>
      </p:sp>
      <p:sp>
        <p:nvSpPr>
          <p:cNvPr id="50483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4"/>
          <p:cNvSpPr>
            <a:spLocks noChangeShapeType="1"/>
          </p:cNvSpPr>
          <p:nvPr/>
        </p:nvSpPr>
        <p:spPr bwMode="auto">
          <a:xfrm>
            <a:off x="685800" y="3657600"/>
            <a:ext cx="7772400" cy="0"/>
          </a:xfrm>
          <a:prstGeom prst="line">
            <a:avLst/>
          </a:prstGeom>
          <a:noFill/>
          <a:ln w="76200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defRPr/>
            </a:pPr>
            <a:endParaRPr lang="en-US" dirty="0"/>
          </a:p>
        </p:txBody>
      </p:sp>
      <p:sp>
        <p:nvSpPr>
          <p:cNvPr id="5" name="Rectangle 7"/>
          <p:cNvSpPr>
            <a:spLocks noChangeArrowheads="1"/>
          </p:cNvSpPr>
          <p:nvPr/>
        </p:nvSpPr>
        <p:spPr bwMode="auto">
          <a:xfrm>
            <a:off x="685800" y="4038600"/>
            <a:ext cx="7772400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pPr algn="ctr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Font typeface="Wingdings" pitchFamily="-112" charset="2"/>
              <a:buNone/>
              <a:defRPr/>
            </a:pPr>
            <a:r>
              <a:rPr lang="en-GB" sz="2000" b="0" baseline="0" dirty="0">
                <a:latin typeface="Geneva" pitchFamily="-112" charset="0"/>
              </a:rPr>
              <a:t>Prof. Vijay Nagarajan</a:t>
            </a:r>
            <a:endParaRPr lang="en-GB" sz="2000" b="0" dirty="0">
              <a:latin typeface="Geneva" pitchFamily="-112" charset="0"/>
            </a:endParaRPr>
          </a:p>
          <a:p>
            <a:pPr algn="ctr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Font typeface="Wingdings" pitchFamily="-112" charset="2"/>
              <a:buNone/>
              <a:defRPr/>
            </a:pPr>
            <a:endParaRPr lang="en-GB" sz="1600" b="0" dirty="0">
              <a:latin typeface="Geneva" pitchFamily="-112" charset="0"/>
            </a:endParaRPr>
          </a:p>
        </p:txBody>
      </p:sp>
      <p:sp>
        <p:nvSpPr>
          <p:cNvPr id="2344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752600"/>
            <a:ext cx="7772400" cy="1676400"/>
          </a:xfrm>
        </p:spPr>
        <p:txBody>
          <a:bodyPr/>
          <a:lstStyle>
            <a:lvl1pPr algn="ctr"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6" name="Picture 5" descr="A red and white logo&#10;&#10;Description automatically generated">
            <a:extLst>
              <a:ext uri="{FF2B5EF4-FFF2-40B4-BE49-F238E27FC236}">
                <a16:creationId xmlns:a16="http://schemas.microsoft.com/office/drawing/2014/main" id="{D59D87F7-4D95-717A-4D8A-3EFA7D55EE3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29600" y="173383"/>
            <a:ext cx="685800" cy="635000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dirty="0"/>
              <a:t>CS/ECE  Computer Architecture – Fall’23</a:t>
            </a:r>
            <a:endParaRPr lang="en-US" sz="1400" dirty="0">
              <a:latin typeface="Garamond" pitchFamily="-112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F10D8AA-72FC-054E-A724-04FB34D4ED2D}" type="slidenum">
              <a:rPr lang="en-US"/>
              <a:pPr>
                <a:defRPr/>
              </a:pPr>
              <a:t>‹#›</a:t>
            </a:fld>
            <a:endParaRPr lang="en-US">
              <a:latin typeface="Garamond" pitchFamily="-112" charset="0"/>
            </a:endParaRPr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dirty="0"/>
              <a:t>CS/ECE  Computer Architecture – Fall’23</a:t>
            </a:r>
            <a:endParaRPr lang="en-US" sz="1400" dirty="0">
              <a:latin typeface="Garamond" pitchFamily="-112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39F0767-F541-5C44-BC09-F876CE08E507}" type="slidenum">
              <a:rPr lang="en-US"/>
              <a:pPr>
                <a:defRPr/>
              </a:pPr>
              <a:t>‹#›</a:t>
            </a:fld>
            <a:endParaRPr lang="en-US">
              <a:latin typeface="Garamond" pitchFamily="-112" charset="0"/>
            </a:endParaRP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524000"/>
            <a:ext cx="38100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38100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2438400" y="6553200"/>
            <a:ext cx="3810000" cy="304800"/>
          </a:xfrm>
        </p:spPr>
        <p:txBody>
          <a:bodyPr/>
          <a:lstStyle>
            <a:lvl1pPr>
              <a:defRPr sz="1400" baseline="0" smtClean="0"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latin typeface="Garamond" pitchFamily="-112" charset="0"/>
              </a:rPr>
              <a:t>CS/ECE  Computer Architecture – Fall’23</a:t>
            </a:r>
          </a:p>
          <a:p>
            <a:pPr>
              <a:defRPr/>
            </a:pPr>
            <a:endParaRPr lang="en-US" dirty="0">
              <a:latin typeface="Garamond" pitchFamily="-112" charset="0"/>
            </a:endParaRPr>
          </a:p>
          <a:p>
            <a:pPr>
              <a:defRPr/>
            </a:pPr>
            <a:endParaRPr lang="en-US" dirty="0">
              <a:latin typeface="Garamond" pitchFamily="-112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2A40ACE-8BC5-0B40-BBA1-EF9CE833121F}" type="slidenum">
              <a:rPr lang="en-US"/>
              <a:pPr>
                <a:defRPr/>
              </a:pPr>
              <a:t>‹#›</a:t>
            </a:fld>
            <a:endParaRPr lang="en-US">
              <a:latin typeface="Garamond" pitchFamily="-112" charset="0"/>
            </a:endParaRPr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dirty="0"/>
              <a:t>CS/ECE  Computer Architecture – Fall’23</a:t>
            </a:r>
          </a:p>
          <a:p>
            <a:pPr>
              <a:defRPr/>
            </a:pP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F59B5E2-87DD-EB43-872A-3E0EACCB644F}" type="slidenum">
              <a:rPr lang="en-US"/>
              <a:pPr>
                <a:defRPr/>
              </a:pPr>
              <a:t>‹#›</a:t>
            </a:fld>
            <a:endParaRPr lang="en-US">
              <a:latin typeface="Garamond" pitchFamily="-112" charset="0"/>
            </a:endParaRPr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dirty="0"/>
              <a:t>CS/ECE  Computer Architecture – Fall’23</a:t>
            </a:r>
          </a:p>
          <a:p>
            <a:pPr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ED26977E-680E-ED4B-94F0-141655F29872}" type="slidenum">
              <a:rPr lang="en-US"/>
              <a:pPr>
                <a:defRPr/>
              </a:pPr>
              <a:t>‹#›</a:t>
            </a:fld>
            <a:endParaRPr lang="en-US">
              <a:latin typeface="Garamond" pitchFamily="-112" charset="0"/>
            </a:endParaRPr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dirty="0"/>
              <a:t>CS/ECE  Computer Architecture – Fall’23</a:t>
            </a:r>
          </a:p>
          <a:p>
            <a:pPr>
              <a:defRPr/>
            </a:pP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D1CA570-A426-4944-B7E4-1239F68B4EC3}" type="slidenum">
              <a:rPr lang="en-US"/>
              <a:pPr>
                <a:defRPr/>
              </a:pPr>
              <a:t>‹#›</a:t>
            </a:fld>
            <a:endParaRPr lang="en-US">
              <a:latin typeface="Garamond" pitchFamily="-112" charset="0"/>
            </a:endParaRPr>
          </a:p>
        </p:txBody>
      </p:sp>
      <p:sp>
        <p:nvSpPr>
          <p:cNvPr id="4" name="Rectangle 3"/>
          <p:cNvSpPr/>
          <p:nvPr userDrawn="1"/>
        </p:nvSpPr>
        <p:spPr bwMode="auto">
          <a:xfrm>
            <a:off x="467544" y="836712"/>
            <a:ext cx="8136904" cy="36004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Garamond" pitchFamily="-112" charset="0"/>
            </a:endParaRPr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dirty="0"/>
              <a:t>CS/ECE  Computer Architecture – Fall’23</a:t>
            </a:r>
          </a:p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9E4FD61-08EC-3449-AF81-7DDFB2B32A47}" type="slidenum">
              <a:rPr lang="en-US"/>
              <a:pPr>
                <a:defRPr/>
              </a:pPr>
              <a:t>‹#›</a:t>
            </a:fld>
            <a:endParaRPr lang="en-US">
              <a:latin typeface="Garamond" pitchFamily="-112" charset="0"/>
            </a:endParaRPr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dirty="0"/>
              <a:t>CS/ECE  Computer Architecture – Fall’23</a:t>
            </a:r>
          </a:p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54976B5-A97D-9348-B219-18176D30763E}" type="slidenum">
              <a:rPr lang="en-US"/>
              <a:pPr>
                <a:defRPr/>
              </a:pPr>
              <a:t>‹#›</a:t>
            </a:fld>
            <a:endParaRPr lang="en-US">
              <a:latin typeface="Garamond" pitchFamily="-112" charset="0"/>
            </a:endParaRPr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dirty="0"/>
              <a:t>CS/ECE  Computer Architecture – Fall’23</a:t>
            </a:r>
          </a:p>
          <a:p>
            <a:pPr>
              <a:defRPr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B6EB67F5-B818-A947-B3C0-F7774BB8DB12}" type="slidenum">
              <a:rPr lang="en-US"/>
              <a:pPr>
                <a:defRPr/>
              </a:pPr>
              <a:t>‹#›</a:t>
            </a:fld>
            <a:endParaRPr lang="en-US">
              <a:latin typeface="Garamond" pitchFamily="-112" charset="0"/>
            </a:endParaRPr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152400"/>
            <a:ext cx="1943100" cy="62484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152400"/>
            <a:ext cx="5676900" cy="624840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dirty="0"/>
              <a:t>CS/ECE  Computer Architecture – Fall’23</a:t>
            </a:r>
          </a:p>
          <a:p>
            <a:pPr>
              <a:defRPr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576F58A6-734F-3F40-8ACC-F1E1F9649C4A}" type="slidenum">
              <a:rPr lang="en-US"/>
              <a:pPr>
                <a:defRPr/>
              </a:pPr>
              <a:t>‹#›</a:t>
            </a:fld>
            <a:endParaRPr lang="en-US">
              <a:latin typeface="Garamond" pitchFamily="-112" charset="0"/>
            </a:endParaRPr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"/>
            <a:ext cx="7620000" cy="8382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524000"/>
            <a:ext cx="3810000" cy="48768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3810000" cy="48768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dirty="0"/>
              <a:t>CS/ECE  Computer Architecture – Fall’23</a:t>
            </a:r>
          </a:p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77F90CF-3290-294A-AFFA-BABFD9F61AFD}" type="slidenum">
              <a:rPr lang="en-US"/>
              <a:pPr>
                <a:defRPr/>
              </a:pPr>
              <a:t>‹#›</a:t>
            </a:fld>
            <a:endParaRPr lang="en-US">
              <a:latin typeface="Garamond" pitchFamily="-112" charset="0"/>
            </a:endParaRPr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"/>
            <a:ext cx="7620000" cy="8382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85800" y="1524000"/>
            <a:ext cx="7772400" cy="4876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dirty="0"/>
              <a:t>CS/ECE  Computer Architecture – Fall’23</a:t>
            </a:r>
          </a:p>
          <a:p>
            <a:pPr>
              <a:defRPr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5C3F736-FD0F-AA45-8F37-A57BE49B46B7}" type="slidenum">
              <a:rPr lang="en-US"/>
              <a:pPr>
                <a:defRPr/>
              </a:pPr>
              <a:t>‹#›</a:t>
            </a:fld>
            <a:endParaRPr lang="en-US">
              <a:latin typeface="Garamond" pitchFamily="-112" charset="0"/>
            </a:endParaRPr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52400"/>
            <a:ext cx="76200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524000"/>
            <a:ext cx="7772400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3476" name="Rectangle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895600" y="6553200"/>
            <a:ext cx="3352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 b="0" smtClean="0">
                <a:latin typeface="+mn-lt"/>
              </a:defRPr>
            </a:lvl1pPr>
          </a:lstStyle>
          <a:p>
            <a:pPr>
              <a:defRPr/>
            </a:pPr>
            <a:r>
              <a:rPr lang="en-US" dirty="0"/>
              <a:t>CS/ECE Computer Architecture – Fall’23</a:t>
            </a:r>
            <a:endParaRPr lang="en-US" sz="1400" dirty="0"/>
          </a:p>
        </p:txBody>
      </p:sp>
      <p:sp>
        <p:nvSpPr>
          <p:cNvPr id="233477" name="Line 5"/>
          <p:cNvSpPr>
            <a:spLocks noChangeShapeType="1"/>
          </p:cNvSpPr>
          <p:nvPr/>
        </p:nvSpPr>
        <p:spPr bwMode="auto">
          <a:xfrm>
            <a:off x="685800" y="990600"/>
            <a:ext cx="7772400" cy="0"/>
          </a:xfrm>
          <a:prstGeom prst="line">
            <a:avLst/>
          </a:prstGeom>
          <a:noFill/>
          <a:ln w="38100">
            <a:solidFill>
              <a:schemeClr val="accent2">
                <a:alpha val="89000"/>
              </a:schemeClr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defRPr/>
            </a:pPr>
            <a:endParaRPr lang="en-US"/>
          </a:p>
        </p:txBody>
      </p:sp>
      <p:sp>
        <p:nvSpPr>
          <p:cNvPr id="233479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86600" y="6553200"/>
            <a:ext cx="1905000" cy="3048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+mn-lt"/>
              </a:defRPr>
            </a:lvl1pPr>
          </a:lstStyle>
          <a:p>
            <a:pPr>
              <a:defRPr/>
            </a:pPr>
            <a:fld id="{153BAC1E-BB0B-A049-B56D-74AA82B13E1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3" name="Picture 2" descr="A red and white logo&#10;&#10;Description automatically generated">
            <a:extLst>
              <a:ext uri="{FF2B5EF4-FFF2-40B4-BE49-F238E27FC236}">
                <a16:creationId xmlns:a16="http://schemas.microsoft.com/office/drawing/2014/main" id="{7BA18FEC-871B-E19F-0632-FE1098BEDAA5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8305800" y="139700"/>
            <a:ext cx="685800" cy="635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ransition/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+mj-lt"/>
          <a:ea typeface="ＭＳ Ｐゴシック" pitchFamily="-112" charset="-128"/>
          <a:cs typeface="ＭＳ Ｐゴシック" pitchFamily="-112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Geneva" pitchFamily="-112" charset="0"/>
          <a:ea typeface="ＭＳ Ｐゴシック" pitchFamily="-112" charset="-128"/>
          <a:cs typeface="ＭＳ Ｐゴシック" pitchFamily="-112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Geneva" pitchFamily="-112" charset="0"/>
          <a:ea typeface="ＭＳ Ｐゴシック" pitchFamily="-112" charset="-128"/>
          <a:cs typeface="ＭＳ Ｐゴシック" pitchFamily="-112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Geneva" pitchFamily="-112" charset="0"/>
          <a:ea typeface="ＭＳ Ｐゴシック" pitchFamily="-112" charset="-128"/>
          <a:cs typeface="ＭＳ Ｐゴシック" pitchFamily="-112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Geneva" pitchFamily="-112" charset="0"/>
          <a:ea typeface="ＭＳ Ｐゴシック" pitchFamily="-112" charset="-128"/>
          <a:cs typeface="ＭＳ Ｐゴシック" pitchFamily="-112" charset="-128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Geneva" pitchFamily="-112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Geneva" pitchFamily="-112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Geneva" pitchFamily="-112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Geneva" pitchFamily="-112" charset="0"/>
        </a:defRPr>
      </a:lvl9pPr>
    </p:titleStyle>
    <p:bodyStyle>
      <a:lvl1pPr marL="342900" indent="-3429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Font typeface="Wingdings" pitchFamily="-112" charset="2"/>
        <a:buChar char="§"/>
        <a:defRPr sz="2400">
          <a:solidFill>
            <a:schemeClr val="tx1"/>
          </a:solidFill>
          <a:latin typeface="+mn-lt"/>
          <a:ea typeface="ＭＳ Ｐゴシック" pitchFamily="-112" charset="-128"/>
          <a:cs typeface="ＭＳ Ｐゴシック" pitchFamily="-112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pitchFamily="-112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pitchFamily="-112" charset="2"/>
        <a:buChar char="§"/>
        <a:defRPr>
          <a:solidFill>
            <a:schemeClr val="tx1"/>
          </a:solidFill>
          <a:latin typeface="+mn-lt"/>
          <a:ea typeface="ＭＳ Ｐゴシック" pitchFamily="-112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  <a:ea typeface="ＭＳ Ｐゴシック" pitchFamily="-112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Wingdings" pitchFamily="-112" charset="2"/>
        <a:buChar char="w"/>
        <a:defRPr sz="1400">
          <a:solidFill>
            <a:schemeClr val="tx1"/>
          </a:solidFill>
          <a:latin typeface="+mn-lt"/>
          <a:ea typeface="ＭＳ Ｐゴシック" pitchFamily="-112" charset="-128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Font typeface="Wingdings" pitchFamily="-112" charset="2"/>
        <a:buChar char="w"/>
        <a:defRPr sz="1400">
          <a:solidFill>
            <a:schemeClr val="tx1"/>
          </a:solidFill>
          <a:latin typeface="+mn-lt"/>
          <a:ea typeface="ＭＳ Ｐゴシック" pitchFamily="-112" charset="-128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Font typeface="Wingdings" pitchFamily="-112" charset="2"/>
        <a:buChar char="w"/>
        <a:defRPr sz="1400">
          <a:solidFill>
            <a:schemeClr val="tx1"/>
          </a:solidFill>
          <a:latin typeface="+mn-lt"/>
          <a:ea typeface="ＭＳ Ｐゴシック" pitchFamily="-112" charset="-128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Font typeface="Wingdings" pitchFamily="-112" charset="2"/>
        <a:buChar char="w"/>
        <a:defRPr sz="1400">
          <a:solidFill>
            <a:schemeClr val="tx1"/>
          </a:solidFill>
          <a:latin typeface="+mn-lt"/>
          <a:ea typeface="ＭＳ Ｐゴシック" pitchFamily="-112" charset="-128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Font typeface="Wingdings" pitchFamily="-112" charset="2"/>
        <a:buChar char="w"/>
        <a:defRPr sz="1400">
          <a:solidFill>
            <a:schemeClr val="tx1"/>
          </a:solidFill>
          <a:latin typeface="+mn-lt"/>
          <a:ea typeface="ＭＳ Ｐゴシック" pitchFamily="-112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3.e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e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em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emf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emf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CS/ECE 6810 Computer Architecture</a:t>
            </a:r>
            <a:endParaRPr lang="en-US" sz="1400" dirty="0">
              <a:latin typeface="Garamond" pitchFamily="-112" charset="0"/>
            </a:endParaRPr>
          </a:p>
        </p:txBody>
      </p:sp>
      <p:sp>
        <p:nvSpPr>
          <p:cNvPr id="19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3B4395D-DBD8-AF42-999D-44E150A13F1B}" type="slidenum">
              <a:rPr lang="en-US"/>
              <a:pPr>
                <a:defRPr/>
              </a:pPr>
              <a:t>1</a:t>
            </a:fld>
            <a:endParaRPr lang="en-US">
              <a:latin typeface="Garamond" pitchFamily="-112" charset="0"/>
            </a:endParaRPr>
          </a:p>
        </p:txBody>
      </p:sp>
      <p:sp>
        <p:nvSpPr>
          <p:cNvPr id="444420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/>
              <a:t>Cache Performance</a:t>
            </a:r>
            <a:endParaRPr lang="en-US" dirty="0"/>
          </a:p>
        </p:txBody>
      </p:sp>
      <p:sp>
        <p:nvSpPr>
          <p:cNvPr id="44442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382000" cy="5105400"/>
          </a:xfrm>
        </p:spPr>
        <p:txBody>
          <a:bodyPr/>
          <a:lstStyle/>
          <a:p>
            <a:r>
              <a:rPr lang="en-US" sz="2000" dirty="0"/>
              <a:t>Memory system and processor performance: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Improving memory hierarchy performance:</a:t>
            </a:r>
          </a:p>
          <a:p>
            <a:pPr lvl="1"/>
            <a:r>
              <a:rPr lang="en-US" sz="1800" dirty="0">
                <a:sym typeface="Symbol" pitchFamily="-112" charset="2"/>
              </a:rPr>
              <a:t>Decrease hit time</a:t>
            </a:r>
          </a:p>
          <a:p>
            <a:pPr lvl="1"/>
            <a:r>
              <a:rPr lang="en-US" sz="1800" dirty="0">
                <a:solidFill>
                  <a:srgbClr val="FF0000"/>
                </a:solidFill>
                <a:sym typeface="Symbol" pitchFamily="-112" charset="2"/>
              </a:rPr>
              <a:t>Decrease miss rate</a:t>
            </a:r>
          </a:p>
          <a:p>
            <a:pPr lvl="1"/>
            <a:r>
              <a:rPr lang="en-US" sz="1800" dirty="0">
                <a:sym typeface="Symbol" pitchFamily="-112" charset="2"/>
              </a:rPr>
              <a:t>Decrease miss penalty</a:t>
            </a:r>
          </a:p>
        </p:txBody>
      </p:sp>
      <p:sp>
        <p:nvSpPr>
          <p:cNvPr id="444422" name="Text Box 5"/>
          <p:cNvSpPr txBox="1">
            <a:spLocks noChangeArrowheads="1"/>
          </p:cNvSpPr>
          <p:nvPr/>
        </p:nvSpPr>
        <p:spPr bwMode="auto">
          <a:xfrm>
            <a:off x="1219200" y="1676400"/>
            <a:ext cx="3479800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GB" sz="1800"/>
              <a:t>CPU time = IC </a:t>
            </a:r>
            <a:r>
              <a:rPr lang="en-GB" sz="1200"/>
              <a:t>x</a:t>
            </a:r>
            <a:r>
              <a:rPr lang="en-GB" sz="1800"/>
              <a:t> </a:t>
            </a:r>
            <a:r>
              <a:rPr lang="en-GB" sz="1800">
                <a:solidFill>
                  <a:srgbClr val="FF0000"/>
                </a:solidFill>
              </a:rPr>
              <a:t>CPI</a:t>
            </a:r>
            <a:r>
              <a:rPr lang="en-GB" sz="1800"/>
              <a:t> </a:t>
            </a:r>
            <a:r>
              <a:rPr lang="en-GB" sz="1200"/>
              <a:t>x</a:t>
            </a:r>
            <a:r>
              <a:rPr lang="en-GB" sz="1800"/>
              <a:t> Clock time</a:t>
            </a:r>
          </a:p>
        </p:txBody>
      </p:sp>
      <p:sp>
        <p:nvSpPr>
          <p:cNvPr id="444423" name="Text Box 6"/>
          <p:cNvSpPr txBox="1">
            <a:spLocks noChangeArrowheads="1"/>
          </p:cNvSpPr>
          <p:nvPr/>
        </p:nvSpPr>
        <p:spPr bwMode="auto">
          <a:xfrm>
            <a:off x="609600" y="2438400"/>
            <a:ext cx="3887788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GB" sz="1800" dirty="0"/>
              <a:t>CPI = </a:t>
            </a:r>
            <a:r>
              <a:rPr lang="en-GB" sz="1800" dirty="0" err="1">
                <a:solidFill>
                  <a:srgbClr val="FF0000"/>
                </a:solidFill>
              </a:rPr>
              <a:t>CPI</a:t>
            </a:r>
            <a:r>
              <a:rPr lang="en-GB" sz="1800" baseline="-25000" dirty="0" err="1">
                <a:solidFill>
                  <a:srgbClr val="FF0000"/>
                </a:solidFill>
              </a:rPr>
              <a:t>ld</a:t>
            </a:r>
            <a:r>
              <a:rPr lang="en-GB" sz="1800" baseline="-25000" dirty="0">
                <a:solidFill>
                  <a:srgbClr val="FF0000"/>
                </a:solidFill>
              </a:rPr>
              <a:t>/</a:t>
            </a:r>
            <a:r>
              <a:rPr lang="en-GB" sz="1800" baseline="-25000" dirty="0" err="1">
                <a:solidFill>
                  <a:srgbClr val="FF0000"/>
                </a:solidFill>
              </a:rPr>
              <a:t>st</a:t>
            </a:r>
            <a:r>
              <a:rPr lang="en-GB" sz="1800" dirty="0"/>
              <a:t> </a:t>
            </a:r>
            <a:r>
              <a:rPr lang="en-GB" sz="1200" dirty="0"/>
              <a:t>x</a:t>
            </a:r>
            <a:r>
              <a:rPr lang="en-GB" sz="1800" dirty="0"/>
              <a:t>                  + </a:t>
            </a:r>
            <a:r>
              <a:rPr lang="en-GB" sz="1800" dirty="0" err="1"/>
              <a:t>CPI</a:t>
            </a:r>
            <a:r>
              <a:rPr lang="en-GB" sz="1800" baseline="-25000" dirty="0" err="1"/>
              <a:t>others</a:t>
            </a:r>
            <a:r>
              <a:rPr lang="en-GB" sz="1800" dirty="0"/>
              <a:t> </a:t>
            </a:r>
            <a:r>
              <a:rPr lang="en-GB" sz="1200" dirty="0"/>
              <a:t>x</a:t>
            </a:r>
            <a:r>
              <a:rPr lang="en-GB" sz="1800" dirty="0"/>
              <a:t> </a:t>
            </a:r>
          </a:p>
        </p:txBody>
      </p:sp>
      <p:sp>
        <p:nvSpPr>
          <p:cNvPr id="444424" name="Text Box 7"/>
          <p:cNvSpPr txBox="1">
            <a:spLocks noChangeArrowheads="1"/>
          </p:cNvSpPr>
          <p:nvPr/>
        </p:nvSpPr>
        <p:spPr bwMode="auto">
          <a:xfrm>
            <a:off x="2514600" y="2667000"/>
            <a:ext cx="430213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GB" sz="1800"/>
              <a:t>IC</a:t>
            </a:r>
          </a:p>
        </p:txBody>
      </p:sp>
      <p:sp>
        <p:nvSpPr>
          <p:cNvPr id="444425" name="Line 8"/>
          <p:cNvSpPr>
            <a:spLocks noChangeShapeType="1"/>
          </p:cNvSpPr>
          <p:nvPr/>
        </p:nvSpPr>
        <p:spPr bwMode="auto">
          <a:xfrm>
            <a:off x="2362200" y="2667000"/>
            <a:ext cx="762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44426" name="Text Box 9"/>
          <p:cNvSpPr txBox="1">
            <a:spLocks noChangeArrowheads="1"/>
          </p:cNvSpPr>
          <p:nvPr/>
        </p:nvSpPr>
        <p:spPr bwMode="auto">
          <a:xfrm>
            <a:off x="2362200" y="2286000"/>
            <a:ext cx="749300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GB" sz="1800" dirty="0" err="1"/>
              <a:t>IC</a:t>
            </a:r>
            <a:r>
              <a:rPr lang="en-GB" sz="1800" baseline="-25000" dirty="0" err="1"/>
              <a:t>ld</a:t>
            </a:r>
            <a:r>
              <a:rPr lang="en-GB" sz="1800" baseline="-25000" dirty="0"/>
              <a:t>/</a:t>
            </a:r>
            <a:r>
              <a:rPr lang="en-GB" sz="1800" baseline="-25000" dirty="0" err="1"/>
              <a:t>st</a:t>
            </a:r>
            <a:endParaRPr lang="en-GB" sz="1800" baseline="-25000" dirty="0"/>
          </a:p>
        </p:txBody>
      </p:sp>
      <p:sp>
        <p:nvSpPr>
          <p:cNvPr id="444427" name="Text Box 10"/>
          <p:cNvSpPr txBox="1">
            <a:spLocks noChangeArrowheads="1"/>
          </p:cNvSpPr>
          <p:nvPr/>
        </p:nvSpPr>
        <p:spPr bwMode="auto">
          <a:xfrm>
            <a:off x="4648200" y="2667000"/>
            <a:ext cx="430213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GB" sz="1800"/>
              <a:t>IC</a:t>
            </a:r>
          </a:p>
        </p:txBody>
      </p:sp>
      <p:sp>
        <p:nvSpPr>
          <p:cNvPr id="444428" name="Line 11"/>
          <p:cNvSpPr>
            <a:spLocks noChangeShapeType="1"/>
          </p:cNvSpPr>
          <p:nvPr/>
        </p:nvSpPr>
        <p:spPr bwMode="auto">
          <a:xfrm>
            <a:off x="4495800" y="2667000"/>
            <a:ext cx="762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44429" name="Text Box 12"/>
          <p:cNvSpPr txBox="1">
            <a:spLocks noChangeArrowheads="1"/>
          </p:cNvSpPr>
          <p:nvPr/>
        </p:nvSpPr>
        <p:spPr bwMode="auto">
          <a:xfrm>
            <a:off x="4495800" y="2286000"/>
            <a:ext cx="828675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GB" sz="1800"/>
              <a:t>IC</a:t>
            </a:r>
            <a:r>
              <a:rPr lang="en-GB" sz="1800" baseline="-25000"/>
              <a:t>others</a:t>
            </a:r>
          </a:p>
        </p:txBody>
      </p:sp>
      <p:sp>
        <p:nvSpPr>
          <p:cNvPr id="444430" name="Text Box 13"/>
          <p:cNvSpPr txBox="1">
            <a:spLocks noChangeArrowheads="1"/>
          </p:cNvSpPr>
          <p:nvPr/>
        </p:nvSpPr>
        <p:spPr bwMode="auto">
          <a:xfrm>
            <a:off x="621638" y="3244850"/>
            <a:ext cx="4900463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GB" sz="1800" dirty="0" err="1"/>
              <a:t>CPI</a:t>
            </a:r>
            <a:r>
              <a:rPr lang="en-GB" sz="1800" baseline="-25000" dirty="0" err="1"/>
              <a:t>ld</a:t>
            </a:r>
            <a:r>
              <a:rPr lang="en-GB" sz="1800" baseline="-25000" dirty="0"/>
              <a:t>/</a:t>
            </a:r>
            <a:r>
              <a:rPr lang="en-GB" sz="1800" baseline="-25000" dirty="0" err="1"/>
              <a:t>st</a:t>
            </a:r>
            <a:r>
              <a:rPr lang="en-GB" sz="1800" dirty="0"/>
              <a:t> = </a:t>
            </a:r>
            <a:r>
              <a:rPr lang="en-GB" sz="1800" dirty="0">
                <a:solidFill>
                  <a:srgbClr val="FF0000"/>
                </a:solidFill>
              </a:rPr>
              <a:t>Average memory access time (AMAT)</a:t>
            </a:r>
          </a:p>
        </p:txBody>
      </p:sp>
      <p:sp>
        <p:nvSpPr>
          <p:cNvPr id="444431" name="Text Box 14"/>
          <p:cNvSpPr txBox="1">
            <a:spLocks noChangeArrowheads="1"/>
          </p:cNvSpPr>
          <p:nvPr/>
        </p:nvSpPr>
        <p:spPr bwMode="auto">
          <a:xfrm>
            <a:off x="1048646" y="3897028"/>
            <a:ext cx="4544834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GB" sz="1800" dirty="0"/>
              <a:t>AMAT= Hit time + Miss rate x Miss penalty</a:t>
            </a:r>
            <a:endParaRPr lang="en-GB" sz="1800" dirty="0">
              <a:solidFill>
                <a:srgbClr val="FF0000"/>
              </a:solidFill>
            </a:endParaRPr>
          </a:p>
        </p:txBody>
      </p:sp>
      <p:sp>
        <p:nvSpPr>
          <p:cNvPr id="444432" name="Line 16"/>
          <p:cNvSpPr>
            <a:spLocks noChangeShapeType="1"/>
          </p:cNvSpPr>
          <p:nvPr/>
        </p:nvSpPr>
        <p:spPr bwMode="auto">
          <a:xfrm>
            <a:off x="4724400" y="1905000"/>
            <a:ext cx="3810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44433" name="Text Box 17"/>
          <p:cNvSpPr txBox="1">
            <a:spLocks noChangeArrowheads="1"/>
          </p:cNvSpPr>
          <p:nvPr/>
        </p:nvSpPr>
        <p:spPr bwMode="auto">
          <a:xfrm>
            <a:off x="5257800" y="1676400"/>
            <a:ext cx="2408238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GB" sz="1800"/>
              <a:t>CPU performance eqn.</a:t>
            </a:r>
            <a:endParaRPr lang="en-GB" sz="1800">
              <a:solidFill>
                <a:srgbClr val="FF0000"/>
              </a:solidFill>
            </a:endParaRPr>
          </a:p>
        </p:txBody>
      </p:sp>
      <p:sp>
        <p:nvSpPr>
          <p:cNvPr id="444434" name="Line 18"/>
          <p:cNvSpPr>
            <a:spLocks noChangeShapeType="1"/>
          </p:cNvSpPr>
          <p:nvPr/>
        </p:nvSpPr>
        <p:spPr bwMode="auto">
          <a:xfrm>
            <a:off x="5715000" y="4114800"/>
            <a:ext cx="3810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44435" name="Text Box 19"/>
          <p:cNvSpPr txBox="1">
            <a:spLocks noChangeArrowheads="1"/>
          </p:cNvSpPr>
          <p:nvPr/>
        </p:nvSpPr>
        <p:spPr bwMode="auto">
          <a:xfrm>
            <a:off x="6248400" y="3908880"/>
            <a:ext cx="2754313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GB" sz="1800" dirty="0"/>
              <a:t>Memory performance eqn.</a:t>
            </a:r>
            <a:endParaRPr lang="en-GB" sz="18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2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2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2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2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Cache Performance – example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Assume we have a computer where the CPI is 1 when all memory accesses hit in the cache. Data accesses (</a:t>
            </a:r>
            <a:r>
              <a:rPr lang="en-US" dirty="0" err="1"/>
              <a:t>ld</a:t>
            </a:r>
            <a:r>
              <a:rPr lang="en-US" dirty="0"/>
              <a:t>/</a:t>
            </a:r>
            <a:r>
              <a:rPr lang="en-US" dirty="0" err="1"/>
              <a:t>st</a:t>
            </a:r>
            <a:r>
              <a:rPr lang="en-US" dirty="0"/>
              <a:t>) represent 50% of all instructions. If the miss penalty is 25 clocks and the miss rate is 2%, how much faster would the computer be if all instructions were cache hits?</a:t>
            </a:r>
          </a:p>
          <a:p>
            <a:pPr marL="0" indent="0">
              <a:buNone/>
            </a:pPr>
            <a:r>
              <a:rPr lang="en-US" dirty="0"/>
              <a:t>					      </a:t>
            </a:r>
            <a:r>
              <a:rPr lang="en-US" sz="2200" dirty="0"/>
              <a:t>[H&amp;P 5</a:t>
            </a:r>
            <a:r>
              <a:rPr lang="en-US" sz="2200" baseline="30000" dirty="0"/>
              <a:t>th</a:t>
            </a:r>
            <a:r>
              <a:rPr lang="en-US" sz="2200" dirty="0"/>
              <a:t> </a:t>
            </a:r>
            <a:r>
              <a:rPr lang="en-US" sz="2200" dirty="0" err="1"/>
              <a:t>ed</a:t>
            </a:r>
            <a:r>
              <a:rPr lang="en-US" sz="2200" dirty="0"/>
              <a:t>, B.1]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CS/ECE 6810 Computer Architecture</a:t>
            </a:r>
            <a:endParaRPr lang="en-US" sz="1400" dirty="0">
              <a:latin typeface="Garamond" pitchFamily="-112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F10D8AA-72FC-054E-A724-04FB34D4ED2D}" type="slidenum">
              <a:rPr lang="en-US" smtClean="0"/>
              <a:pPr>
                <a:defRPr/>
              </a:pPr>
              <a:t>2</a:t>
            </a:fld>
            <a:endParaRPr lang="en-US">
              <a:latin typeface="Garamond" pitchFamily="-11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7410439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CS/ECE 6810 Computer Architecture</a:t>
            </a:r>
            <a:endParaRPr lang="en-US" sz="1400" dirty="0">
              <a:latin typeface="Garamond" pitchFamily="-112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F10D8AA-72FC-054E-A724-04FB34D4ED2D}" type="slidenum">
              <a:rPr lang="en-US" smtClean="0"/>
              <a:pPr>
                <a:defRPr/>
              </a:pPr>
              <a:t>3</a:t>
            </a:fld>
            <a:endParaRPr lang="en-US">
              <a:latin typeface="Garamond" pitchFamily="-112" charset="0"/>
            </a:endParaRPr>
          </a:p>
        </p:txBody>
      </p:sp>
      <p:pic>
        <p:nvPicPr>
          <p:cNvPr id="7" name="Picture 6" descr="Screen Shot 2014-02-10 at 9.21.20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548680"/>
            <a:ext cx="7920880" cy="5795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480410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CS/ECE 6810 Computer Architecture</a:t>
            </a:r>
            <a:endParaRPr lang="en-US" sz="1400" dirty="0">
              <a:latin typeface="Garamond" pitchFamily="-112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B911594-44DC-7A42-A971-FC431A0EA5DC}" type="slidenum">
              <a:rPr lang="en-US"/>
              <a:pPr>
                <a:defRPr/>
              </a:pPr>
              <a:t>4</a:t>
            </a:fld>
            <a:endParaRPr lang="en-US">
              <a:latin typeface="Garamond" pitchFamily="-112" charset="0"/>
            </a:endParaRPr>
          </a:p>
        </p:txBody>
      </p:sp>
      <p:sp>
        <p:nvSpPr>
          <p:cNvPr id="44646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/>
              <a:t>Reducing Cache Miss Rates</a:t>
            </a:r>
            <a:endParaRPr lang="en-US" sz="800"/>
          </a:p>
        </p:txBody>
      </p:sp>
      <p:sp>
        <p:nvSpPr>
          <p:cNvPr id="44646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552" y="1143000"/>
            <a:ext cx="7992888" cy="4343400"/>
          </a:xfrm>
        </p:spPr>
        <p:txBody>
          <a:bodyPr/>
          <a:lstStyle/>
          <a:p>
            <a:pPr>
              <a:spcAft>
                <a:spcPts val="600"/>
              </a:spcAft>
              <a:buFont typeface="Wingdings" pitchFamily="-112" charset="2"/>
              <a:buNone/>
            </a:pPr>
            <a:r>
              <a:rPr lang="en-US" sz="2200" dirty="0"/>
              <a:t>Cache miss classification: the “three C’s”</a:t>
            </a:r>
          </a:p>
          <a:p>
            <a:pPr>
              <a:spcAft>
                <a:spcPts val="600"/>
              </a:spcAft>
            </a:pPr>
            <a:r>
              <a:rPr lang="en-US" sz="2000" dirty="0"/>
              <a:t>Compulsory misses (or cold misses): when a block is accessed for the first time</a:t>
            </a:r>
          </a:p>
          <a:p>
            <a:pPr>
              <a:spcAft>
                <a:spcPts val="600"/>
              </a:spcAft>
            </a:pPr>
            <a:r>
              <a:rPr lang="en-US" sz="2000" dirty="0"/>
              <a:t>Capacity misses: when a block is not in the cache because it was evicted because the cache was full</a:t>
            </a:r>
          </a:p>
          <a:p>
            <a:pPr>
              <a:spcAft>
                <a:spcPts val="600"/>
              </a:spcAft>
            </a:pPr>
            <a:r>
              <a:rPr lang="en-US" sz="2000" dirty="0"/>
              <a:t>Conflict misses: when a block is not in the cache because it was evicted because the cache set was full</a:t>
            </a:r>
          </a:p>
          <a:p>
            <a:pPr lvl="1"/>
            <a:r>
              <a:rPr lang="en-US" sz="1600" dirty="0">
                <a:sym typeface="Symbol" pitchFamily="-112" charset="2"/>
              </a:rPr>
              <a:t>Conflict misses only exist in direct-mapped or set-associative caches</a:t>
            </a:r>
          </a:p>
          <a:p>
            <a:pPr lvl="1"/>
            <a:r>
              <a:rPr lang="en-US" sz="1600" dirty="0">
                <a:sym typeface="Symbol" pitchFamily="-112" charset="2"/>
              </a:rPr>
              <a:t>In a fully associative cache, all non-compulsory misses are capacity misses</a:t>
            </a: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CS/ECE 6810 Computer Architecture</a:t>
            </a:r>
            <a:endParaRPr lang="en-US" sz="1400" dirty="0">
              <a:latin typeface="Garamond" pitchFamily="-112" charset="0"/>
            </a:endParaRPr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910B844-ECAE-C349-A77E-CBF103112699}" type="slidenum">
              <a:rPr lang="en-US"/>
              <a:pPr>
                <a:defRPr/>
              </a:pPr>
              <a:t>5</a:t>
            </a:fld>
            <a:endParaRPr lang="en-US">
              <a:latin typeface="Garamond" pitchFamily="-112" charset="0"/>
            </a:endParaRPr>
          </a:p>
        </p:txBody>
      </p:sp>
      <p:sp>
        <p:nvSpPr>
          <p:cNvPr id="4485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/>
              <a:t>Cache Misses vs. Cache Size</a:t>
            </a:r>
            <a:endParaRPr lang="en-US" sz="800"/>
          </a:p>
        </p:txBody>
      </p:sp>
      <p:sp>
        <p:nvSpPr>
          <p:cNvPr id="448519" name="Text Box 6"/>
          <p:cNvSpPr txBox="1">
            <a:spLocks noChangeArrowheads="1"/>
          </p:cNvSpPr>
          <p:nvPr/>
        </p:nvSpPr>
        <p:spPr bwMode="auto">
          <a:xfrm>
            <a:off x="4040188" y="1143000"/>
            <a:ext cx="993775" cy="6413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/>
            <a:r>
              <a:rPr lang="en-GB" sz="1800"/>
              <a:t>H&amp;P</a:t>
            </a:r>
          </a:p>
          <a:p>
            <a:pPr algn="ctr"/>
            <a:r>
              <a:rPr lang="en-GB" sz="1800"/>
              <a:t>Fig. 5.15</a:t>
            </a:r>
          </a:p>
        </p:txBody>
      </p:sp>
      <p:sp>
        <p:nvSpPr>
          <p:cNvPr id="448520" name="Text Box 9"/>
          <p:cNvSpPr txBox="1">
            <a:spLocks noChangeArrowheads="1"/>
          </p:cNvSpPr>
          <p:nvPr/>
        </p:nvSpPr>
        <p:spPr bwMode="auto">
          <a:xfrm>
            <a:off x="1452563" y="1447800"/>
            <a:ext cx="1636712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/>
            <a:r>
              <a:rPr lang="en-GB" sz="1800"/>
              <a:t>Direct mapped</a:t>
            </a:r>
          </a:p>
        </p:txBody>
      </p:sp>
      <p:sp>
        <p:nvSpPr>
          <p:cNvPr id="448521" name="Text Box 10"/>
          <p:cNvSpPr txBox="1">
            <a:spLocks noChangeArrowheads="1"/>
          </p:cNvSpPr>
          <p:nvPr/>
        </p:nvSpPr>
        <p:spPr bwMode="auto">
          <a:xfrm>
            <a:off x="5641975" y="1447800"/>
            <a:ext cx="2181225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/>
            <a:r>
              <a:rPr lang="en-GB" sz="1800"/>
              <a:t>4-way set associative</a:t>
            </a:r>
          </a:p>
        </p:txBody>
      </p:sp>
      <p:sp>
        <p:nvSpPr>
          <p:cNvPr id="448522" name="Rectangle 13"/>
          <p:cNvSpPr>
            <a:spLocks noGrp="1" noChangeArrowheads="1"/>
          </p:cNvSpPr>
          <p:nvPr>
            <p:ph type="body" idx="1"/>
          </p:nvPr>
        </p:nvSpPr>
        <p:spPr>
          <a:xfrm>
            <a:off x="533400" y="4495800"/>
            <a:ext cx="8215064" cy="2029544"/>
          </a:xfrm>
          <a:noFill/>
        </p:spPr>
        <p:txBody>
          <a:bodyPr/>
          <a:lstStyle/>
          <a:p>
            <a:r>
              <a:rPr lang="en-US" sz="1800" dirty="0"/>
              <a:t>Miss rates are very small in practice (caching is effective!)</a:t>
            </a:r>
          </a:p>
          <a:p>
            <a:r>
              <a:rPr lang="en-US" sz="1800" dirty="0"/>
              <a:t>Miss rates decrease significantly with cache size</a:t>
            </a:r>
          </a:p>
          <a:p>
            <a:pPr lvl="1"/>
            <a:r>
              <a:rPr lang="en-US" sz="1400" dirty="0"/>
              <a:t>Rule of thumb: miss rates change in proportion to √ of cache size </a:t>
            </a:r>
            <a:br>
              <a:rPr lang="en-US" sz="1400" dirty="0"/>
            </a:br>
            <a:r>
              <a:rPr lang="en-US" sz="1400" dirty="0"/>
              <a:t>e.g., 2x cache </a:t>
            </a:r>
            <a:r>
              <a:rPr lang="en-US" sz="1400" dirty="0">
                <a:sym typeface="Wingdings"/>
              </a:rPr>
              <a:t> </a:t>
            </a:r>
            <a:r>
              <a:rPr lang="en-US" sz="1400" dirty="0"/>
              <a:t>√2 fewer misses</a:t>
            </a:r>
          </a:p>
          <a:p>
            <a:pPr>
              <a:lnSpc>
                <a:spcPct val="100000"/>
              </a:lnSpc>
            </a:pPr>
            <a:r>
              <a:rPr lang="en-US" sz="1800" dirty="0"/>
              <a:t>Miss rates decrease with set-associativity because of reduction in conflict misses</a:t>
            </a:r>
          </a:p>
        </p:txBody>
      </p:sp>
      <p:graphicFrame>
        <p:nvGraphicFramePr>
          <p:cNvPr id="448514" name="Object 2"/>
          <p:cNvGraphicFramePr>
            <a:graphicFrameLocks noChangeAspect="1"/>
          </p:cNvGraphicFramePr>
          <p:nvPr/>
        </p:nvGraphicFramePr>
        <p:xfrm>
          <a:off x="511175" y="2017713"/>
          <a:ext cx="3538538" cy="2289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4787900" imgH="2946400" progId="Excel.Sheet.8">
                  <p:embed/>
                </p:oleObj>
              </mc:Choice>
              <mc:Fallback>
                <p:oleObj name="Worksheet" r:id="rId3" imgW="4787900" imgH="2946400" progId="Excel.Sheet.8">
                  <p:embed/>
                  <p:pic>
                    <p:nvPicPr>
                      <p:cNvPr id="44851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175" y="2017713"/>
                        <a:ext cx="3538538" cy="2289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0000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1">
                            <a:solidFill>
                              <a:srgbClr val="FF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8515" name="Object 3"/>
          <p:cNvGraphicFramePr>
            <a:graphicFrameLocks noChangeAspect="1"/>
          </p:cNvGraphicFramePr>
          <p:nvPr/>
        </p:nvGraphicFramePr>
        <p:xfrm>
          <a:off x="5006975" y="2017713"/>
          <a:ext cx="3538538" cy="2289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4787900" imgH="2946400" progId="Excel.Sheet.8">
                  <p:embed/>
                </p:oleObj>
              </mc:Choice>
              <mc:Fallback>
                <p:oleObj name="Worksheet" r:id="rId5" imgW="4787900" imgH="2946400" progId="Excel.Sheet.8">
                  <p:embed/>
                  <p:pic>
                    <p:nvPicPr>
                      <p:cNvPr id="44851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6975" y="2017713"/>
                        <a:ext cx="3538538" cy="2289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0000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1">
                            <a:solidFill>
                              <a:srgbClr val="FF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CS/ECE 6810 Computer Architecture</a:t>
            </a:r>
            <a:endParaRPr lang="en-US" sz="1400" dirty="0">
              <a:latin typeface="Garamond" pitchFamily="-112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0C91E25-BACE-934F-A9F3-0049B2DDEC65}" type="slidenum">
              <a:rPr lang="en-US"/>
              <a:pPr>
                <a:defRPr/>
              </a:pPr>
              <a:t>6</a:t>
            </a:fld>
            <a:endParaRPr lang="en-US">
              <a:latin typeface="Garamond" pitchFamily="-112" charset="0"/>
            </a:endParaRPr>
          </a:p>
        </p:txBody>
      </p:sp>
      <p:sp>
        <p:nvSpPr>
          <p:cNvPr id="4505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/>
              <a:t>Reducing Cold Miss Rates</a:t>
            </a:r>
            <a:endParaRPr lang="en-US" sz="800"/>
          </a:p>
        </p:txBody>
      </p:sp>
      <p:sp>
        <p:nvSpPr>
          <p:cNvPr id="45056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382000" cy="4343400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/>
              <a:t>Technique 1: Large block size</a:t>
            </a:r>
          </a:p>
          <a:p>
            <a:pPr lvl="1"/>
            <a:r>
              <a:rPr lang="en-US" sz="1600" dirty="0">
                <a:sym typeface="Symbol" pitchFamily="-112" charset="2"/>
              </a:rPr>
              <a:t>Principle of spatial locality  other data in the block likely to be used soon</a:t>
            </a:r>
          </a:p>
          <a:p>
            <a:pPr lvl="1"/>
            <a:r>
              <a:rPr lang="en-US" sz="1600" dirty="0">
                <a:sym typeface="Symbol" pitchFamily="-112" charset="2"/>
              </a:rPr>
              <a:t>Reduce cold miss rate</a:t>
            </a:r>
          </a:p>
          <a:p>
            <a:pPr lvl="1"/>
            <a:r>
              <a:rPr lang="en-US" sz="1600" dirty="0">
                <a:sym typeface="Symbol" pitchFamily="-112" charset="2"/>
              </a:rPr>
              <a:t>May increase conflict and capacity miss rate for the same cache size (fewer blocks in cache)</a:t>
            </a:r>
          </a:p>
          <a:p>
            <a:pPr lvl="1"/>
            <a:r>
              <a:rPr lang="en-US" sz="1600" dirty="0">
                <a:sym typeface="Symbol" pitchFamily="-112" charset="2"/>
              </a:rPr>
              <a:t>Increase miss penalty because more data has to be brought in each time</a:t>
            </a:r>
          </a:p>
          <a:p>
            <a:pPr lvl="1"/>
            <a:r>
              <a:rPr lang="en-US" sz="1600" dirty="0">
                <a:sym typeface="Symbol" pitchFamily="-112" charset="2"/>
              </a:rPr>
              <a:t>Uses more memory bandwidth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6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CS/ECE 6810 Computer Architecture</a:t>
            </a:r>
            <a:endParaRPr lang="en-US" sz="1400" dirty="0">
              <a:latin typeface="Garamond" pitchFamily="-112" charset="0"/>
            </a:endParaRPr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297AF5D-D6A5-C74C-9A76-5D4FDCD1F87A}" type="slidenum">
              <a:rPr lang="en-US"/>
              <a:pPr>
                <a:defRPr/>
              </a:pPr>
              <a:t>7</a:t>
            </a:fld>
            <a:endParaRPr lang="en-US">
              <a:latin typeface="Garamond" pitchFamily="-112" charset="0"/>
            </a:endParaRPr>
          </a:p>
        </p:txBody>
      </p:sp>
      <p:sp>
        <p:nvSpPr>
          <p:cNvPr id="4526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/>
              <a:t>Cache Misses vs. Block Size</a:t>
            </a:r>
            <a:endParaRPr lang="en-US" sz="800"/>
          </a:p>
        </p:txBody>
      </p:sp>
      <p:sp>
        <p:nvSpPr>
          <p:cNvPr id="452614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533400" y="5257800"/>
            <a:ext cx="8178800" cy="1195536"/>
          </a:xfrm>
          <a:noFill/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0000"/>
                </a:solidFill>
              </a:rPr>
              <a:t>Small caches are very sensitive to block size</a:t>
            </a:r>
          </a:p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0000"/>
                </a:solidFill>
              </a:rPr>
              <a:t>Very large blocks (&gt; 128B) never beneficial</a:t>
            </a:r>
          </a:p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0000"/>
                </a:solidFill>
              </a:rPr>
              <a:t>64B is a sweet spot </a:t>
            </a:r>
            <a:r>
              <a:rPr lang="en-US" sz="1800" b="1" dirty="0">
                <a:solidFill>
                  <a:srgbClr val="FF0000"/>
                </a:solidFill>
                <a:sym typeface="Wingdings"/>
              </a:rPr>
              <a:t> common choice in today’s processors</a:t>
            </a:r>
            <a:endParaRPr lang="en-US" sz="1800" b="1" dirty="0">
              <a:solidFill>
                <a:srgbClr val="FF0000"/>
              </a:solidFill>
            </a:endParaRPr>
          </a:p>
        </p:txBody>
      </p:sp>
      <p:sp>
        <p:nvSpPr>
          <p:cNvPr id="452615" name="Text Box 9"/>
          <p:cNvSpPr txBox="1">
            <a:spLocks noChangeArrowheads="1"/>
          </p:cNvSpPr>
          <p:nvPr/>
        </p:nvSpPr>
        <p:spPr bwMode="auto">
          <a:xfrm>
            <a:off x="7916863" y="4572000"/>
            <a:ext cx="993775" cy="6413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/>
            <a:r>
              <a:rPr lang="en-GB" sz="1800"/>
              <a:t>H&amp;P</a:t>
            </a:r>
          </a:p>
          <a:p>
            <a:pPr algn="ctr"/>
            <a:r>
              <a:rPr lang="en-GB" sz="1800"/>
              <a:t>Fig. 5.16</a:t>
            </a:r>
          </a:p>
        </p:txBody>
      </p:sp>
      <p:graphicFrame>
        <p:nvGraphicFramePr>
          <p:cNvPr id="452610" name="Object 2"/>
          <p:cNvGraphicFramePr>
            <a:graphicFrameLocks noChangeAspect="1"/>
          </p:cNvGraphicFramePr>
          <p:nvPr/>
        </p:nvGraphicFramePr>
        <p:xfrm>
          <a:off x="1381125" y="1397000"/>
          <a:ext cx="5846763" cy="3592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4787900" imgH="2946400" progId="Excel.Sheet.8">
                  <p:embed/>
                </p:oleObj>
              </mc:Choice>
              <mc:Fallback>
                <p:oleObj name="Worksheet" r:id="rId3" imgW="4787900" imgH="2946400" progId="Excel.Sheet.8">
                  <p:embed/>
                  <p:pic>
                    <p:nvPicPr>
                      <p:cNvPr id="45261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1125" y="1397000"/>
                        <a:ext cx="5846763" cy="3592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CS/ECE 6810 Computer Architecture</a:t>
            </a:r>
            <a:endParaRPr lang="en-US" sz="1400" dirty="0">
              <a:latin typeface="Garamond" pitchFamily="-112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25AA5A1-5125-5D41-9E8A-B5B187D870CA}" type="slidenum">
              <a:rPr lang="en-US"/>
              <a:pPr>
                <a:defRPr/>
              </a:pPr>
              <a:t>8</a:t>
            </a:fld>
            <a:endParaRPr lang="en-US">
              <a:latin typeface="Garamond" pitchFamily="-112" charset="0"/>
            </a:endParaRPr>
          </a:p>
        </p:txBody>
      </p:sp>
      <p:sp>
        <p:nvSpPr>
          <p:cNvPr id="45466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/>
              <a:t>Reducing Cold Miss Rates</a:t>
            </a:r>
            <a:endParaRPr lang="en-US" sz="800"/>
          </a:p>
        </p:txBody>
      </p:sp>
      <p:sp>
        <p:nvSpPr>
          <p:cNvPr id="45466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382000" cy="4343400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/>
              <a:t>Technique 2: Prefetching</a:t>
            </a:r>
          </a:p>
          <a:p>
            <a:pPr lvl="1"/>
            <a:r>
              <a:rPr lang="en-US" sz="1600" dirty="0"/>
              <a:t>Idea: bring into the cache </a:t>
            </a:r>
            <a:r>
              <a:rPr lang="en-US" sz="1600" u="sng" dirty="0"/>
              <a:t>ahead of time</a:t>
            </a:r>
            <a:r>
              <a:rPr lang="en-US" sz="1600" dirty="0"/>
              <a:t> data or instructions that are likely to be used soon</a:t>
            </a:r>
          </a:p>
          <a:p>
            <a:pPr lvl="1"/>
            <a:r>
              <a:rPr lang="en-US" sz="1600" dirty="0"/>
              <a:t>Can reduce cold misses  (also capacity misses)</a:t>
            </a:r>
          </a:p>
          <a:p>
            <a:pPr lvl="1"/>
            <a:r>
              <a:rPr lang="en-US" sz="1600" dirty="0"/>
              <a:t>Uses more memory bandwidth</a:t>
            </a:r>
          </a:p>
          <a:p>
            <a:pPr lvl="1"/>
            <a:r>
              <a:rPr lang="en-US" sz="1600" dirty="0"/>
              <a:t>Does not typically increase miss penalty (</a:t>
            </a:r>
            <a:r>
              <a:rPr lang="en-US" sz="1600" dirty="0" err="1"/>
              <a:t>prefetch</a:t>
            </a:r>
            <a:r>
              <a:rPr lang="en-US" sz="1600" dirty="0"/>
              <a:t> is generally handled after main cache access is completed)</a:t>
            </a:r>
          </a:p>
          <a:p>
            <a:pPr lvl="1"/>
            <a:r>
              <a:rPr lang="en-US" sz="1600" dirty="0"/>
              <a:t>May increase conflict and capacity miss rates by displacing useful blocks (</a:t>
            </a:r>
            <a:r>
              <a:rPr lang="en-US" sz="1600" b="1" dirty="0">
                <a:solidFill>
                  <a:srgbClr val="FF0000"/>
                </a:solidFill>
              </a:rPr>
              <a:t>cache pollution</a:t>
            </a:r>
            <a:r>
              <a:rPr lang="en-US" sz="1600" dirty="0"/>
              <a:t>)</a:t>
            </a:r>
          </a:p>
          <a:p>
            <a:pPr lvl="2"/>
            <a:r>
              <a:rPr lang="en-US" sz="1400" dirty="0"/>
              <a:t>Can use a prefetch buffer to avoid polluting the cache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6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6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6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66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66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4661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CS/ECE 6810 Computer Architecture</a:t>
            </a:r>
            <a:endParaRPr lang="en-US" sz="1400" dirty="0">
              <a:latin typeface="Garamond" pitchFamily="-112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BA38A02-1691-C243-A427-99FC91C45DFB}" type="slidenum">
              <a:rPr lang="en-US"/>
              <a:pPr>
                <a:defRPr/>
              </a:pPr>
              <a:t>9</a:t>
            </a:fld>
            <a:endParaRPr lang="en-US">
              <a:latin typeface="Garamond" pitchFamily="-112" charset="0"/>
            </a:endParaRPr>
          </a:p>
        </p:txBody>
      </p:sp>
      <p:sp>
        <p:nvSpPr>
          <p:cNvPr id="45670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/>
              <a:t>Prefetching</a:t>
            </a:r>
            <a:endParaRPr lang="en-US" sz="800"/>
          </a:p>
        </p:txBody>
      </p:sp>
      <p:sp>
        <p:nvSpPr>
          <p:cNvPr id="45670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382000" cy="4343400"/>
          </a:xfrm>
        </p:spPr>
        <p:txBody>
          <a:bodyPr/>
          <a:lstStyle/>
          <a:p>
            <a:r>
              <a:rPr lang="en-US" sz="1800" dirty="0">
                <a:sym typeface="Symbol" pitchFamily="-112" charset="2"/>
              </a:rPr>
              <a:t>Hardware prefetching: hardware automatically </a:t>
            </a:r>
            <a:r>
              <a:rPr lang="en-US" sz="1800" dirty="0" err="1">
                <a:sym typeface="Symbol" pitchFamily="-112" charset="2"/>
              </a:rPr>
              <a:t>prefetches</a:t>
            </a:r>
            <a:r>
              <a:rPr lang="en-US" sz="1800" dirty="0">
                <a:sym typeface="Symbol" pitchFamily="-112" charset="2"/>
              </a:rPr>
              <a:t> cache blocks on a cache miss</a:t>
            </a:r>
          </a:p>
          <a:p>
            <a:pPr lvl="1"/>
            <a:r>
              <a:rPr lang="en-US" sz="1600" dirty="0">
                <a:sym typeface="Symbol" pitchFamily="-112" charset="2"/>
              </a:rPr>
              <a:t>No need for extra prefetching instructions in the program</a:t>
            </a:r>
          </a:p>
          <a:p>
            <a:pPr lvl="1"/>
            <a:r>
              <a:rPr lang="en-US" sz="1600" dirty="0">
                <a:sym typeface="Symbol" pitchFamily="-112" charset="2"/>
              </a:rPr>
              <a:t>Effective for regular accesses, such as instructions</a:t>
            </a:r>
          </a:p>
          <a:p>
            <a:pPr lvl="1"/>
            <a:r>
              <a:rPr lang="en-US" sz="1600" dirty="0">
                <a:sym typeface="Symbol" pitchFamily="-112" charset="2"/>
              </a:rPr>
              <a:t>E.g., next blocks prefetching, stride prefetching</a:t>
            </a:r>
          </a:p>
          <a:p>
            <a:pPr lvl="1"/>
            <a:endParaRPr lang="en-US" sz="1600" dirty="0">
              <a:sym typeface="Symbol" pitchFamily="-112" charset="2"/>
            </a:endParaRPr>
          </a:p>
          <a:p>
            <a:r>
              <a:rPr lang="en-US" sz="1800" dirty="0">
                <a:sym typeface="Symbol" pitchFamily="-112" charset="2"/>
              </a:rPr>
              <a:t>Software prefetching: compiler inserts instructions at proper places in the code to trigger </a:t>
            </a:r>
            <a:r>
              <a:rPr lang="en-US" sz="1800" dirty="0" err="1">
                <a:sym typeface="Symbol" pitchFamily="-112" charset="2"/>
              </a:rPr>
              <a:t>prefetches</a:t>
            </a:r>
            <a:endParaRPr lang="en-US" sz="1800" dirty="0">
              <a:sym typeface="Symbol" pitchFamily="-112" charset="2"/>
            </a:endParaRPr>
          </a:p>
          <a:p>
            <a:pPr lvl="1"/>
            <a:r>
              <a:rPr lang="en-US" sz="1600" dirty="0">
                <a:sym typeface="Symbol" pitchFamily="-112" charset="2"/>
              </a:rPr>
              <a:t>Requires ISA support (</a:t>
            </a:r>
            <a:r>
              <a:rPr lang="en-US" sz="1600" dirty="0">
                <a:solidFill>
                  <a:srgbClr val="FF0000"/>
                </a:solidFill>
                <a:sym typeface="Symbol" pitchFamily="-112" charset="2"/>
              </a:rPr>
              <a:t>nonbinding prefetch </a:t>
            </a:r>
            <a:r>
              <a:rPr lang="en-US" sz="1600" dirty="0">
                <a:sym typeface="Symbol" pitchFamily="-112" charset="2"/>
              </a:rPr>
              <a:t>instruction)</a:t>
            </a:r>
          </a:p>
          <a:p>
            <a:pPr lvl="1"/>
            <a:r>
              <a:rPr lang="en-US" sz="1600" dirty="0">
                <a:sym typeface="Symbol" pitchFamily="-112" charset="2"/>
              </a:rPr>
              <a:t>Adds instructions to compute the prefetching addresses and to perform the </a:t>
            </a:r>
            <a:r>
              <a:rPr lang="en-US" sz="1600" dirty="0" err="1">
                <a:sym typeface="Symbol" pitchFamily="-112" charset="2"/>
              </a:rPr>
              <a:t>prefetch</a:t>
            </a:r>
            <a:r>
              <a:rPr lang="en-US" sz="1600" dirty="0">
                <a:sym typeface="Symbol" pitchFamily="-112" charset="2"/>
              </a:rPr>
              <a:t> itself (</a:t>
            </a:r>
            <a:r>
              <a:rPr lang="en-US" sz="1600" dirty="0" err="1">
                <a:solidFill>
                  <a:srgbClr val="FF0000"/>
                </a:solidFill>
                <a:sym typeface="Symbol" pitchFamily="-112" charset="2"/>
              </a:rPr>
              <a:t>prefetch</a:t>
            </a:r>
            <a:r>
              <a:rPr lang="en-US" sz="1600" dirty="0">
                <a:solidFill>
                  <a:srgbClr val="FF0000"/>
                </a:solidFill>
                <a:sym typeface="Symbol" pitchFamily="-112" charset="2"/>
              </a:rPr>
              <a:t> overhead</a:t>
            </a:r>
            <a:r>
              <a:rPr lang="en-US" sz="1600" dirty="0">
                <a:sym typeface="Symbol" pitchFamily="-112" charset="2"/>
              </a:rPr>
              <a:t>)</a:t>
            </a:r>
          </a:p>
          <a:p>
            <a:pPr lvl="1"/>
            <a:r>
              <a:rPr lang="en-US" sz="1600" dirty="0">
                <a:sym typeface="Symbol" pitchFamily="-112" charset="2"/>
              </a:rPr>
              <a:t>E.g., data prefetching in loops, linked list prefetching</a:t>
            </a:r>
          </a:p>
          <a:p>
            <a:pPr marL="57150" indent="0">
              <a:buNone/>
            </a:pPr>
            <a:endParaRPr lang="en-US" dirty="0">
              <a:sym typeface="Symbol" pitchFamily="-112" charset="2"/>
            </a:endParaRPr>
          </a:p>
          <a:p>
            <a:pPr lvl="1"/>
            <a:endParaRPr lang="en-US" sz="1600" dirty="0">
              <a:sym typeface="Symbol" pitchFamily="-112" charset="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0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0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0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0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6709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CS/ECE 6810 Computer Architecture</a:t>
            </a:r>
            <a:endParaRPr lang="en-US" sz="1400" dirty="0">
              <a:latin typeface="Garamond" pitchFamily="-112" charset="0"/>
            </a:endParaRPr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78A716E-262B-3441-9557-7CD73FB77C52}" type="slidenum">
              <a:rPr lang="en-US"/>
              <a:pPr>
                <a:defRPr/>
              </a:pPr>
              <a:t>10</a:t>
            </a:fld>
            <a:endParaRPr lang="en-US">
              <a:latin typeface="Garamond" pitchFamily="-112" charset="0"/>
            </a:endParaRPr>
          </a:p>
        </p:txBody>
      </p:sp>
      <p:sp>
        <p:nvSpPr>
          <p:cNvPr id="46080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/>
              <a:t>Software Prefetching</a:t>
            </a:r>
            <a:endParaRPr lang="en-US" sz="800"/>
          </a:p>
        </p:txBody>
      </p:sp>
      <p:sp>
        <p:nvSpPr>
          <p:cNvPr id="46080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382000" cy="4343400"/>
          </a:xfrm>
        </p:spPr>
        <p:txBody>
          <a:bodyPr/>
          <a:lstStyle/>
          <a:p>
            <a:r>
              <a:rPr lang="en-US" sz="1800" dirty="0"/>
              <a:t>E.g., prefetching in loops: Brings the next required block, two iterations ahead of time (assuming each element of x is 4-bytes long and the block has 64 bytes).</a:t>
            </a:r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r>
              <a:rPr lang="en-US" sz="1800" dirty="0" err="1"/>
              <a:t>E.g</a:t>
            </a:r>
            <a:r>
              <a:rPr lang="en-US" sz="1800" dirty="0"/>
              <a:t>, linked-list prefetching: Brings the next object in the list</a:t>
            </a:r>
          </a:p>
        </p:txBody>
      </p:sp>
      <p:sp>
        <p:nvSpPr>
          <p:cNvPr id="460806" name="Text Box 5"/>
          <p:cNvSpPr txBox="1">
            <a:spLocks noChangeArrowheads="1"/>
          </p:cNvSpPr>
          <p:nvPr/>
        </p:nvSpPr>
        <p:spPr bwMode="auto">
          <a:xfrm>
            <a:off x="5105400" y="2301875"/>
            <a:ext cx="3841750" cy="16160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GB" sz="2000" dirty="0">
                <a:solidFill>
                  <a:srgbClr val="0000FF"/>
                </a:solidFill>
                <a:latin typeface="Courier New" pitchFamily="-112" charset="0"/>
              </a:rPr>
              <a:t>for (</a:t>
            </a:r>
            <a:r>
              <a:rPr lang="en-GB" sz="2000" dirty="0" err="1">
                <a:solidFill>
                  <a:srgbClr val="0000FF"/>
                </a:solidFill>
                <a:latin typeface="Courier New" pitchFamily="-112" charset="0"/>
              </a:rPr>
              <a:t>i</a:t>
            </a:r>
            <a:r>
              <a:rPr lang="en-GB" sz="2000" dirty="0">
                <a:solidFill>
                  <a:srgbClr val="0000FF"/>
                </a:solidFill>
                <a:latin typeface="Courier New" pitchFamily="-112" charset="0"/>
              </a:rPr>
              <a:t>=0; </a:t>
            </a:r>
            <a:r>
              <a:rPr lang="en-GB" sz="2000" dirty="0" err="1">
                <a:solidFill>
                  <a:srgbClr val="0000FF"/>
                </a:solidFill>
                <a:latin typeface="Courier New" pitchFamily="-112" charset="0"/>
              </a:rPr>
              <a:t>i</a:t>
            </a:r>
            <a:r>
              <a:rPr lang="en-GB" sz="2000" dirty="0">
                <a:solidFill>
                  <a:srgbClr val="0000FF"/>
                </a:solidFill>
                <a:latin typeface="Courier New" pitchFamily="-112" charset="0"/>
              </a:rPr>
              <a:t>&lt;=999; </a:t>
            </a:r>
            <a:r>
              <a:rPr lang="en-GB" sz="2000" dirty="0" err="1">
                <a:solidFill>
                  <a:srgbClr val="0000FF"/>
                </a:solidFill>
                <a:latin typeface="Courier New" pitchFamily="-112" charset="0"/>
              </a:rPr>
              <a:t>i</a:t>
            </a:r>
            <a:r>
              <a:rPr lang="en-GB" sz="2000" dirty="0">
                <a:solidFill>
                  <a:srgbClr val="0000FF"/>
                </a:solidFill>
                <a:latin typeface="Courier New" pitchFamily="-112" charset="0"/>
              </a:rPr>
              <a:t>++) {</a:t>
            </a:r>
          </a:p>
          <a:p>
            <a:r>
              <a:rPr lang="en-GB" sz="2000" dirty="0">
                <a:solidFill>
                  <a:srgbClr val="0000FF"/>
                </a:solidFill>
                <a:latin typeface="Courier New" pitchFamily="-112" charset="0"/>
              </a:rPr>
              <a:t>  if (i%16 == 0)</a:t>
            </a:r>
          </a:p>
          <a:p>
            <a:r>
              <a:rPr lang="en-GB" sz="2000" dirty="0">
                <a:solidFill>
                  <a:srgbClr val="0000FF"/>
                </a:solidFill>
                <a:latin typeface="Courier New" pitchFamily="-112" charset="0"/>
              </a:rPr>
              <a:t>    </a:t>
            </a:r>
            <a:r>
              <a:rPr lang="en-GB" sz="2000" i="1" dirty="0" err="1">
                <a:solidFill>
                  <a:srgbClr val="0000FF"/>
                </a:solidFill>
                <a:latin typeface="Courier New" pitchFamily="-112" charset="0"/>
              </a:rPr>
              <a:t>prefetch</a:t>
            </a:r>
            <a:r>
              <a:rPr lang="en-GB" sz="2000" i="1" dirty="0">
                <a:solidFill>
                  <a:srgbClr val="0000FF"/>
                </a:solidFill>
                <a:latin typeface="Courier New" pitchFamily="-112" charset="0"/>
              </a:rPr>
              <a:t>(x[i+32]);</a:t>
            </a:r>
          </a:p>
          <a:p>
            <a:r>
              <a:rPr lang="en-GB" sz="2000" dirty="0">
                <a:solidFill>
                  <a:srgbClr val="0000FF"/>
                </a:solidFill>
                <a:latin typeface="Courier New" pitchFamily="-112" charset="0"/>
              </a:rPr>
              <a:t>  x[</a:t>
            </a:r>
            <a:r>
              <a:rPr lang="en-GB" sz="2000" dirty="0" err="1">
                <a:solidFill>
                  <a:srgbClr val="0000FF"/>
                </a:solidFill>
                <a:latin typeface="Courier New" pitchFamily="-112" charset="0"/>
              </a:rPr>
              <a:t>i</a:t>
            </a:r>
            <a:r>
              <a:rPr lang="en-GB" sz="2000" dirty="0">
                <a:solidFill>
                  <a:srgbClr val="0000FF"/>
                </a:solidFill>
                <a:latin typeface="Courier New" pitchFamily="-112" charset="0"/>
              </a:rPr>
              <a:t>] = x[</a:t>
            </a:r>
            <a:r>
              <a:rPr lang="en-GB" sz="2000" dirty="0" err="1">
                <a:solidFill>
                  <a:srgbClr val="0000FF"/>
                </a:solidFill>
                <a:latin typeface="Courier New" pitchFamily="-112" charset="0"/>
              </a:rPr>
              <a:t>i</a:t>
            </a:r>
            <a:r>
              <a:rPr lang="en-GB" sz="2000" dirty="0">
                <a:solidFill>
                  <a:srgbClr val="0000FF"/>
                </a:solidFill>
                <a:latin typeface="Courier New" pitchFamily="-112" charset="0"/>
              </a:rPr>
              <a:t>] + s;</a:t>
            </a:r>
          </a:p>
          <a:p>
            <a:r>
              <a:rPr lang="en-GB" sz="2000" dirty="0">
                <a:solidFill>
                  <a:srgbClr val="0000FF"/>
                </a:solidFill>
                <a:latin typeface="Courier New" pitchFamily="-112" charset="0"/>
              </a:rPr>
              <a:t>}</a:t>
            </a:r>
          </a:p>
        </p:txBody>
      </p:sp>
      <p:sp>
        <p:nvSpPr>
          <p:cNvPr id="460807" name="AutoShape 6"/>
          <p:cNvSpPr>
            <a:spLocks noChangeArrowheads="1"/>
          </p:cNvSpPr>
          <p:nvPr/>
        </p:nvSpPr>
        <p:spPr bwMode="auto">
          <a:xfrm>
            <a:off x="4191000" y="2971800"/>
            <a:ext cx="7620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0808" name="Text Box 7"/>
          <p:cNvSpPr txBox="1">
            <a:spLocks noChangeArrowheads="1"/>
          </p:cNvSpPr>
          <p:nvPr/>
        </p:nvSpPr>
        <p:spPr bwMode="auto">
          <a:xfrm>
            <a:off x="228600" y="2606675"/>
            <a:ext cx="3841750" cy="10064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GB" sz="2000">
                <a:solidFill>
                  <a:srgbClr val="0000FF"/>
                </a:solidFill>
                <a:latin typeface="Courier New" pitchFamily="-112" charset="0"/>
              </a:rPr>
              <a:t>for (i=0; i&lt;=999; i++) {</a:t>
            </a:r>
            <a:endParaRPr lang="en-GB" sz="2000" i="1">
              <a:solidFill>
                <a:srgbClr val="0000FF"/>
              </a:solidFill>
              <a:latin typeface="Courier New" pitchFamily="-112" charset="0"/>
            </a:endParaRPr>
          </a:p>
          <a:p>
            <a:r>
              <a:rPr lang="en-GB" sz="2000">
                <a:solidFill>
                  <a:srgbClr val="0000FF"/>
                </a:solidFill>
                <a:latin typeface="Courier New" pitchFamily="-112" charset="0"/>
              </a:rPr>
              <a:t>  x[i] = x[i] + s;</a:t>
            </a:r>
          </a:p>
          <a:p>
            <a:r>
              <a:rPr lang="en-GB" sz="2000">
                <a:solidFill>
                  <a:srgbClr val="0000FF"/>
                </a:solidFill>
                <a:latin typeface="Courier New" pitchFamily="-112" charset="0"/>
              </a:rPr>
              <a:t>}</a:t>
            </a:r>
          </a:p>
        </p:txBody>
      </p:sp>
      <p:sp>
        <p:nvSpPr>
          <p:cNvPr id="460809" name="Text Box 8"/>
          <p:cNvSpPr txBox="1">
            <a:spLocks noChangeArrowheads="1"/>
          </p:cNvSpPr>
          <p:nvPr/>
        </p:nvSpPr>
        <p:spPr bwMode="auto">
          <a:xfrm>
            <a:off x="152400" y="4740275"/>
            <a:ext cx="4146550" cy="13112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GB" sz="2000" dirty="0">
                <a:solidFill>
                  <a:srgbClr val="0000FF"/>
                </a:solidFill>
                <a:latin typeface="Courier New" pitchFamily="-112" charset="0"/>
              </a:rPr>
              <a:t>while (student) {</a:t>
            </a:r>
            <a:endParaRPr lang="en-GB" sz="2000" i="1" dirty="0">
              <a:solidFill>
                <a:srgbClr val="0000FF"/>
              </a:solidFill>
              <a:latin typeface="Courier New" pitchFamily="-112" charset="0"/>
            </a:endParaRPr>
          </a:p>
          <a:p>
            <a:r>
              <a:rPr lang="en-GB" sz="2000" dirty="0">
                <a:solidFill>
                  <a:srgbClr val="0000FF"/>
                </a:solidFill>
                <a:latin typeface="Courier New" pitchFamily="-112" charset="0"/>
              </a:rPr>
              <a:t>  student-&gt;mark = rand();</a:t>
            </a:r>
          </a:p>
          <a:p>
            <a:r>
              <a:rPr lang="en-GB" sz="2000" dirty="0">
                <a:solidFill>
                  <a:srgbClr val="0000FF"/>
                </a:solidFill>
                <a:latin typeface="Courier New" pitchFamily="-112" charset="0"/>
              </a:rPr>
              <a:t>  student = student-&gt;next;</a:t>
            </a:r>
          </a:p>
          <a:p>
            <a:r>
              <a:rPr lang="en-GB" sz="2000" dirty="0">
                <a:solidFill>
                  <a:srgbClr val="0000FF"/>
                </a:solidFill>
                <a:latin typeface="Courier New" pitchFamily="-112" charset="0"/>
              </a:rPr>
              <a:t>}</a:t>
            </a:r>
          </a:p>
        </p:txBody>
      </p:sp>
      <p:sp>
        <p:nvSpPr>
          <p:cNvPr id="460810" name="Text Box 9"/>
          <p:cNvSpPr txBox="1">
            <a:spLocks noChangeArrowheads="1"/>
          </p:cNvSpPr>
          <p:nvPr/>
        </p:nvSpPr>
        <p:spPr bwMode="auto">
          <a:xfrm>
            <a:off x="4953000" y="4587875"/>
            <a:ext cx="4146550" cy="16160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GB" sz="2000">
                <a:solidFill>
                  <a:srgbClr val="0000FF"/>
                </a:solidFill>
                <a:latin typeface="Courier New" pitchFamily="-112" charset="0"/>
              </a:rPr>
              <a:t>while (student) {</a:t>
            </a:r>
          </a:p>
          <a:p>
            <a:r>
              <a:rPr lang="en-GB" sz="2000">
                <a:solidFill>
                  <a:srgbClr val="0000FF"/>
                </a:solidFill>
                <a:latin typeface="Courier New" pitchFamily="-112" charset="0"/>
              </a:rPr>
              <a:t>  </a:t>
            </a:r>
            <a:r>
              <a:rPr lang="en-GB" sz="2000" i="1">
                <a:solidFill>
                  <a:srgbClr val="0000FF"/>
                </a:solidFill>
                <a:latin typeface="Courier New" pitchFamily="-112" charset="0"/>
              </a:rPr>
              <a:t>prefetch(student-&gt;next);</a:t>
            </a:r>
          </a:p>
          <a:p>
            <a:r>
              <a:rPr lang="en-GB" sz="2000">
                <a:solidFill>
                  <a:srgbClr val="0000FF"/>
                </a:solidFill>
                <a:latin typeface="Courier New" pitchFamily="-112" charset="0"/>
              </a:rPr>
              <a:t>  student-&gt;mark = rand();</a:t>
            </a:r>
          </a:p>
          <a:p>
            <a:r>
              <a:rPr lang="en-GB" sz="2000">
                <a:solidFill>
                  <a:srgbClr val="0000FF"/>
                </a:solidFill>
                <a:latin typeface="Courier New" pitchFamily="-112" charset="0"/>
              </a:rPr>
              <a:t>  student=student-&gt;next;</a:t>
            </a:r>
          </a:p>
          <a:p>
            <a:r>
              <a:rPr lang="en-GB" sz="2000">
                <a:solidFill>
                  <a:srgbClr val="0000FF"/>
                </a:solidFill>
                <a:latin typeface="Courier New" pitchFamily="-112" charset="0"/>
              </a:rPr>
              <a:t>}</a:t>
            </a:r>
          </a:p>
        </p:txBody>
      </p:sp>
      <p:sp>
        <p:nvSpPr>
          <p:cNvPr id="460811" name="AutoShape 10"/>
          <p:cNvSpPr>
            <a:spLocks noChangeArrowheads="1"/>
          </p:cNvSpPr>
          <p:nvPr/>
        </p:nvSpPr>
        <p:spPr bwMode="auto">
          <a:xfrm>
            <a:off x="4343400" y="5181600"/>
            <a:ext cx="609600" cy="381000"/>
          </a:xfrm>
          <a:prstGeom prst="rightArrow">
            <a:avLst>
              <a:gd name="adj1" fmla="val 50000"/>
              <a:gd name="adj2" fmla="val 40000"/>
            </a:avLst>
          </a:prstGeom>
          <a:solidFill>
            <a:srgbClr val="FF00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CS/ECE 6810 Computer Architecture</a:t>
            </a:r>
            <a:endParaRPr lang="en-US" sz="1400" dirty="0">
              <a:latin typeface="Garamond" pitchFamily="-112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FF01767-9FDF-0443-BE59-A5B4260CC2BA}" type="slidenum">
              <a:rPr lang="en-US"/>
              <a:pPr>
                <a:defRPr/>
              </a:pPr>
              <a:t>11</a:t>
            </a:fld>
            <a:endParaRPr lang="en-US">
              <a:latin typeface="Garamond" pitchFamily="-112" charset="0"/>
            </a:endParaRPr>
          </a:p>
        </p:txBody>
      </p:sp>
      <p:sp>
        <p:nvSpPr>
          <p:cNvPr id="46285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/>
              <a:t>Reducing Conflict Miss Rates</a:t>
            </a:r>
            <a:endParaRPr lang="en-US" sz="800"/>
          </a:p>
        </p:txBody>
      </p:sp>
      <p:sp>
        <p:nvSpPr>
          <p:cNvPr id="46285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3568" y="1245840"/>
            <a:ext cx="7920880" cy="4343400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/>
              <a:t>Technique 3: High associativity caches</a:t>
            </a:r>
          </a:p>
          <a:p>
            <a:pPr lvl="1"/>
            <a:r>
              <a:rPr lang="en-US" sz="1600" dirty="0">
                <a:sym typeface="Symbol" pitchFamily="-112" charset="2"/>
              </a:rPr>
              <a:t>More options for block placement  fewer conflicts</a:t>
            </a:r>
          </a:p>
          <a:p>
            <a:pPr lvl="1"/>
            <a:r>
              <a:rPr lang="en-US" sz="1600" dirty="0">
                <a:sym typeface="Symbol" pitchFamily="-112" charset="2"/>
              </a:rPr>
              <a:t>Reduce conflict miss rate</a:t>
            </a:r>
          </a:p>
          <a:p>
            <a:pPr lvl="1"/>
            <a:r>
              <a:rPr lang="en-US" sz="1600" dirty="0">
                <a:sym typeface="Symbol" pitchFamily="-112" charset="2"/>
              </a:rPr>
              <a:t>May increase access (hit) time because tag match takes longer</a:t>
            </a:r>
          </a:p>
          <a:p>
            <a:pPr lvl="1"/>
            <a:r>
              <a:rPr lang="en-US" sz="1600" dirty="0">
                <a:sym typeface="Symbol" pitchFamily="-112" charset="2"/>
              </a:rPr>
              <a:t>May increase miss penalty because replacement policy is more involved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285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CS/ECE 6810 Computer Architecture</a:t>
            </a:r>
            <a:endParaRPr lang="en-US" sz="1400" dirty="0">
              <a:latin typeface="Garamond" pitchFamily="-112" charset="0"/>
            </a:endParaRP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CA48507-E1EF-634B-B306-31D7BF539B05}" type="slidenum">
              <a:rPr lang="en-US"/>
              <a:pPr>
                <a:defRPr/>
              </a:pPr>
              <a:t>12</a:t>
            </a:fld>
            <a:endParaRPr lang="en-US">
              <a:latin typeface="Garamond" pitchFamily="-112" charset="0"/>
            </a:endParaRPr>
          </a:p>
        </p:txBody>
      </p:sp>
      <p:sp>
        <p:nvSpPr>
          <p:cNvPr id="4649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/>
              <a:t>Cache Misses vs. Associativity</a:t>
            </a:r>
            <a:endParaRPr lang="en-US" sz="800"/>
          </a:p>
        </p:txBody>
      </p:sp>
      <p:sp>
        <p:nvSpPr>
          <p:cNvPr id="464902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539552" y="5301208"/>
            <a:ext cx="8178800" cy="1224136"/>
          </a:xfrm>
          <a:noFill/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00000"/>
                </a:solidFill>
              </a:rPr>
              <a:t>Small caches are very sensitive to associativity</a:t>
            </a:r>
          </a:p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00000"/>
                </a:solidFill>
              </a:rPr>
              <a:t>In all cases more associativity decreases miss rate, but little difference between 4-way and fully associative (unless huge cache)</a:t>
            </a:r>
          </a:p>
        </p:txBody>
      </p:sp>
      <p:graphicFrame>
        <p:nvGraphicFramePr>
          <p:cNvPr id="464898" name="Object 2"/>
          <p:cNvGraphicFramePr>
            <a:graphicFrameLocks noChangeAspect="1"/>
          </p:cNvGraphicFramePr>
          <p:nvPr/>
        </p:nvGraphicFramePr>
        <p:xfrm>
          <a:off x="914400" y="1219200"/>
          <a:ext cx="6858000" cy="3994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3" imgW="5549900" imgH="3238500" progId="Excel.Sheet.8">
                  <p:embed/>
                </p:oleObj>
              </mc:Choice>
              <mc:Fallback>
                <p:oleObj name="Chart" r:id="rId3" imgW="5549900" imgH="3238500" progId="Excel.Sheet.8">
                  <p:embed/>
                  <p:pic>
                    <p:nvPicPr>
                      <p:cNvPr id="46489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1219200"/>
                        <a:ext cx="6858000" cy="3994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CS/ECE 6810 Computer Architecture</a:t>
            </a:r>
            <a:endParaRPr lang="en-US" sz="1400" dirty="0">
              <a:latin typeface="Garamond" pitchFamily="-112" charset="0"/>
            </a:endParaRPr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9D28E36-3FF0-BD4B-B91A-F2A98A9A3FDA}" type="slidenum">
              <a:rPr lang="en-US"/>
              <a:pPr>
                <a:defRPr/>
              </a:pPr>
              <a:t>13</a:t>
            </a:fld>
            <a:endParaRPr lang="en-US">
              <a:latin typeface="Garamond" pitchFamily="-112" charset="0"/>
            </a:endParaRPr>
          </a:p>
        </p:txBody>
      </p:sp>
      <p:sp>
        <p:nvSpPr>
          <p:cNvPr id="4669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dirty="0"/>
              <a:t>Reducing Miss Rates</a:t>
            </a:r>
            <a:endParaRPr lang="en-US" sz="800" dirty="0"/>
          </a:p>
        </p:txBody>
      </p:sp>
      <p:sp>
        <p:nvSpPr>
          <p:cNvPr id="46694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96752"/>
            <a:ext cx="8382000" cy="4594448"/>
          </a:xfrm>
        </p:spPr>
        <p:txBody>
          <a:bodyPr/>
          <a:lstStyle/>
          <a:p>
            <a:pPr marL="0" indent="0">
              <a:spcAft>
                <a:spcPts val="1200"/>
              </a:spcAft>
              <a:buNone/>
            </a:pPr>
            <a:r>
              <a:rPr lang="en-US" sz="1800" dirty="0"/>
              <a:t>Technique 4: Compiler optimizations</a:t>
            </a:r>
          </a:p>
          <a:p>
            <a:pPr lvl="1">
              <a:spcBef>
                <a:spcPts val="624"/>
              </a:spcBef>
            </a:pPr>
            <a:r>
              <a:rPr lang="en-US" sz="1600" dirty="0">
                <a:sym typeface="Symbol" pitchFamily="-112" charset="2"/>
              </a:rPr>
              <a:t>E.g., merging arrays: may improve spatial locality if the fields are used together for the same index</a:t>
            </a:r>
          </a:p>
          <a:p>
            <a:pPr lvl="1"/>
            <a:endParaRPr lang="en-US" sz="1600" dirty="0">
              <a:sym typeface="Symbol" pitchFamily="-112" charset="2"/>
            </a:endParaRPr>
          </a:p>
          <a:p>
            <a:pPr lvl="1"/>
            <a:endParaRPr lang="en-US" sz="1600" dirty="0">
              <a:sym typeface="Symbol" pitchFamily="-112" charset="2"/>
            </a:endParaRPr>
          </a:p>
          <a:p>
            <a:pPr lvl="1"/>
            <a:endParaRPr lang="en-US" sz="1600" dirty="0">
              <a:sym typeface="Symbol" pitchFamily="-112" charset="2"/>
            </a:endParaRPr>
          </a:p>
          <a:p>
            <a:pPr lvl="1"/>
            <a:endParaRPr lang="en-US" sz="1600" dirty="0">
              <a:sym typeface="Symbol" pitchFamily="-112" charset="2"/>
            </a:endParaRPr>
          </a:p>
          <a:p>
            <a:pPr lvl="1"/>
            <a:endParaRPr lang="en-US" sz="1600" dirty="0">
              <a:sym typeface="Symbol" pitchFamily="-112" charset="2"/>
            </a:endParaRPr>
          </a:p>
          <a:p>
            <a:pPr marL="457200" lvl="1" indent="0">
              <a:buNone/>
            </a:pPr>
            <a:endParaRPr lang="en-US" sz="1600" dirty="0">
              <a:sym typeface="Symbol" pitchFamily="-112" charset="2"/>
            </a:endParaRPr>
          </a:p>
          <a:p>
            <a:pPr lvl="1">
              <a:spcBef>
                <a:spcPts val="1224"/>
              </a:spcBef>
            </a:pPr>
            <a:r>
              <a:rPr lang="en-US" sz="1600" dirty="0">
                <a:sym typeface="Symbol" pitchFamily="-112" charset="2"/>
              </a:rPr>
              <a:t>E.g., loop fusion: improves temporal locality</a:t>
            </a:r>
          </a:p>
        </p:txBody>
      </p:sp>
      <p:sp>
        <p:nvSpPr>
          <p:cNvPr id="466950" name="Text Box 43"/>
          <p:cNvSpPr txBox="1">
            <a:spLocks noChangeArrowheads="1"/>
          </p:cNvSpPr>
          <p:nvPr/>
        </p:nvSpPr>
        <p:spPr bwMode="auto">
          <a:xfrm>
            <a:off x="304800" y="2473573"/>
            <a:ext cx="2317750" cy="7016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GB" sz="2000">
                <a:solidFill>
                  <a:srgbClr val="0000FF"/>
                </a:solidFill>
                <a:latin typeface="Courier New" pitchFamily="-112" charset="0"/>
              </a:rPr>
              <a:t>int val[size];</a:t>
            </a:r>
          </a:p>
          <a:p>
            <a:r>
              <a:rPr lang="en-GB" sz="2000">
                <a:solidFill>
                  <a:srgbClr val="0000FF"/>
                </a:solidFill>
                <a:latin typeface="Courier New" pitchFamily="-112" charset="0"/>
              </a:rPr>
              <a:t>int key[size];</a:t>
            </a:r>
          </a:p>
        </p:txBody>
      </p:sp>
      <p:sp>
        <p:nvSpPr>
          <p:cNvPr id="466951" name="AutoShape 44"/>
          <p:cNvSpPr>
            <a:spLocks noChangeArrowheads="1"/>
          </p:cNvSpPr>
          <p:nvPr/>
        </p:nvSpPr>
        <p:spPr bwMode="auto">
          <a:xfrm>
            <a:off x="2971800" y="2686298"/>
            <a:ext cx="7620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6952" name="Text Box 45"/>
          <p:cNvSpPr txBox="1">
            <a:spLocks noChangeArrowheads="1"/>
          </p:cNvSpPr>
          <p:nvPr/>
        </p:nvSpPr>
        <p:spPr bwMode="auto">
          <a:xfrm>
            <a:off x="4083050" y="2244973"/>
            <a:ext cx="5263806" cy="1631216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GB" sz="2000" dirty="0" err="1">
                <a:solidFill>
                  <a:srgbClr val="0000FF"/>
                </a:solidFill>
                <a:latin typeface="Courier New" pitchFamily="-112" charset="0"/>
              </a:rPr>
              <a:t>struct</a:t>
            </a:r>
            <a:r>
              <a:rPr lang="en-GB" sz="2000" dirty="0">
                <a:solidFill>
                  <a:srgbClr val="0000FF"/>
                </a:solidFill>
                <a:latin typeface="Courier New" pitchFamily="-112" charset="0"/>
              </a:rPr>
              <a:t> </a:t>
            </a:r>
            <a:r>
              <a:rPr lang="en-GB" sz="2000" dirty="0" err="1">
                <a:solidFill>
                  <a:srgbClr val="0000FF"/>
                </a:solidFill>
                <a:latin typeface="Courier New" pitchFamily="-112" charset="0"/>
              </a:rPr>
              <a:t>valkey</a:t>
            </a:r>
            <a:r>
              <a:rPr lang="en-GB" sz="2000" dirty="0">
                <a:solidFill>
                  <a:srgbClr val="0000FF"/>
                </a:solidFill>
                <a:latin typeface="Courier New" pitchFamily="-112" charset="0"/>
              </a:rPr>
              <a:t>{</a:t>
            </a:r>
          </a:p>
          <a:p>
            <a:r>
              <a:rPr lang="en-GB" sz="2000" dirty="0">
                <a:solidFill>
                  <a:srgbClr val="0000FF"/>
                </a:solidFill>
                <a:latin typeface="Courier New" pitchFamily="-112" charset="0"/>
              </a:rPr>
              <a:t>  </a:t>
            </a:r>
            <a:r>
              <a:rPr lang="en-GB" sz="2000" dirty="0" err="1">
                <a:solidFill>
                  <a:srgbClr val="0000FF"/>
                </a:solidFill>
                <a:latin typeface="Courier New" pitchFamily="-112" charset="0"/>
              </a:rPr>
              <a:t>int</a:t>
            </a:r>
            <a:r>
              <a:rPr lang="en-GB" sz="2000" dirty="0">
                <a:solidFill>
                  <a:srgbClr val="0000FF"/>
                </a:solidFill>
                <a:latin typeface="Courier New" pitchFamily="-112" charset="0"/>
              </a:rPr>
              <a:t> </a:t>
            </a:r>
            <a:r>
              <a:rPr lang="en-GB" sz="2000" dirty="0" err="1">
                <a:solidFill>
                  <a:srgbClr val="0000FF"/>
                </a:solidFill>
                <a:latin typeface="Courier New" pitchFamily="-112" charset="0"/>
              </a:rPr>
              <a:t>val</a:t>
            </a:r>
            <a:r>
              <a:rPr lang="en-GB" sz="2000" dirty="0">
                <a:solidFill>
                  <a:srgbClr val="0000FF"/>
                </a:solidFill>
                <a:latin typeface="Courier New" pitchFamily="-112" charset="0"/>
              </a:rPr>
              <a:t>;</a:t>
            </a:r>
          </a:p>
          <a:p>
            <a:r>
              <a:rPr lang="en-GB" sz="2000" dirty="0">
                <a:solidFill>
                  <a:srgbClr val="0000FF"/>
                </a:solidFill>
                <a:latin typeface="Courier New" pitchFamily="-112" charset="0"/>
              </a:rPr>
              <a:t>  </a:t>
            </a:r>
            <a:r>
              <a:rPr lang="en-GB" sz="2000" dirty="0" err="1">
                <a:solidFill>
                  <a:srgbClr val="0000FF"/>
                </a:solidFill>
                <a:latin typeface="Courier New" pitchFamily="-112" charset="0"/>
              </a:rPr>
              <a:t>int</a:t>
            </a:r>
            <a:r>
              <a:rPr lang="en-GB" sz="2000" dirty="0">
                <a:solidFill>
                  <a:srgbClr val="0000FF"/>
                </a:solidFill>
                <a:latin typeface="Courier New" pitchFamily="-112" charset="0"/>
              </a:rPr>
              <a:t> key;</a:t>
            </a:r>
          </a:p>
          <a:p>
            <a:r>
              <a:rPr lang="en-GB" sz="2000" dirty="0">
                <a:solidFill>
                  <a:srgbClr val="0000FF"/>
                </a:solidFill>
                <a:latin typeface="Courier New" pitchFamily="-112" charset="0"/>
              </a:rPr>
              <a:t>};</a:t>
            </a:r>
          </a:p>
          <a:p>
            <a:r>
              <a:rPr lang="en-GB" sz="2000" dirty="0" err="1">
                <a:solidFill>
                  <a:srgbClr val="0000FF"/>
                </a:solidFill>
                <a:latin typeface="Courier New" pitchFamily="-112" charset="0"/>
              </a:rPr>
              <a:t>Struct</a:t>
            </a:r>
            <a:r>
              <a:rPr lang="en-GB" sz="2000" dirty="0">
                <a:solidFill>
                  <a:srgbClr val="0000FF"/>
                </a:solidFill>
                <a:latin typeface="Courier New" pitchFamily="-112" charset="0"/>
              </a:rPr>
              <a:t> </a:t>
            </a:r>
            <a:r>
              <a:rPr lang="en-GB" sz="2000" dirty="0" err="1">
                <a:solidFill>
                  <a:srgbClr val="0000FF"/>
                </a:solidFill>
                <a:latin typeface="Courier New" pitchFamily="-112" charset="0"/>
              </a:rPr>
              <a:t>valkey</a:t>
            </a:r>
            <a:r>
              <a:rPr lang="en-GB" sz="2000" dirty="0">
                <a:solidFill>
                  <a:srgbClr val="0000FF"/>
                </a:solidFill>
                <a:latin typeface="Courier New" pitchFamily="-112" charset="0"/>
              </a:rPr>
              <a:t> </a:t>
            </a:r>
            <a:r>
              <a:rPr lang="en-GB" sz="2000" dirty="0" err="1">
                <a:solidFill>
                  <a:srgbClr val="0000FF"/>
                </a:solidFill>
                <a:latin typeface="Courier New" pitchFamily="-112" charset="0"/>
              </a:rPr>
              <a:t>merged_array</a:t>
            </a:r>
            <a:r>
              <a:rPr lang="en-GB" sz="2000" dirty="0">
                <a:solidFill>
                  <a:srgbClr val="0000FF"/>
                </a:solidFill>
                <a:latin typeface="Courier New" pitchFamily="-112" charset="0"/>
              </a:rPr>
              <a:t>[size];</a:t>
            </a:r>
          </a:p>
        </p:txBody>
      </p:sp>
      <p:sp>
        <p:nvSpPr>
          <p:cNvPr id="466953" name="Text Box 46"/>
          <p:cNvSpPr txBox="1">
            <a:spLocks noChangeArrowheads="1"/>
          </p:cNvSpPr>
          <p:nvPr/>
        </p:nvSpPr>
        <p:spPr bwMode="auto">
          <a:xfrm>
            <a:off x="228600" y="4705821"/>
            <a:ext cx="3536950" cy="13112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GB" sz="2000" dirty="0">
                <a:solidFill>
                  <a:srgbClr val="0000FF"/>
                </a:solidFill>
                <a:latin typeface="Courier New" pitchFamily="-112" charset="0"/>
              </a:rPr>
              <a:t>for (</a:t>
            </a:r>
            <a:r>
              <a:rPr lang="en-GB" sz="2000" dirty="0" err="1">
                <a:solidFill>
                  <a:srgbClr val="0000FF"/>
                </a:solidFill>
                <a:latin typeface="Courier New" pitchFamily="-112" charset="0"/>
              </a:rPr>
              <a:t>i</a:t>
            </a:r>
            <a:r>
              <a:rPr lang="en-GB" sz="2000" dirty="0">
                <a:solidFill>
                  <a:srgbClr val="0000FF"/>
                </a:solidFill>
                <a:latin typeface="Courier New" pitchFamily="-112" charset="0"/>
              </a:rPr>
              <a:t>=0; </a:t>
            </a:r>
            <a:r>
              <a:rPr lang="en-GB" sz="2000" dirty="0" err="1">
                <a:solidFill>
                  <a:srgbClr val="0000FF"/>
                </a:solidFill>
                <a:latin typeface="Courier New" pitchFamily="-112" charset="0"/>
              </a:rPr>
              <a:t>i</a:t>
            </a:r>
            <a:r>
              <a:rPr lang="en-GB" sz="2000" dirty="0">
                <a:solidFill>
                  <a:srgbClr val="0000FF"/>
                </a:solidFill>
                <a:latin typeface="Courier New" pitchFamily="-112" charset="0"/>
              </a:rPr>
              <a:t>&lt;1000; </a:t>
            </a:r>
            <a:r>
              <a:rPr lang="en-GB" sz="2000" dirty="0" err="1">
                <a:solidFill>
                  <a:srgbClr val="0000FF"/>
                </a:solidFill>
                <a:latin typeface="Courier New" pitchFamily="-112" charset="0"/>
              </a:rPr>
              <a:t>i</a:t>
            </a:r>
            <a:r>
              <a:rPr lang="en-GB" sz="2000" dirty="0">
                <a:solidFill>
                  <a:srgbClr val="0000FF"/>
                </a:solidFill>
                <a:latin typeface="Courier New" pitchFamily="-112" charset="0"/>
              </a:rPr>
              <a:t>++)</a:t>
            </a:r>
          </a:p>
          <a:p>
            <a:r>
              <a:rPr lang="en-GB" sz="2000" dirty="0">
                <a:solidFill>
                  <a:srgbClr val="0000FF"/>
                </a:solidFill>
                <a:latin typeface="Courier New" pitchFamily="-112" charset="0"/>
              </a:rPr>
              <a:t>  A[</a:t>
            </a:r>
            <a:r>
              <a:rPr lang="en-GB" sz="2000" dirty="0" err="1">
                <a:solidFill>
                  <a:srgbClr val="0000FF"/>
                </a:solidFill>
                <a:latin typeface="Courier New" pitchFamily="-112" charset="0"/>
              </a:rPr>
              <a:t>i</a:t>
            </a:r>
            <a:r>
              <a:rPr lang="en-GB" sz="2000" dirty="0">
                <a:solidFill>
                  <a:srgbClr val="0000FF"/>
                </a:solidFill>
                <a:latin typeface="Courier New" pitchFamily="-112" charset="0"/>
              </a:rPr>
              <a:t>] = A[</a:t>
            </a:r>
            <a:r>
              <a:rPr lang="en-GB" sz="2000" dirty="0" err="1">
                <a:solidFill>
                  <a:srgbClr val="0000FF"/>
                </a:solidFill>
                <a:latin typeface="Courier New" pitchFamily="-112" charset="0"/>
              </a:rPr>
              <a:t>i</a:t>
            </a:r>
            <a:r>
              <a:rPr lang="en-GB" sz="2000" dirty="0">
                <a:solidFill>
                  <a:srgbClr val="0000FF"/>
                </a:solidFill>
                <a:latin typeface="Courier New" pitchFamily="-112" charset="0"/>
              </a:rPr>
              <a:t>]+1;</a:t>
            </a:r>
          </a:p>
          <a:p>
            <a:r>
              <a:rPr lang="en-GB" sz="2000" dirty="0">
                <a:solidFill>
                  <a:srgbClr val="0000FF"/>
                </a:solidFill>
                <a:latin typeface="Courier New" pitchFamily="-112" charset="0"/>
              </a:rPr>
              <a:t>for (</a:t>
            </a:r>
            <a:r>
              <a:rPr lang="en-GB" sz="2000" dirty="0" err="1">
                <a:solidFill>
                  <a:srgbClr val="0000FF"/>
                </a:solidFill>
                <a:latin typeface="Courier New" pitchFamily="-112" charset="0"/>
              </a:rPr>
              <a:t>i</a:t>
            </a:r>
            <a:r>
              <a:rPr lang="en-GB" sz="2000" dirty="0">
                <a:solidFill>
                  <a:srgbClr val="0000FF"/>
                </a:solidFill>
                <a:latin typeface="Courier New" pitchFamily="-112" charset="0"/>
              </a:rPr>
              <a:t>=0; </a:t>
            </a:r>
            <a:r>
              <a:rPr lang="en-GB" sz="2000" dirty="0" err="1">
                <a:solidFill>
                  <a:srgbClr val="0000FF"/>
                </a:solidFill>
                <a:latin typeface="Courier New" pitchFamily="-112" charset="0"/>
              </a:rPr>
              <a:t>i</a:t>
            </a:r>
            <a:r>
              <a:rPr lang="en-GB" sz="2000" dirty="0">
                <a:solidFill>
                  <a:srgbClr val="0000FF"/>
                </a:solidFill>
                <a:latin typeface="Courier New" pitchFamily="-112" charset="0"/>
              </a:rPr>
              <a:t>&lt;1000; </a:t>
            </a:r>
            <a:r>
              <a:rPr lang="en-GB" sz="2000" dirty="0" err="1">
                <a:solidFill>
                  <a:srgbClr val="0000FF"/>
                </a:solidFill>
                <a:latin typeface="Courier New" pitchFamily="-112" charset="0"/>
              </a:rPr>
              <a:t>i</a:t>
            </a:r>
            <a:r>
              <a:rPr lang="en-GB" sz="2000" dirty="0">
                <a:solidFill>
                  <a:srgbClr val="0000FF"/>
                </a:solidFill>
                <a:latin typeface="Courier New" pitchFamily="-112" charset="0"/>
              </a:rPr>
              <a:t>++)</a:t>
            </a:r>
          </a:p>
          <a:p>
            <a:r>
              <a:rPr lang="en-GB" sz="2000" dirty="0">
                <a:solidFill>
                  <a:srgbClr val="0000FF"/>
                </a:solidFill>
                <a:latin typeface="Courier New" pitchFamily="-112" charset="0"/>
              </a:rPr>
              <a:t>  B[</a:t>
            </a:r>
            <a:r>
              <a:rPr lang="en-GB" sz="2000" dirty="0" err="1">
                <a:solidFill>
                  <a:srgbClr val="0000FF"/>
                </a:solidFill>
                <a:latin typeface="Courier New" pitchFamily="-112" charset="0"/>
              </a:rPr>
              <a:t>i</a:t>
            </a:r>
            <a:r>
              <a:rPr lang="en-GB" sz="2000" dirty="0">
                <a:solidFill>
                  <a:srgbClr val="0000FF"/>
                </a:solidFill>
                <a:latin typeface="Courier New" pitchFamily="-112" charset="0"/>
              </a:rPr>
              <a:t>] = B[</a:t>
            </a:r>
            <a:r>
              <a:rPr lang="en-GB" sz="2000" dirty="0" err="1">
                <a:solidFill>
                  <a:srgbClr val="0000FF"/>
                </a:solidFill>
                <a:latin typeface="Courier New" pitchFamily="-112" charset="0"/>
              </a:rPr>
              <a:t>i</a:t>
            </a:r>
            <a:r>
              <a:rPr lang="en-GB" sz="2000" dirty="0">
                <a:solidFill>
                  <a:srgbClr val="0000FF"/>
                </a:solidFill>
                <a:latin typeface="Courier New" pitchFamily="-112" charset="0"/>
              </a:rPr>
              <a:t>]+A[</a:t>
            </a:r>
            <a:r>
              <a:rPr lang="en-GB" sz="2000" dirty="0" err="1">
                <a:solidFill>
                  <a:srgbClr val="0000FF"/>
                </a:solidFill>
                <a:latin typeface="Courier New" pitchFamily="-112" charset="0"/>
              </a:rPr>
              <a:t>i</a:t>
            </a:r>
            <a:r>
              <a:rPr lang="en-GB" sz="2000" dirty="0">
                <a:solidFill>
                  <a:srgbClr val="0000FF"/>
                </a:solidFill>
                <a:latin typeface="Courier New" pitchFamily="-112" charset="0"/>
              </a:rPr>
              <a:t>];</a:t>
            </a:r>
          </a:p>
        </p:txBody>
      </p:sp>
      <p:sp>
        <p:nvSpPr>
          <p:cNvPr id="466954" name="Text Box 47"/>
          <p:cNvSpPr txBox="1">
            <a:spLocks noChangeArrowheads="1"/>
          </p:cNvSpPr>
          <p:nvPr/>
        </p:nvSpPr>
        <p:spPr bwMode="auto">
          <a:xfrm>
            <a:off x="4953000" y="4782021"/>
            <a:ext cx="3841750" cy="13112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GB" sz="2000" dirty="0">
                <a:solidFill>
                  <a:srgbClr val="0000FF"/>
                </a:solidFill>
                <a:latin typeface="Courier New" pitchFamily="-112" charset="0"/>
              </a:rPr>
              <a:t>for (</a:t>
            </a:r>
            <a:r>
              <a:rPr lang="en-GB" sz="2000" dirty="0" err="1">
                <a:solidFill>
                  <a:srgbClr val="0000FF"/>
                </a:solidFill>
                <a:latin typeface="Courier New" pitchFamily="-112" charset="0"/>
              </a:rPr>
              <a:t>i</a:t>
            </a:r>
            <a:r>
              <a:rPr lang="en-GB" sz="2000" dirty="0">
                <a:solidFill>
                  <a:srgbClr val="0000FF"/>
                </a:solidFill>
                <a:latin typeface="Courier New" pitchFamily="-112" charset="0"/>
              </a:rPr>
              <a:t>=0; </a:t>
            </a:r>
            <a:r>
              <a:rPr lang="en-GB" sz="2000" dirty="0" err="1">
                <a:solidFill>
                  <a:srgbClr val="0000FF"/>
                </a:solidFill>
                <a:latin typeface="Courier New" pitchFamily="-112" charset="0"/>
              </a:rPr>
              <a:t>i</a:t>
            </a:r>
            <a:r>
              <a:rPr lang="en-GB" sz="2000" dirty="0">
                <a:solidFill>
                  <a:srgbClr val="0000FF"/>
                </a:solidFill>
                <a:latin typeface="Courier New" pitchFamily="-112" charset="0"/>
              </a:rPr>
              <a:t>&lt;1000; </a:t>
            </a:r>
            <a:r>
              <a:rPr lang="en-GB" sz="2000" dirty="0" err="1">
                <a:solidFill>
                  <a:srgbClr val="0000FF"/>
                </a:solidFill>
                <a:latin typeface="Courier New" pitchFamily="-112" charset="0"/>
              </a:rPr>
              <a:t>i</a:t>
            </a:r>
            <a:r>
              <a:rPr lang="en-GB" sz="2000" dirty="0">
                <a:solidFill>
                  <a:srgbClr val="0000FF"/>
                </a:solidFill>
                <a:latin typeface="Courier New" pitchFamily="-112" charset="0"/>
              </a:rPr>
              <a:t>++) {</a:t>
            </a:r>
          </a:p>
          <a:p>
            <a:r>
              <a:rPr lang="en-GB" sz="2000" dirty="0">
                <a:solidFill>
                  <a:srgbClr val="0000FF"/>
                </a:solidFill>
                <a:latin typeface="Courier New" pitchFamily="-112" charset="0"/>
              </a:rPr>
              <a:t>  A[</a:t>
            </a:r>
            <a:r>
              <a:rPr lang="en-GB" sz="2000" dirty="0" err="1">
                <a:solidFill>
                  <a:srgbClr val="0000FF"/>
                </a:solidFill>
                <a:latin typeface="Courier New" pitchFamily="-112" charset="0"/>
              </a:rPr>
              <a:t>i</a:t>
            </a:r>
            <a:r>
              <a:rPr lang="en-GB" sz="2000" dirty="0">
                <a:solidFill>
                  <a:srgbClr val="0000FF"/>
                </a:solidFill>
                <a:latin typeface="Courier New" pitchFamily="-112" charset="0"/>
              </a:rPr>
              <a:t>] = A[</a:t>
            </a:r>
            <a:r>
              <a:rPr lang="en-GB" sz="2000" dirty="0" err="1">
                <a:solidFill>
                  <a:srgbClr val="0000FF"/>
                </a:solidFill>
                <a:latin typeface="Courier New" pitchFamily="-112" charset="0"/>
              </a:rPr>
              <a:t>i</a:t>
            </a:r>
            <a:r>
              <a:rPr lang="en-GB" sz="2000" dirty="0">
                <a:solidFill>
                  <a:srgbClr val="0000FF"/>
                </a:solidFill>
                <a:latin typeface="Courier New" pitchFamily="-112" charset="0"/>
              </a:rPr>
              <a:t>]+1;</a:t>
            </a:r>
          </a:p>
          <a:p>
            <a:r>
              <a:rPr lang="en-GB" sz="2000" dirty="0">
                <a:solidFill>
                  <a:srgbClr val="0000FF"/>
                </a:solidFill>
                <a:latin typeface="Courier New" pitchFamily="-112" charset="0"/>
              </a:rPr>
              <a:t>  B[</a:t>
            </a:r>
            <a:r>
              <a:rPr lang="en-GB" sz="2000" dirty="0" err="1">
                <a:solidFill>
                  <a:srgbClr val="0000FF"/>
                </a:solidFill>
                <a:latin typeface="Courier New" pitchFamily="-112" charset="0"/>
              </a:rPr>
              <a:t>i</a:t>
            </a:r>
            <a:r>
              <a:rPr lang="en-GB" sz="2000" dirty="0">
                <a:solidFill>
                  <a:srgbClr val="0000FF"/>
                </a:solidFill>
                <a:latin typeface="Courier New" pitchFamily="-112" charset="0"/>
              </a:rPr>
              <a:t>] = B[</a:t>
            </a:r>
            <a:r>
              <a:rPr lang="en-GB" sz="2000" dirty="0" err="1">
                <a:solidFill>
                  <a:srgbClr val="0000FF"/>
                </a:solidFill>
                <a:latin typeface="Courier New" pitchFamily="-112" charset="0"/>
              </a:rPr>
              <a:t>i</a:t>
            </a:r>
            <a:r>
              <a:rPr lang="en-GB" sz="2000" dirty="0">
                <a:solidFill>
                  <a:srgbClr val="0000FF"/>
                </a:solidFill>
                <a:latin typeface="Courier New" pitchFamily="-112" charset="0"/>
              </a:rPr>
              <a:t>]+A[</a:t>
            </a:r>
            <a:r>
              <a:rPr lang="en-GB" sz="2000" dirty="0" err="1">
                <a:solidFill>
                  <a:srgbClr val="0000FF"/>
                </a:solidFill>
                <a:latin typeface="Courier New" pitchFamily="-112" charset="0"/>
              </a:rPr>
              <a:t>i</a:t>
            </a:r>
            <a:r>
              <a:rPr lang="en-GB" sz="2000" dirty="0">
                <a:solidFill>
                  <a:srgbClr val="0000FF"/>
                </a:solidFill>
                <a:latin typeface="Courier New" pitchFamily="-112" charset="0"/>
              </a:rPr>
              <a:t>];</a:t>
            </a:r>
          </a:p>
          <a:p>
            <a:r>
              <a:rPr lang="en-GB" sz="2000" dirty="0">
                <a:solidFill>
                  <a:srgbClr val="0000FF"/>
                </a:solidFill>
                <a:latin typeface="Courier New" pitchFamily="-112" charset="0"/>
              </a:rPr>
              <a:t>}</a:t>
            </a:r>
          </a:p>
        </p:txBody>
      </p:sp>
      <p:sp>
        <p:nvSpPr>
          <p:cNvPr id="466955" name="AutoShape 48"/>
          <p:cNvSpPr>
            <a:spLocks noChangeArrowheads="1"/>
          </p:cNvSpPr>
          <p:nvPr/>
        </p:nvSpPr>
        <p:spPr bwMode="auto">
          <a:xfrm>
            <a:off x="3962400" y="5147146"/>
            <a:ext cx="7620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4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6949" grpId="0" build="p"/>
      <p:bldP spid="466953" grpId="0"/>
      <p:bldP spid="466954" grpId="0"/>
      <p:bldP spid="46695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CS/ECE 6810 Computer Architecture</a:t>
            </a:r>
            <a:endParaRPr lang="en-US" sz="1400" dirty="0">
              <a:latin typeface="Garamond" pitchFamily="-112" charset="0"/>
            </a:endParaRPr>
          </a:p>
        </p:txBody>
      </p:sp>
      <p:sp>
        <p:nvSpPr>
          <p:cNvPr id="101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44FD09A-7B20-5549-9C28-B933DCF2D40A}" type="slidenum">
              <a:rPr lang="en-US"/>
              <a:pPr>
                <a:defRPr/>
              </a:pPr>
              <a:t>14</a:t>
            </a:fld>
            <a:endParaRPr lang="en-US">
              <a:latin typeface="Garamond" pitchFamily="-112" charset="0"/>
            </a:endParaRPr>
          </a:p>
        </p:txBody>
      </p:sp>
      <p:sp>
        <p:nvSpPr>
          <p:cNvPr id="46899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dirty="0"/>
              <a:t>Reducing Miss Rates</a:t>
            </a:r>
            <a:endParaRPr lang="en-US" sz="800" dirty="0"/>
          </a:p>
        </p:txBody>
      </p:sp>
      <p:sp>
        <p:nvSpPr>
          <p:cNvPr id="46899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382000" cy="4343400"/>
          </a:xfrm>
        </p:spPr>
        <p:txBody>
          <a:bodyPr/>
          <a:lstStyle/>
          <a:p>
            <a:pPr lvl="1"/>
            <a:r>
              <a:rPr lang="en-US" sz="1600">
                <a:sym typeface="Symbol" pitchFamily="-112" charset="2"/>
              </a:rPr>
              <a:t>E.g., blocking: change row-major and column-major array distributions to block distribution to improve spatial and temporal locality</a:t>
            </a:r>
          </a:p>
        </p:txBody>
      </p:sp>
      <p:sp>
        <p:nvSpPr>
          <p:cNvPr id="468998" name="Text Box 5"/>
          <p:cNvSpPr txBox="1">
            <a:spLocks noChangeArrowheads="1"/>
          </p:cNvSpPr>
          <p:nvPr/>
        </p:nvSpPr>
        <p:spPr bwMode="auto">
          <a:xfrm>
            <a:off x="1219200" y="1920875"/>
            <a:ext cx="4146550" cy="22256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GB" sz="2000">
                <a:solidFill>
                  <a:srgbClr val="0000FF"/>
                </a:solidFill>
                <a:latin typeface="Courier New" pitchFamily="-112" charset="0"/>
              </a:rPr>
              <a:t>for (i=0; i&lt;5; i++)</a:t>
            </a:r>
          </a:p>
          <a:p>
            <a:r>
              <a:rPr lang="en-GB" sz="2000">
                <a:solidFill>
                  <a:srgbClr val="0000FF"/>
                </a:solidFill>
                <a:latin typeface="Courier New" pitchFamily="-112" charset="0"/>
              </a:rPr>
              <a:t>  for (j=0; j&lt;5; j++) {</a:t>
            </a:r>
          </a:p>
          <a:p>
            <a:r>
              <a:rPr lang="en-GB" sz="2000">
                <a:solidFill>
                  <a:srgbClr val="0000FF"/>
                </a:solidFill>
                <a:latin typeface="Courier New" pitchFamily="-112" charset="0"/>
              </a:rPr>
              <a:t>    r=0;</a:t>
            </a:r>
          </a:p>
          <a:p>
            <a:r>
              <a:rPr lang="en-GB" sz="2000">
                <a:solidFill>
                  <a:srgbClr val="0000FF"/>
                </a:solidFill>
                <a:latin typeface="Courier New" pitchFamily="-112" charset="0"/>
              </a:rPr>
              <a:t>    for (k=0; k&lt;5; k++) {</a:t>
            </a:r>
          </a:p>
          <a:p>
            <a:r>
              <a:rPr lang="en-GB" sz="2000">
                <a:solidFill>
                  <a:srgbClr val="0000FF"/>
                </a:solidFill>
                <a:latin typeface="Courier New" pitchFamily="-112" charset="0"/>
              </a:rPr>
              <a:t>      r=r+y[i][k]*z[k][j];</a:t>
            </a:r>
          </a:p>
          <a:p>
            <a:r>
              <a:rPr lang="en-GB" sz="2000">
                <a:solidFill>
                  <a:srgbClr val="0000FF"/>
                </a:solidFill>
                <a:latin typeface="Courier New" pitchFamily="-112" charset="0"/>
              </a:rPr>
              <a:t>    x[i][j]=r;</a:t>
            </a:r>
          </a:p>
          <a:p>
            <a:r>
              <a:rPr lang="en-GB" sz="2000">
                <a:solidFill>
                  <a:srgbClr val="0000FF"/>
                </a:solidFill>
                <a:latin typeface="Courier New" pitchFamily="-112" charset="0"/>
              </a:rPr>
              <a:t>    }</a:t>
            </a:r>
          </a:p>
        </p:txBody>
      </p:sp>
      <p:sp>
        <p:nvSpPr>
          <p:cNvPr id="468999" name="Text Box 12"/>
          <p:cNvSpPr txBox="1">
            <a:spLocks noChangeArrowheads="1"/>
          </p:cNvSpPr>
          <p:nvPr/>
        </p:nvSpPr>
        <p:spPr bwMode="auto">
          <a:xfrm>
            <a:off x="6300192" y="2874687"/>
            <a:ext cx="2569934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GB" sz="1800" dirty="0"/>
              <a:t>// matrix multiplication</a:t>
            </a:r>
            <a:endParaRPr lang="en-GB" sz="1800" dirty="0">
              <a:solidFill>
                <a:srgbClr val="FF0000"/>
              </a:solidFill>
            </a:endParaRPr>
          </a:p>
        </p:txBody>
      </p:sp>
      <p:sp>
        <p:nvSpPr>
          <p:cNvPr id="469000" name="Rectangle 13"/>
          <p:cNvSpPr>
            <a:spLocks noChangeArrowheads="1"/>
          </p:cNvSpPr>
          <p:nvPr/>
        </p:nvSpPr>
        <p:spPr bwMode="auto">
          <a:xfrm>
            <a:off x="762000" y="4343400"/>
            <a:ext cx="304800" cy="304800"/>
          </a:xfrm>
          <a:prstGeom prst="rect">
            <a:avLst/>
          </a:prstGeom>
          <a:solidFill>
            <a:srgbClr val="FF00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9001" name="Rectangle 14"/>
          <p:cNvSpPr>
            <a:spLocks noChangeArrowheads="1"/>
          </p:cNvSpPr>
          <p:nvPr/>
        </p:nvSpPr>
        <p:spPr bwMode="auto">
          <a:xfrm>
            <a:off x="1066800" y="4343400"/>
            <a:ext cx="304800" cy="304800"/>
          </a:xfrm>
          <a:prstGeom prst="rect">
            <a:avLst/>
          </a:prstGeom>
          <a:solidFill>
            <a:srgbClr val="339933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9002" name="Rectangle 15"/>
          <p:cNvSpPr>
            <a:spLocks noChangeArrowheads="1"/>
          </p:cNvSpPr>
          <p:nvPr/>
        </p:nvSpPr>
        <p:spPr bwMode="auto">
          <a:xfrm>
            <a:off x="1371600" y="43434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9003" name="Rectangle 16"/>
          <p:cNvSpPr>
            <a:spLocks noChangeArrowheads="1"/>
          </p:cNvSpPr>
          <p:nvPr/>
        </p:nvSpPr>
        <p:spPr bwMode="auto">
          <a:xfrm>
            <a:off x="1676400" y="43434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9004" name="Rectangle 17"/>
          <p:cNvSpPr>
            <a:spLocks noChangeArrowheads="1"/>
          </p:cNvSpPr>
          <p:nvPr/>
        </p:nvSpPr>
        <p:spPr bwMode="auto">
          <a:xfrm>
            <a:off x="1981200" y="43434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9005" name="Rectangle 19"/>
          <p:cNvSpPr>
            <a:spLocks noChangeArrowheads="1"/>
          </p:cNvSpPr>
          <p:nvPr/>
        </p:nvSpPr>
        <p:spPr bwMode="auto">
          <a:xfrm>
            <a:off x="762000" y="4648200"/>
            <a:ext cx="304800" cy="304800"/>
          </a:xfrm>
          <a:prstGeom prst="rect">
            <a:avLst/>
          </a:prstGeom>
          <a:solidFill>
            <a:srgbClr val="0000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9006" name="Rectangle 20"/>
          <p:cNvSpPr>
            <a:spLocks noChangeArrowheads="1"/>
          </p:cNvSpPr>
          <p:nvPr/>
        </p:nvSpPr>
        <p:spPr bwMode="auto">
          <a:xfrm>
            <a:off x="1066800" y="46482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9007" name="Rectangle 21"/>
          <p:cNvSpPr>
            <a:spLocks noChangeArrowheads="1"/>
          </p:cNvSpPr>
          <p:nvPr/>
        </p:nvSpPr>
        <p:spPr bwMode="auto">
          <a:xfrm>
            <a:off x="1371600" y="46482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9008" name="Rectangle 22"/>
          <p:cNvSpPr>
            <a:spLocks noChangeArrowheads="1"/>
          </p:cNvSpPr>
          <p:nvPr/>
        </p:nvSpPr>
        <p:spPr bwMode="auto">
          <a:xfrm>
            <a:off x="1676400" y="46482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9009" name="Rectangle 23"/>
          <p:cNvSpPr>
            <a:spLocks noChangeArrowheads="1"/>
          </p:cNvSpPr>
          <p:nvPr/>
        </p:nvSpPr>
        <p:spPr bwMode="auto">
          <a:xfrm>
            <a:off x="1981200" y="46482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9010" name="Rectangle 25"/>
          <p:cNvSpPr>
            <a:spLocks noChangeArrowheads="1"/>
          </p:cNvSpPr>
          <p:nvPr/>
        </p:nvSpPr>
        <p:spPr bwMode="auto">
          <a:xfrm>
            <a:off x="762000" y="49530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9011" name="Rectangle 26"/>
          <p:cNvSpPr>
            <a:spLocks noChangeArrowheads="1"/>
          </p:cNvSpPr>
          <p:nvPr/>
        </p:nvSpPr>
        <p:spPr bwMode="auto">
          <a:xfrm>
            <a:off x="1066800" y="49530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9012" name="Rectangle 27"/>
          <p:cNvSpPr>
            <a:spLocks noChangeArrowheads="1"/>
          </p:cNvSpPr>
          <p:nvPr/>
        </p:nvSpPr>
        <p:spPr bwMode="auto">
          <a:xfrm>
            <a:off x="1371600" y="49530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9013" name="Rectangle 28"/>
          <p:cNvSpPr>
            <a:spLocks noChangeArrowheads="1"/>
          </p:cNvSpPr>
          <p:nvPr/>
        </p:nvSpPr>
        <p:spPr bwMode="auto">
          <a:xfrm>
            <a:off x="1676400" y="49530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9014" name="Rectangle 29"/>
          <p:cNvSpPr>
            <a:spLocks noChangeArrowheads="1"/>
          </p:cNvSpPr>
          <p:nvPr/>
        </p:nvSpPr>
        <p:spPr bwMode="auto">
          <a:xfrm>
            <a:off x="1981200" y="49530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9015" name="Rectangle 31"/>
          <p:cNvSpPr>
            <a:spLocks noChangeArrowheads="1"/>
          </p:cNvSpPr>
          <p:nvPr/>
        </p:nvSpPr>
        <p:spPr bwMode="auto">
          <a:xfrm>
            <a:off x="762000" y="52578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9016" name="Rectangle 32"/>
          <p:cNvSpPr>
            <a:spLocks noChangeArrowheads="1"/>
          </p:cNvSpPr>
          <p:nvPr/>
        </p:nvSpPr>
        <p:spPr bwMode="auto">
          <a:xfrm>
            <a:off x="1066800" y="52578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9017" name="Rectangle 33"/>
          <p:cNvSpPr>
            <a:spLocks noChangeArrowheads="1"/>
          </p:cNvSpPr>
          <p:nvPr/>
        </p:nvSpPr>
        <p:spPr bwMode="auto">
          <a:xfrm>
            <a:off x="1371600" y="52578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9018" name="Rectangle 34"/>
          <p:cNvSpPr>
            <a:spLocks noChangeArrowheads="1"/>
          </p:cNvSpPr>
          <p:nvPr/>
        </p:nvSpPr>
        <p:spPr bwMode="auto">
          <a:xfrm>
            <a:off x="1676400" y="52578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9019" name="Rectangle 35"/>
          <p:cNvSpPr>
            <a:spLocks noChangeArrowheads="1"/>
          </p:cNvSpPr>
          <p:nvPr/>
        </p:nvSpPr>
        <p:spPr bwMode="auto">
          <a:xfrm>
            <a:off x="1981200" y="52578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9020" name="Rectangle 37"/>
          <p:cNvSpPr>
            <a:spLocks noChangeArrowheads="1"/>
          </p:cNvSpPr>
          <p:nvPr/>
        </p:nvSpPr>
        <p:spPr bwMode="auto">
          <a:xfrm>
            <a:off x="762000" y="55626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9021" name="Rectangle 38"/>
          <p:cNvSpPr>
            <a:spLocks noChangeArrowheads="1"/>
          </p:cNvSpPr>
          <p:nvPr/>
        </p:nvSpPr>
        <p:spPr bwMode="auto">
          <a:xfrm>
            <a:off x="1066800" y="55626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9022" name="Rectangle 39"/>
          <p:cNvSpPr>
            <a:spLocks noChangeArrowheads="1"/>
          </p:cNvSpPr>
          <p:nvPr/>
        </p:nvSpPr>
        <p:spPr bwMode="auto">
          <a:xfrm>
            <a:off x="1371600" y="55626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9023" name="Rectangle 40"/>
          <p:cNvSpPr>
            <a:spLocks noChangeArrowheads="1"/>
          </p:cNvSpPr>
          <p:nvPr/>
        </p:nvSpPr>
        <p:spPr bwMode="auto">
          <a:xfrm>
            <a:off x="1676400" y="55626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9024" name="Rectangle 41"/>
          <p:cNvSpPr>
            <a:spLocks noChangeArrowheads="1"/>
          </p:cNvSpPr>
          <p:nvPr/>
        </p:nvSpPr>
        <p:spPr bwMode="auto">
          <a:xfrm>
            <a:off x="1981200" y="55626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9025" name="Rectangle 49"/>
          <p:cNvSpPr>
            <a:spLocks noChangeArrowheads="1"/>
          </p:cNvSpPr>
          <p:nvPr/>
        </p:nvSpPr>
        <p:spPr bwMode="auto">
          <a:xfrm>
            <a:off x="3048000" y="4343400"/>
            <a:ext cx="304800" cy="304800"/>
          </a:xfrm>
          <a:prstGeom prst="rect">
            <a:avLst/>
          </a:prstGeom>
          <a:solidFill>
            <a:srgbClr val="FF00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9026" name="Rectangle 50"/>
          <p:cNvSpPr>
            <a:spLocks noChangeArrowheads="1"/>
          </p:cNvSpPr>
          <p:nvPr/>
        </p:nvSpPr>
        <p:spPr bwMode="auto">
          <a:xfrm>
            <a:off x="3352800" y="4343400"/>
            <a:ext cx="304800" cy="304800"/>
          </a:xfrm>
          <a:prstGeom prst="rect">
            <a:avLst/>
          </a:prstGeom>
          <a:solidFill>
            <a:srgbClr val="FF00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9027" name="Rectangle 51"/>
          <p:cNvSpPr>
            <a:spLocks noChangeArrowheads="1"/>
          </p:cNvSpPr>
          <p:nvPr/>
        </p:nvSpPr>
        <p:spPr bwMode="auto">
          <a:xfrm>
            <a:off x="3657600" y="4343400"/>
            <a:ext cx="304800" cy="304800"/>
          </a:xfrm>
          <a:prstGeom prst="rect">
            <a:avLst/>
          </a:prstGeom>
          <a:solidFill>
            <a:srgbClr val="FF00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9028" name="Rectangle 52"/>
          <p:cNvSpPr>
            <a:spLocks noChangeArrowheads="1"/>
          </p:cNvSpPr>
          <p:nvPr/>
        </p:nvSpPr>
        <p:spPr bwMode="auto">
          <a:xfrm>
            <a:off x="3962400" y="4343400"/>
            <a:ext cx="304800" cy="304800"/>
          </a:xfrm>
          <a:prstGeom prst="rect">
            <a:avLst/>
          </a:prstGeom>
          <a:solidFill>
            <a:srgbClr val="FF00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9029" name="Rectangle 53"/>
          <p:cNvSpPr>
            <a:spLocks noChangeArrowheads="1"/>
          </p:cNvSpPr>
          <p:nvPr/>
        </p:nvSpPr>
        <p:spPr bwMode="auto">
          <a:xfrm>
            <a:off x="4267200" y="4343400"/>
            <a:ext cx="304800" cy="304800"/>
          </a:xfrm>
          <a:prstGeom prst="rect">
            <a:avLst/>
          </a:prstGeom>
          <a:solidFill>
            <a:srgbClr val="FF00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9030" name="Rectangle 54"/>
          <p:cNvSpPr>
            <a:spLocks noChangeArrowheads="1"/>
          </p:cNvSpPr>
          <p:nvPr/>
        </p:nvSpPr>
        <p:spPr bwMode="auto">
          <a:xfrm>
            <a:off x="3048000" y="4648200"/>
            <a:ext cx="304800" cy="304800"/>
          </a:xfrm>
          <a:prstGeom prst="rect">
            <a:avLst/>
          </a:prstGeom>
          <a:solidFill>
            <a:srgbClr val="0000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9031" name="Rectangle 55"/>
          <p:cNvSpPr>
            <a:spLocks noChangeArrowheads="1"/>
          </p:cNvSpPr>
          <p:nvPr/>
        </p:nvSpPr>
        <p:spPr bwMode="auto">
          <a:xfrm>
            <a:off x="3352800" y="4648200"/>
            <a:ext cx="304800" cy="304800"/>
          </a:xfrm>
          <a:prstGeom prst="rect">
            <a:avLst/>
          </a:prstGeom>
          <a:solidFill>
            <a:srgbClr val="0000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9032" name="Rectangle 56"/>
          <p:cNvSpPr>
            <a:spLocks noChangeArrowheads="1"/>
          </p:cNvSpPr>
          <p:nvPr/>
        </p:nvSpPr>
        <p:spPr bwMode="auto">
          <a:xfrm>
            <a:off x="3657600" y="4648200"/>
            <a:ext cx="304800" cy="304800"/>
          </a:xfrm>
          <a:prstGeom prst="rect">
            <a:avLst/>
          </a:prstGeom>
          <a:solidFill>
            <a:srgbClr val="0000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9033" name="Rectangle 57"/>
          <p:cNvSpPr>
            <a:spLocks noChangeArrowheads="1"/>
          </p:cNvSpPr>
          <p:nvPr/>
        </p:nvSpPr>
        <p:spPr bwMode="auto">
          <a:xfrm>
            <a:off x="3962400" y="4648200"/>
            <a:ext cx="304800" cy="304800"/>
          </a:xfrm>
          <a:prstGeom prst="rect">
            <a:avLst/>
          </a:prstGeom>
          <a:solidFill>
            <a:srgbClr val="0000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9034" name="Rectangle 58"/>
          <p:cNvSpPr>
            <a:spLocks noChangeArrowheads="1"/>
          </p:cNvSpPr>
          <p:nvPr/>
        </p:nvSpPr>
        <p:spPr bwMode="auto">
          <a:xfrm>
            <a:off x="4267200" y="4648200"/>
            <a:ext cx="304800" cy="304800"/>
          </a:xfrm>
          <a:prstGeom prst="rect">
            <a:avLst/>
          </a:prstGeom>
          <a:solidFill>
            <a:srgbClr val="0000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9035" name="Rectangle 59"/>
          <p:cNvSpPr>
            <a:spLocks noChangeArrowheads="1"/>
          </p:cNvSpPr>
          <p:nvPr/>
        </p:nvSpPr>
        <p:spPr bwMode="auto">
          <a:xfrm>
            <a:off x="3048000" y="49530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9036" name="Rectangle 60"/>
          <p:cNvSpPr>
            <a:spLocks noChangeArrowheads="1"/>
          </p:cNvSpPr>
          <p:nvPr/>
        </p:nvSpPr>
        <p:spPr bwMode="auto">
          <a:xfrm>
            <a:off x="3352800" y="49530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9037" name="Rectangle 61"/>
          <p:cNvSpPr>
            <a:spLocks noChangeArrowheads="1"/>
          </p:cNvSpPr>
          <p:nvPr/>
        </p:nvSpPr>
        <p:spPr bwMode="auto">
          <a:xfrm>
            <a:off x="3657600" y="49530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9038" name="Rectangle 62"/>
          <p:cNvSpPr>
            <a:spLocks noChangeArrowheads="1"/>
          </p:cNvSpPr>
          <p:nvPr/>
        </p:nvSpPr>
        <p:spPr bwMode="auto">
          <a:xfrm>
            <a:off x="3962400" y="49530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9039" name="Rectangle 63"/>
          <p:cNvSpPr>
            <a:spLocks noChangeArrowheads="1"/>
          </p:cNvSpPr>
          <p:nvPr/>
        </p:nvSpPr>
        <p:spPr bwMode="auto">
          <a:xfrm>
            <a:off x="4267200" y="49530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9040" name="Rectangle 64"/>
          <p:cNvSpPr>
            <a:spLocks noChangeArrowheads="1"/>
          </p:cNvSpPr>
          <p:nvPr/>
        </p:nvSpPr>
        <p:spPr bwMode="auto">
          <a:xfrm>
            <a:off x="3048000" y="52578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9041" name="Rectangle 65"/>
          <p:cNvSpPr>
            <a:spLocks noChangeArrowheads="1"/>
          </p:cNvSpPr>
          <p:nvPr/>
        </p:nvSpPr>
        <p:spPr bwMode="auto">
          <a:xfrm>
            <a:off x="3352800" y="52578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9042" name="Rectangle 66"/>
          <p:cNvSpPr>
            <a:spLocks noChangeArrowheads="1"/>
          </p:cNvSpPr>
          <p:nvPr/>
        </p:nvSpPr>
        <p:spPr bwMode="auto">
          <a:xfrm>
            <a:off x="3657600" y="52578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9043" name="Rectangle 67"/>
          <p:cNvSpPr>
            <a:spLocks noChangeArrowheads="1"/>
          </p:cNvSpPr>
          <p:nvPr/>
        </p:nvSpPr>
        <p:spPr bwMode="auto">
          <a:xfrm>
            <a:off x="3962400" y="52578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9044" name="Rectangle 68"/>
          <p:cNvSpPr>
            <a:spLocks noChangeArrowheads="1"/>
          </p:cNvSpPr>
          <p:nvPr/>
        </p:nvSpPr>
        <p:spPr bwMode="auto">
          <a:xfrm>
            <a:off x="4267200" y="52578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9045" name="Rectangle 69"/>
          <p:cNvSpPr>
            <a:spLocks noChangeArrowheads="1"/>
          </p:cNvSpPr>
          <p:nvPr/>
        </p:nvSpPr>
        <p:spPr bwMode="auto">
          <a:xfrm>
            <a:off x="3048000" y="55626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9046" name="Rectangle 70"/>
          <p:cNvSpPr>
            <a:spLocks noChangeArrowheads="1"/>
          </p:cNvSpPr>
          <p:nvPr/>
        </p:nvSpPr>
        <p:spPr bwMode="auto">
          <a:xfrm>
            <a:off x="3352800" y="55626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9047" name="Rectangle 71"/>
          <p:cNvSpPr>
            <a:spLocks noChangeArrowheads="1"/>
          </p:cNvSpPr>
          <p:nvPr/>
        </p:nvSpPr>
        <p:spPr bwMode="auto">
          <a:xfrm>
            <a:off x="3657600" y="55626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9048" name="Rectangle 72"/>
          <p:cNvSpPr>
            <a:spLocks noChangeArrowheads="1"/>
          </p:cNvSpPr>
          <p:nvPr/>
        </p:nvSpPr>
        <p:spPr bwMode="auto">
          <a:xfrm>
            <a:off x="3962400" y="55626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9049" name="Rectangle 73"/>
          <p:cNvSpPr>
            <a:spLocks noChangeArrowheads="1"/>
          </p:cNvSpPr>
          <p:nvPr/>
        </p:nvSpPr>
        <p:spPr bwMode="auto">
          <a:xfrm>
            <a:off x="4267200" y="55626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9050" name="Rectangle 74"/>
          <p:cNvSpPr>
            <a:spLocks noChangeArrowheads="1"/>
          </p:cNvSpPr>
          <p:nvPr/>
        </p:nvSpPr>
        <p:spPr bwMode="auto">
          <a:xfrm>
            <a:off x="5334000" y="4343400"/>
            <a:ext cx="304800" cy="304800"/>
          </a:xfrm>
          <a:prstGeom prst="rect">
            <a:avLst/>
          </a:prstGeom>
          <a:solidFill>
            <a:srgbClr val="FF00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9051" name="Rectangle 75"/>
          <p:cNvSpPr>
            <a:spLocks noChangeArrowheads="1"/>
          </p:cNvSpPr>
          <p:nvPr/>
        </p:nvSpPr>
        <p:spPr bwMode="auto">
          <a:xfrm>
            <a:off x="5638800" y="4343400"/>
            <a:ext cx="304800" cy="304800"/>
          </a:xfrm>
          <a:prstGeom prst="rect">
            <a:avLst/>
          </a:prstGeom>
          <a:solidFill>
            <a:srgbClr val="339933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9052" name="Rectangle 76"/>
          <p:cNvSpPr>
            <a:spLocks noChangeArrowheads="1"/>
          </p:cNvSpPr>
          <p:nvPr/>
        </p:nvSpPr>
        <p:spPr bwMode="auto">
          <a:xfrm>
            <a:off x="5943600" y="43434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9053" name="Rectangle 77"/>
          <p:cNvSpPr>
            <a:spLocks noChangeArrowheads="1"/>
          </p:cNvSpPr>
          <p:nvPr/>
        </p:nvSpPr>
        <p:spPr bwMode="auto">
          <a:xfrm>
            <a:off x="6248400" y="43434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9054" name="Rectangle 78"/>
          <p:cNvSpPr>
            <a:spLocks noChangeArrowheads="1"/>
          </p:cNvSpPr>
          <p:nvPr/>
        </p:nvSpPr>
        <p:spPr bwMode="auto">
          <a:xfrm>
            <a:off x="6553200" y="43434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9055" name="Rectangle 79"/>
          <p:cNvSpPr>
            <a:spLocks noChangeArrowheads="1"/>
          </p:cNvSpPr>
          <p:nvPr/>
        </p:nvSpPr>
        <p:spPr bwMode="auto">
          <a:xfrm>
            <a:off x="5334000" y="4648200"/>
            <a:ext cx="304800" cy="304800"/>
          </a:xfrm>
          <a:prstGeom prst="rect">
            <a:avLst/>
          </a:prstGeom>
          <a:solidFill>
            <a:srgbClr val="FF00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9056" name="Rectangle 80"/>
          <p:cNvSpPr>
            <a:spLocks noChangeArrowheads="1"/>
          </p:cNvSpPr>
          <p:nvPr/>
        </p:nvSpPr>
        <p:spPr bwMode="auto">
          <a:xfrm>
            <a:off x="5638800" y="4648200"/>
            <a:ext cx="304800" cy="304800"/>
          </a:xfrm>
          <a:prstGeom prst="rect">
            <a:avLst/>
          </a:prstGeom>
          <a:solidFill>
            <a:srgbClr val="339933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9057" name="Rectangle 81"/>
          <p:cNvSpPr>
            <a:spLocks noChangeArrowheads="1"/>
          </p:cNvSpPr>
          <p:nvPr/>
        </p:nvSpPr>
        <p:spPr bwMode="auto">
          <a:xfrm>
            <a:off x="5943600" y="46482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9058" name="Rectangle 82"/>
          <p:cNvSpPr>
            <a:spLocks noChangeArrowheads="1"/>
          </p:cNvSpPr>
          <p:nvPr/>
        </p:nvSpPr>
        <p:spPr bwMode="auto">
          <a:xfrm>
            <a:off x="6248400" y="46482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9059" name="Rectangle 83"/>
          <p:cNvSpPr>
            <a:spLocks noChangeArrowheads="1"/>
          </p:cNvSpPr>
          <p:nvPr/>
        </p:nvSpPr>
        <p:spPr bwMode="auto">
          <a:xfrm>
            <a:off x="6553200" y="46482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9060" name="Rectangle 84"/>
          <p:cNvSpPr>
            <a:spLocks noChangeArrowheads="1"/>
          </p:cNvSpPr>
          <p:nvPr/>
        </p:nvSpPr>
        <p:spPr bwMode="auto">
          <a:xfrm>
            <a:off x="5334000" y="4953000"/>
            <a:ext cx="304800" cy="304800"/>
          </a:xfrm>
          <a:prstGeom prst="rect">
            <a:avLst/>
          </a:prstGeom>
          <a:solidFill>
            <a:srgbClr val="FF00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9061" name="Rectangle 85"/>
          <p:cNvSpPr>
            <a:spLocks noChangeArrowheads="1"/>
          </p:cNvSpPr>
          <p:nvPr/>
        </p:nvSpPr>
        <p:spPr bwMode="auto">
          <a:xfrm>
            <a:off x="5638800" y="4953000"/>
            <a:ext cx="304800" cy="304800"/>
          </a:xfrm>
          <a:prstGeom prst="rect">
            <a:avLst/>
          </a:prstGeom>
          <a:solidFill>
            <a:srgbClr val="339933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9062" name="Rectangle 86"/>
          <p:cNvSpPr>
            <a:spLocks noChangeArrowheads="1"/>
          </p:cNvSpPr>
          <p:nvPr/>
        </p:nvSpPr>
        <p:spPr bwMode="auto">
          <a:xfrm>
            <a:off x="5943600" y="49530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9063" name="Rectangle 87"/>
          <p:cNvSpPr>
            <a:spLocks noChangeArrowheads="1"/>
          </p:cNvSpPr>
          <p:nvPr/>
        </p:nvSpPr>
        <p:spPr bwMode="auto">
          <a:xfrm>
            <a:off x="6248400" y="49530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9064" name="Rectangle 88"/>
          <p:cNvSpPr>
            <a:spLocks noChangeArrowheads="1"/>
          </p:cNvSpPr>
          <p:nvPr/>
        </p:nvSpPr>
        <p:spPr bwMode="auto">
          <a:xfrm>
            <a:off x="6553200" y="49530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9065" name="Rectangle 89"/>
          <p:cNvSpPr>
            <a:spLocks noChangeArrowheads="1"/>
          </p:cNvSpPr>
          <p:nvPr/>
        </p:nvSpPr>
        <p:spPr bwMode="auto">
          <a:xfrm>
            <a:off x="5334000" y="5257800"/>
            <a:ext cx="304800" cy="304800"/>
          </a:xfrm>
          <a:prstGeom prst="rect">
            <a:avLst/>
          </a:prstGeom>
          <a:solidFill>
            <a:srgbClr val="FF00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9066" name="Rectangle 90"/>
          <p:cNvSpPr>
            <a:spLocks noChangeArrowheads="1"/>
          </p:cNvSpPr>
          <p:nvPr/>
        </p:nvSpPr>
        <p:spPr bwMode="auto">
          <a:xfrm>
            <a:off x="5638800" y="5257800"/>
            <a:ext cx="304800" cy="304800"/>
          </a:xfrm>
          <a:prstGeom prst="rect">
            <a:avLst/>
          </a:prstGeom>
          <a:solidFill>
            <a:srgbClr val="339933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9067" name="Rectangle 91"/>
          <p:cNvSpPr>
            <a:spLocks noChangeArrowheads="1"/>
          </p:cNvSpPr>
          <p:nvPr/>
        </p:nvSpPr>
        <p:spPr bwMode="auto">
          <a:xfrm>
            <a:off x="5943600" y="52578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9068" name="Rectangle 92"/>
          <p:cNvSpPr>
            <a:spLocks noChangeArrowheads="1"/>
          </p:cNvSpPr>
          <p:nvPr/>
        </p:nvSpPr>
        <p:spPr bwMode="auto">
          <a:xfrm>
            <a:off x="6248400" y="52578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9069" name="Rectangle 93"/>
          <p:cNvSpPr>
            <a:spLocks noChangeArrowheads="1"/>
          </p:cNvSpPr>
          <p:nvPr/>
        </p:nvSpPr>
        <p:spPr bwMode="auto">
          <a:xfrm>
            <a:off x="6553200" y="52578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9070" name="Rectangle 94"/>
          <p:cNvSpPr>
            <a:spLocks noChangeArrowheads="1"/>
          </p:cNvSpPr>
          <p:nvPr/>
        </p:nvSpPr>
        <p:spPr bwMode="auto">
          <a:xfrm>
            <a:off x="5334000" y="5562600"/>
            <a:ext cx="304800" cy="304800"/>
          </a:xfrm>
          <a:prstGeom prst="rect">
            <a:avLst/>
          </a:prstGeom>
          <a:solidFill>
            <a:srgbClr val="FF00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9071" name="Rectangle 95"/>
          <p:cNvSpPr>
            <a:spLocks noChangeArrowheads="1"/>
          </p:cNvSpPr>
          <p:nvPr/>
        </p:nvSpPr>
        <p:spPr bwMode="auto">
          <a:xfrm>
            <a:off x="5638800" y="5562600"/>
            <a:ext cx="304800" cy="304800"/>
          </a:xfrm>
          <a:prstGeom prst="rect">
            <a:avLst/>
          </a:prstGeom>
          <a:solidFill>
            <a:srgbClr val="339933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9072" name="Rectangle 96"/>
          <p:cNvSpPr>
            <a:spLocks noChangeArrowheads="1"/>
          </p:cNvSpPr>
          <p:nvPr/>
        </p:nvSpPr>
        <p:spPr bwMode="auto">
          <a:xfrm>
            <a:off x="5943600" y="55626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9073" name="Rectangle 97"/>
          <p:cNvSpPr>
            <a:spLocks noChangeArrowheads="1"/>
          </p:cNvSpPr>
          <p:nvPr/>
        </p:nvSpPr>
        <p:spPr bwMode="auto">
          <a:xfrm>
            <a:off x="6248400" y="55626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9074" name="Rectangle 98"/>
          <p:cNvSpPr>
            <a:spLocks noChangeArrowheads="1"/>
          </p:cNvSpPr>
          <p:nvPr/>
        </p:nvSpPr>
        <p:spPr bwMode="auto">
          <a:xfrm>
            <a:off x="6553200" y="55626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9075" name="Text Box 99"/>
          <p:cNvSpPr txBox="1">
            <a:spLocks noChangeArrowheads="1"/>
          </p:cNvSpPr>
          <p:nvPr/>
        </p:nvSpPr>
        <p:spPr bwMode="auto">
          <a:xfrm>
            <a:off x="6934200" y="4357688"/>
            <a:ext cx="1966913" cy="3667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GB" sz="1800">
                <a:solidFill>
                  <a:srgbClr val="FF0000"/>
                </a:solidFill>
                <a:latin typeface="Courier New" pitchFamily="-112" charset="0"/>
              </a:rPr>
              <a:t>i=0;j=0;0&lt;k&lt;5</a:t>
            </a:r>
          </a:p>
        </p:txBody>
      </p:sp>
      <p:sp>
        <p:nvSpPr>
          <p:cNvPr id="469076" name="Text Box 100"/>
          <p:cNvSpPr txBox="1">
            <a:spLocks noChangeArrowheads="1"/>
          </p:cNvSpPr>
          <p:nvPr/>
        </p:nvSpPr>
        <p:spPr bwMode="auto">
          <a:xfrm>
            <a:off x="6934200" y="4800600"/>
            <a:ext cx="1966913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GB" sz="1800">
                <a:solidFill>
                  <a:srgbClr val="339933"/>
                </a:solidFill>
                <a:latin typeface="Courier New" pitchFamily="-112" charset="0"/>
              </a:rPr>
              <a:t>i=0;j=1;0&lt;k&lt;5</a:t>
            </a:r>
          </a:p>
        </p:txBody>
      </p:sp>
      <p:sp>
        <p:nvSpPr>
          <p:cNvPr id="469077" name="Text Box 101"/>
          <p:cNvSpPr txBox="1">
            <a:spLocks noChangeArrowheads="1"/>
          </p:cNvSpPr>
          <p:nvPr/>
        </p:nvSpPr>
        <p:spPr bwMode="auto">
          <a:xfrm>
            <a:off x="304800" y="4343400"/>
            <a:ext cx="357188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GB" sz="1800"/>
              <a:t>x:</a:t>
            </a:r>
            <a:endParaRPr lang="en-GB" sz="1800">
              <a:solidFill>
                <a:srgbClr val="FF0000"/>
              </a:solidFill>
            </a:endParaRPr>
          </a:p>
        </p:txBody>
      </p:sp>
      <p:sp>
        <p:nvSpPr>
          <p:cNvPr id="469078" name="Text Box 102"/>
          <p:cNvSpPr txBox="1">
            <a:spLocks noChangeArrowheads="1"/>
          </p:cNvSpPr>
          <p:nvPr/>
        </p:nvSpPr>
        <p:spPr bwMode="auto">
          <a:xfrm>
            <a:off x="2590800" y="4343400"/>
            <a:ext cx="350838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GB" sz="1800"/>
              <a:t>y:</a:t>
            </a:r>
            <a:endParaRPr lang="en-GB" sz="1800">
              <a:solidFill>
                <a:srgbClr val="FF0000"/>
              </a:solidFill>
            </a:endParaRPr>
          </a:p>
        </p:txBody>
      </p:sp>
      <p:sp>
        <p:nvSpPr>
          <p:cNvPr id="469079" name="Text Box 103"/>
          <p:cNvSpPr txBox="1">
            <a:spLocks noChangeArrowheads="1"/>
          </p:cNvSpPr>
          <p:nvPr/>
        </p:nvSpPr>
        <p:spPr bwMode="auto">
          <a:xfrm>
            <a:off x="4876800" y="4343400"/>
            <a:ext cx="350838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GB" sz="1800"/>
              <a:t>z:</a:t>
            </a:r>
            <a:endParaRPr lang="en-GB" sz="1800">
              <a:solidFill>
                <a:srgbClr val="FF0000"/>
              </a:solidFill>
            </a:endParaRPr>
          </a:p>
        </p:txBody>
      </p:sp>
      <p:sp>
        <p:nvSpPr>
          <p:cNvPr id="469080" name="AutoShape 105"/>
          <p:cNvSpPr>
            <a:spLocks noChangeArrowheads="1"/>
          </p:cNvSpPr>
          <p:nvPr/>
        </p:nvSpPr>
        <p:spPr bwMode="auto">
          <a:xfrm rot="-5400000">
            <a:off x="3048000" y="4343400"/>
            <a:ext cx="304800" cy="304800"/>
          </a:xfrm>
          <a:prstGeom prst="rtTriangle">
            <a:avLst/>
          </a:prstGeom>
          <a:solidFill>
            <a:srgbClr val="339933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9081" name="AutoShape 106"/>
          <p:cNvSpPr>
            <a:spLocks noChangeArrowheads="1"/>
          </p:cNvSpPr>
          <p:nvPr/>
        </p:nvSpPr>
        <p:spPr bwMode="auto">
          <a:xfrm rot="-5400000">
            <a:off x="3352800" y="4343400"/>
            <a:ext cx="304800" cy="304800"/>
          </a:xfrm>
          <a:prstGeom prst="rtTriangle">
            <a:avLst/>
          </a:prstGeom>
          <a:solidFill>
            <a:srgbClr val="339933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9082" name="AutoShape 107"/>
          <p:cNvSpPr>
            <a:spLocks noChangeArrowheads="1"/>
          </p:cNvSpPr>
          <p:nvPr/>
        </p:nvSpPr>
        <p:spPr bwMode="auto">
          <a:xfrm rot="-5400000">
            <a:off x="3657600" y="4343400"/>
            <a:ext cx="304800" cy="304800"/>
          </a:xfrm>
          <a:prstGeom prst="rtTriangle">
            <a:avLst/>
          </a:prstGeom>
          <a:solidFill>
            <a:srgbClr val="339933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9083" name="AutoShape 108"/>
          <p:cNvSpPr>
            <a:spLocks noChangeArrowheads="1"/>
          </p:cNvSpPr>
          <p:nvPr/>
        </p:nvSpPr>
        <p:spPr bwMode="auto">
          <a:xfrm rot="-5400000">
            <a:off x="3962400" y="4343400"/>
            <a:ext cx="304800" cy="304800"/>
          </a:xfrm>
          <a:prstGeom prst="rtTriangle">
            <a:avLst/>
          </a:prstGeom>
          <a:solidFill>
            <a:srgbClr val="339933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9084" name="AutoShape 109"/>
          <p:cNvSpPr>
            <a:spLocks noChangeArrowheads="1"/>
          </p:cNvSpPr>
          <p:nvPr/>
        </p:nvSpPr>
        <p:spPr bwMode="auto">
          <a:xfrm rot="-5400000">
            <a:off x="4267200" y="4343400"/>
            <a:ext cx="304800" cy="304800"/>
          </a:xfrm>
          <a:prstGeom prst="rtTriangle">
            <a:avLst/>
          </a:prstGeom>
          <a:solidFill>
            <a:srgbClr val="339933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9085" name="AutoShape 110"/>
          <p:cNvSpPr>
            <a:spLocks noChangeArrowheads="1"/>
          </p:cNvSpPr>
          <p:nvPr/>
        </p:nvSpPr>
        <p:spPr bwMode="auto">
          <a:xfrm rot="-5400000">
            <a:off x="5334000" y="4343400"/>
            <a:ext cx="304800" cy="304800"/>
          </a:xfrm>
          <a:prstGeom prst="rtTriangle">
            <a:avLst/>
          </a:prstGeom>
          <a:solidFill>
            <a:srgbClr val="0000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9086" name="AutoShape 111"/>
          <p:cNvSpPr>
            <a:spLocks noChangeArrowheads="1"/>
          </p:cNvSpPr>
          <p:nvPr/>
        </p:nvSpPr>
        <p:spPr bwMode="auto">
          <a:xfrm rot="-5400000">
            <a:off x="5334000" y="4648200"/>
            <a:ext cx="304800" cy="304800"/>
          </a:xfrm>
          <a:prstGeom prst="rtTriangle">
            <a:avLst/>
          </a:prstGeom>
          <a:solidFill>
            <a:srgbClr val="0000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9087" name="AutoShape 112"/>
          <p:cNvSpPr>
            <a:spLocks noChangeArrowheads="1"/>
          </p:cNvSpPr>
          <p:nvPr/>
        </p:nvSpPr>
        <p:spPr bwMode="auto">
          <a:xfrm rot="-5400000">
            <a:off x="5334000" y="4953000"/>
            <a:ext cx="304800" cy="304800"/>
          </a:xfrm>
          <a:prstGeom prst="rtTriangle">
            <a:avLst/>
          </a:prstGeom>
          <a:solidFill>
            <a:srgbClr val="0000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9088" name="AutoShape 113"/>
          <p:cNvSpPr>
            <a:spLocks noChangeArrowheads="1"/>
          </p:cNvSpPr>
          <p:nvPr/>
        </p:nvSpPr>
        <p:spPr bwMode="auto">
          <a:xfrm rot="-5400000">
            <a:off x="5334000" y="5257800"/>
            <a:ext cx="304800" cy="304800"/>
          </a:xfrm>
          <a:prstGeom prst="rtTriangle">
            <a:avLst/>
          </a:prstGeom>
          <a:solidFill>
            <a:srgbClr val="0000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9089" name="AutoShape 114"/>
          <p:cNvSpPr>
            <a:spLocks noChangeArrowheads="1"/>
          </p:cNvSpPr>
          <p:nvPr/>
        </p:nvSpPr>
        <p:spPr bwMode="auto">
          <a:xfrm rot="-5400000">
            <a:off x="5334000" y="5562600"/>
            <a:ext cx="304800" cy="304800"/>
          </a:xfrm>
          <a:prstGeom prst="rtTriangle">
            <a:avLst/>
          </a:prstGeom>
          <a:solidFill>
            <a:srgbClr val="0000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9090" name="Text Box 116"/>
          <p:cNvSpPr txBox="1">
            <a:spLocks noChangeArrowheads="1"/>
          </p:cNvSpPr>
          <p:nvPr/>
        </p:nvSpPr>
        <p:spPr bwMode="auto">
          <a:xfrm>
            <a:off x="6934200" y="5418138"/>
            <a:ext cx="1966913" cy="3667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GB" sz="1800">
                <a:solidFill>
                  <a:srgbClr val="0000FF"/>
                </a:solidFill>
                <a:latin typeface="Courier New" pitchFamily="-112" charset="0"/>
              </a:rPr>
              <a:t>i=1;j=0;0&lt;k&lt;5</a:t>
            </a:r>
          </a:p>
        </p:txBody>
      </p:sp>
      <p:sp>
        <p:nvSpPr>
          <p:cNvPr id="469091" name="Text Box 117"/>
          <p:cNvSpPr txBox="1">
            <a:spLocks noChangeArrowheads="1"/>
          </p:cNvSpPr>
          <p:nvPr/>
        </p:nvSpPr>
        <p:spPr bwMode="auto">
          <a:xfrm>
            <a:off x="7848600" y="5029200"/>
            <a:ext cx="412750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GB" sz="1800">
                <a:solidFill>
                  <a:srgbClr val="339933"/>
                </a:solidFill>
              </a:rPr>
              <a:t>…</a:t>
            </a:r>
          </a:p>
        </p:txBody>
      </p:sp>
      <p:sp>
        <p:nvSpPr>
          <p:cNvPr id="469092" name="Text Box 118"/>
          <p:cNvSpPr txBox="1">
            <a:spLocks noChangeArrowheads="1"/>
          </p:cNvSpPr>
          <p:nvPr/>
        </p:nvSpPr>
        <p:spPr bwMode="auto">
          <a:xfrm>
            <a:off x="5181600" y="6019800"/>
            <a:ext cx="3429000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GB" sz="1800"/>
              <a:t>Poor spatial and temporal locality</a:t>
            </a:r>
            <a:endParaRPr lang="en-GB" sz="1800">
              <a:solidFill>
                <a:srgbClr val="FF0000"/>
              </a:solidFill>
            </a:endParaRPr>
          </a:p>
        </p:txBody>
      </p:sp>
      <p:sp>
        <p:nvSpPr>
          <p:cNvPr id="469093" name="Text Box 119"/>
          <p:cNvSpPr txBox="1">
            <a:spLocks noChangeArrowheads="1"/>
          </p:cNvSpPr>
          <p:nvPr/>
        </p:nvSpPr>
        <p:spPr bwMode="auto">
          <a:xfrm>
            <a:off x="2590800" y="6019800"/>
            <a:ext cx="2317750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GB" sz="1800"/>
              <a:t>Poor temporal locality</a:t>
            </a:r>
            <a:endParaRPr lang="en-GB" sz="180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CS/ECE 6810 Computer Architecture</a:t>
            </a:r>
            <a:endParaRPr lang="en-US" sz="1400" dirty="0">
              <a:latin typeface="Garamond" pitchFamily="-112" charset="0"/>
            </a:endParaRPr>
          </a:p>
        </p:txBody>
      </p:sp>
      <p:sp>
        <p:nvSpPr>
          <p:cNvPr id="91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7277E0C-7719-D744-89F7-6428C731F26F}" type="slidenum">
              <a:rPr lang="en-US"/>
              <a:pPr>
                <a:defRPr/>
              </a:pPr>
              <a:t>15</a:t>
            </a:fld>
            <a:endParaRPr lang="en-US">
              <a:latin typeface="Garamond" pitchFamily="-112" charset="0"/>
            </a:endParaRPr>
          </a:p>
        </p:txBody>
      </p:sp>
      <p:sp>
        <p:nvSpPr>
          <p:cNvPr id="47104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dirty="0"/>
              <a:t>Reducing Miss Rates – Loop Blocking or Tiling</a:t>
            </a:r>
            <a:endParaRPr lang="en-US" sz="900" dirty="0"/>
          </a:p>
        </p:txBody>
      </p:sp>
      <p:sp>
        <p:nvSpPr>
          <p:cNvPr id="471045" name="Text Box 5"/>
          <p:cNvSpPr txBox="1">
            <a:spLocks noChangeArrowheads="1"/>
          </p:cNvSpPr>
          <p:nvPr/>
        </p:nvSpPr>
        <p:spPr bwMode="auto">
          <a:xfrm>
            <a:off x="1143000" y="1235075"/>
            <a:ext cx="7620000" cy="286232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en-GB" sz="2000" dirty="0">
                <a:solidFill>
                  <a:srgbClr val="0000FF"/>
                </a:solidFill>
                <a:latin typeface="Courier New" pitchFamily="-112" charset="0"/>
              </a:rPr>
              <a:t>for (</a:t>
            </a:r>
            <a:r>
              <a:rPr lang="en-GB" sz="2000" dirty="0" err="1">
                <a:solidFill>
                  <a:srgbClr val="0000FF"/>
                </a:solidFill>
                <a:latin typeface="Courier New" pitchFamily="-112" charset="0"/>
              </a:rPr>
              <a:t>jj</a:t>
            </a:r>
            <a:r>
              <a:rPr lang="en-GB" sz="2000" dirty="0">
                <a:solidFill>
                  <a:srgbClr val="0000FF"/>
                </a:solidFill>
                <a:latin typeface="Courier New" pitchFamily="-112" charset="0"/>
              </a:rPr>
              <a:t> = 0; </a:t>
            </a:r>
            <a:r>
              <a:rPr lang="en-GB" sz="2000" dirty="0" err="1">
                <a:solidFill>
                  <a:srgbClr val="0000FF"/>
                </a:solidFill>
                <a:latin typeface="Courier New" pitchFamily="-112" charset="0"/>
              </a:rPr>
              <a:t>jj</a:t>
            </a:r>
            <a:r>
              <a:rPr lang="en-GB" sz="2000" dirty="0">
                <a:solidFill>
                  <a:srgbClr val="0000FF"/>
                </a:solidFill>
                <a:latin typeface="Courier New" pitchFamily="-112" charset="0"/>
              </a:rPr>
              <a:t> &lt; 5; </a:t>
            </a:r>
            <a:r>
              <a:rPr lang="en-GB" sz="2000" dirty="0" err="1">
                <a:solidFill>
                  <a:srgbClr val="0000FF"/>
                </a:solidFill>
                <a:latin typeface="Courier New" pitchFamily="-112" charset="0"/>
              </a:rPr>
              <a:t>jj</a:t>
            </a:r>
            <a:r>
              <a:rPr lang="en-GB" sz="2000" dirty="0">
                <a:solidFill>
                  <a:srgbClr val="0000FF"/>
                </a:solidFill>
                <a:latin typeface="Courier New" pitchFamily="-112" charset="0"/>
              </a:rPr>
              <a:t> = jj+2)</a:t>
            </a:r>
          </a:p>
          <a:p>
            <a:r>
              <a:rPr lang="en-GB" sz="2000" dirty="0">
                <a:solidFill>
                  <a:srgbClr val="0000FF"/>
                </a:solidFill>
                <a:latin typeface="Courier New" pitchFamily="-112" charset="0"/>
              </a:rPr>
              <a:t>  for (</a:t>
            </a:r>
            <a:r>
              <a:rPr lang="en-GB" sz="2000" dirty="0" err="1">
                <a:solidFill>
                  <a:srgbClr val="0000FF"/>
                </a:solidFill>
                <a:latin typeface="Courier New" pitchFamily="-112" charset="0"/>
              </a:rPr>
              <a:t>kk</a:t>
            </a:r>
            <a:r>
              <a:rPr lang="en-GB" sz="2000" dirty="0">
                <a:solidFill>
                  <a:srgbClr val="0000FF"/>
                </a:solidFill>
                <a:latin typeface="Courier New" pitchFamily="-112" charset="0"/>
              </a:rPr>
              <a:t> = 0; </a:t>
            </a:r>
            <a:r>
              <a:rPr lang="en-GB" sz="2000" dirty="0" err="1">
                <a:solidFill>
                  <a:srgbClr val="0000FF"/>
                </a:solidFill>
                <a:latin typeface="Courier New" pitchFamily="-112" charset="0"/>
              </a:rPr>
              <a:t>kk</a:t>
            </a:r>
            <a:r>
              <a:rPr lang="en-GB" sz="2000" dirty="0">
                <a:solidFill>
                  <a:srgbClr val="0000FF"/>
                </a:solidFill>
                <a:latin typeface="Courier New" pitchFamily="-112" charset="0"/>
              </a:rPr>
              <a:t> &lt; 5; </a:t>
            </a:r>
            <a:r>
              <a:rPr lang="en-GB" sz="2000" dirty="0" err="1">
                <a:solidFill>
                  <a:srgbClr val="0000FF"/>
                </a:solidFill>
                <a:latin typeface="Courier New" pitchFamily="-112" charset="0"/>
              </a:rPr>
              <a:t>kk</a:t>
            </a:r>
            <a:r>
              <a:rPr lang="en-GB" sz="2000" dirty="0">
                <a:solidFill>
                  <a:srgbClr val="0000FF"/>
                </a:solidFill>
                <a:latin typeface="Courier New" pitchFamily="-112" charset="0"/>
              </a:rPr>
              <a:t> = kk+2) </a:t>
            </a:r>
          </a:p>
          <a:p>
            <a:r>
              <a:rPr lang="en-GB" sz="2000" dirty="0">
                <a:solidFill>
                  <a:srgbClr val="0000FF"/>
                </a:solidFill>
                <a:latin typeface="Courier New" pitchFamily="-112" charset="0"/>
              </a:rPr>
              <a:t>    for (</a:t>
            </a:r>
            <a:r>
              <a:rPr lang="en-US" sz="2000" dirty="0">
                <a:solidFill>
                  <a:srgbClr val="0000FF"/>
                </a:solidFill>
                <a:latin typeface="Courier New" pitchFamily="-112" charset="0"/>
              </a:rPr>
              <a:t>i</a:t>
            </a:r>
            <a:r>
              <a:rPr lang="en-GB" sz="2000" dirty="0">
                <a:solidFill>
                  <a:srgbClr val="0000FF"/>
                </a:solidFill>
                <a:latin typeface="Courier New" pitchFamily="-112" charset="0"/>
              </a:rPr>
              <a:t> = 0; </a:t>
            </a:r>
            <a:r>
              <a:rPr lang="en-US" sz="2000" dirty="0">
                <a:solidFill>
                  <a:srgbClr val="0000FF"/>
                </a:solidFill>
                <a:latin typeface="Courier New" pitchFamily="-112" charset="0"/>
              </a:rPr>
              <a:t>i</a:t>
            </a:r>
            <a:r>
              <a:rPr lang="en-GB" sz="2000" dirty="0">
                <a:solidFill>
                  <a:srgbClr val="0000FF"/>
                </a:solidFill>
                <a:latin typeface="Courier New" pitchFamily="-112" charset="0"/>
              </a:rPr>
              <a:t> &lt; 5; </a:t>
            </a:r>
            <a:r>
              <a:rPr lang="en-GB" sz="2000" dirty="0" err="1">
                <a:solidFill>
                  <a:srgbClr val="0000FF"/>
                </a:solidFill>
                <a:latin typeface="Courier New" pitchFamily="-112" charset="0"/>
              </a:rPr>
              <a:t>i</a:t>
            </a:r>
            <a:r>
              <a:rPr lang="en-GB" sz="2000" dirty="0">
                <a:solidFill>
                  <a:srgbClr val="0000FF"/>
                </a:solidFill>
                <a:latin typeface="Courier New" pitchFamily="-112" charset="0"/>
              </a:rPr>
              <a:t>++)</a:t>
            </a:r>
          </a:p>
          <a:p>
            <a:r>
              <a:rPr lang="en-GB" sz="2000" dirty="0">
                <a:solidFill>
                  <a:srgbClr val="0000FF"/>
                </a:solidFill>
                <a:latin typeface="Courier New" pitchFamily="-112" charset="0"/>
              </a:rPr>
              <a:t>      for (</a:t>
            </a:r>
            <a:r>
              <a:rPr lang="en-GB" sz="2000" dirty="0" err="1">
                <a:solidFill>
                  <a:srgbClr val="0000FF"/>
                </a:solidFill>
                <a:latin typeface="Courier New" pitchFamily="-112" charset="0"/>
              </a:rPr>
              <a:t>j</a:t>
            </a:r>
            <a:r>
              <a:rPr lang="en-GB" sz="2000" dirty="0">
                <a:solidFill>
                  <a:srgbClr val="0000FF"/>
                </a:solidFill>
                <a:latin typeface="Courier New" pitchFamily="-112" charset="0"/>
              </a:rPr>
              <a:t> = </a:t>
            </a:r>
            <a:r>
              <a:rPr lang="en-GB" sz="2000" dirty="0" err="1">
                <a:solidFill>
                  <a:srgbClr val="0000FF"/>
                </a:solidFill>
                <a:latin typeface="Courier New" pitchFamily="-112" charset="0"/>
              </a:rPr>
              <a:t>jj</a:t>
            </a:r>
            <a:r>
              <a:rPr lang="en-GB" sz="2000" dirty="0">
                <a:solidFill>
                  <a:srgbClr val="0000FF"/>
                </a:solidFill>
                <a:latin typeface="Courier New" pitchFamily="-112" charset="0"/>
              </a:rPr>
              <a:t>; </a:t>
            </a:r>
            <a:r>
              <a:rPr lang="en-GB" sz="2000" dirty="0" err="1">
                <a:solidFill>
                  <a:srgbClr val="0000FF"/>
                </a:solidFill>
                <a:latin typeface="Courier New" pitchFamily="-112" charset="0"/>
              </a:rPr>
              <a:t>j</a:t>
            </a:r>
            <a:r>
              <a:rPr lang="en-GB" sz="2000" dirty="0">
                <a:solidFill>
                  <a:srgbClr val="0000FF"/>
                </a:solidFill>
                <a:latin typeface="Courier New" pitchFamily="-112" charset="0"/>
              </a:rPr>
              <a:t> &lt; min(jj+2-1,5); </a:t>
            </a:r>
            <a:r>
              <a:rPr lang="en-GB" sz="2000" dirty="0" err="1">
                <a:solidFill>
                  <a:srgbClr val="0000FF"/>
                </a:solidFill>
                <a:latin typeface="Courier New" pitchFamily="-112" charset="0"/>
              </a:rPr>
              <a:t>j</a:t>
            </a:r>
            <a:r>
              <a:rPr lang="en-GB" sz="2000" dirty="0">
                <a:solidFill>
                  <a:srgbClr val="0000FF"/>
                </a:solidFill>
                <a:latin typeface="Courier New" pitchFamily="-112" charset="0"/>
              </a:rPr>
              <a:t>++)</a:t>
            </a:r>
          </a:p>
          <a:p>
            <a:r>
              <a:rPr lang="en-GB" sz="2000" dirty="0">
                <a:solidFill>
                  <a:srgbClr val="0000FF"/>
                </a:solidFill>
                <a:latin typeface="Courier New" pitchFamily="-112" charset="0"/>
              </a:rPr>
              <a:t>      { </a:t>
            </a:r>
            <a:r>
              <a:rPr lang="en-GB" sz="2000" dirty="0" err="1">
                <a:solidFill>
                  <a:srgbClr val="0000FF"/>
                </a:solidFill>
                <a:latin typeface="Courier New" pitchFamily="-112" charset="0"/>
              </a:rPr>
              <a:t>r</a:t>
            </a:r>
            <a:r>
              <a:rPr lang="en-GB" sz="2000" dirty="0">
                <a:solidFill>
                  <a:srgbClr val="0000FF"/>
                </a:solidFill>
                <a:latin typeface="Courier New" pitchFamily="-112" charset="0"/>
              </a:rPr>
              <a:t> = 0;</a:t>
            </a:r>
          </a:p>
          <a:p>
            <a:r>
              <a:rPr lang="en-GB" sz="2000" dirty="0">
                <a:solidFill>
                  <a:srgbClr val="0000FF"/>
                </a:solidFill>
                <a:latin typeface="Courier New" pitchFamily="-112" charset="0"/>
              </a:rPr>
              <a:t>        for (</a:t>
            </a:r>
            <a:r>
              <a:rPr lang="en-GB" sz="2000" dirty="0" err="1">
                <a:solidFill>
                  <a:srgbClr val="0000FF"/>
                </a:solidFill>
                <a:latin typeface="Courier New" pitchFamily="-112" charset="0"/>
              </a:rPr>
              <a:t>k</a:t>
            </a:r>
            <a:r>
              <a:rPr lang="en-GB" sz="2000" dirty="0">
                <a:solidFill>
                  <a:srgbClr val="0000FF"/>
                </a:solidFill>
                <a:latin typeface="Courier New" pitchFamily="-112" charset="0"/>
              </a:rPr>
              <a:t> = </a:t>
            </a:r>
            <a:r>
              <a:rPr lang="en-GB" sz="2000" dirty="0" err="1">
                <a:solidFill>
                  <a:srgbClr val="0000FF"/>
                </a:solidFill>
                <a:latin typeface="Courier New" pitchFamily="-112" charset="0"/>
              </a:rPr>
              <a:t>kk</a:t>
            </a:r>
            <a:r>
              <a:rPr lang="en-GB" sz="2000" dirty="0">
                <a:solidFill>
                  <a:srgbClr val="0000FF"/>
                </a:solidFill>
                <a:latin typeface="Courier New" pitchFamily="-112" charset="0"/>
              </a:rPr>
              <a:t>; </a:t>
            </a:r>
            <a:r>
              <a:rPr lang="en-GB" sz="2000" dirty="0" err="1">
                <a:solidFill>
                  <a:srgbClr val="0000FF"/>
                </a:solidFill>
                <a:latin typeface="Courier New" pitchFamily="-112" charset="0"/>
              </a:rPr>
              <a:t>k</a:t>
            </a:r>
            <a:r>
              <a:rPr lang="en-GB" sz="2000" dirty="0">
                <a:solidFill>
                  <a:srgbClr val="0000FF"/>
                </a:solidFill>
                <a:latin typeface="Courier New" pitchFamily="-112" charset="0"/>
              </a:rPr>
              <a:t> &lt; min(kk+2-1,5); </a:t>
            </a:r>
            <a:r>
              <a:rPr lang="en-GB" sz="2000" dirty="0" err="1">
                <a:solidFill>
                  <a:srgbClr val="0000FF"/>
                </a:solidFill>
                <a:latin typeface="Courier New" pitchFamily="-112" charset="0"/>
              </a:rPr>
              <a:t>k</a:t>
            </a:r>
            <a:r>
              <a:rPr lang="en-GB" sz="2000" dirty="0">
                <a:solidFill>
                  <a:srgbClr val="0000FF"/>
                </a:solidFill>
                <a:latin typeface="Courier New" pitchFamily="-112" charset="0"/>
              </a:rPr>
              <a:t>++)</a:t>
            </a:r>
          </a:p>
          <a:p>
            <a:r>
              <a:rPr lang="en-GB" sz="2000" dirty="0">
                <a:solidFill>
                  <a:srgbClr val="0000FF"/>
                </a:solidFill>
                <a:latin typeface="Courier New" pitchFamily="-112" charset="0"/>
              </a:rPr>
              <a:t>          </a:t>
            </a:r>
            <a:r>
              <a:rPr lang="en-GB" sz="2000" dirty="0" err="1">
                <a:solidFill>
                  <a:srgbClr val="0000FF"/>
                </a:solidFill>
                <a:latin typeface="Courier New" pitchFamily="-112" charset="0"/>
              </a:rPr>
              <a:t>r</a:t>
            </a:r>
            <a:r>
              <a:rPr lang="en-GB" sz="2000" dirty="0">
                <a:solidFill>
                  <a:srgbClr val="0000FF"/>
                </a:solidFill>
                <a:latin typeface="Courier New" pitchFamily="-112" charset="0"/>
              </a:rPr>
              <a:t> = </a:t>
            </a:r>
            <a:r>
              <a:rPr lang="en-GB" sz="2000" dirty="0" err="1">
                <a:solidFill>
                  <a:srgbClr val="0000FF"/>
                </a:solidFill>
                <a:latin typeface="Courier New" pitchFamily="-112" charset="0"/>
              </a:rPr>
              <a:t>r</a:t>
            </a:r>
            <a:r>
              <a:rPr lang="en-GB" sz="2000" dirty="0">
                <a:solidFill>
                  <a:srgbClr val="0000FF"/>
                </a:solidFill>
                <a:latin typeface="Courier New" pitchFamily="-112" charset="0"/>
              </a:rPr>
              <a:t> + </a:t>
            </a:r>
            <a:r>
              <a:rPr lang="en-GB" sz="2000" dirty="0" err="1">
                <a:solidFill>
                  <a:srgbClr val="0000FF"/>
                </a:solidFill>
                <a:latin typeface="Courier New" pitchFamily="-112" charset="0"/>
              </a:rPr>
              <a:t>y[i][k</a:t>
            </a:r>
            <a:r>
              <a:rPr lang="en-GB" sz="2000" dirty="0">
                <a:solidFill>
                  <a:srgbClr val="0000FF"/>
                </a:solidFill>
                <a:latin typeface="Courier New" pitchFamily="-112" charset="0"/>
              </a:rPr>
              <a:t>]*</a:t>
            </a:r>
            <a:r>
              <a:rPr lang="en-GB" sz="2000" dirty="0" err="1">
                <a:solidFill>
                  <a:srgbClr val="0000FF"/>
                </a:solidFill>
                <a:latin typeface="Courier New" pitchFamily="-112" charset="0"/>
              </a:rPr>
              <a:t>z[k][j</a:t>
            </a:r>
            <a:r>
              <a:rPr lang="en-GB" sz="2000" dirty="0">
                <a:solidFill>
                  <a:srgbClr val="0000FF"/>
                </a:solidFill>
                <a:latin typeface="Courier New" pitchFamily="-112" charset="0"/>
              </a:rPr>
              <a:t>];</a:t>
            </a:r>
          </a:p>
          <a:p>
            <a:r>
              <a:rPr lang="en-GB" sz="2000" dirty="0">
                <a:solidFill>
                  <a:srgbClr val="0000FF"/>
                </a:solidFill>
                <a:latin typeface="Courier New" pitchFamily="-112" charset="0"/>
              </a:rPr>
              <a:t>        </a:t>
            </a:r>
            <a:r>
              <a:rPr lang="en-GB" sz="2000" dirty="0" err="1">
                <a:solidFill>
                  <a:srgbClr val="0000FF"/>
                </a:solidFill>
                <a:latin typeface="Courier New" pitchFamily="-112" charset="0"/>
              </a:rPr>
              <a:t>x[i][j</a:t>
            </a:r>
            <a:r>
              <a:rPr lang="en-GB" sz="2000" dirty="0">
                <a:solidFill>
                  <a:srgbClr val="0000FF"/>
                </a:solidFill>
                <a:latin typeface="Courier New" pitchFamily="-112" charset="0"/>
              </a:rPr>
              <a:t>]= </a:t>
            </a:r>
            <a:r>
              <a:rPr lang="en-GB" sz="2000" dirty="0" err="1">
                <a:solidFill>
                  <a:srgbClr val="0000FF"/>
                </a:solidFill>
                <a:latin typeface="Courier New" pitchFamily="-112" charset="0"/>
              </a:rPr>
              <a:t>x[i][j</a:t>
            </a:r>
            <a:r>
              <a:rPr lang="en-GB" sz="2000" dirty="0">
                <a:solidFill>
                  <a:srgbClr val="0000FF"/>
                </a:solidFill>
                <a:latin typeface="Courier New" pitchFamily="-112" charset="0"/>
              </a:rPr>
              <a:t>] + </a:t>
            </a:r>
            <a:r>
              <a:rPr lang="en-GB" sz="2000" dirty="0" err="1">
                <a:solidFill>
                  <a:srgbClr val="0000FF"/>
                </a:solidFill>
                <a:latin typeface="Courier New" pitchFamily="-112" charset="0"/>
              </a:rPr>
              <a:t>r</a:t>
            </a:r>
            <a:r>
              <a:rPr lang="en-GB" sz="2000" dirty="0">
                <a:solidFill>
                  <a:srgbClr val="0000FF"/>
                </a:solidFill>
                <a:latin typeface="Courier New" pitchFamily="-112" charset="0"/>
              </a:rPr>
              <a:t>;</a:t>
            </a:r>
          </a:p>
          <a:p>
            <a:r>
              <a:rPr lang="en-GB" sz="2000" dirty="0">
                <a:solidFill>
                  <a:srgbClr val="0000FF"/>
                </a:solidFill>
                <a:latin typeface="Courier New" pitchFamily="-112" charset="0"/>
              </a:rPr>
              <a:t>      }</a:t>
            </a:r>
          </a:p>
        </p:txBody>
      </p:sp>
      <p:sp>
        <p:nvSpPr>
          <p:cNvPr id="471046" name="Rectangle 7"/>
          <p:cNvSpPr>
            <a:spLocks noChangeArrowheads="1"/>
          </p:cNvSpPr>
          <p:nvPr/>
        </p:nvSpPr>
        <p:spPr bwMode="auto">
          <a:xfrm>
            <a:off x="304800" y="4343400"/>
            <a:ext cx="304800" cy="304800"/>
          </a:xfrm>
          <a:prstGeom prst="rect">
            <a:avLst/>
          </a:prstGeom>
          <a:solidFill>
            <a:srgbClr val="FF00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1047" name="Rectangle 8"/>
          <p:cNvSpPr>
            <a:spLocks noChangeArrowheads="1"/>
          </p:cNvSpPr>
          <p:nvPr/>
        </p:nvSpPr>
        <p:spPr bwMode="auto">
          <a:xfrm>
            <a:off x="609600" y="4343400"/>
            <a:ext cx="304800" cy="304800"/>
          </a:xfrm>
          <a:prstGeom prst="rect">
            <a:avLst/>
          </a:prstGeom>
          <a:solidFill>
            <a:srgbClr val="339933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1048" name="Rectangle 9"/>
          <p:cNvSpPr>
            <a:spLocks noChangeArrowheads="1"/>
          </p:cNvSpPr>
          <p:nvPr/>
        </p:nvSpPr>
        <p:spPr bwMode="auto">
          <a:xfrm>
            <a:off x="914400" y="43434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1049" name="Rectangle 10"/>
          <p:cNvSpPr>
            <a:spLocks noChangeArrowheads="1"/>
          </p:cNvSpPr>
          <p:nvPr/>
        </p:nvSpPr>
        <p:spPr bwMode="auto">
          <a:xfrm>
            <a:off x="1219200" y="43434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1050" name="Rectangle 11"/>
          <p:cNvSpPr>
            <a:spLocks noChangeArrowheads="1"/>
          </p:cNvSpPr>
          <p:nvPr/>
        </p:nvSpPr>
        <p:spPr bwMode="auto">
          <a:xfrm>
            <a:off x="1524000" y="43434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1051" name="Rectangle 12"/>
          <p:cNvSpPr>
            <a:spLocks noChangeArrowheads="1"/>
          </p:cNvSpPr>
          <p:nvPr/>
        </p:nvSpPr>
        <p:spPr bwMode="auto">
          <a:xfrm>
            <a:off x="304800" y="4648200"/>
            <a:ext cx="304800" cy="304800"/>
          </a:xfrm>
          <a:prstGeom prst="rect">
            <a:avLst/>
          </a:prstGeom>
          <a:solidFill>
            <a:srgbClr val="0000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1052" name="Rectangle 13"/>
          <p:cNvSpPr>
            <a:spLocks noChangeArrowheads="1"/>
          </p:cNvSpPr>
          <p:nvPr/>
        </p:nvSpPr>
        <p:spPr bwMode="auto">
          <a:xfrm>
            <a:off x="609600" y="46482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1053" name="Rectangle 14"/>
          <p:cNvSpPr>
            <a:spLocks noChangeArrowheads="1"/>
          </p:cNvSpPr>
          <p:nvPr/>
        </p:nvSpPr>
        <p:spPr bwMode="auto">
          <a:xfrm>
            <a:off x="914400" y="46482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1054" name="Rectangle 15"/>
          <p:cNvSpPr>
            <a:spLocks noChangeArrowheads="1"/>
          </p:cNvSpPr>
          <p:nvPr/>
        </p:nvSpPr>
        <p:spPr bwMode="auto">
          <a:xfrm>
            <a:off x="1219200" y="46482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1055" name="Rectangle 16"/>
          <p:cNvSpPr>
            <a:spLocks noChangeArrowheads="1"/>
          </p:cNvSpPr>
          <p:nvPr/>
        </p:nvSpPr>
        <p:spPr bwMode="auto">
          <a:xfrm>
            <a:off x="1524000" y="46482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1056" name="Rectangle 17"/>
          <p:cNvSpPr>
            <a:spLocks noChangeArrowheads="1"/>
          </p:cNvSpPr>
          <p:nvPr/>
        </p:nvSpPr>
        <p:spPr bwMode="auto">
          <a:xfrm>
            <a:off x="304800" y="49530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1057" name="Rectangle 18"/>
          <p:cNvSpPr>
            <a:spLocks noChangeArrowheads="1"/>
          </p:cNvSpPr>
          <p:nvPr/>
        </p:nvSpPr>
        <p:spPr bwMode="auto">
          <a:xfrm>
            <a:off x="609600" y="49530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1058" name="Rectangle 19"/>
          <p:cNvSpPr>
            <a:spLocks noChangeArrowheads="1"/>
          </p:cNvSpPr>
          <p:nvPr/>
        </p:nvSpPr>
        <p:spPr bwMode="auto">
          <a:xfrm>
            <a:off x="914400" y="49530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1059" name="Rectangle 20"/>
          <p:cNvSpPr>
            <a:spLocks noChangeArrowheads="1"/>
          </p:cNvSpPr>
          <p:nvPr/>
        </p:nvSpPr>
        <p:spPr bwMode="auto">
          <a:xfrm>
            <a:off x="1219200" y="49530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1060" name="Rectangle 21"/>
          <p:cNvSpPr>
            <a:spLocks noChangeArrowheads="1"/>
          </p:cNvSpPr>
          <p:nvPr/>
        </p:nvSpPr>
        <p:spPr bwMode="auto">
          <a:xfrm>
            <a:off x="1524000" y="49530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1061" name="Rectangle 22"/>
          <p:cNvSpPr>
            <a:spLocks noChangeArrowheads="1"/>
          </p:cNvSpPr>
          <p:nvPr/>
        </p:nvSpPr>
        <p:spPr bwMode="auto">
          <a:xfrm>
            <a:off x="304800" y="52578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1062" name="Rectangle 23"/>
          <p:cNvSpPr>
            <a:spLocks noChangeArrowheads="1"/>
          </p:cNvSpPr>
          <p:nvPr/>
        </p:nvSpPr>
        <p:spPr bwMode="auto">
          <a:xfrm>
            <a:off x="609600" y="52578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1063" name="Rectangle 24"/>
          <p:cNvSpPr>
            <a:spLocks noChangeArrowheads="1"/>
          </p:cNvSpPr>
          <p:nvPr/>
        </p:nvSpPr>
        <p:spPr bwMode="auto">
          <a:xfrm>
            <a:off x="914400" y="52578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1064" name="Rectangle 25"/>
          <p:cNvSpPr>
            <a:spLocks noChangeArrowheads="1"/>
          </p:cNvSpPr>
          <p:nvPr/>
        </p:nvSpPr>
        <p:spPr bwMode="auto">
          <a:xfrm>
            <a:off x="1219200" y="52578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1065" name="Rectangle 26"/>
          <p:cNvSpPr>
            <a:spLocks noChangeArrowheads="1"/>
          </p:cNvSpPr>
          <p:nvPr/>
        </p:nvSpPr>
        <p:spPr bwMode="auto">
          <a:xfrm>
            <a:off x="1524000" y="52578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1066" name="Rectangle 27"/>
          <p:cNvSpPr>
            <a:spLocks noChangeArrowheads="1"/>
          </p:cNvSpPr>
          <p:nvPr/>
        </p:nvSpPr>
        <p:spPr bwMode="auto">
          <a:xfrm>
            <a:off x="304800" y="55626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1067" name="Rectangle 28"/>
          <p:cNvSpPr>
            <a:spLocks noChangeArrowheads="1"/>
          </p:cNvSpPr>
          <p:nvPr/>
        </p:nvSpPr>
        <p:spPr bwMode="auto">
          <a:xfrm>
            <a:off x="609600" y="55626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1068" name="Rectangle 29"/>
          <p:cNvSpPr>
            <a:spLocks noChangeArrowheads="1"/>
          </p:cNvSpPr>
          <p:nvPr/>
        </p:nvSpPr>
        <p:spPr bwMode="auto">
          <a:xfrm>
            <a:off x="914400" y="55626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1069" name="Rectangle 30"/>
          <p:cNvSpPr>
            <a:spLocks noChangeArrowheads="1"/>
          </p:cNvSpPr>
          <p:nvPr/>
        </p:nvSpPr>
        <p:spPr bwMode="auto">
          <a:xfrm>
            <a:off x="1219200" y="55626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1070" name="Rectangle 31"/>
          <p:cNvSpPr>
            <a:spLocks noChangeArrowheads="1"/>
          </p:cNvSpPr>
          <p:nvPr/>
        </p:nvSpPr>
        <p:spPr bwMode="auto">
          <a:xfrm>
            <a:off x="1524000" y="55626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1071" name="Rectangle 32"/>
          <p:cNvSpPr>
            <a:spLocks noChangeArrowheads="1"/>
          </p:cNvSpPr>
          <p:nvPr/>
        </p:nvSpPr>
        <p:spPr bwMode="auto">
          <a:xfrm>
            <a:off x="2133600" y="4343400"/>
            <a:ext cx="304800" cy="304800"/>
          </a:xfrm>
          <a:prstGeom prst="rect">
            <a:avLst/>
          </a:prstGeom>
          <a:solidFill>
            <a:srgbClr val="FF00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1072" name="Rectangle 33"/>
          <p:cNvSpPr>
            <a:spLocks noChangeArrowheads="1"/>
          </p:cNvSpPr>
          <p:nvPr/>
        </p:nvSpPr>
        <p:spPr bwMode="auto">
          <a:xfrm>
            <a:off x="2438400" y="4343400"/>
            <a:ext cx="304800" cy="304800"/>
          </a:xfrm>
          <a:prstGeom prst="rect">
            <a:avLst/>
          </a:prstGeom>
          <a:solidFill>
            <a:srgbClr val="FF00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1073" name="Rectangle 34"/>
          <p:cNvSpPr>
            <a:spLocks noChangeArrowheads="1"/>
          </p:cNvSpPr>
          <p:nvPr/>
        </p:nvSpPr>
        <p:spPr bwMode="auto">
          <a:xfrm>
            <a:off x="2743200" y="43434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1074" name="Rectangle 35"/>
          <p:cNvSpPr>
            <a:spLocks noChangeArrowheads="1"/>
          </p:cNvSpPr>
          <p:nvPr/>
        </p:nvSpPr>
        <p:spPr bwMode="auto">
          <a:xfrm>
            <a:off x="3048000" y="43434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1075" name="Rectangle 36"/>
          <p:cNvSpPr>
            <a:spLocks noChangeArrowheads="1"/>
          </p:cNvSpPr>
          <p:nvPr/>
        </p:nvSpPr>
        <p:spPr bwMode="auto">
          <a:xfrm>
            <a:off x="3352800" y="43434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1076" name="Rectangle 37"/>
          <p:cNvSpPr>
            <a:spLocks noChangeArrowheads="1"/>
          </p:cNvSpPr>
          <p:nvPr/>
        </p:nvSpPr>
        <p:spPr bwMode="auto">
          <a:xfrm>
            <a:off x="2133600" y="4648200"/>
            <a:ext cx="304800" cy="304800"/>
          </a:xfrm>
          <a:prstGeom prst="rect">
            <a:avLst/>
          </a:prstGeom>
          <a:solidFill>
            <a:srgbClr val="0000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1077" name="Rectangle 38"/>
          <p:cNvSpPr>
            <a:spLocks noChangeArrowheads="1"/>
          </p:cNvSpPr>
          <p:nvPr/>
        </p:nvSpPr>
        <p:spPr bwMode="auto">
          <a:xfrm>
            <a:off x="2438400" y="4648200"/>
            <a:ext cx="304800" cy="304800"/>
          </a:xfrm>
          <a:prstGeom prst="rect">
            <a:avLst/>
          </a:prstGeom>
          <a:solidFill>
            <a:srgbClr val="0000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1078" name="Rectangle 39"/>
          <p:cNvSpPr>
            <a:spLocks noChangeArrowheads="1"/>
          </p:cNvSpPr>
          <p:nvPr/>
        </p:nvSpPr>
        <p:spPr bwMode="auto">
          <a:xfrm>
            <a:off x="2743200" y="46482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1079" name="Rectangle 40"/>
          <p:cNvSpPr>
            <a:spLocks noChangeArrowheads="1"/>
          </p:cNvSpPr>
          <p:nvPr/>
        </p:nvSpPr>
        <p:spPr bwMode="auto">
          <a:xfrm>
            <a:off x="3048000" y="46482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1080" name="Rectangle 41"/>
          <p:cNvSpPr>
            <a:spLocks noChangeArrowheads="1"/>
          </p:cNvSpPr>
          <p:nvPr/>
        </p:nvSpPr>
        <p:spPr bwMode="auto">
          <a:xfrm>
            <a:off x="3352800" y="46482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1081" name="Rectangle 42"/>
          <p:cNvSpPr>
            <a:spLocks noChangeArrowheads="1"/>
          </p:cNvSpPr>
          <p:nvPr/>
        </p:nvSpPr>
        <p:spPr bwMode="auto">
          <a:xfrm>
            <a:off x="2133600" y="49530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1082" name="Rectangle 43"/>
          <p:cNvSpPr>
            <a:spLocks noChangeArrowheads="1"/>
          </p:cNvSpPr>
          <p:nvPr/>
        </p:nvSpPr>
        <p:spPr bwMode="auto">
          <a:xfrm>
            <a:off x="2438400" y="49530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1083" name="Rectangle 44"/>
          <p:cNvSpPr>
            <a:spLocks noChangeArrowheads="1"/>
          </p:cNvSpPr>
          <p:nvPr/>
        </p:nvSpPr>
        <p:spPr bwMode="auto">
          <a:xfrm>
            <a:off x="2743200" y="49530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1084" name="Rectangle 45"/>
          <p:cNvSpPr>
            <a:spLocks noChangeArrowheads="1"/>
          </p:cNvSpPr>
          <p:nvPr/>
        </p:nvSpPr>
        <p:spPr bwMode="auto">
          <a:xfrm>
            <a:off x="3048000" y="49530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1085" name="Rectangle 46"/>
          <p:cNvSpPr>
            <a:spLocks noChangeArrowheads="1"/>
          </p:cNvSpPr>
          <p:nvPr/>
        </p:nvSpPr>
        <p:spPr bwMode="auto">
          <a:xfrm>
            <a:off x="3352800" y="49530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1086" name="Rectangle 47"/>
          <p:cNvSpPr>
            <a:spLocks noChangeArrowheads="1"/>
          </p:cNvSpPr>
          <p:nvPr/>
        </p:nvSpPr>
        <p:spPr bwMode="auto">
          <a:xfrm>
            <a:off x="2133600" y="52578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1087" name="Rectangle 48"/>
          <p:cNvSpPr>
            <a:spLocks noChangeArrowheads="1"/>
          </p:cNvSpPr>
          <p:nvPr/>
        </p:nvSpPr>
        <p:spPr bwMode="auto">
          <a:xfrm>
            <a:off x="2438400" y="52578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1088" name="Rectangle 49"/>
          <p:cNvSpPr>
            <a:spLocks noChangeArrowheads="1"/>
          </p:cNvSpPr>
          <p:nvPr/>
        </p:nvSpPr>
        <p:spPr bwMode="auto">
          <a:xfrm>
            <a:off x="2743200" y="52578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1089" name="Rectangle 50"/>
          <p:cNvSpPr>
            <a:spLocks noChangeArrowheads="1"/>
          </p:cNvSpPr>
          <p:nvPr/>
        </p:nvSpPr>
        <p:spPr bwMode="auto">
          <a:xfrm>
            <a:off x="3048000" y="52578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1090" name="Rectangle 51"/>
          <p:cNvSpPr>
            <a:spLocks noChangeArrowheads="1"/>
          </p:cNvSpPr>
          <p:nvPr/>
        </p:nvSpPr>
        <p:spPr bwMode="auto">
          <a:xfrm>
            <a:off x="3352800" y="52578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1091" name="Rectangle 52"/>
          <p:cNvSpPr>
            <a:spLocks noChangeArrowheads="1"/>
          </p:cNvSpPr>
          <p:nvPr/>
        </p:nvSpPr>
        <p:spPr bwMode="auto">
          <a:xfrm>
            <a:off x="2133600" y="55626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1092" name="Rectangle 53"/>
          <p:cNvSpPr>
            <a:spLocks noChangeArrowheads="1"/>
          </p:cNvSpPr>
          <p:nvPr/>
        </p:nvSpPr>
        <p:spPr bwMode="auto">
          <a:xfrm>
            <a:off x="2438400" y="55626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1093" name="Rectangle 54"/>
          <p:cNvSpPr>
            <a:spLocks noChangeArrowheads="1"/>
          </p:cNvSpPr>
          <p:nvPr/>
        </p:nvSpPr>
        <p:spPr bwMode="auto">
          <a:xfrm>
            <a:off x="2743200" y="55626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1094" name="Rectangle 55"/>
          <p:cNvSpPr>
            <a:spLocks noChangeArrowheads="1"/>
          </p:cNvSpPr>
          <p:nvPr/>
        </p:nvSpPr>
        <p:spPr bwMode="auto">
          <a:xfrm>
            <a:off x="3048000" y="55626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1095" name="Rectangle 56"/>
          <p:cNvSpPr>
            <a:spLocks noChangeArrowheads="1"/>
          </p:cNvSpPr>
          <p:nvPr/>
        </p:nvSpPr>
        <p:spPr bwMode="auto">
          <a:xfrm>
            <a:off x="3352800" y="55626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1096" name="Rectangle 57"/>
          <p:cNvSpPr>
            <a:spLocks noChangeArrowheads="1"/>
          </p:cNvSpPr>
          <p:nvPr/>
        </p:nvSpPr>
        <p:spPr bwMode="auto">
          <a:xfrm>
            <a:off x="3962400" y="4343400"/>
            <a:ext cx="304800" cy="304800"/>
          </a:xfrm>
          <a:prstGeom prst="rect">
            <a:avLst/>
          </a:prstGeom>
          <a:solidFill>
            <a:srgbClr val="FF00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1097" name="Rectangle 58"/>
          <p:cNvSpPr>
            <a:spLocks noChangeArrowheads="1"/>
          </p:cNvSpPr>
          <p:nvPr/>
        </p:nvSpPr>
        <p:spPr bwMode="auto">
          <a:xfrm>
            <a:off x="4267200" y="4343400"/>
            <a:ext cx="304800" cy="304800"/>
          </a:xfrm>
          <a:prstGeom prst="rect">
            <a:avLst/>
          </a:prstGeom>
          <a:solidFill>
            <a:srgbClr val="339933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1098" name="Rectangle 59"/>
          <p:cNvSpPr>
            <a:spLocks noChangeArrowheads="1"/>
          </p:cNvSpPr>
          <p:nvPr/>
        </p:nvSpPr>
        <p:spPr bwMode="auto">
          <a:xfrm>
            <a:off x="4572000" y="43434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1099" name="Rectangle 60"/>
          <p:cNvSpPr>
            <a:spLocks noChangeArrowheads="1"/>
          </p:cNvSpPr>
          <p:nvPr/>
        </p:nvSpPr>
        <p:spPr bwMode="auto">
          <a:xfrm>
            <a:off x="4876800" y="43434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1100" name="Rectangle 61"/>
          <p:cNvSpPr>
            <a:spLocks noChangeArrowheads="1"/>
          </p:cNvSpPr>
          <p:nvPr/>
        </p:nvSpPr>
        <p:spPr bwMode="auto">
          <a:xfrm>
            <a:off x="5181600" y="43434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1101" name="Rectangle 62"/>
          <p:cNvSpPr>
            <a:spLocks noChangeArrowheads="1"/>
          </p:cNvSpPr>
          <p:nvPr/>
        </p:nvSpPr>
        <p:spPr bwMode="auto">
          <a:xfrm>
            <a:off x="3962400" y="4648200"/>
            <a:ext cx="304800" cy="304800"/>
          </a:xfrm>
          <a:prstGeom prst="rect">
            <a:avLst/>
          </a:prstGeom>
          <a:solidFill>
            <a:srgbClr val="FF00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1102" name="Rectangle 63"/>
          <p:cNvSpPr>
            <a:spLocks noChangeArrowheads="1"/>
          </p:cNvSpPr>
          <p:nvPr/>
        </p:nvSpPr>
        <p:spPr bwMode="auto">
          <a:xfrm>
            <a:off x="4267200" y="4648200"/>
            <a:ext cx="304800" cy="304800"/>
          </a:xfrm>
          <a:prstGeom prst="rect">
            <a:avLst/>
          </a:prstGeom>
          <a:solidFill>
            <a:srgbClr val="339933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1103" name="Rectangle 64"/>
          <p:cNvSpPr>
            <a:spLocks noChangeArrowheads="1"/>
          </p:cNvSpPr>
          <p:nvPr/>
        </p:nvSpPr>
        <p:spPr bwMode="auto">
          <a:xfrm>
            <a:off x="4572000" y="46482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1104" name="Rectangle 65"/>
          <p:cNvSpPr>
            <a:spLocks noChangeArrowheads="1"/>
          </p:cNvSpPr>
          <p:nvPr/>
        </p:nvSpPr>
        <p:spPr bwMode="auto">
          <a:xfrm>
            <a:off x="4876800" y="46482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1105" name="Rectangle 66"/>
          <p:cNvSpPr>
            <a:spLocks noChangeArrowheads="1"/>
          </p:cNvSpPr>
          <p:nvPr/>
        </p:nvSpPr>
        <p:spPr bwMode="auto">
          <a:xfrm>
            <a:off x="5181600" y="46482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1106" name="Rectangle 67"/>
          <p:cNvSpPr>
            <a:spLocks noChangeArrowheads="1"/>
          </p:cNvSpPr>
          <p:nvPr/>
        </p:nvSpPr>
        <p:spPr bwMode="auto">
          <a:xfrm>
            <a:off x="3962400" y="49530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1107" name="Rectangle 68"/>
          <p:cNvSpPr>
            <a:spLocks noChangeArrowheads="1"/>
          </p:cNvSpPr>
          <p:nvPr/>
        </p:nvSpPr>
        <p:spPr bwMode="auto">
          <a:xfrm>
            <a:off x="4267200" y="49530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1108" name="Rectangle 69"/>
          <p:cNvSpPr>
            <a:spLocks noChangeArrowheads="1"/>
          </p:cNvSpPr>
          <p:nvPr/>
        </p:nvSpPr>
        <p:spPr bwMode="auto">
          <a:xfrm>
            <a:off x="4572000" y="49530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1109" name="Rectangle 70"/>
          <p:cNvSpPr>
            <a:spLocks noChangeArrowheads="1"/>
          </p:cNvSpPr>
          <p:nvPr/>
        </p:nvSpPr>
        <p:spPr bwMode="auto">
          <a:xfrm>
            <a:off x="4876800" y="49530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1110" name="Rectangle 71"/>
          <p:cNvSpPr>
            <a:spLocks noChangeArrowheads="1"/>
          </p:cNvSpPr>
          <p:nvPr/>
        </p:nvSpPr>
        <p:spPr bwMode="auto">
          <a:xfrm>
            <a:off x="5181600" y="49530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1111" name="Rectangle 72"/>
          <p:cNvSpPr>
            <a:spLocks noChangeArrowheads="1"/>
          </p:cNvSpPr>
          <p:nvPr/>
        </p:nvSpPr>
        <p:spPr bwMode="auto">
          <a:xfrm>
            <a:off x="3962400" y="52578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1112" name="Rectangle 73"/>
          <p:cNvSpPr>
            <a:spLocks noChangeArrowheads="1"/>
          </p:cNvSpPr>
          <p:nvPr/>
        </p:nvSpPr>
        <p:spPr bwMode="auto">
          <a:xfrm>
            <a:off x="4267200" y="52578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1113" name="Rectangle 74"/>
          <p:cNvSpPr>
            <a:spLocks noChangeArrowheads="1"/>
          </p:cNvSpPr>
          <p:nvPr/>
        </p:nvSpPr>
        <p:spPr bwMode="auto">
          <a:xfrm>
            <a:off x="4572000" y="52578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1114" name="Rectangle 75"/>
          <p:cNvSpPr>
            <a:spLocks noChangeArrowheads="1"/>
          </p:cNvSpPr>
          <p:nvPr/>
        </p:nvSpPr>
        <p:spPr bwMode="auto">
          <a:xfrm>
            <a:off x="4876800" y="52578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1115" name="Rectangle 76"/>
          <p:cNvSpPr>
            <a:spLocks noChangeArrowheads="1"/>
          </p:cNvSpPr>
          <p:nvPr/>
        </p:nvSpPr>
        <p:spPr bwMode="auto">
          <a:xfrm>
            <a:off x="5181600" y="52578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1116" name="Rectangle 77"/>
          <p:cNvSpPr>
            <a:spLocks noChangeArrowheads="1"/>
          </p:cNvSpPr>
          <p:nvPr/>
        </p:nvSpPr>
        <p:spPr bwMode="auto">
          <a:xfrm>
            <a:off x="3962400" y="55626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1117" name="Rectangle 78"/>
          <p:cNvSpPr>
            <a:spLocks noChangeArrowheads="1"/>
          </p:cNvSpPr>
          <p:nvPr/>
        </p:nvSpPr>
        <p:spPr bwMode="auto">
          <a:xfrm>
            <a:off x="4267200" y="55626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1118" name="Rectangle 79"/>
          <p:cNvSpPr>
            <a:spLocks noChangeArrowheads="1"/>
          </p:cNvSpPr>
          <p:nvPr/>
        </p:nvSpPr>
        <p:spPr bwMode="auto">
          <a:xfrm>
            <a:off x="4572000" y="55626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1119" name="Rectangle 80"/>
          <p:cNvSpPr>
            <a:spLocks noChangeArrowheads="1"/>
          </p:cNvSpPr>
          <p:nvPr/>
        </p:nvSpPr>
        <p:spPr bwMode="auto">
          <a:xfrm>
            <a:off x="4876800" y="55626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1120" name="Rectangle 81"/>
          <p:cNvSpPr>
            <a:spLocks noChangeArrowheads="1"/>
          </p:cNvSpPr>
          <p:nvPr/>
        </p:nvSpPr>
        <p:spPr bwMode="auto">
          <a:xfrm>
            <a:off x="5181600" y="55626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1121" name="Text Box 82"/>
          <p:cNvSpPr txBox="1">
            <a:spLocks noChangeArrowheads="1"/>
          </p:cNvSpPr>
          <p:nvPr/>
        </p:nvSpPr>
        <p:spPr bwMode="auto">
          <a:xfrm>
            <a:off x="5486400" y="4427538"/>
            <a:ext cx="3340100" cy="3667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GB" sz="1800">
                <a:solidFill>
                  <a:srgbClr val="FF0000"/>
                </a:solidFill>
                <a:latin typeface="Courier New" pitchFamily="-112" charset="0"/>
              </a:rPr>
              <a:t>jj=0;kk=0;i=0;j=0;0&lt;k&lt;1</a:t>
            </a:r>
          </a:p>
        </p:txBody>
      </p:sp>
      <p:sp>
        <p:nvSpPr>
          <p:cNvPr id="471122" name="Text Box 83"/>
          <p:cNvSpPr txBox="1">
            <a:spLocks noChangeArrowheads="1"/>
          </p:cNvSpPr>
          <p:nvPr/>
        </p:nvSpPr>
        <p:spPr bwMode="auto">
          <a:xfrm>
            <a:off x="5486400" y="4732338"/>
            <a:ext cx="3340100" cy="3667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GB" sz="1800">
                <a:solidFill>
                  <a:srgbClr val="339933"/>
                </a:solidFill>
                <a:latin typeface="Courier New" pitchFamily="-112" charset="0"/>
              </a:rPr>
              <a:t>jj=0;kk=0;i=0;j=1;0&lt;k&lt;1</a:t>
            </a:r>
          </a:p>
        </p:txBody>
      </p:sp>
      <p:sp>
        <p:nvSpPr>
          <p:cNvPr id="471123" name="Text Box 84"/>
          <p:cNvSpPr txBox="1">
            <a:spLocks noChangeArrowheads="1"/>
          </p:cNvSpPr>
          <p:nvPr/>
        </p:nvSpPr>
        <p:spPr bwMode="auto">
          <a:xfrm>
            <a:off x="0" y="4343400"/>
            <a:ext cx="357188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GB" sz="1800"/>
              <a:t>x:</a:t>
            </a:r>
            <a:endParaRPr lang="en-GB" sz="1800">
              <a:solidFill>
                <a:srgbClr val="FF0000"/>
              </a:solidFill>
            </a:endParaRPr>
          </a:p>
        </p:txBody>
      </p:sp>
      <p:sp>
        <p:nvSpPr>
          <p:cNvPr id="471124" name="Text Box 85"/>
          <p:cNvSpPr txBox="1">
            <a:spLocks noChangeArrowheads="1"/>
          </p:cNvSpPr>
          <p:nvPr/>
        </p:nvSpPr>
        <p:spPr bwMode="auto">
          <a:xfrm>
            <a:off x="1828800" y="4343400"/>
            <a:ext cx="350838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GB" sz="1800"/>
              <a:t>y:</a:t>
            </a:r>
            <a:endParaRPr lang="en-GB" sz="1800">
              <a:solidFill>
                <a:srgbClr val="FF0000"/>
              </a:solidFill>
            </a:endParaRPr>
          </a:p>
        </p:txBody>
      </p:sp>
      <p:sp>
        <p:nvSpPr>
          <p:cNvPr id="471125" name="Text Box 86"/>
          <p:cNvSpPr txBox="1">
            <a:spLocks noChangeArrowheads="1"/>
          </p:cNvSpPr>
          <p:nvPr/>
        </p:nvSpPr>
        <p:spPr bwMode="auto">
          <a:xfrm>
            <a:off x="3657600" y="4343400"/>
            <a:ext cx="350838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GB" sz="1800"/>
              <a:t>z:</a:t>
            </a:r>
            <a:endParaRPr lang="en-GB" sz="1800">
              <a:solidFill>
                <a:srgbClr val="FF0000"/>
              </a:solidFill>
            </a:endParaRPr>
          </a:p>
        </p:txBody>
      </p:sp>
      <p:sp>
        <p:nvSpPr>
          <p:cNvPr id="471126" name="AutoShape 87"/>
          <p:cNvSpPr>
            <a:spLocks noChangeArrowheads="1"/>
          </p:cNvSpPr>
          <p:nvPr/>
        </p:nvSpPr>
        <p:spPr bwMode="auto">
          <a:xfrm rot="-5400000">
            <a:off x="2133600" y="4343400"/>
            <a:ext cx="304800" cy="304800"/>
          </a:xfrm>
          <a:prstGeom prst="rtTriangle">
            <a:avLst/>
          </a:prstGeom>
          <a:solidFill>
            <a:srgbClr val="339933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1127" name="Text Box 97"/>
          <p:cNvSpPr txBox="1">
            <a:spLocks noChangeArrowheads="1"/>
          </p:cNvSpPr>
          <p:nvPr/>
        </p:nvSpPr>
        <p:spPr bwMode="auto">
          <a:xfrm>
            <a:off x="5486400" y="5113338"/>
            <a:ext cx="3340100" cy="3667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GB" sz="1800">
                <a:solidFill>
                  <a:srgbClr val="0000FF"/>
                </a:solidFill>
                <a:latin typeface="Courier New" pitchFamily="-112" charset="0"/>
              </a:rPr>
              <a:t>jj=0;kk=0;i=1;j=0;0&lt;k&lt;1</a:t>
            </a:r>
          </a:p>
        </p:txBody>
      </p:sp>
      <p:sp>
        <p:nvSpPr>
          <p:cNvPr id="471128" name="AutoShape 102"/>
          <p:cNvSpPr>
            <a:spLocks noChangeArrowheads="1"/>
          </p:cNvSpPr>
          <p:nvPr/>
        </p:nvSpPr>
        <p:spPr bwMode="auto">
          <a:xfrm rot="-5400000">
            <a:off x="2438400" y="4343400"/>
            <a:ext cx="304800" cy="304800"/>
          </a:xfrm>
          <a:prstGeom prst="rtTriangle">
            <a:avLst/>
          </a:prstGeom>
          <a:solidFill>
            <a:srgbClr val="339933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1129" name="AutoShape 103"/>
          <p:cNvSpPr>
            <a:spLocks noChangeArrowheads="1"/>
          </p:cNvSpPr>
          <p:nvPr/>
        </p:nvSpPr>
        <p:spPr bwMode="auto">
          <a:xfrm rot="-5400000">
            <a:off x="3962400" y="4343400"/>
            <a:ext cx="304800" cy="304800"/>
          </a:xfrm>
          <a:prstGeom prst="rtTriangle">
            <a:avLst/>
          </a:prstGeom>
          <a:solidFill>
            <a:srgbClr val="0000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1130" name="AutoShape 104"/>
          <p:cNvSpPr>
            <a:spLocks noChangeArrowheads="1"/>
          </p:cNvSpPr>
          <p:nvPr/>
        </p:nvSpPr>
        <p:spPr bwMode="auto">
          <a:xfrm rot="-5400000">
            <a:off x="3962400" y="4648200"/>
            <a:ext cx="304800" cy="304800"/>
          </a:xfrm>
          <a:prstGeom prst="rtTriangle">
            <a:avLst/>
          </a:prstGeom>
          <a:solidFill>
            <a:srgbClr val="0000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1131" name="Text Box 105"/>
          <p:cNvSpPr txBox="1">
            <a:spLocks noChangeArrowheads="1"/>
          </p:cNvSpPr>
          <p:nvPr/>
        </p:nvSpPr>
        <p:spPr bwMode="auto">
          <a:xfrm>
            <a:off x="3028950" y="6019800"/>
            <a:ext cx="2451100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GB" sz="1800"/>
              <a:t>Better temporal locality</a:t>
            </a:r>
            <a:endParaRPr lang="en-GB" sz="180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CS/ECE 6810 Computer Architecture</a:t>
            </a:r>
            <a:endParaRPr lang="en-US" sz="1400" dirty="0">
              <a:latin typeface="Garamond" pitchFamily="-112" charset="0"/>
            </a:endParaRPr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50F2C45-9114-6D4D-966A-707A7023F000}" type="slidenum">
              <a:rPr lang="en-US"/>
              <a:pPr>
                <a:defRPr/>
              </a:pPr>
              <a:t>16</a:t>
            </a:fld>
            <a:endParaRPr lang="en-US">
              <a:latin typeface="Garamond" pitchFamily="-112" charset="0"/>
            </a:endParaRPr>
          </a:p>
        </p:txBody>
      </p:sp>
      <p:sp>
        <p:nvSpPr>
          <p:cNvPr id="475140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sz="2000"/>
              <a:t>Cache Performance II</a:t>
            </a:r>
          </a:p>
        </p:txBody>
      </p:sp>
      <p:sp>
        <p:nvSpPr>
          <p:cNvPr id="47514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382000" cy="4343400"/>
          </a:xfrm>
        </p:spPr>
        <p:txBody>
          <a:bodyPr/>
          <a:lstStyle/>
          <a:p>
            <a:r>
              <a:rPr lang="en-US" sz="1800" dirty="0"/>
              <a:t>Memory system and processor performance:</a:t>
            </a:r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r>
              <a:rPr lang="en-US" sz="1800" dirty="0"/>
              <a:t>Improving memory hierarchy performance:</a:t>
            </a:r>
          </a:p>
          <a:p>
            <a:pPr lvl="1">
              <a:buClr>
                <a:schemeClr val="tx1"/>
              </a:buClr>
            </a:pPr>
            <a:r>
              <a:rPr lang="en-US" sz="1600" dirty="0">
                <a:solidFill>
                  <a:srgbClr val="000000"/>
                </a:solidFill>
                <a:sym typeface="Symbol" pitchFamily="-112" charset="2"/>
              </a:rPr>
              <a:t>Decrease hit time</a:t>
            </a:r>
          </a:p>
          <a:p>
            <a:pPr lvl="1"/>
            <a:r>
              <a:rPr lang="en-US" sz="1600" dirty="0">
                <a:sym typeface="Symbol" pitchFamily="-112" charset="2"/>
              </a:rPr>
              <a:t>Decrease miss rate (block size, prefetching, associativity, compiler)</a:t>
            </a:r>
          </a:p>
          <a:p>
            <a:pPr lvl="1"/>
            <a:r>
              <a:rPr lang="en-US" sz="1600" dirty="0">
                <a:solidFill>
                  <a:srgbClr val="FF0000"/>
                </a:solidFill>
                <a:sym typeface="Symbol" pitchFamily="-112" charset="2"/>
              </a:rPr>
              <a:t>Decrease miss penalty</a:t>
            </a:r>
          </a:p>
        </p:txBody>
      </p:sp>
      <p:sp>
        <p:nvSpPr>
          <p:cNvPr id="475142" name="Text Box 5"/>
          <p:cNvSpPr txBox="1">
            <a:spLocks noChangeArrowheads="1"/>
          </p:cNvSpPr>
          <p:nvPr/>
        </p:nvSpPr>
        <p:spPr bwMode="auto">
          <a:xfrm>
            <a:off x="1219200" y="1676400"/>
            <a:ext cx="3479800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GB" sz="1800"/>
              <a:t>CPU time = IC </a:t>
            </a:r>
            <a:r>
              <a:rPr lang="en-GB" sz="1200"/>
              <a:t>x</a:t>
            </a:r>
            <a:r>
              <a:rPr lang="en-GB" sz="1800"/>
              <a:t> CPI </a:t>
            </a:r>
            <a:r>
              <a:rPr lang="en-GB" sz="1200"/>
              <a:t>x</a:t>
            </a:r>
            <a:r>
              <a:rPr lang="en-GB" sz="1800"/>
              <a:t> Clock time</a:t>
            </a:r>
          </a:p>
        </p:txBody>
      </p:sp>
      <p:sp>
        <p:nvSpPr>
          <p:cNvPr id="475143" name="Text Box 6"/>
          <p:cNvSpPr txBox="1">
            <a:spLocks noChangeArrowheads="1"/>
          </p:cNvSpPr>
          <p:nvPr/>
        </p:nvSpPr>
        <p:spPr bwMode="auto">
          <a:xfrm>
            <a:off x="152400" y="2133600"/>
            <a:ext cx="5429250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GB" sz="1800"/>
              <a:t>Avg. mem. time = Hit time + Miss rate x Miss penalty</a:t>
            </a:r>
            <a:endParaRPr lang="en-GB" sz="1800">
              <a:solidFill>
                <a:srgbClr val="FF0000"/>
              </a:solidFill>
            </a:endParaRPr>
          </a:p>
        </p:txBody>
      </p:sp>
      <p:sp>
        <p:nvSpPr>
          <p:cNvPr id="475144" name="Line 7"/>
          <p:cNvSpPr>
            <a:spLocks noChangeShapeType="1"/>
          </p:cNvSpPr>
          <p:nvPr/>
        </p:nvSpPr>
        <p:spPr bwMode="auto">
          <a:xfrm>
            <a:off x="4876800" y="1905000"/>
            <a:ext cx="3810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5145" name="Text Box 8"/>
          <p:cNvSpPr txBox="1">
            <a:spLocks noChangeArrowheads="1"/>
          </p:cNvSpPr>
          <p:nvPr/>
        </p:nvSpPr>
        <p:spPr bwMode="auto">
          <a:xfrm>
            <a:off x="5257800" y="1676400"/>
            <a:ext cx="2408238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GB" sz="1800"/>
              <a:t>CPU performance eqn.</a:t>
            </a:r>
            <a:endParaRPr lang="en-GB" sz="1800">
              <a:solidFill>
                <a:srgbClr val="FF0000"/>
              </a:solidFill>
            </a:endParaRPr>
          </a:p>
        </p:txBody>
      </p:sp>
      <p:sp>
        <p:nvSpPr>
          <p:cNvPr id="475146" name="Line 9"/>
          <p:cNvSpPr>
            <a:spLocks noChangeShapeType="1"/>
          </p:cNvSpPr>
          <p:nvPr/>
        </p:nvSpPr>
        <p:spPr bwMode="auto">
          <a:xfrm>
            <a:off x="5715000" y="2362201"/>
            <a:ext cx="4572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5147" name="Text Box 10"/>
          <p:cNvSpPr txBox="1">
            <a:spLocks noChangeArrowheads="1"/>
          </p:cNvSpPr>
          <p:nvPr/>
        </p:nvSpPr>
        <p:spPr bwMode="auto">
          <a:xfrm>
            <a:off x="6172200" y="2133600"/>
            <a:ext cx="2754313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GB" sz="1800"/>
              <a:t>Memory performance eqn.</a:t>
            </a:r>
            <a:endParaRPr lang="en-GB" sz="180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CS/ECE 6810 Computer Architecture</a:t>
            </a:r>
            <a:endParaRPr lang="en-US" sz="1400" dirty="0">
              <a:latin typeface="Garamond" pitchFamily="-112" charset="0"/>
            </a:endParaRPr>
          </a:p>
        </p:txBody>
      </p:sp>
      <p:sp>
        <p:nvSpPr>
          <p:cNvPr id="43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9047D57-3CCC-6848-8F79-73DECDC2064F}" type="slidenum">
              <a:rPr lang="en-US"/>
              <a:pPr>
                <a:defRPr/>
              </a:pPr>
              <a:t>17</a:t>
            </a:fld>
            <a:endParaRPr lang="en-US">
              <a:latin typeface="Garamond" pitchFamily="-112" charset="0"/>
            </a:endParaRPr>
          </a:p>
        </p:txBody>
      </p:sp>
      <p:sp>
        <p:nvSpPr>
          <p:cNvPr id="47718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/>
              <a:t>Reducing Cache Miss Penalty</a:t>
            </a:r>
            <a:endParaRPr lang="en-US" sz="900"/>
          </a:p>
        </p:txBody>
      </p:sp>
      <p:sp>
        <p:nvSpPr>
          <p:cNvPr id="47718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382000" cy="4343400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/>
              <a:t>Technique 1: Victim caches</a:t>
            </a:r>
          </a:p>
          <a:p>
            <a:pPr lvl="1"/>
            <a:r>
              <a:rPr lang="en-US" sz="1400" dirty="0">
                <a:sym typeface="Symbol" pitchFamily="-112" charset="2"/>
              </a:rPr>
              <a:t>(Can also be considered to reduce miss rate)</a:t>
            </a:r>
            <a:r>
              <a:rPr lang="en-US" sz="1400" dirty="0"/>
              <a:t> </a:t>
            </a:r>
          </a:p>
          <a:p>
            <a:pPr lvl="1"/>
            <a:r>
              <a:rPr lang="en-US" sz="1600" dirty="0">
                <a:sym typeface="Symbol" pitchFamily="-112" charset="2"/>
              </a:rPr>
              <a:t>Very small cache used to capture evicted lines from cache</a:t>
            </a:r>
          </a:p>
          <a:p>
            <a:pPr lvl="2"/>
            <a:r>
              <a:rPr lang="en-US" sz="1400" dirty="0">
                <a:sym typeface="Symbol" pitchFamily="-112" charset="2"/>
              </a:rPr>
              <a:t>Targets conflict misses</a:t>
            </a:r>
          </a:p>
          <a:p>
            <a:pPr lvl="1"/>
            <a:r>
              <a:rPr lang="en-US" sz="1600" dirty="0">
                <a:sym typeface="Symbol" pitchFamily="-112" charset="2"/>
              </a:rPr>
              <a:t>In case of cache miss the data may be found quickly in the victim cache</a:t>
            </a:r>
          </a:p>
          <a:p>
            <a:pPr lvl="1"/>
            <a:r>
              <a:rPr lang="en-US" sz="1600" dirty="0">
                <a:sym typeface="Symbol" pitchFamily="-112" charset="2"/>
              </a:rPr>
              <a:t>Typically 8-32 entries, fully-associative</a:t>
            </a:r>
          </a:p>
          <a:p>
            <a:pPr lvl="1"/>
            <a:r>
              <a:rPr lang="en-US" sz="1600" dirty="0">
                <a:sym typeface="Symbol" pitchFamily="-112" charset="2"/>
              </a:rPr>
              <a:t>Access victim cache in series or in parallel with main cache: trade-off?</a:t>
            </a:r>
          </a:p>
        </p:txBody>
      </p:sp>
      <p:grpSp>
        <p:nvGrpSpPr>
          <p:cNvPr id="477190" name="Group 7"/>
          <p:cNvGrpSpPr>
            <a:grpSpLocks/>
          </p:cNvGrpSpPr>
          <p:nvPr/>
        </p:nvGrpSpPr>
        <p:grpSpPr bwMode="auto">
          <a:xfrm>
            <a:off x="1600200" y="3581400"/>
            <a:ext cx="654050" cy="533400"/>
            <a:chOff x="432" y="2784"/>
            <a:chExt cx="412" cy="336"/>
          </a:xfrm>
        </p:grpSpPr>
        <p:sp>
          <p:nvSpPr>
            <p:cNvPr id="477226" name="Oval 5"/>
            <p:cNvSpPr>
              <a:spLocks noChangeArrowheads="1"/>
            </p:cNvSpPr>
            <p:nvPr/>
          </p:nvSpPr>
          <p:spPr bwMode="auto">
            <a:xfrm>
              <a:off x="446" y="2784"/>
              <a:ext cx="384" cy="33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7227" name="Text Box 6"/>
            <p:cNvSpPr txBox="1">
              <a:spLocks noChangeArrowheads="1"/>
            </p:cNvSpPr>
            <p:nvPr/>
          </p:nvSpPr>
          <p:spPr bwMode="auto">
            <a:xfrm>
              <a:off x="432" y="2832"/>
              <a:ext cx="412" cy="231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GB" sz="1800"/>
                <a:t>CPU</a:t>
              </a:r>
              <a:endParaRPr lang="en-GB" sz="1800">
                <a:solidFill>
                  <a:srgbClr val="FF0000"/>
                </a:solidFill>
              </a:endParaRPr>
            </a:p>
          </p:txBody>
        </p:sp>
      </p:grpSp>
      <p:sp>
        <p:nvSpPr>
          <p:cNvPr id="477191" name="Rectangle 8"/>
          <p:cNvSpPr>
            <a:spLocks noChangeArrowheads="1"/>
          </p:cNvSpPr>
          <p:nvPr/>
        </p:nvSpPr>
        <p:spPr bwMode="auto">
          <a:xfrm>
            <a:off x="2971800" y="4419600"/>
            <a:ext cx="381000" cy="8382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7192" name="Rectangle 9"/>
          <p:cNvSpPr>
            <a:spLocks noChangeArrowheads="1"/>
          </p:cNvSpPr>
          <p:nvPr/>
        </p:nvSpPr>
        <p:spPr bwMode="auto">
          <a:xfrm>
            <a:off x="3352800" y="4419600"/>
            <a:ext cx="685800" cy="8382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7193" name="Text Box 10"/>
          <p:cNvSpPr txBox="1">
            <a:spLocks noChangeArrowheads="1"/>
          </p:cNvSpPr>
          <p:nvPr/>
        </p:nvSpPr>
        <p:spPr bwMode="auto">
          <a:xfrm>
            <a:off x="2971800" y="4038600"/>
            <a:ext cx="1035050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GB" sz="1800"/>
              <a:t>L1 cache</a:t>
            </a:r>
            <a:endParaRPr lang="en-GB" sz="1800">
              <a:solidFill>
                <a:srgbClr val="FF0000"/>
              </a:solidFill>
            </a:endParaRPr>
          </a:p>
        </p:txBody>
      </p:sp>
      <p:sp>
        <p:nvSpPr>
          <p:cNvPr id="477194" name="Text Box 11"/>
          <p:cNvSpPr txBox="1">
            <a:spLocks noChangeArrowheads="1"/>
          </p:cNvSpPr>
          <p:nvPr/>
        </p:nvSpPr>
        <p:spPr bwMode="auto">
          <a:xfrm>
            <a:off x="2895600" y="4648200"/>
            <a:ext cx="488950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GB" sz="1800"/>
              <a:t>tag</a:t>
            </a:r>
            <a:endParaRPr lang="en-GB" sz="1800">
              <a:solidFill>
                <a:srgbClr val="FF0000"/>
              </a:solidFill>
            </a:endParaRPr>
          </a:p>
        </p:txBody>
      </p:sp>
      <p:sp>
        <p:nvSpPr>
          <p:cNvPr id="477195" name="Text Box 12"/>
          <p:cNvSpPr txBox="1">
            <a:spLocks noChangeArrowheads="1"/>
          </p:cNvSpPr>
          <p:nvPr/>
        </p:nvSpPr>
        <p:spPr bwMode="auto">
          <a:xfrm>
            <a:off x="3429000" y="4648200"/>
            <a:ext cx="600075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GB" sz="1800"/>
              <a:t>data</a:t>
            </a:r>
            <a:endParaRPr lang="en-GB" sz="1800">
              <a:solidFill>
                <a:srgbClr val="FF0000"/>
              </a:solidFill>
            </a:endParaRPr>
          </a:p>
        </p:txBody>
      </p:sp>
      <p:sp>
        <p:nvSpPr>
          <p:cNvPr id="477196" name="Rectangle 13"/>
          <p:cNvSpPr>
            <a:spLocks noChangeArrowheads="1"/>
          </p:cNvSpPr>
          <p:nvPr/>
        </p:nvSpPr>
        <p:spPr bwMode="auto">
          <a:xfrm>
            <a:off x="5105400" y="4419600"/>
            <a:ext cx="381000" cy="3048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7197" name="Rectangle 14"/>
          <p:cNvSpPr>
            <a:spLocks noChangeArrowheads="1"/>
          </p:cNvSpPr>
          <p:nvPr/>
        </p:nvSpPr>
        <p:spPr bwMode="auto">
          <a:xfrm>
            <a:off x="5486400" y="4419600"/>
            <a:ext cx="685800" cy="3048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7198" name="Text Box 15"/>
          <p:cNvSpPr txBox="1">
            <a:spLocks noChangeArrowheads="1"/>
          </p:cNvSpPr>
          <p:nvPr/>
        </p:nvSpPr>
        <p:spPr bwMode="auto">
          <a:xfrm>
            <a:off x="4876800" y="4038600"/>
            <a:ext cx="1450975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GB" sz="1800"/>
              <a:t>Victim cache</a:t>
            </a:r>
            <a:endParaRPr lang="en-GB" sz="1800">
              <a:solidFill>
                <a:srgbClr val="FF0000"/>
              </a:solidFill>
            </a:endParaRPr>
          </a:p>
        </p:txBody>
      </p:sp>
      <p:sp>
        <p:nvSpPr>
          <p:cNvPr id="477199" name="Text Box 16"/>
          <p:cNvSpPr txBox="1">
            <a:spLocks noChangeArrowheads="1"/>
          </p:cNvSpPr>
          <p:nvPr/>
        </p:nvSpPr>
        <p:spPr bwMode="auto">
          <a:xfrm>
            <a:off x="5029200" y="4343400"/>
            <a:ext cx="488950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GB" sz="1800"/>
              <a:t>tag</a:t>
            </a:r>
            <a:endParaRPr lang="en-GB" sz="1800">
              <a:solidFill>
                <a:srgbClr val="FF0000"/>
              </a:solidFill>
            </a:endParaRPr>
          </a:p>
        </p:txBody>
      </p:sp>
      <p:sp>
        <p:nvSpPr>
          <p:cNvPr id="477200" name="Text Box 17"/>
          <p:cNvSpPr txBox="1">
            <a:spLocks noChangeArrowheads="1"/>
          </p:cNvSpPr>
          <p:nvPr/>
        </p:nvSpPr>
        <p:spPr bwMode="auto">
          <a:xfrm>
            <a:off x="5562600" y="4343400"/>
            <a:ext cx="600075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GB" sz="1800"/>
              <a:t>data</a:t>
            </a:r>
            <a:endParaRPr lang="en-GB" sz="1800">
              <a:solidFill>
                <a:srgbClr val="FF0000"/>
              </a:solidFill>
            </a:endParaRPr>
          </a:p>
        </p:txBody>
      </p:sp>
      <p:grpSp>
        <p:nvGrpSpPr>
          <p:cNvPr id="477201" name="Group 21"/>
          <p:cNvGrpSpPr>
            <a:grpSpLocks/>
          </p:cNvGrpSpPr>
          <p:nvPr/>
        </p:nvGrpSpPr>
        <p:grpSpPr bwMode="auto">
          <a:xfrm>
            <a:off x="3048000" y="5562600"/>
            <a:ext cx="304800" cy="366713"/>
            <a:chOff x="3936" y="2932"/>
            <a:chExt cx="192" cy="231"/>
          </a:xfrm>
        </p:grpSpPr>
        <p:sp>
          <p:nvSpPr>
            <p:cNvPr id="477224" name="Oval 22"/>
            <p:cNvSpPr>
              <a:spLocks noChangeArrowheads="1"/>
            </p:cNvSpPr>
            <p:nvPr/>
          </p:nvSpPr>
          <p:spPr bwMode="auto">
            <a:xfrm>
              <a:off x="3936" y="2952"/>
              <a:ext cx="192" cy="192"/>
            </a:xfrm>
            <a:prstGeom prst="ellipse">
              <a:avLst/>
            </a:prstGeom>
            <a:solidFill>
              <a:srgbClr val="FF0000">
                <a:alpha val="30196"/>
              </a:srgbClr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7225" name="Text Box 23"/>
            <p:cNvSpPr txBox="1">
              <a:spLocks noChangeArrowheads="1"/>
            </p:cNvSpPr>
            <p:nvPr/>
          </p:nvSpPr>
          <p:spPr bwMode="auto">
            <a:xfrm>
              <a:off x="3944" y="2932"/>
              <a:ext cx="176" cy="231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GB" sz="1800"/>
                <a:t>?</a:t>
              </a:r>
              <a:endParaRPr lang="en-GB" sz="1800">
                <a:solidFill>
                  <a:srgbClr val="FF0000"/>
                </a:solidFill>
              </a:endParaRPr>
            </a:p>
          </p:txBody>
        </p:sp>
      </p:grpSp>
      <p:sp>
        <p:nvSpPr>
          <p:cNvPr id="477202" name="Line 24"/>
          <p:cNvSpPr>
            <a:spLocks noChangeShapeType="1"/>
          </p:cNvSpPr>
          <p:nvPr/>
        </p:nvSpPr>
        <p:spPr bwMode="auto">
          <a:xfrm flipH="1">
            <a:off x="2667000" y="4724400"/>
            <a:ext cx="304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none" w="sm" len="sm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7203" name="Line 25"/>
          <p:cNvSpPr>
            <a:spLocks noChangeShapeType="1"/>
          </p:cNvSpPr>
          <p:nvPr/>
        </p:nvSpPr>
        <p:spPr bwMode="auto">
          <a:xfrm flipH="1">
            <a:off x="4800600" y="4572000"/>
            <a:ext cx="304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none" w="sm" len="sm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7204" name="Line 26"/>
          <p:cNvSpPr>
            <a:spLocks noChangeShapeType="1"/>
          </p:cNvSpPr>
          <p:nvPr/>
        </p:nvSpPr>
        <p:spPr bwMode="auto">
          <a:xfrm>
            <a:off x="2209800" y="3886200"/>
            <a:ext cx="4648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7205" name="Text Box 27"/>
          <p:cNvSpPr txBox="1">
            <a:spLocks noChangeArrowheads="1"/>
          </p:cNvSpPr>
          <p:nvPr/>
        </p:nvSpPr>
        <p:spPr bwMode="auto">
          <a:xfrm>
            <a:off x="2286000" y="3581400"/>
            <a:ext cx="1793875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GB" sz="1800"/>
              <a:t>Memory address</a:t>
            </a:r>
            <a:endParaRPr lang="en-GB" sz="1800">
              <a:solidFill>
                <a:srgbClr val="FF0000"/>
              </a:solidFill>
            </a:endParaRPr>
          </a:p>
        </p:txBody>
      </p:sp>
      <p:sp>
        <p:nvSpPr>
          <p:cNvPr id="477206" name="Line 28"/>
          <p:cNvSpPr>
            <a:spLocks noChangeShapeType="1"/>
          </p:cNvSpPr>
          <p:nvPr/>
        </p:nvSpPr>
        <p:spPr bwMode="auto">
          <a:xfrm flipV="1">
            <a:off x="2667000" y="3886200"/>
            <a:ext cx="0" cy="1828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7207" name="Line 30"/>
          <p:cNvSpPr>
            <a:spLocks noChangeShapeType="1"/>
          </p:cNvSpPr>
          <p:nvPr/>
        </p:nvSpPr>
        <p:spPr bwMode="auto">
          <a:xfrm rot="5400000" flipH="1">
            <a:off x="3048000" y="5410200"/>
            <a:ext cx="304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none" w="sm" len="sm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7208" name="Line 31"/>
          <p:cNvSpPr>
            <a:spLocks noChangeShapeType="1"/>
          </p:cNvSpPr>
          <p:nvPr/>
        </p:nvSpPr>
        <p:spPr bwMode="auto">
          <a:xfrm flipH="1">
            <a:off x="2667000" y="5715000"/>
            <a:ext cx="381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none" w="sm" len="sm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7209" name="Line 32"/>
          <p:cNvSpPr>
            <a:spLocks noChangeShapeType="1"/>
          </p:cNvSpPr>
          <p:nvPr/>
        </p:nvSpPr>
        <p:spPr bwMode="auto">
          <a:xfrm flipV="1">
            <a:off x="4800600" y="3886200"/>
            <a:ext cx="0" cy="1295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477210" name="Group 33"/>
          <p:cNvGrpSpPr>
            <a:grpSpLocks/>
          </p:cNvGrpSpPr>
          <p:nvPr/>
        </p:nvGrpSpPr>
        <p:grpSpPr bwMode="auto">
          <a:xfrm>
            <a:off x="5181600" y="5029200"/>
            <a:ext cx="304800" cy="366713"/>
            <a:chOff x="3936" y="2932"/>
            <a:chExt cx="192" cy="231"/>
          </a:xfrm>
        </p:grpSpPr>
        <p:sp>
          <p:nvSpPr>
            <p:cNvPr id="477222" name="Oval 34"/>
            <p:cNvSpPr>
              <a:spLocks noChangeArrowheads="1"/>
            </p:cNvSpPr>
            <p:nvPr/>
          </p:nvSpPr>
          <p:spPr bwMode="auto">
            <a:xfrm>
              <a:off x="3936" y="2952"/>
              <a:ext cx="192" cy="192"/>
            </a:xfrm>
            <a:prstGeom prst="ellipse">
              <a:avLst/>
            </a:prstGeom>
            <a:solidFill>
              <a:srgbClr val="FF0000">
                <a:alpha val="30196"/>
              </a:srgbClr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7223" name="Text Box 35"/>
            <p:cNvSpPr txBox="1">
              <a:spLocks noChangeArrowheads="1"/>
            </p:cNvSpPr>
            <p:nvPr/>
          </p:nvSpPr>
          <p:spPr bwMode="auto">
            <a:xfrm>
              <a:off x="3944" y="2932"/>
              <a:ext cx="176" cy="231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GB" sz="1800"/>
                <a:t>?</a:t>
              </a:r>
              <a:endParaRPr lang="en-GB" sz="1800">
                <a:solidFill>
                  <a:srgbClr val="FF0000"/>
                </a:solidFill>
              </a:endParaRPr>
            </a:p>
          </p:txBody>
        </p:sp>
      </p:grpSp>
      <p:sp>
        <p:nvSpPr>
          <p:cNvPr id="477211" name="Line 36"/>
          <p:cNvSpPr>
            <a:spLocks noChangeShapeType="1"/>
          </p:cNvSpPr>
          <p:nvPr/>
        </p:nvSpPr>
        <p:spPr bwMode="auto">
          <a:xfrm rot="5400000" flipH="1">
            <a:off x="5181600" y="4876800"/>
            <a:ext cx="304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none" w="sm" len="sm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7212" name="Line 37"/>
          <p:cNvSpPr>
            <a:spLocks noChangeShapeType="1"/>
          </p:cNvSpPr>
          <p:nvPr/>
        </p:nvSpPr>
        <p:spPr bwMode="auto">
          <a:xfrm flipH="1">
            <a:off x="4800600" y="5181600"/>
            <a:ext cx="381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none" w="sm" len="sm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7213" name="Line 38"/>
          <p:cNvSpPr>
            <a:spLocks noChangeShapeType="1"/>
          </p:cNvSpPr>
          <p:nvPr/>
        </p:nvSpPr>
        <p:spPr bwMode="auto">
          <a:xfrm>
            <a:off x="3657600" y="5257800"/>
            <a:ext cx="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7214" name="Line 39"/>
          <p:cNvSpPr>
            <a:spLocks noChangeShapeType="1"/>
          </p:cNvSpPr>
          <p:nvPr/>
        </p:nvSpPr>
        <p:spPr bwMode="auto">
          <a:xfrm flipH="1">
            <a:off x="1905000" y="6096000"/>
            <a:ext cx="1752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7215" name="Line 40"/>
          <p:cNvSpPr>
            <a:spLocks noChangeShapeType="1"/>
          </p:cNvSpPr>
          <p:nvPr/>
        </p:nvSpPr>
        <p:spPr bwMode="auto">
          <a:xfrm flipV="1">
            <a:off x="1905000" y="4114800"/>
            <a:ext cx="0" cy="1981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7216" name="Line 41"/>
          <p:cNvSpPr>
            <a:spLocks noChangeShapeType="1"/>
          </p:cNvSpPr>
          <p:nvPr/>
        </p:nvSpPr>
        <p:spPr bwMode="auto">
          <a:xfrm>
            <a:off x="5867400" y="4724400"/>
            <a:ext cx="0" cy="1066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none" w="sm" len="sm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7217" name="Line 42"/>
          <p:cNvSpPr>
            <a:spLocks noChangeShapeType="1"/>
          </p:cNvSpPr>
          <p:nvPr/>
        </p:nvSpPr>
        <p:spPr bwMode="auto">
          <a:xfrm flipH="1">
            <a:off x="4495800" y="5791200"/>
            <a:ext cx="1371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7218" name="Line 43"/>
          <p:cNvSpPr>
            <a:spLocks noChangeShapeType="1"/>
          </p:cNvSpPr>
          <p:nvPr/>
        </p:nvSpPr>
        <p:spPr bwMode="auto">
          <a:xfrm flipV="1">
            <a:off x="4495800" y="4876800"/>
            <a:ext cx="0" cy="914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7219" name="Line 44"/>
          <p:cNvSpPr>
            <a:spLocks noChangeShapeType="1"/>
          </p:cNvSpPr>
          <p:nvPr/>
        </p:nvSpPr>
        <p:spPr bwMode="auto">
          <a:xfrm flipH="1">
            <a:off x="4038600" y="4876800"/>
            <a:ext cx="457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7220" name="AutoShape 46"/>
          <p:cNvSpPr>
            <a:spLocks noChangeArrowheads="1"/>
          </p:cNvSpPr>
          <p:nvPr/>
        </p:nvSpPr>
        <p:spPr bwMode="auto">
          <a:xfrm>
            <a:off x="6858000" y="3657600"/>
            <a:ext cx="990600" cy="914400"/>
          </a:xfrm>
          <a:prstGeom prst="roundRect">
            <a:avLst>
              <a:gd name="adj" fmla="val 16667"/>
            </a:avLst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7221" name="Text Box 47"/>
          <p:cNvSpPr txBox="1">
            <a:spLocks noChangeArrowheads="1"/>
          </p:cNvSpPr>
          <p:nvPr/>
        </p:nvSpPr>
        <p:spPr bwMode="auto">
          <a:xfrm>
            <a:off x="6859588" y="3810000"/>
            <a:ext cx="982662" cy="6413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/>
            <a:r>
              <a:rPr lang="en-GB" sz="1800"/>
              <a:t>Main</a:t>
            </a:r>
          </a:p>
          <a:p>
            <a:pPr algn="ctr"/>
            <a:r>
              <a:rPr lang="en-GB" sz="1800"/>
              <a:t>memory</a:t>
            </a:r>
            <a:endParaRPr lang="en-GB" sz="180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8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CS/ECE 6810 Computer Architecture</a:t>
            </a:r>
            <a:endParaRPr lang="en-US" sz="1400" dirty="0">
              <a:latin typeface="Garamond" pitchFamily="-112" charset="0"/>
            </a:endParaRPr>
          </a:p>
        </p:txBody>
      </p:sp>
      <p:sp>
        <p:nvSpPr>
          <p:cNvPr id="2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3834345-9C9B-A046-B957-F0623146EF94}" type="slidenum">
              <a:rPr lang="en-US"/>
              <a:pPr>
                <a:defRPr/>
              </a:pPr>
              <a:t>18</a:t>
            </a:fld>
            <a:endParaRPr lang="en-US">
              <a:latin typeface="Garamond" pitchFamily="-112" charset="0"/>
            </a:endParaRPr>
          </a:p>
        </p:txBody>
      </p:sp>
      <p:sp>
        <p:nvSpPr>
          <p:cNvPr id="47923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/>
              <a:t>Reducing Cache Miss Penalty</a:t>
            </a:r>
            <a:endParaRPr lang="en-US" sz="900"/>
          </a:p>
        </p:txBody>
      </p:sp>
      <p:sp>
        <p:nvSpPr>
          <p:cNvPr id="47923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507288" cy="5022304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/>
              <a:t>Technique 2: giving priority to reads over writes</a:t>
            </a:r>
          </a:p>
          <a:p>
            <a:pPr lvl="1"/>
            <a:r>
              <a:rPr lang="en-US" sz="1600" dirty="0"/>
              <a:t>The value of a a load is likely to be used soon (i.e., dependent </a:t>
            </a:r>
            <a:r>
              <a:rPr lang="en-US" sz="1600" dirty="0" err="1"/>
              <a:t>inst</a:t>
            </a:r>
            <a:r>
              <a:rPr lang="en-US" sz="1600" dirty="0"/>
              <a:t> may stall), while writes are “fire-and-forget”</a:t>
            </a:r>
          </a:p>
          <a:p>
            <a:pPr lvl="2"/>
            <a:r>
              <a:rPr lang="en-US" sz="1500" dirty="0"/>
              <a:t>Insight: writes are “off the critical path” and their latency doesn’t usually matter. Thus, don’t stall for writes!</a:t>
            </a:r>
          </a:p>
          <a:p>
            <a:pPr lvl="1">
              <a:spcBef>
                <a:spcPts val="984"/>
              </a:spcBef>
            </a:pPr>
            <a:r>
              <a:rPr lang="en-US" sz="1600" dirty="0"/>
              <a:t>Idea: place write misses in a </a:t>
            </a:r>
            <a:r>
              <a:rPr lang="en-US" sz="1600" b="1" dirty="0">
                <a:solidFill>
                  <a:srgbClr val="FF0000"/>
                </a:solidFill>
              </a:rPr>
              <a:t>write buffer</a:t>
            </a:r>
            <a:r>
              <a:rPr lang="en-US" sz="1600" dirty="0"/>
              <a:t>, and let read misses overtake writes</a:t>
            </a:r>
          </a:p>
          <a:p>
            <a:pPr lvl="2"/>
            <a:r>
              <a:rPr lang="en-US" sz="1500" dirty="0"/>
              <a:t>Flush the writes from the write buffer when pipeline is idle or when buffer full</a:t>
            </a:r>
          </a:p>
          <a:p>
            <a:pPr lvl="1">
              <a:spcBef>
                <a:spcPts val="984"/>
              </a:spcBef>
            </a:pPr>
            <a:r>
              <a:rPr lang="en-US" sz="1600" dirty="0"/>
              <a:t>Reads to the memory address of a pending write in the buffer now become hits in the buffer:</a:t>
            </a:r>
          </a:p>
        </p:txBody>
      </p:sp>
      <p:sp>
        <p:nvSpPr>
          <p:cNvPr id="479238" name="Text Box 11"/>
          <p:cNvSpPr txBox="1">
            <a:spLocks noChangeArrowheads="1"/>
          </p:cNvSpPr>
          <p:nvPr/>
        </p:nvSpPr>
        <p:spPr bwMode="auto">
          <a:xfrm>
            <a:off x="3048000" y="4188420"/>
            <a:ext cx="1693863" cy="58102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GB" sz="1600" dirty="0"/>
              <a:t>1. write miss goes</a:t>
            </a:r>
          </a:p>
          <a:p>
            <a:r>
              <a:rPr lang="en-GB" sz="1600" dirty="0"/>
              <a:t>into write buffer</a:t>
            </a:r>
            <a:endParaRPr lang="en-GB" sz="1600" dirty="0">
              <a:solidFill>
                <a:srgbClr val="FF0000"/>
              </a:solidFill>
            </a:endParaRPr>
          </a:p>
        </p:txBody>
      </p:sp>
      <p:sp>
        <p:nvSpPr>
          <p:cNvPr id="479239" name="Text Box 12"/>
          <p:cNvSpPr txBox="1">
            <a:spLocks noChangeArrowheads="1"/>
          </p:cNvSpPr>
          <p:nvPr/>
        </p:nvSpPr>
        <p:spPr bwMode="auto">
          <a:xfrm>
            <a:off x="397024" y="4569420"/>
            <a:ext cx="2590800" cy="10064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en-GB" sz="2000" dirty="0" err="1">
                <a:solidFill>
                  <a:srgbClr val="FF0000"/>
                </a:solidFill>
                <a:latin typeface="Lucida Console" pitchFamily="-112" charset="0"/>
              </a:rPr>
              <a:t>sw</a:t>
            </a:r>
            <a:r>
              <a:rPr lang="en-GB" sz="2000" dirty="0">
                <a:solidFill>
                  <a:srgbClr val="FF0000"/>
                </a:solidFill>
                <a:latin typeface="Lucida Console" pitchFamily="-112" charset="0"/>
              </a:rPr>
              <a:t> 512(r0), r3</a:t>
            </a:r>
          </a:p>
          <a:p>
            <a:r>
              <a:rPr lang="en-GB" sz="2000" dirty="0">
                <a:solidFill>
                  <a:srgbClr val="FF0000"/>
                </a:solidFill>
                <a:latin typeface="Lucida Console" pitchFamily="-112" charset="0"/>
              </a:rPr>
              <a:t>…</a:t>
            </a:r>
          </a:p>
          <a:p>
            <a:r>
              <a:rPr lang="en-GB" sz="2000" dirty="0" err="1">
                <a:solidFill>
                  <a:srgbClr val="FF0000"/>
                </a:solidFill>
                <a:latin typeface="Lucida Console" pitchFamily="-112" charset="0"/>
              </a:rPr>
              <a:t>lw</a:t>
            </a:r>
            <a:r>
              <a:rPr lang="en-GB" sz="2000" dirty="0">
                <a:solidFill>
                  <a:srgbClr val="FF0000"/>
                </a:solidFill>
                <a:latin typeface="Lucida Console" pitchFamily="-112" charset="0"/>
              </a:rPr>
              <a:t> r2, 512(0)</a:t>
            </a:r>
          </a:p>
        </p:txBody>
      </p:sp>
      <p:sp>
        <p:nvSpPr>
          <p:cNvPr id="479254" name="Line 27"/>
          <p:cNvSpPr>
            <a:spLocks noChangeShapeType="1"/>
          </p:cNvSpPr>
          <p:nvPr/>
        </p:nvSpPr>
        <p:spPr bwMode="auto">
          <a:xfrm>
            <a:off x="2895600" y="4798020"/>
            <a:ext cx="259080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9255" name="Line 28"/>
          <p:cNvSpPr>
            <a:spLocks noChangeShapeType="1"/>
          </p:cNvSpPr>
          <p:nvPr/>
        </p:nvSpPr>
        <p:spPr bwMode="auto">
          <a:xfrm flipV="1">
            <a:off x="2743200" y="5026620"/>
            <a:ext cx="274320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none" w="sm" len="sm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9256" name="Text Box 29"/>
          <p:cNvSpPr txBox="1">
            <a:spLocks noChangeArrowheads="1"/>
          </p:cNvSpPr>
          <p:nvPr/>
        </p:nvSpPr>
        <p:spPr bwMode="auto">
          <a:xfrm>
            <a:off x="2895600" y="5483820"/>
            <a:ext cx="2711450" cy="8255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GB" sz="1600" dirty="0"/>
              <a:t>2. read hits in the write buffer</a:t>
            </a:r>
          </a:p>
          <a:p>
            <a:r>
              <a:rPr lang="en-GB" sz="1600" dirty="0"/>
              <a:t>and gets the value from the </a:t>
            </a:r>
          </a:p>
          <a:p>
            <a:r>
              <a:rPr lang="en-GB" sz="1600" dirty="0"/>
              <a:t>previous write</a:t>
            </a:r>
            <a:endParaRPr lang="en-GB" sz="1600" dirty="0">
              <a:solidFill>
                <a:srgbClr val="FF0000"/>
              </a:solidFill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5638800" y="3807420"/>
            <a:ext cx="2438400" cy="2305110"/>
            <a:chOff x="5638800" y="3807420"/>
            <a:chExt cx="2438400" cy="2305110"/>
          </a:xfrm>
        </p:grpSpPr>
        <p:sp>
          <p:nvSpPr>
            <p:cNvPr id="479240" name="Rectangle 13"/>
            <p:cNvSpPr>
              <a:spLocks noChangeArrowheads="1"/>
            </p:cNvSpPr>
            <p:nvPr/>
          </p:nvSpPr>
          <p:spPr bwMode="auto">
            <a:xfrm>
              <a:off x="5638800" y="4417020"/>
              <a:ext cx="2438400" cy="3810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9241" name="Text Box 14"/>
            <p:cNvSpPr txBox="1">
              <a:spLocks noChangeArrowheads="1"/>
            </p:cNvSpPr>
            <p:nvPr/>
          </p:nvSpPr>
          <p:spPr bwMode="auto">
            <a:xfrm>
              <a:off x="5715000" y="3807420"/>
              <a:ext cx="982663" cy="64135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GB" sz="1800"/>
                <a:t>memory</a:t>
              </a:r>
            </a:p>
            <a:p>
              <a:r>
                <a:rPr lang="en-GB" sz="1800"/>
                <a:t>address</a:t>
              </a:r>
              <a:endParaRPr lang="en-GB" sz="1800">
                <a:solidFill>
                  <a:srgbClr val="FF0000"/>
                </a:solidFill>
              </a:endParaRPr>
            </a:p>
          </p:txBody>
        </p:sp>
        <p:sp>
          <p:nvSpPr>
            <p:cNvPr id="479242" name="Text Box 15"/>
            <p:cNvSpPr txBox="1">
              <a:spLocks noChangeArrowheads="1"/>
            </p:cNvSpPr>
            <p:nvPr/>
          </p:nvSpPr>
          <p:spPr bwMode="auto">
            <a:xfrm>
              <a:off x="7162800" y="4036020"/>
              <a:ext cx="692150" cy="366713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GB" sz="1800"/>
                <a:t>value</a:t>
              </a:r>
              <a:endParaRPr lang="en-GB" sz="1800">
                <a:solidFill>
                  <a:srgbClr val="FF0000"/>
                </a:solidFill>
              </a:endParaRPr>
            </a:p>
          </p:txBody>
        </p:sp>
        <p:sp>
          <p:nvSpPr>
            <p:cNvPr id="479243" name="Line 16"/>
            <p:cNvSpPr>
              <a:spLocks noChangeShapeType="1"/>
            </p:cNvSpPr>
            <p:nvPr/>
          </p:nvSpPr>
          <p:spPr bwMode="auto">
            <a:xfrm>
              <a:off x="6934200" y="4417020"/>
              <a:ext cx="0" cy="381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9244" name="Rectangle 17"/>
            <p:cNvSpPr>
              <a:spLocks noChangeArrowheads="1"/>
            </p:cNvSpPr>
            <p:nvPr/>
          </p:nvSpPr>
          <p:spPr bwMode="auto">
            <a:xfrm>
              <a:off x="5638800" y="4798020"/>
              <a:ext cx="2438400" cy="3810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9245" name="Line 18"/>
            <p:cNvSpPr>
              <a:spLocks noChangeShapeType="1"/>
            </p:cNvSpPr>
            <p:nvPr/>
          </p:nvSpPr>
          <p:spPr bwMode="auto">
            <a:xfrm>
              <a:off x="6934200" y="4798020"/>
              <a:ext cx="0" cy="381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9246" name="Rectangle 19"/>
            <p:cNvSpPr>
              <a:spLocks noChangeArrowheads="1"/>
            </p:cNvSpPr>
            <p:nvPr/>
          </p:nvSpPr>
          <p:spPr bwMode="auto">
            <a:xfrm>
              <a:off x="5638800" y="5179020"/>
              <a:ext cx="2438400" cy="3810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9247" name="Line 20"/>
            <p:cNvSpPr>
              <a:spLocks noChangeShapeType="1"/>
            </p:cNvSpPr>
            <p:nvPr/>
          </p:nvSpPr>
          <p:spPr bwMode="auto">
            <a:xfrm>
              <a:off x="6934200" y="5179020"/>
              <a:ext cx="0" cy="381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9248" name="Text Box 21"/>
            <p:cNvSpPr txBox="1">
              <a:spLocks noChangeArrowheads="1"/>
            </p:cNvSpPr>
            <p:nvPr/>
          </p:nvSpPr>
          <p:spPr bwMode="auto">
            <a:xfrm>
              <a:off x="6019800" y="4798020"/>
              <a:ext cx="488950" cy="366713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GB" sz="1800"/>
                <a:t>512</a:t>
              </a:r>
              <a:endParaRPr lang="en-GB" sz="1800">
                <a:solidFill>
                  <a:srgbClr val="FF0000"/>
                </a:solidFill>
              </a:endParaRPr>
            </a:p>
          </p:txBody>
        </p:sp>
        <p:sp>
          <p:nvSpPr>
            <p:cNvPr id="479249" name="Text Box 22"/>
            <p:cNvSpPr txBox="1">
              <a:spLocks noChangeArrowheads="1"/>
            </p:cNvSpPr>
            <p:nvPr/>
          </p:nvSpPr>
          <p:spPr bwMode="auto">
            <a:xfrm>
              <a:off x="7162800" y="4798020"/>
              <a:ext cx="696913" cy="366713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GB" sz="1800"/>
                <a:t>R[r3]</a:t>
              </a:r>
              <a:endParaRPr lang="en-GB" sz="1800">
                <a:solidFill>
                  <a:srgbClr val="FF0000"/>
                </a:solidFill>
              </a:endParaRPr>
            </a:p>
          </p:txBody>
        </p:sp>
        <p:sp>
          <p:nvSpPr>
            <p:cNvPr id="479250" name="Text Box 23"/>
            <p:cNvSpPr txBox="1">
              <a:spLocks noChangeArrowheads="1"/>
            </p:cNvSpPr>
            <p:nvPr/>
          </p:nvSpPr>
          <p:spPr bwMode="auto">
            <a:xfrm>
              <a:off x="7239000" y="4417020"/>
              <a:ext cx="412750" cy="366713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GB" sz="1800"/>
                <a:t>…</a:t>
              </a:r>
              <a:endParaRPr lang="en-GB" sz="1800">
                <a:solidFill>
                  <a:srgbClr val="FF0000"/>
                </a:solidFill>
              </a:endParaRPr>
            </a:p>
          </p:txBody>
        </p:sp>
        <p:sp>
          <p:nvSpPr>
            <p:cNvPr id="479251" name="Text Box 24"/>
            <p:cNvSpPr txBox="1">
              <a:spLocks noChangeArrowheads="1"/>
            </p:cNvSpPr>
            <p:nvPr/>
          </p:nvSpPr>
          <p:spPr bwMode="auto">
            <a:xfrm>
              <a:off x="6019800" y="4417020"/>
              <a:ext cx="412750" cy="366713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GB" sz="1800"/>
                <a:t>…</a:t>
              </a:r>
              <a:endParaRPr lang="en-GB" sz="1800">
                <a:solidFill>
                  <a:srgbClr val="FF0000"/>
                </a:solidFill>
              </a:endParaRPr>
            </a:p>
          </p:txBody>
        </p:sp>
        <p:sp>
          <p:nvSpPr>
            <p:cNvPr id="479252" name="Text Box 25"/>
            <p:cNvSpPr txBox="1">
              <a:spLocks noChangeArrowheads="1"/>
            </p:cNvSpPr>
            <p:nvPr/>
          </p:nvSpPr>
          <p:spPr bwMode="auto">
            <a:xfrm>
              <a:off x="7239000" y="5179020"/>
              <a:ext cx="412750" cy="366713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GB" sz="1800"/>
                <a:t>…</a:t>
              </a:r>
              <a:endParaRPr lang="en-GB" sz="1800">
                <a:solidFill>
                  <a:srgbClr val="FF0000"/>
                </a:solidFill>
              </a:endParaRPr>
            </a:p>
          </p:txBody>
        </p:sp>
        <p:sp>
          <p:nvSpPr>
            <p:cNvPr id="479253" name="Text Box 26"/>
            <p:cNvSpPr txBox="1">
              <a:spLocks noChangeArrowheads="1"/>
            </p:cNvSpPr>
            <p:nvPr/>
          </p:nvSpPr>
          <p:spPr bwMode="auto">
            <a:xfrm>
              <a:off x="6019800" y="5179020"/>
              <a:ext cx="412750" cy="366713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GB" sz="1800"/>
                <a:t>…</a:t>
              </a:r>
              <a:endParaRPr lang="en-GB" sz="1800">
                <a:solidFill>
                  <a:srgbClr val="FF0000"/>
                </a:solidFill>
              </a:endParaRPr>
            </a:p>
          </p:txBody>
        </p:sp>
        <p:sp>
          <p:nvSpPr>
            <p:cNvPr id="479257" name="Text Box 30"/>
            <p:cNvSpPr txBox="1">
              <a:spLocks noChangeArrowheads="1"/>
            </p:cNvSpPr>
            <p:nvPr/>
          </p:nvSpPr>
          <p:spPr bwMode="auto">
            <a:xfrm>
              <a:off x="6248400" y="5712420"/>
              <a:ext cx="1455346" cy="40011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GB" sz="2000" dirty="0"/>
                <a:t>write buffer</a:t>
              </a:r>
              <a:endParaRPr lang="en-GB" sz="2000" dirty="0"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9238" grpId="0"/>
      <p:bldP spid="479239" grpId="0"/>
      <p:bldP spid="479254" grpId="0" animBg="1"/>
      <p:bldP spid="479255" grpId="0" animBg="1"/>
      <p:bldP spid="47925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CS/ECE 6810 Computer Architecture</a:t>
            </a:r>
            <a:endParaRPr lang="en-US" sz="1400" dirty="0">
              <a:latin typeface="Garamond" pitchFamily="-112" charset="0"/>
            </a:endParaRPr>
          </a:p>
        </p:txBody>
      </p:sp>
      <p:sp>
        <p:nvSpPr>
          <p:cNvPr id="50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7846B9B-FB63-6647-9B40-B401BE5AAAD8}" type="slidenum">
              <a:rPr lang="en-US"/>
              <a:pPr>
                <a:defRPr/>
              </a:pPr>
              <a:t>19</a:t>
            </a:fld>
            <a:endParaRPr lang="en-US">
              <a:latin typeface="Garamond" pitchFamily="-112" charset="0"/>
            </a:endParaRPr>
          </a:p>
        </p:txBody>
      </p:sp>
      <p:sp>
        <p:nvSpPr>
          <p:cNvPr id="48128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/>
              <a:t>Reducing Cache Miss Penalty</a:t>
            </a:r>
            <a:endParaRPr lang="en-US" sz="900"/>
          </a:p>
        </p:txBody>
      </p:sp>
      <p:sp>
        <p:nvSpPr>
          <p:cNvPr id="48128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534400" cy="4343400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/>
              <a:t>Technique 3: early restart and critical word first</a:t>
            </a:r>
          </a:p>
          <a:p>
            <a:pPr lvl="1">
              <a:spcBef>
                <a:spcPts val="984"/>
              </a:spcBef>
            </a:pPr>
            <a:r>
              <a:rPr lang="en-US" sz="1800" dirty="0"/>
              <a:t>On a read miss, processor needs just the requested word (or byte) </a:t>
            </a:r>
          </a:p>
          <a:p>
            <a:pPr lvl="2"/>
            <a:r>
              <a:rPr lang="en-US" sz="1600" dirty="0"/>
              <a:t>but processor must wait until the whole block is brought into the cache</a:t>
            </a:r>
          </a:p>
          <a:p>
            <a:pPr lvl="1"/>
            <a:r>
              <a:rPr lang="en-US" sz="1800" b="1" dirty="0">
                <a:solidFill>
                  <a:srgbClr val="FF0000"/>
                </a:solidFill>
              </a:rPr>
              <a:t>Early restart</a:t>
            </a:r>
            <a:r>
              <a:rPr lang="en-US" sz="1800" dirty="0"/>
              <a:t>: as soon as the requested word arrives in the cache, send it to the processor </a:t>
            </a:r>
          </a:p>
          <a:p>
            <a:pPr lvl="2"/>
            <a:r>
              <a:rPr lang="en-US" sz="1600" dirty="0"/>
              <a:t>Meanwhile, continue reading the rest of the block into the cache</a:t>
            </a:r>
          </a:p>
        </p:txBody>
      </p:sp>
      <p:grpSp>
        <p:nvGrpSpPr>
          <p:cNvPr id="481286" name="Group 63"/>
          <p:cNvGrpSpPr>
            <a:grpSpLocks/>
          </p:cNvGrpSpPr>
          <p:nvPr/>
        </p:nvGrpSpPr>
        <p:grpSpPr bwMode="auto">
          <a:xfrm>
            <a:off x="2438400" y="3724423"/>
            <a:ext cx="654050" cy="533400"/>
            <a:chOff x="432" y="2784"/>
            <a:chExt cx="412" cy="336"/>
          </a:xfrm>
        </p:grpSpPr>
        <p:sp>
          <p:nvSpPr>
            <p:cNvPr id="481329" name="Oval 64"/>
            <p:cNvSpPr>
              <a:spLocks noChangeArrowheads="1"/>
            </p:cNvSpPr>
            <p:nvPr/>
          </p:nvSpPr>
          <p:spPr bwMode="auto">
            <a:xfrm>
              <a:off x="446" y="2784"/>
              <a:ext cx="384" cy="33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1330" name="Text Box 65"/>
            <p:cNvSpPr txBox="1">
              <a:spLocks noChangeArrowheads="1"/>
            </p:cNvSpPr>
            <p:nvPr/>
          </p:nvSpPr>
          <p:spPr bwMode="auto">
            <a:xfrm>
              <a:off x="432" y="2832"/>
              <a:ext cx="412" cy="231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GB" sz="1800"/>
                <a:t>CPU</a:t>
              </a:r>
              <a:endParaRPr lang="en-GB" sz="1800">
                <a:solidFill>
                  <a:srgbClr val="FF0000"/>
                </a:solidFill>
              </a:endParaRPr>
            </a:p>
          </p:txBody>
        </p:sp>
      </p:grpSp>
      <p:sp>
        <p:nvSpPr>
          <p:cNvPr id="481287" name="Rectangle 66"/>
          <p:cNvSpPr>
            <a:spLocks noChangeArrowheads="1"/>
          </p:cNvSpPr>
          <p:nvPr/>
        </p:nvSpPr>
        <p:spPr bwMode="auto">
          <a:xfrm>
            <a:off x="3810000" y="4562623"/>
            <a:ext cx="381000" cy="8382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81288" name="Rectangle 67"/>
          <p:cNvSpPr>
            <a:spLocks noChangeArrowheads="1"/>
          </p:cNvSpPr>
          <p:nvPr/>
        </p:nvSpPr>
        <p:spPr bwMode="auto">
          <a:xfrm>
            <a:off x="4191000" y="4562623"/>
            <a:ext cx="685800" cy="8382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81289" name="Text Box 68"/>
          <p:cNvSpPr txBox="1">
            <a:spLocks noChangeArrowheads="1"/>
          </p:cNvSpPr>
          <p:nvPr/>
        </p:nvSpPr>
        <p:spPr bwMode="auto">
          <a:xfrm>
            <a:off x="3810000" y="4181623"/>
            <a:ext cx="1035050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GB" sz="1800"/>
              <a:t>L1 cache</a:t>
            </a:r>
            <a:endParaRPr lang="en-GB" sz="1800">
              <a:solidFill>
                <a:srgbClr val="FF0000"/>
              </a:solidFill>
            </a:endParaRPr>
          </a:p>
        </p:txBody>
      </p:sp>
      <p:sp>
        <p:nvSpPr>
          <p:cNvPr id="481290" name="Text Box 69"/>
          <p:cNvSpPr txBox="1">
            <a:spLocks noChangeArrowheads="1"/>
          </p:cNvSpPr>
          <p:nvPr/>
        </p:nvSpPr>
        <p:spPr bwMode="auto">
          <a:xfrm>
            <a:off x="3733800" y="4791223"/>
            <a:ext cx="488950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GB" sz="1800"/>
              <a:t>tag</a:t>
            </a:r>
            <a:endParaRPr lang="en-GB" sz="1800">
              <a:solidFill>
                <a:srgbClr val="FF0000"/>
              </a:solidFill>
            </a:endParaRPr>
          </a:p>
        </p:txBody>
      </p:sp>
      <p:sp>
        <p:nvSpPr>
          <p:cNvPr id="481291" name="Text Box 70"/>
          <p:cNvSpPr txBox="1">
            <a:spLocks noChangeArrowheads="1"/>
          </p:cNvSpPr>
          <p:nvPr/>
        </p:nvSpPr>
        <p:spPr bwMode="auto">
          <a:xfrm>
            <a:off x="4267200" y="4791223"/>
            <a:ext cx="600075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GB" sz="1800"/>
              <a:t>data</a:t>
            </a:r>
            <a:endParaRPr lang="en-GB" sz="1800">
              <a:solidFill>
                <a:srgbClr val="FF0000"/>
              </a:solidFill>
            </a:endParaRPr>
          </a:p>
        </p:txBody>
      </p:sp>
      <p:grpSp>
        <p:nvGrpSpPr>
          <p:cNvPr id="481292" name="Group 76"/>
          <p:cNvGrpSpPr>
            <a:grpSpLocks/>
          </p:cNvGrpSpPr>
          <p:nvPr/>
        </p:nvGrpSpPr>
        <p:grpSpPr bwMode="auto">
          <a:xfrm>
            <a:off x="3886200" y="5705623"/>
            <a:ext cx="304800" cy="366713"/>
            <a:chOff x="3936" y="2932"/>
            <a:chExt cx="192" cy="231"/>
          </a:xfrm>
        </p:grpSpPr>
        <p:sp>
          <p:nvSpPr>
            <p:cNvPr id="481327" name="Oval 77"/>
            <p:cNvSpPr>
              <a:spLocks noChangeArrowheads="1"/>
            </p:cNvSpPr>
            <p:nvPr/>
          </p:nvSpPr>
          <p:spPr bwMode="auto">
            <a:xfrm>
              <a:off x="3936" y="2952"/>
              <a:ext cx="192" cy="192"/>
            </a:xfrm>
            <a:prstGeom prst="ellipse">
              <a:avLst/>
            </a:prstGeom>
            <a:solidFill>
              <a:srgbClr val="FF0000">
                <a:alpha val="30196"/>
              </a:srgbClr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1328" name="Text Box 78"/>
            <p:cNvSpPr txBox="1">
              <a:spLocks noChangeArrowheads="1"/>
            </p:cNvSpPr>
            <p:nvPr/>
          </p:nvSpPr>
          <p:spPr bwMode="auto">
            <a:xfrm>
              <a:off x="3944" y="2932"/>
              <a:ext cx="176" cy="231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GB" sz="1800"/>
                <a:t>?</a:t>
              </a:r>
              <a:endParaRPr lang="en-GB" sz="1800">
                <a:solidFill>
                  <a:srgbClr val="FF0000"/>
                </a:solidFill>
              </a:endParaRPr>
            </a:p>
          </p:txBody>
        </p:sp>
      </p:grpSp>
      <p:sp>
        <p:nvSpPr>
          <p:cNvPr id="481293" name="Line 79"/>
          <p:cNvSpPr>
            <a:spLocks noChangeShapeType="1"/>
          </p:cNvSpPr>
          <p:nvPr/>
        </p:nvSpPr>
        <p:spPr bwMode="auto">
          <a:xfrm flipH="1">
            <a:off x="3505200" y="4867423"/>
            <a:ext cx="304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none" w="sm" len="sm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81294" name="Line 81"/>
          <p:cNvSpPr>
            <a:spLocks noChangeShapeType="1"/>
          </p:cNvSpPr>
          <p:nvPr/>
        </p:nvSpPr>
        <p:spPr bwMode="auto">
          <a:xfrm>
            <a:off x="3048000" y="4029223"/>
            <a:ext cx="3657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81295" name="Line 83"/>
          <p:cNvSpPr>
            <a:spLocks noChangeShapeType="1"/>
          </p:cNvSpPr>
          <p:nvPr/>
        </p:nvSpPr>
        <p:spPr bwMode="auto">
          <a:xfrm flipV="1">
            <a:off x="3505200" y="4029223"/>
            <a:ext cx="0" cy="1828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81296" name="Line 84"/>
          <p:cNvSpPr>
            <a:spLocks noChangeShapeType="1"/>
          </p:cNvSpPr>
          <p:nvPr/>
        </p:nvSpPr>
        <p:spPr bwMode="auto">
          <a:xfrm rot="5400000" flipH="1">
            <a:off x="3886200" y="5553223"/>
            <a:ext cx="304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none" w="sm" len="sm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81297" name="Line 85"/>
          <p:cNvSpPr>
            <a:spLocks noChangeShapeType="1"/>
          </p:cNvSpPr>
          <p:nvPr/>
        </p:nvSpPr>
        <p:spPr bwMode="auto">
          <a:xfrm flipH="1">
            <a:off x="3505200" y="5858023"/>
            <a:ext cx="381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none" w="sm" len="sm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81298" name="Line 92"/>
          <p:cNvSpPr>
            <a:spLocks noChangeShapeType="1"/>
          </p:cNvSpPr>
          <p:nvPr/>
        </p:nvSpPr>
        <p:spPr bwMode="auto">
          <a:xfrm>
            <a:off x="4495800" y="5400823"/>
            <a:ext cx="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81299" name="Line 93"/>
          <p:cNvSpPr>
            <a:spLocks noChangeShapeType="1"/>
          </p:cNvSpPr>
          <p:nvPr/>
        </p:nvSpPr>
        <p:spPr bwMode="auto">
          <a:xfrm flipH="1">
            <a:off x="2743200" y="6239023"/>
            <a:ext cx="1752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81300" name="Line 94"/>
          <p:cNvSpPr>
            <a:spLocks noChangeShapeType="1"/>
          </p:cNvSpPr>
          <p:nvPr/>
        </p:nvSpPr>
        <p:spPr bwMode="auto">
          <a:xfrm flipV="1">
            <a:off x="2743200" y="4257823"/>
            <a:ext cx="0" cy="1981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481301" name="Group 101"/>
          <p:cNvGrpSpPr>
            <a:grpSpLocks/>
          </p:cNvGrpSpPr>
          <p:nvPr/>
        </p:nvGrpSpPr>
        <p:grpSpPr bwMode="auto">
          <a:xfrm>
            <a:off x="6705600" y="3800623"/>
            <a:ext cx="990600" cy="914400"/>
            <a:chOff x="4416" y="2400"/>
            <a:chExt cx="624" cy="576"/>
          </a:xfrm>
        </p:grpSpPr>
        <p:sp>
          <p:nvSpPr>
            <p:cNvPr id="481325" name="AutoShape 99"/>
            <p:cNvSpPr>
              <a:spLocks noChangeArrowheads="1"/>
            </p:cNvSpPr>
            <p:nvPr/>
          </p:nvSpPr>
          <p:spPr bwMode="auto">
            <a:xfrm>
              <a:off x="4416" y="2400"/>
              <a:ext cx="624" cy="576"/>
            </a:xfrm>
            <a:prstGeom prst="roundRect">
              <a:avLst>
                <a:gd name="adj" fmla="val 16667"/>
              </a:avLst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1326" name="Text Box 100"/>
            <p:cNvSpPr txBox="1">
              <a:spLocks noChangeArrowheads="1"/>
            </p:cNvSpPr>
            <p:nvPr/>
          </p:nvSpPr>
          <p:spPr bwMode="auto">
            <a:xfrm>
              <a:off x="4417" y="2496"/>
              <a:ext cx="619" cy="404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GB" sz="1800"/>
                <a:t>Main</a:t>
              </a:r>
            </a:p>
            <a:p>
              <a:pPr algn="ctr"/>
              <a:r>
                <a:rPr lang="en-GB" sz="1800"/>
                <a:t>memory</a:t>
              </a:r>
              <a:endParaRPr lang="en-GB" sz="1800">
                <a:solidFill>
                  <a:srgbClr val="FF0000"/>
                </a:solidFill>
              </a:endParaRPr>
            </a:p>
          </p:txBody>
        </p:sp>
      </p:grpSp>
      <p:sp>
        <p:nvSpPr>
          <p:cNvPr id="481302" name="Line 102"/>
          <p:cNvSpPr>
            <a:spLocks noChangeShapeType="1"/>
          </p:cNvSpPr>
          <p:nvPr/>
        </p:nvSpPr>
        <p:spPr bwMode="auto">
          <a:xfrm flipV="1">
            <a:off x="7162800" y="4715023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81303" name="Line 103"/>
          <p:cNvSpPr>
            <a:spLocks noChangeShapeType="1"/>
          </p:cNvSpPr>
          <p:nvPr/>
        </p:nvSpPr>
        <p:spPr bwMode="auto">
          <a:xfrm flipH="1">
            <a:off x="4876800" y="5019823"/>
            <a:ext cx="2286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81304" name="Text Box 104"/>
          <p:cNvSpPr txBox="1">
            <a:spLocks noChangeArrowheads="1"/>
          </p:cNvSpPr>
          <p:nvPr/>
        </p:nvSpPr>
        <p:spPr bwMode="auto">
          <a:xfrm>
            <a:off x="533400" y="3800623"/>
            <a:ext cx="1355725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GB" sz="2000">
                <a:solidFill>
                  <a:srgbClr val="FF0000"/>
                </a:solidFill>
                <a:latin typeface="Lucida Console" pitchFamily="-112" charset="0"/>
              </a:rPr>
              <a:t>lw r2, 3(0)</a:t>
            </a:r>
          </a:p>
        </p:txBody>
      </p:sp>
      <p:sp>
        <p:nvSpPr>
          <p:cNvPr id="481305" name="Text Box 105"/>
          <p:cNvSpPr txBox="1">
            <a:spLocks noChangeArrowheads="1"/>
          </p:cNvSpPr>
          <p:nvPr/>
        </p:nvSpPr>
        <p:spPr bwMode="auto">
          <a:xfrm>
            <a:off x="3352800" y="3648223"/>
            <a:ext cx="1031875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GB" sz="2000">
                <a:solidFill>
                  <a:srgbClr val="FF0000"/>
                </a:solidFill>
                <a:latin typeface="Lucida Console" pitchFamily="-112" charset="0"/>
              </a:rPr>
              <a:t>0x0003</a:t>
            </a:r>
          </a:p>
        </p:txBody>
      </p:sp>
      <p:sp>
        <p:nvSpPr>
          <p:cNvPr id="481306" name="Rectangle 107"/>
          <p:cNvSpPr>
            <a:spLocks noChangeArrowheads="1"/>
          </p:cNvSpPr>
          <p:nvPr/>
        </p:nvSpPr>
        <p:spPr bwMode="auto">
          <a:xfrm>
            <a:off x="5029200" y="5781823"/>
            <a:ext cx="2438400" cy="304800"/>
          </a:xfrm>
          <a:prstGeom prst="rect">
            <a:avLst/>
          </a:prstGeom>
          <a:solidFill>
            <a:schemeClr val="accent1">
              <a:alpha val="50195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81307" name="Line 108"/>
          <p:cNvSpPr>
            <a:spLocks noChangeShapeType="1"/>
          </p:cNvSpPr>
          <p:nvPr/>
        </p:nvSpPr>
        <p:spPr bwMode="auto">
          <a:xfrm>
            <a:off x="7086600" y="5781823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81308" name="Text Box 109"/>
          <p:cNvSpPr txBox="1">
            <a:spLocks noChangeArrowheads="1"/>
          </p:cNvSpPr>
          <p:nvPr/>
        </p:nvSpPr>
        <p:spPr bwMode="auto">
          <a:xfrm>
            <a:off x="6705600" y="5781823"/>
            <a:ext cx="360363" cy="3365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GB" sz="1600"/>
              <a:t>01</a:t>
            </a:r>
          </a:p>
        </p:txBody>
      </p:sp>
      <p:sp>
        <p:nvSpPr>
          <p:cNvPr id="481309" name="Line 110"/>
          <p:cNvSpPr>
            <a:spLocks noChangeShapeType="1"/>
          </p:cNvSpPr>
          <p:nvPr/>
        </p:nvSpPr>
        <p:spPr bwMode="auto">
          <a:xfrm>
            <a:off x="6705600" y="5781823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81310" name="Line 111"/>
          <p:cNvSpPr>
            <a:spLocks noChangeShapeType="1"/>
          </p:cNvSpPr>
          <p:nvPr/>
        </p:nvSpPr>
        <p:spPr bwMode="auto">
          <a:xfrm>
            <a:off x="6705600" y="5781823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81311" name="Text Box 112"/>
          <p:cNvSpPr txBox="1">
            <a:spLocks noChangeArrowheads="1"/>
          </p:cNvSpPr>
          <p:nvPr/>
        </p:nvSpPr>
        <p:spPr bwMode="auto">
          <a:xfrm>
            <a:off x="6324600" y="5781823"/>
            <a:ext cx="374650" cy="3365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GB" sz="1600"/>
              <a:t>02</a:t>
            </a:r>
          </a:p>
        </p:txBody>
      </p:sp>
      <p:sp>
        <p:nvSpPr>
          <p:cNvPr id="481312" name="Line 113"/>
          <p:cNvSpPr>
            <a:spLocks noChangeShapeType="1"/>
          </p:cNvSpPr>
          <p:nvPr/>
        </p:nvSpPr>
        <p:spPr bwMode="auto">
          <a:xfrm>
            <a:off x="6324600" y="5781823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81313" name="Line 114"/>
          <p:cNvSpPr>
            <a:spLocks noChangeShapeType="1"/>
          </p:cNvSpPr>
          <p:nvPr/>
        </p:nvSpPr>
        <p:spPr bwMode="auto">
          <a:xfrm>
            <a:off x="6324600" y="5781823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81314" name="Text Box 115"/>
          <p:cNvSpPr txBox="1">
            <a:spLocks noChangeArrowheads="1"/>
          </p:cNvSpPr>
          <p:nvPr/>
        </p:nvSpPr>
        <p:spPr bwMode="auto">
          <a:xfrm>
            <a:off x="5943600" y="5781823"/>
            <a:ext cx="374650" cy="3365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GB" sz="1600"/>
              <a:t>03</a:t>
            </a:r>
          </a:p>
        </p:txBody>
      </p:sp>
      <p:sp>
        <p:nvSpPr>
          <p:cNvPr id="481315" name="Line 116"/>
          <p:cNvSpPr>
            <a:spLocks noChangeShapeType="1"/>
          </p:cNvSpPr>
          <p:nvPr/>
        </p:nvSpPr>
        <p:spPr bwMode="auto">
          <a:xfrm>
            <a:off x="5943600" y="5781823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81316" name="Line 117"/>
          <p:cNvSpPr>
            <a:spLocks noChangeShapeType="1"/>
          </p:cNvSpPr>
          <p:nvPr/>
        </p:nvSpPr>
        <p:spPr bwMode="auto">
          <a:xfrm>
            <a:off x="5943600" y="5781823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81317" name="Text Box 120"/>
          <p:cNvSpPr txBox="1">
            <a:spLocks noChangeArrowheads="1"/>
          </p:cNvSpPr>
          <p:nvPr/>
        </p:nvSpPr>
        <p:spPr bwMode="auto">
          <a:xfrm>
            <a:off x="5562600" y="6086623"/>
            <a:ext cx="1379538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GB" sz="1800"/>
              <a:t>Cache block</a:t>
            </a:r>
            <a:endParaRPr lang="en-GB" sz="1800">
              <a:solidFill>
                <a:srgbClr val="FF0000"/>
              </a:solidFill>
            </a:endParaRPr>
          </a:p>
        </p:txBody>
      </p:sp>
      <p:sp>
        <p:nvSpPr>
          <p:cNvPr id="481318" name="Rectangle 122"/>
          <p:cNvSpPr>
            <a:spLocks noChangeArrowheads="1"/>
          </p:cNvSpPr>
          <p:nvPr/>
        </p:nvSpPr>
        <p:spPr bwMode="auto">
          <a:xfrm>
            <a:off x="4191000" y="5172223"/>
            <a:ext cx="685800" cy="76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81319" name="Text Box 106"/>
          <p:cNvSpPr txBox="1">
            <a:spLocks noChangeArrowheads="1"/>
          </p:cNvSpPr>
          <p:nvPr/>
        </p:nvSpPr>
        <p:spPr bwMode="auto">
          <a:xfrm>
            <a:off x="7086600" y="5781823"/>
            <a:ext cx="374650" cy="3365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GB" sz="1600"/>
              <a:t>00</a:t>
            </a:r>
          </a:p>
        </p:txBody>
      </p:sp>
      <p:sp>
        <p:nvSpPr>
          <p:cNvPr id="481320" name="Freeform 123"/>
          <p:cNvSpPr>
            <a:spLocks/>
          </p:cNvSpPr>
          <p:nvPr/>
        </p:nvSpPr>
        <p:spPr bwMode="auto">
          <a:xfrm>
            <a:off x="4953000" y="5172223"/>
            <a:ext cx="533400" cy="457200"/>
          </a:xfrm>
          <a:custGeom>
            <a:avLst/>
            <a:gdLst>
              <a:gd name="T0" fmla="*/ 0 w 336"/>
              <a:gd name="T1" fmla="*/ 0 h 288"/>
              <a:gd name="T2" fmla="*/ 240 w 336"/>
              <a:gd name="T3" fmla="*/ 48 h 288"/>
              <a:gd name="T4" fmla="*/ 336 w 336"/>
              <a:gd name="T5" fmla="*/ 288 h 288"/>
              <a:gd name="T6" fmla="*/ 0 60000 65536"/>
              <a:gd name="T7" fmla="*/ 0 60000 65536"/>
              <a:gd name="T8" fmla="*/ 0 60000 65536"/>
              <a:gd name="T9" fmla="*/ 0 w 336"/>
              <a:gd name="T10" fmla="*/ 0 h 288"/>
              <a:gd name="T11" fmla="*/ 336 w 336"/>
              <a:gd name="T12" fmla="*/ 288 h 2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36" h="288">
                <a:moveTo>
                  <a:pt x="0" y="0"/>
                </a:moveTo>
                <a:cubicBezTo>
                  <a:pt x="92" y="0"/>
                  <a:pt x="184" y="0"/>
                  <a:pt x="240" y="48"/>
                </a:cubicBezTo>
                <a:cubicBezTo>
                  <a:pt x="296" y="96"/>
                  <a:pt x="316" y="192"/>
                  <a:pt x="336" y="288"/>
                </a:cubicBezTo>
              </a:path>
            </a:pathLst>
          </a:custGeom>
          <a:noFill/>
          <a:ln w="12700">
            <a:solidFill>
              <a:schemeClr val="tx1"/>
            </a:solidFill>
            <a:prstDash val="dash"/>
            <a:round/>
            <a:headEnd type="none" w="sm" len="sm"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81321" name="Text Box 124"/>
          <p:cNvSpPr txBox="1">
            <a:spLocks noChangeArrowheads="1"/>
          </p:cNvSpPr>
          <p:nvPr/>
        </p:nvSpPr>
        <p:spPr bwMode="auto">
          <a:xfrm>
            <a:off x="2362200" y="5629423"/>
            <a:ext cx="374650" cy="3365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GB" sz="1600"/>
              <a:t>03</a:t>
            </a:r>
          </a:p>
        </p:txBody>
      </p:sp>
      <p:sp>
        <p:nvSpPr>
          <p:cNvPr id="481322" name="Text Box 125"/>
          <p:cNvSpPr txBox="1">
            <a:spLocks noChangeArrowheads="1"/>
          </p:cNvSpPr>
          <p:nvPr/>
        </p:nvSpPr>
        <p:spPr bwMode="auto">
          <a:xfrm>
            <a:off x="6629400" y="5019823"/>
            <a:ext cx="1619250" cy="3365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GB" sz="1600"/>
              <a:t>04 … 05 … 06 …</a:t>
            </a:r>
          </a:p>
        </p:txBody>
      </p:sp>
      <p:sp>
        <p:nvSpPr>
          <p:cNvPr id="481323" name="Line 126"/>
          <p:cNvSpPr>
            <a:spLocks noChangeShapeType="1"/>
          </p:cNvSpPr>
          <p:nvPr/>
        </p:nvSpPr>
        <p:spPr bwMode="auto">
          <a:xfrm flipV="1">
            <a:off x="2514600" y="5172223"/>
            <a:ext cx="0" cy="4572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none" w="sm" len="sm"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81324" name="Line 127"/>
          <p:cNvSpPr>
            <a:spLocks noChangeShapeType="1"/>
          </p:cNvSpPr>
          <p:nvPr/>
        </p:nvSpPr>
        <p:spPr bwMode="auto">
          <a:xfrm flipH="1">
            <a:off x="6096000" y="5172223"/>
            <a:ext cx="5334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none" w="sm" len="sm"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CS/ECE 6810 Computer Architecture</a:t>
            </a:r>
            <a:endParaRPr lang="en-US" sz="1400" dirty="0">
              <a:latin typeface="Garamond" pitchFamily="-112" charset="0"/>
            </a:endParaRPr>
          </a:p>
        </p:txBody>
      </p:sp>
      <p:sp>
        <p:nvSpPr>
          <p:cNvPr id="47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FDB3AB3-47BF-9D4A-A8F9-957ED21D4247}" type="slidenum">
              <a:rPr lang="en-US"/>
              <a:pPr>
                <a:defRPr/>
              </a:pPr>
              <a:t>20</a:t>
            </a:fld>
            <a:endParaRPr lang="en-US">
              <a:latin typeface="Garamond" pitchFamily="-112" charset="0"/>
            </a:endParaRPr>
          </a:p>
        </p:txBody>
      </p:sp>
      <p:sp>
        <p:nvSpPr>
          <p:cNvPr id="48333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/>
              <a:t>Reducing Cache Miss Penalty</a:t>
            </a:r>
            <a:endParaRPr lang="en-US" sz="900"/>
          </a:p>
        </p:txBody>
      </p:sp>
      <p:sp>
        <p:nvSpPr>
          <p:cNvPr id="48333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579296" cy="4343400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/>
              <a:t>Technique 3: early restart and critical word first</a:t>
            </a:r>
          </a:p>
          <a:p>
            <a:pPr lvl="1">
              <a:spcBef>
                <a:spcPts val="1032"/>
              </a:spcBef>
            </a:pPr>
            <a:r>
              <a:rPr lang="en-US" sz="1800" dirty="0"/>
              <a:t>On a read miss, processor needs just the requested word (or byte) </a:t>
            </a:r>
          </a:p>
          <a:p>
            <a:pPr lvl="2"/>
            <a:r>
              <a:rPr lang="en-US" sz="1600" dirty="0"/>
              <a:t>but processor must wait until the whole block is brought into the cache</a:t>
            </a:r>
          </a:p>
          <a:p>
            <a:pPr lvl="1"/>
            <a:r>
              <a:rPr lang="en-US" sz="1800" b="1" dirty="0">
                <a:solidFill>
                  <a:srgbClr val="FF0000"/>
                </a:solidFill>
              </a:rPr>
              <a:t>Critical word first</a:t>
            </a:r>
            <a:r>
              <a:rPr lang="en-US" sz="1800" dirty="0"/>
              <a:t>: get the requested word </a:t>
            </a:r>
            <a:r>
              <a:rPr lang="en-US" sz="1800" u="sng" dirty="0"/>
              <a:t>first</a:t>
            </a:r>
            <a:r>
              <a:rPr lang="en-US" sz="1800" dirty="0"/>
              <a:t> from the memory and immediately send it to the processor </a:t>
            </a:r>
          </a:p>
          <a:p>
            <a:pPr lvl="2"/>
            <a:r>
              <a:rPr lang="en-US" sz="1600" dirty="0"/>
              <a:t>Meanwhile, continue reading the rest of the block into the cache</a:t>
            </a:r>
          </a:p>
        </p:txBody>
      </p:sp>
      <p:grpSp>
        <p:nvGrpSpPr>
          <p:cNvPr id="483334" name="Group 28"/>
          <p:cNvGrpSpPr>
            <a:grpSpLocks/>
          </p:cNvGrpSpPr>
          <p:nvPr/>
        </p:nvGrpSpPr>
        <p:grpSpPr bwMode="auto">
          <a:xfrm>
            <a:off x="2444552" y="3724423"/>
            <a:ext cx="654050" cy="533400"/>
            <a:chOff x="432" y="2784"/>
            <a:chExt cx="412" cy="336"/>
          </a:xfrm>
        </p:grpSpPr>
        <p:sp>
          <p:nvSpPr>
            <p:cNvPr id="483374" name="Oval 29"/>
            <p:cNvSpPr>
              <a:spLocks noChangeArrowheads="1"/>
            </p:cNvSpPr>
            <p:nvPr/>
          </p:nvSpPr>
          <p:spPr bwMode="auto">
            <a:xfrm>
              <a:off x="446" y="2784"/>
              <a:ext cx="384" cy="33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3375" name="Text Box 30"/>
            <p:cNvSpPr txBox="1">
              <a:spLocks noChangeArrowheads="1"/>
            </p:cNvSpPr>
            <p:nvPr/>
          </p:nvSpPr>
          <p:spPr bwMode="auto">
            <a:xfrm>
              <a:off x="432" y="2832"/>
              <a:ext cx="412" cy="231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GB" sz="1800"/>
                <a:t>CPU</a:t>
              </a:r>
              <a:endParaRPr lang="en-GB" sz="1800">
                <a:solidFill>
                  <a:srgbClr val="FF0000"/>
                </a:solidFill>
              </a:endParaRPr>
            </a:p>
          </p:txBody>
        </p:sp>
      </p:grpSp>
      <p:sp>
        <p:nvSpPr>
          <p:cNvPr id="483335" name="Rectangle 31"/>
          <p:cNvSpPr>
            <a:spLocks noChangeArrowheads="1"/>
          </p:cNvSpPr>
          <p:nvPr/>
        </p:nvSpPr>
        <p:spPr bwMode="auto">
          <a:xfrm>
            <a:off x="3816152" y="4562623"/>
            <a:ext cx="381000" cy="8382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83336" name="Rectangle 32"/>
          <p:cNvSpPr>
            <a:spLocks noChangeArrowheads="1"/>
          </p:cNvSpPr>
          <p:nvPr/>
        </p:nvSpPr>
        <p:spPr bwMode="auto">
          <a:xfrm>
            <a:off x="4197152" y="4562623"/>
            <a:ext cx="685800" cy="8382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83337" name="Text Box 33"/>
          <p:cNvSpPr txBox="1">
            <a:spLocks noChangeArrowheads="1"/>
          </p:cNvSpPr>
          <p:nvPr/>
        </p:nvSpPr>
        <p:spPr bwMode="auto">
          <a:xfrm>
            <a:off x="3816152" y="4181623"/>
            <a:ext cx="1035050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GB" sz="1800"/>
              <a:t>L1 cache</a:t>
            </a:r>
            <a:endParaRPr lang="en-GB" sz="1800">
              <a:solidFill>
                <a:srgbClr val="FF0000"/>
              </a:solidFill>
            </a:endParaRPr>
          </a:p>
        </p:txBody>
      </p:sp>
      <p:sp>
        <p:nvSpPr>
          <p:cNvPr id="483338" name="Text Box 34"/>
          <p:cNvSpPr txBox="1">
            <a:spLocks noChangeArrowheads="1"/>
          </p:cNvSpPr>
          <p:nvPr/>
        </p:nvSpPr>
        <p:spPr bwMode="auto">
          <a:xfrm>
            <a:off x="3739952" y="4791223"/>
            <a:ext cx="488950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GB" sz="1800"/>
              <a:t>tag</a:t>
            </a:r>
            <a:endParaRPr lang="en-GB" sz="1800">
              <a:solidFill>
                <a:srgbClr val="FF0000"/>
              </a:solidFill>
            </a:endParaRPr>
          </a:p>
        </p:txBody>
      </p:sp>
      <p:sp>
        <p:nvSpPr>
          <p:cNvPr id="483339" name="Text Box 35"/>
          <p:cNvSpPr txBox="1">
            <a:spLocks noChangeArrowheads="1"/>
          </p:cNvSpPr>
          <p:nvPr/>
        </p:nvSpPr>
        <p:spPr bwMode="auto">
          <a:xfrm>
            <a:off x="4273352" y="4791223"/>
            <a:ext cx="600075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GB" sz="1800"/>
              <a:t>data</a:t>
            </a:r>
            <a:endParaRPr lang="en-GB" sz="1800">
              <a:solidFill>
                <a:srgbClr val="FF0000"/>
              </a:solidFill>
            </a:endParaRPr>
          </a:p>
        </p:txBody>
      </p:sp>
      <p:grpSp>
        <p:nvGrpSpPr>
          <p:cNvPr id="483340" name="Group 36"/>
          <p:cNvGrpSpPr>
            <a:grpSpLocks/>
          </p:cNvGrpSpPr>
          <p:nvPr/>
        </p:nvGrpSpPr>
        <p:grpSpPr bwMode="auto">
          <a:xfrm>
            <a:off x="3892352" y="5705623"/>
            <a:ext cx="304800" cy="366713"/>
            <a:chOff x="3936" y="2932"/>
            <a:chExt cx="192" cy="231"/>
          </a:xfrm>
        </p:grpSpPr>
        <p:sp>
          <p:nvSpPr>
            <p:cNvPr id="483372" name="Oval 37"/>
            <p:cNvSpPr>
              <a:spLocks noChangeArrowheads="1"/>
            </p:cNvSpPr>
            <p:nvPr/>
          </p:nvSpPr>
          <p:spPr bwMode="auto">
            <a:xfrm>
              <a:off x="3936" y="2952"/>
              <a:ext cx="192" cy="192"/>
            </a:xfrm>
            <a:prstGeom prst="ellipse">
              <a:avLst/>
            </a:prstGeom>
            <a:solidFill>
              <a:srgbClr val="FF0000">
                <a:alpha val="30196"/>
              </a:srgbClr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3373" name="Text Box 38"/>
            <p:cNvSpPr txBox="1">
              <a:spLocks noChangeArrowheads="1"/>
            </p:cNvSpPr>
            <p:nvPr/>
          </p:nvSpPr>
          <p:spPr bwMode="auto">
            <a:xfrm>
              <a:off x="3944" y="2932"/>
              <a:ext cx="176" cy="231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GB" sz="1800"/>
                <a:t>?</a:t>
              </a:r>
              <a:endParaRPr lang="en-GB" sz="1800">
                <a:solidFill>
                  <a:srgbClr val="FF0000"/>
                </a:solidFill>
              </a:endParaRPr>
            </a:p>
          </p:txBody>
        </p:sp>
      </p:grpSp>
      <p:sp>
        <p:nvSpPr>
          <p:cNvPr id="483341" name="Line 39"/>
          <p:cNvSpPr>
            <a:spLocks noChangeShapeType="1"/>
          </p:cNvSpPr>
          <p:nvPr/>
        </p:nvSpPr>
        <p:spPr bwMode="auto">
          <a:xfrm flipH="1">
            <a:off x="3511352" y="4867423"/>
            <a:ext cx="304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none" w="sm" len="sm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83342" name="Line 40"/>
          <p:cNvSpPr>
            <a:spLocks noChangeShapeType="1"/>
          </p:cNvSpPr>
          <p:nvPr/>
        </p:nvSpPr>
        <p:spPr bwMode="auto">
          <a:xfrm>
            <a:off x="3054152" y="4029223"/>
            <a:ext cx="3657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83343" name="Line 41"/>
          <p:cNvSpPr>
            <a:spLocks noChangeShapeType="1"/>
          </p:cNvSpPr>
          <p:nvPr/>
        </p:nvSpPr>
        <p:spPr bwMode="auto">
          <a:xfrm flipV="1">
            <a:off x="3511352" y="4029223"/>
            <a:ext cx="0" cy="1828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83344" name="Line 42"/>
          <p:cNvSpPr>
            <a:spLocks noChangeShapeType="1"/>
          </p:cNvSpPr>
          <p:nvPr/>
        </p:nvSpPr>
        <p:spPr bwMode="auto">
          <a:xfrm rot="5400000" flipH="1">
            <a:off x="3892352" y="5553223"/>
            <a:ext cx="304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none" w="sm" len="sm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83345" name="Line 43"/>
          <p:cNvSpPr>
            <a:spLocks noChangeShapeType="1"/>
          </p:cNvSpPr>
          <p:nvPr/>
        </p:nvSpPr>
        <p:spPr bwMode="auto">
          <a:xfrm flipH="1">
            <a:off x="3511352" y="5858023"/>
            <a:ext cx="381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none" w="sm" len="sm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83346" name="Line 44"/>
          <p:cNvSpPr>
            <a:spLocks noChangeShapeType="1"/>
          </p:cNvSpPr>
          <p:nvPr/>
        </p:nvSpPr>
        <p:spPr bwMode="auto">
          <a:xfrm>
            <a:off x="4501952" y="5400823"/>
            <a:ext cx="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83347" name="Line 45"/>
          <p:cNvSpPr>
            <a:spLocks noChangeShapeType="1"/>
          </p:cNvSpPr>
          <p:nvPr/>
        </p:nvSpPr>
        <p:spPr bwMode="auto">
          <a:xfrm flipH="1">
            <a:off x="2749352" y="6239023"/>
            <a:ext cx="1752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83348" name="Line 46"/>
          <p:cNvSpPr>
            <a:spLocks noChangeShapeType="1"/>
          </p:cNvSpPr>
          <p:nvPr/>
        </p:nvSpPr>
        <p:spPr bwMode="auto">
          <a:xfrm flipV="1">
            <a:off x="2749352" y="4257823"/>
            <a:ext cx="0" cy="1981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483349" name="Group 47"/>
          <p:cNvGrpSpPr>
            <a:grpSpLocks/>
          </p:cNvGrpSpPr>
          <p:nvPr/>
        </p:nvGrpSpPr>
        <p:grpSpPr bwMode="auto">
          <a:xfrm>
            <a:off x="6711752" y="3800623"/>
            <a:ext cx="990600" cy="914400"/>
            <a:chOff x="4416" y="2400"/>
            <a:chExt cx="624" cy="576"/>
          </a:xfrm>
        </p:grpSpPr>
        <p:sp>
          <p:nvSpPr>
            <p:cNvPr id="483370" name="AutoShape 48"/>
            <p:cNvSpPr>
              <a:spLocks noChangeArrowheads="1"/>
            </p:cNvSpPr>
            <p:nvPr/>
          </p:nvSpPr>
          <p:spPr bwMode="auto">
            <a:xfrm>
              <a:off x="4416" y="2400"/>
              <a:ext cx="624" cy="576"/>
            </a:xfrm>
            <a:prstGeom prst="roundRect">
              <a:avLst>
                <a:gd name="adj" fmla="val 16667"/>
              </a:avLst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3371" name="Text Box 49"/>
            <p:cNvSpPr txBox="1">
              <a:spLocks noChangeArrowheads="1"/>
            </p:cNvSpPr>
            <p:nvPr/>
          </p:nvSpPr>
          <p:spPr bwMode="auto">
            <a:xfrm>
              <a:off x="4417" y="2496"/>
              <a:ext cx="619" cy="404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GB" sz="1800"/>
                <a:t>Main</a:t>
              </a:r>
            </a:p>
            <a:p>
              <a:pPr algn="ctr"/>
              <a:r>
                <a:rPr lang="en-GB" sz="1800"/>
                <a:t>memory</a:t>
              </a:r>
              <a:endParaRPr lang="en-GB" sz="1800">
                <a:solidFill>
                  <a:srgbClr val="FF0000"/>
                </a:solidFill>
              </a:endParaRPr>
            </a:p>
          </p:txBody>
        </p:sp>
      </p:grpSp>
      <p:sp>
        <p:nvSpPr>
          <p:cNvPr id="483350" name="Line 50"/>
          <p:cNvSpPr>
            <a:spLocks noChangeShapeType="1"/>
          </p:cNvSpPr>
          <p:nvPr/>
        </p:nvSpPr>
        <p:spPr bwMode="auto">
          <a:xfrm flipV="1">
            <a:off x="7168952" y="4715023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83351" name="Line 51"/>
          <p:cNvSpPr>
            <a:spLocks noChangeShapeType="1"/>
          </p:cNvSpPr>
          <p:nvPr/>
        </p:nvSpPr>
        <p:spPr bwMode="auto">
          <a:xfrm flipH="1">
            <a:off x="4882952" y="5019823"/>
            <a:ext cx="2286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83352" name="Text Box 52"/>
          <p:cNvSpPr txBox="1">
            <a:spLocks noChangeArrowheads="1"/>
          </p:cNvSpPr>
          <p:nvPr/>
        </p:nvSpPr>
        <p:spPr bwMode="auto">
          <a:xfrm>
            <a:off x="539552" y="3800623"/>
            <a:ext cx="1355725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GB" sz="2000">
                <a:solidFill>
                  <a:srgbClr val="FF0000"/>
                </a:solidFill>
                <a:latin typeface="Lucida Console" pitchFamily="-112" charset="0"/>
              </a:rPr>
              <a:t>lw r2, 3(0)</a:t>
            </a:r>
          </a:p>
        </p:txBody>
      </p:sp>
      <p:sp>
        <p:nvSpPr>
          <p:cNvPr id="483353" name="Text Box 53"/>
          <p:cNvSpPr txBox="1">
            <a:spLocks noChangeArrowheads="1"/>
          </p:cNvSpPr>
          <p:nvPr/>
        </p:nvSpPr>
        <p:spPr bwMode="auto">
          <a:xfrm>
            <a:off x="3358952" y="3648223"/>
            <a:ext cx="1031875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GB" sz="2000">
                <a:solidFill>
                  <a:srgbClr val="FF0000"/>
                </a:solidFill>
                <a:latin typeface="Lucida Console" pitchFamily="-112" charset="0"/>
              </a:rPr>
              <a:t>0x0003</a:t>
            </a:r>
          </a:p>
        </p:txBody>
      </p:sp>
      <p:sp>
        <p:nvSpPr>
          <p:cNvPr id="483354" name="Rectangle 54"/>
          <p:cNvSpPr>
            <a:spLocks noChangeArrowheads="1"/>
          </p:cNvSpPr>
          <p:nvPr/>
        </p:nvSpPr>
        <p:spPr bwMode="auto">
          <a:xfrm>
            <a:off x="5035352" y="5781823"/>
            <a:ext cx="2438400" cy="304800"/>
          </a:xfrm>
          <a:prstGeom prst="rect">
            <a:avLst/>
          </a:prstGeom>
          <a:solidFill>
            <a:schemeClr val="accent1">
              <a:alpha val="50195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83355" name="Line 55"/>
          <p:cNvSpPr>
            <a:spLocks noChangeShapeType="1"/>
          </p:cNvSpPr>
          <p:nvPr/>
        </p:nvSpPr>
        <p:spPr bwMode="auto">
          <a:xfrm>
            <a:off x="7092752" y="5781823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83356" name="Line 57"/>
          <p:cNvSpPr>
            <a:spLocks noChangeShapeType="1"/>
          </p:cNvSpPr>
          <p:nvPr/>
        </p:nvSpPr>
        <p:spPr bwMode="auto">
          <a:xfrm>
            <a:off x="6711752" y="5781823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83357" name="Line 58"/>
          <p:cNvSpPr>
            <a:spLocks noChangeShapeType="1"/>
          </p:cNvSpPr>
          <p:nvPr/>
        </p:nvSpPr>
        <p:spPr bwMode="auto">
          <a:xfrm>
            <a:off x="6711752" y="5781823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83358" name="Line 60"/>
          <p:cNvSpPr>
            <a:spLocks noChangeShapeType="1"/>
          </p:cNvSpPr>
          <p:nvPr/>
        </p:nvSpPr>
        <p:spPr bwMode="auto">
          <a:xfrm>
            <a:off x="6330752" y="5781823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83359" name="Line 61"/>
          <p:cNvSpPr>
            <a:spLocks noChangeShapeType="1"/>
          </p:cNvSpPr>
          <p:nvPr/>
        </p:nvSpPr>
        <p:spPr bwMode="auto">
          <a:xfrm>
            <a:off x="6330752" y="5781823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83360" name="Text Box 62"/>
          <p:cNvSpPr txBox="1">
            <a:spLocks noChangeArrowheads="1"/>
          </p:cNvSpPr>
          <p:nvPr/>
        </p:nvSpPr>
        <p:spPr bwMode="auto">
          <a:xfrm>
            <a:off x="5949752" y="5781823"/>
            <a:ext cx="374650" cy="3365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GB" sz="1600"/>
              <a:t>03</a:t>
            </a:r>
          </a:p>
        </p:txBody>
      </p:sp>
      <p:sp>
        <p:nvSpPr>
          <p:cNvPr id="483361" name="Line 63"/>
          <p:cNvSpPr>
            <a:spLocks noChangeShapeType="1"/>
          </p:cNvSpPr>
          <p:nvPr/>
        </p:nvSpPr>
        <p:spPr bwMode="auto">
          <a:xfrm>
            <a:off x="5949752" y="5781823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83362" name="Line 64"/>
          <p:cNvSpPr>
            <a:spLocks noChangeShapeType="1"/>
          </p:cNvSpPr>
          <p:nvPr/>
        </p:nvSpPr>
        <p:spPr bwMode="auto">
          <a:xfrm>
            <a:off x="5949752" y="5781823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83363" name="Text Box 65"/>
          <p:cNvSpPr txBox="1">
            <a:spLocks noChangeArrowheads="1"/>
          </p:cNvSpPr>
          <p:nvPr/>
        </p:nvSpPr>
        <p:spPr bwMode="auto">
          <a:xfrm>
            <a:off x="5568752" y="6086623"/>
            <a:ext cx="1379538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GB" sz="1800"/>
              <a:t>Cache block</a:t>
            </a:r>
            <a:endParaRPr lang="en-GB" sz="1800">
              <a:solidFill>
                <a:srgbClr val="FF0000"/>
              </a:solidFill>
            </a:endParaRPr>
          </a:p>
        </p:txBody>
      </p:sp>
      <p:sp>
        <p:nvSpPr>
          <p:cNvPr id="483364" name="Rectangle 66"/>
          <p:cNvSpPr>
            <a:spLocks noChangeArrowheads="1"/>
          </p:cNvSpPr>
          <p:nvPr/>
        </p:nvSpPr>
        <p:spPr bwMode="auto">
          <a:xfrm>
            <a:off x="4197152" y="5172223"/>
            <a:ext cx="685800" cy="76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83365" name="Freeform 68"/>
          <p:cNvSpPr>
            <a:spLocks/>
          </p:cNvSpPr>
          <p:nvPr/>
        </p:nvSpPr>
        <p:spPr bwMode="auto">
          <a:xfrm>
            <a:off x="4959152" y="5172223"/>
            <a:ext cx="533400" cy="457200"/>
          </a:xfrm>
          <a:custGeom>
            <a:avLst/>
            <a:gdLst>
              <a:gd name="T0" fmla="*/ 0 w 336"/>
              <a:gd name="T1" fmla="*/ 0 h 288"/>
              <a:gd name="T2" fmla="*/ 240 w 336"/>
              <a:gd name="T3" fmla="*/ 48 h 288"/>
              <a:gd name="T4" fmla="*/ 336 w 336"/>
              <a:gd name="T5" fmla="*/ 288 h 288"/>
              <a:gd name="T6" fmla="*/ 0 60000 65536"/>
              <a:gd name="T7" fmla="*/ 0 60000 65536"/>
              <a:gd name="T8" fmla="*/ 0 60000 65536"/>
              <a:gd name="T9" fmla="*/ 0 w 336"/>
              <a:gd name="T10" fmla="*/ 0 h 288"/>
              <a:gd name="T11" fmla="*/ 336 w 336"/>
              <a:gd name="T12" fmla="*/ 288 h 2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36" h="288">
                <a:moveTo>
                  <a:pt x="0" y="0"/>
                </a:moveTo>
                <a:cubicBezTo>
                  <a:pt x="92" y="0"/>
                  <a:pt x="184" y="0"/>
                  <a:pt x="240" y="48"/>
                </a:cubicBezTo>
                <a:cubicBezTo>
                  <a:pt x="296" y="96"/>
                  <a:pt x="316" y="192"/>
                  <a:pt x="336" y="288"/>
                </a:cubicBezTo>
              </a:path>
            </a:pathLst>
          </a:custGeom>
          <a:noFill/>
          <a:ln w="12700">
            <a:solidFill>
              <a:schemeClr val="tx1"/>
            </a:solidFill>
            <a:prstDash val="dash"/>
            <a:round/>
            <a:headEnd type="none" w="sm" len="sm"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83366" name="Text Box 69"/>
          <p:cNvSpPr txBox="1">
            <a:spLocks noChangeArrowheads="1"/>
          </p:cNvSpPr>
          <p:nvPr/>
        </p:nvSpPr>
        <p:spPr bwMode="auto">
          <a:xfrm>
            <a:off x="2368352" y="5629423"/>
            <a:ext cx="374650" cy="3365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GB" sz="1600"/>
              <a:t>03</a:t>
            </a:r>
          </a:p>
        </p:txBody>
      </p:sp>
      <p:sp>
        <p:nvSpPr>
          <p:cNvPr id="483367" name="Text Box 70"/>
          <p:cNvSpPr txBox="1">
            <a:spLocks noChangeArrowheads="1"/>
          </p:cNvSpPr>
          <p:nvPr/>
        </p:nvSpPr>
        <p:spPr bwMode="auto">
          <a:xfrm>
            <a:off x="6483152" y="5019823"/>
            <a:ext cx="2100263" cy="3365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GB" sz="1600"/>
              <a:t>00 … 01 … 02 … 04 …</a:t>
            </a:r>
          </a:p>
        </p:txBody>
      </p:sp>
      <p:sp>
        <p:nvSpPr>
          <p:cNvPr id="483368" name="Line 71"/>
          <p:cNvSpPr>
            <a:spLocks noChangeShapeType="1"/>
          </p:cNvSpPr>
          <p:nvPr/>
        </p:nvSpPr>
        <p:spPr bwMode="auto">
          <a:xfrm flipV="1">
            <a:off x="2520752" y="5172223"/>
            <a:ext cx="0" cy="4572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none" w="sm" len="sm"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83369" name="Line 72"/>
          <p:cNvSpPr>
            <a:spLocks noChangeShapeType="1"/>
          </p:cNvSpPr>
          <p:nvPr/>
        </p:nvSpPr>
        <p:spPr bwMode="auto">
          <a:xfrm flipH="1">
            <a:off x="5949752" y="5172223"/>
            <a:ext cx="5334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none" w="sm" len="sm"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CS/ECE 6810 Computer Architecture</a:t>
            </a:r>
            <a:endParaRPr lang="en-US" sz="1400" dirty="0">
              <a:latin typeface="Garamond" pitchFamily="-112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16C85FC-0E7F-414E-81AB-F97455DE6F33}" type="slidenum">
              <a:rPr lang="en-US"/>
              <a:pPr>
                <a:defRPr/>
              </a:pPr>
              <a:t>21</a:t>
            </a:fld>
            <a:endParaRPr lang="en-US">
              <a:latin typeface="Garamond" pitchFamily="-112" charset="0"/>
            </a:endParaRPr>
          </a:p>
        </p:txBody>
      </p:sp>
      <p:sp>
        <p:nvSpPr>
          <p:cNvPr id="48538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/>
              <a:t>Reducing Cache Miss Penalty</a:t>
            </a:r>
            <a:endParaRPr lang="en-US" sz="900"/>
          </a:p>
        </p:txBody>
      </p:sp>
      <p:sp>
        <p:nvSpPr>
          <p:cNvPr id="48538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435280" cy="4343400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/>
              <a:t>Technique 4: non-blocking (or lockup-free) caches</a:t>
            </a:r>
          </a:p>
          <a:p>
            <a:pPr lvl="1"/>
            <a:r>
              <a:rPr lang="en-US" sz="1800" dirty="0"/>
              <a:t>Non-blocking caches: other memory instructions can overtake a cache miss instruction</a:t>
            </a:r>
          </a:p>
          <a:p>
            <a:pPr lvl="2"/>
            <a:r>
              <a:rPr lang="en-US" sz="1600" dirty="0"/>
              <a:t>Cache can service multiple hits while waiting on a miss: “hit under miss”</a:t>
            </a:r>
          </a:p>
          <a:p>
            <a:pPr lvl="2"/>
            <a:r>
              <a:rPr lang="en-US" sz="1600" dirty="0"/>
              <a:t>More aggressive: cache can service multiple hits while waiting on multiple misses: “miss under miss” or “hit under multiple misses”</a:t>
            </a:r>
          </a:p>
          <a:p>
            <a:pPr lvl="1">
              <a:spcBef>
                <a:spcPts val="1032"/>
              </a:spcBef>
            </a:pPr>
            <a:r>
              <a:rPr lang="en-US" sz="1800" dirty="0"/>
              <a:t>Cache and memory must be able to service multiple requests concurrently</a:t>
            </a:r>
          </a:p>
          <a:p>
            <a:pPr lvl="2"/>
            <a:r>
              <a:rPr lang="en-US" sz="1600" dirty="0"/>
              <a:t>Particularly valuable in dynamically scheduled (out-of-order) processors</a:t>
            </a:r>
          </a:p>
          <a:p>
            <a:pPr lvl="1">
              <a:spcBef>
                <a:spcPts val="1032"/>
              </a:spcBef>
            </a:pPr>
            <a:r>
              <a:rPr lang="en-US" sz="1800" dirty="0"/>
              <a:t>Must keep track of multiple outstanding memory operations</a:t>
            </a:r>
          </a:p>
          <a:p>
            <a:pPr lvl="2"/>
            <a:r>
              <a:rPr lang="en-US" sz="1600" dirty="0"/>
              <a:t>New hardware structure: Miss Status Handler Registers (MSHRs)</a:t>
            </a:r>
          </a:p>
          <a:p>
            <a:pPr lvl="3"/>
            <a:r>
              <a:rPr lang="en-US" sz="1400" dirty="0"/>
              <a:t>Address of a block being waited on</a:t>
            </a:r>
          </a:p>
          <a:p>
            <a:pPr lvl="3"/>
            <a:r>
              <a:rPr lang="en-US" sz="1400" dirty="0"/>
              <a:t>Capability to merge multiple requests to the same block</a:t>
            </a:r>
          </a:p>
          <a:p>
            <a:pPr lvl="3"/>
            <a:r>
              <a:rPr lang="en-US" sz="1400" dirty="0"/>
              <a:t>Destination register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8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8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8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8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8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CS/ECE 6810 Computer Architecture</a:t>
            </a:r>
            <a:endParaRPr lang="en-US" sz="1400" dirty="0">
              <a:latin typeface="Garamond" pitchFamily="-112" charset="0"/>
            </a:endParaRPr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54E725C-F45B-6C48-A004-D99E6AD1524B}" type="slidenum">
              <a:rPr lang="en-US"/>
              <a:pPr>
                <a:defRPr/>
              </a:pPr>
              <a:t>22</a:t>
            </a:fld>
            <a:endParaRPr lang="en-US">
              <a:latin typeface="Garamond" pitchFamily="-112" charset="0"/>
            </a:endParaRPr>
          </a:p>
        </p:txBody>
      </p:sp>
      <p:sp>
        <p:nvSpPr>
          <p:cNvPr id="4874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/>
              <a:t>Non-blocking Caches</a:t>
            </a:r>
            <a:endParaRPr lang="en-US" sz="900"/>
          </a:p>
        </p:txBody>
      </p:sp>
      <p:sp>
        <p:nvSpPr>
          <p:cNvPr id="487430" name="Text Box 6"/>
          <p:cNvSpPr txBox="1">
            <a:spLocks noChangeArrowheads="1"/>
          </p:cNvSpPr>
          <p:nvPr/>
        </p:nvSpPr>
        <p:spPr bwMode="auto">
          <a:xfrm>
            <a:off x="7908925" y="4572000"/>
            <a:ext cx="1009650" cy="6413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/>
            <a:r>
              <a:rPr lang="en-GB" sz="1800"/>
              <a:t>H&amp;P</a:t>
            </a:r>
          </a:p>
          <a:p>
            <a:pPr algn="ctr"/>
            <a:r>
              <a:rPr lang="en-GB" sz="1800"/>
              <a:t>Fig. 5.23</a:t>
            </a:r>
          </a:p>
        </p:txBody>
      </p:sp>
      <p:sp>
        <p:nvSpPr>
          <p:cNvPr id="487431" name="Rectangle 9"/>
          <p:cNvSpPr>
            <a:spLocks noGrp="1" noChangeArrowheads="1"/>
          </p:cNvSpPr>
          <p:nvPr>
            <p:ph type="body" idx="1"/>
          </p:nvPr>
        </p:nvSpPr>
        <p:spPr>
          <a:xfrm>
            <a:off x="533400" y="5334000"/>
            <a:ext cx="8178800" cy="3638550"/>
          </a:xfrm>
          <a:noFill/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0000"/>
                </a:solidFill>
              </a:rPr>
              <a:t>Significant improvement from small degree of outstanding memory operations</a:t>
            </a:r>
          </a:p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0000"/>
                </a:solidFill>
              </a:rPr>
              <a:t>Some applications benefit from large degrees</a:t>
            </a:r>
          </a:p>
        </p:txBody>
      </p:sp>
      <p:graphicFrame>
        <p:nvGraphicFramePr>
          <p:cNvPr id="487426" name="Object 2"/>
          <p:cNvGraphicFramePr>
            <a:graphicFrameLocks noChangeAspect="1"/>
          </p:cNvGraphicFramePr>
          <p:nvPr/>
        </p:nvGraphicFramePr>
        <p:xfrm>
          <a:off x="1524000" y="1069975"/>
          <a:ext cx="6096000" cy="422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8788400" imgH="6096000" progId="Excel.Sheet.8">
                  <p:embed/>
                </p:oleObj>
              </mc:Choice>
              <mc:Fallback>
                <p:oleObj name="Worksheet" r:id="rId3" imgW="8788400" imgH="6096000" progId="Excel.Sheet.8">
                  <p:embed/>
                  <p:pic>
                    <p:nvPicPr>
                      <p:cNvPr id="48742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1069975"/>
                        <a:ext cx="6096000" cy="42211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CS/ECE 6810 Computer Architecture</a:t>
            </a:r>
            <a:endParaRPr lang="en-US" sz="1400" dirty="0">
              <a:latin typeface="Garamond" pitchFamily="-112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537D405-F076-B245-8042-A59B4B4173C6}" type="slidenum">
              <a:rPr lang="en-US"/>
              <a:pPr>
                <a:defRPr/>
              </a:pPr>
              <a:t>23</a:t>
            </a:fld>
            <a:endParaRPr lang="en-US">
              <a:latin typeface="Garamond" pitchFamily="-112" charset="0"/>
            </a:endParaRPr>
          </a:p>
        </p:txBody>
      </p:sp>
      <p:sp>
        <p:nvSpPr>
          <p:cNvPr id="48947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/>
              <a:t>Reducing Cache Miss Penalty</a:t>
            </a:r>
            <a:endParaRPr lang="en-US" sz="900"/>
          </a:p>
        </p:txBody>
      </p:sp>
      <p:sp>
        <p:nvSpPr>
          <p:cNvPr id="48947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534400" cy="5094312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/>
              <a:t>Technique 5: second level caches (L2)</a:t>
            </a:r>
          </a:p>
          <a:p>
            <a:pPr lvl="1"/>
            <a:r>
              <a:rPr lang="en-US" sz="1600" dirty="0"/>
              <a:t>Gap between main memory and L1 cache speeds is increasing</a:t>
            </a:r>
          </a:p>
          <a:p>
            <a:pPr lvl="1"/>
            <a:endParaRPr lang="en-US" sz="1600" dirty="0"/>
          </a:p>
          <a:p>
            <a:pPr lvl="1"/>
            <a:r>
              <a:rPr lang="en-US" sz="1600" dirty="0"/>
              <a:t>L2 makes main memory appear to be faster if it captures most of the L1 cache misses</a:t>
            </a:r>
          </a:p>
          <a:p>
            <a:pPr lvl="2"/>
            <a:r>
              <a:rPr lang="en-US" sz="1400" dirty="0"/>
              <a:t>L1 miss penalty becomes L2 hit access time if hit in L2</a:t>
            </a:r>
          </a:p>
          <a:p>
            <a:pPr lvl="2"/>
            <a:r>
              <a:rPr lang="en-US" sz="1400" dirty="0"/>
              <a:t>L1 miss penalty higher if miss in L2</a:t>
            </a:r>
          </a:p>
          <a:p>
            <a:pPr lvl="2"/>
            <a:endParaRPr lang="en-US" sz="1400" dirty="0"/>
          </a:p>
          <a:p>
            <a:pPr lvl="1"/>
            <a:r>
              <a:rPr lang="en-US" sz="1600" dirty="0"/>
              <a:t>L2 considerations:</a:t>
            </a:r>
          </a:p>
          <a:p>
            <a:pPr lvl="2"/>
            <a:r>
              <a:rPr lang="en-US" sz="1400" dirty="0"/>
              <a:t>256KB – 4MB capacity (last level of cache in smartphones &amp; tablets)</a:t>
            </a:r>
          </a:p>
          <a:p>
            <a:pPr lvl="2"/>
            <a:r>
              <a:rPr lang="en-US" sz="1400" dirty="0"/>
              <a:t>~10-20 cycles access time</a:t>
            </a:r>
          </a:p>
          <a:p>
            <a:pPr lvl="2"/>
            <a:r>
              <a:rPr lang="en-US" sz="1400" dirty="0"/>
              <a:t>Higher associativity (e.g., 8-16 ways) possible. Why?</a:t>
            </a:r>
          </a:p>
          <a:p>
            <a:pPr lvl="2"/>
            <a:r>
              <a:rPr lang="en-US" sz="1400" dirty="0"/>
              <a:t>Higher miss rate than L1. Why?</a:t>
            </a:r>
          </a:p>
          <a:p>
            <a:pPr lvl="2"/>
            <a:endParaRPr lang="en-US" sz="1400" dirty="0"/>
          </a:p>
          <a:p>
            <a:pPr lvl="1"/>
            <a:r>
              <a:rPr lang="en-US" sz="1600" dirty="0"/>
              <a:t>L3 caches are common on laptop/desktop/server processors</a:t>
            </a:r>
          </a:p>
          <a:p>
            <a:pPr lvl="2"/>
            <a:r>
              <a:rPr lang="en-US" sz="1400" dirty="0"/>
              <a:t>30+ cycle access time</a:t>
            </a:r>
          </a:p>
          <a:p>
            <a:pPr lvl="2"/>
            <a:r>
              <a:rPr lang="en-US" sz="1400" dirty="0"/>
              <a:t>2-20+ MB capacity</a:t>
            </a:r>
          </a:p>
          <a:p>
            <a:pPr lvl="2"/>
            <a:r>
              <a:rPr lang="en-US" sz="1400" dirty="0"/>
              <a:t>Very high associativity (16-32 ways)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CS/ECE 6810 Computer Architecture</a:t>
            </a:r>
            <a:endParaRPr lang="en-US" sz="1400" dirty="0">
              <a:latin typeface="Garamond" pitchFamily="-112" charset="0"/>
            </a:endParaRPr>
          </a:p>
        </p:txBody>
      </p:sp>
      <p:sp>
        <p:nvSpPr>
          <p:cNvPr id="8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AB9D898-0634-F045-82E7-73277CD1F73E}" type="slidenum">
              <a:rPr lang="en-US"/>
              <a:pPr>
                <a:defRPr/>
              </a:pPr>
              <a:t>24</a:t>
            </a:fld>
            <a:endParaRPr lang="en-US">
              <a:latin typeface="Garamond" pitchFamily="-112" charset="0"/>
            </a:endParaRPr>
          </a:p>
        </p:txBody>
      </p:sp>
      <p:sp>
        <p:nvSpPr>
          <p:cNvPr id="49152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/>
              <a:t>Second Level Caches</a:t>
            </a:r>
            <a:endParaRPr lang="en-US" sz="900"/>
          </a:p>
        </p:txBody>
      </p:sp>
      <p:sp>
        <p:nvSpPr>
          <p:cNvPr id="49152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534400" cy="518160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sz="2000" dirty="0"/>
              <a:t>Memory subsystem performance:</a:t>
            </a:r>
          </a:p>
          <a:p>
            <a:pPr>
              <a:lnSpc>
                <a:spcPct val="110000"/>
              </a:lnSpc>
            </a:pPr>
            <a:endParaRPr lang="en-US" sz="2000" dirty="0"/>
          </a:p>
          <a:p>
            <a:pPr>
              <a:lnSpc>
                <a:spcPct val="110000"/>
              </a:lnSpc>
            </a:pPr>
            <a:endParaRPr lang="en-US" sz="2000" dirty="0"/>
          </a:p>
          <a:p>
            <a:pPr>
              <a:lnSpc>
                <a:spcPct val="110000"/>
              </a:lnSpc>
            </a:pPr>
            <a:endParaRPr lang="en-US" sz="2000" dirty="0"/>
          </a:p>
          <a:p>
            <a:pPr>
              <a:lnSpc>
                <a:spcPct val="110000"/>
              </a:lnSpc>
            </a:pPr>
            <a:endParaRPr lang="en-US" sz="2000" dirty="0"/>
          </a:p>
          <a:p>
            <a:pPr>
              <a:lnSpc>
                <a:spcPct val="110000"/>
              </a:lnSpc>
            </a:pPr>
            <a:endParaRPr lang="en-US" sz="2000" dirty="0"/>
          </a:p>
          <a:p>
            <a:pPr>
              <a:lnSpc>
                <a:spcPct val="110000"/>
              </a:lnSpc>
            </a:pPr>
            <a:r>
              <a:rPr lang="en-US" sz="2000" dirty="0"/>
              <a:t>Miss rates: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Local: the number of misses divided by the number of requests to the cache</a:t>
            </a:r>
          </a:p>
          <a:p>
            <a:pPr lvl="2">
              <a:lnSpc>
                <a:spcPct val="90000"/>
              </a:lnSpc>
            </a:pPr>
            <a:r>
              <a:rPr lang="en-US" sz="1600" dirty="0"/>
              <a:t>E.g., Miss rate</a:t>
            </a:r>
            <a:r>
              <a:rPr lang="en-US" sz="1600" baseline="-25000" dirty="0"/>
              <a:t>L1</a:t>
            </a:r>
            <a:r>
              <a:rPr lang="en-US" sz="1600" dirty="0"/>
              <a:t> and Miss rate</a:t>
            </a:r>
            <a:r>
              <a:rPr lang="en-US" sz="1600" baseline="-25000" dirty="0"/>
              <a:t>L2</a:t>
            </a:r>
            <a:r>
              <a:rPr lang="en-US" sz="1600" dirty="0"/>
              <a:t> in the equations above</a:t>
            </a:r>
          </a:p>
          <a:p>
            <a:pPr lvl="2">
              <a:lnSpc>
                <a:spcPct val="90000"/>
              </a:lnSpc>
            </a:pPr>
            <a:r>
              <a:rPr lang="en-US" sz="1600" dirty="0"/>
              <a:t>Usually not so small for lower level caches</a:t>
            </a:r>
          </a:p>
          <a:p>
            <a:pPr lvl="1">
              <a:lnSpc>
                <a:spcPct val="90000"/>
              </a:lnSpc>
              <a:spcBef>
                <a:spcPts val="1032"/>
              </a:spcBef>
            </a:pPr>
            <a:r>
              <a:rPr lang="en-US" sz="1800" dirty="0"/>
              <a:t>Global: the number of misses divided by the total number of requests from the CPU</a:t>
            </a:r>
          </a:p>
          <a:p>
            <a:pPr lvl="2">
              <a:lnSpc>
                <a:spcPct val="90000"/>
              </a:lnSpc>
            </a:pPr>
            <a:r>
              <a:rPr lang="en-US" sz="1600" dirty="0" err="1"/>
              <a:t>E.g</a:t>
            </a:r>
            <a:r>
              <a:rPr lang="en-US" sz="1600" dirty="0"/>
              <a:t>, L2 global miss rate = Miss rate</a:t>
            </a:r>
            <a:r>
              <a:rPr lang="en-US" sz="1600" baseline="-25000" dirty="0"/>
              <a:t>L1</a:t>
            </a:r>
            <a:r>
              <a:rPr lang="en-US" sz="1600" dirty="0"/>
              <a:t> x Miss rate</a:t>
            </a:r>
            <a:r>
              <a:rPr lang="en-US" sz="1600" baseline="-25000" dirty="0"/>
              <a:t>L2</a:t>
            </a:r>
            <a:endParaRPr lang="en-US" sz="1600" dirty="0"/>
          </a:p>
          <a:p>
            <a:pPr lvl="2">
              <a:lnSpc>
                <a:spcPct val="90000"/>
              </a:lnSpc>
            </a:pPr>
            <a:r>
              <a:rPr lang="en-US" sz="1600" dirty="0"/>
              <a:t>Represents the aggregate effectiveness of the cache hierarchy</a:t>
            </a:r>
            <a:endParaRPr lang="en-US" sz="1600" baseline="-25000" dirty="0"/>
          </a:p>
        </p:txBody>
      </p:sp>
      <p:sp>
        <p:nvSpPr>
          <p:cNvPr id="491526" name="Text Box 5"/>
          <p:cNvSpPr txBox="1">
            <a:spLocks noChangeArrowheads="1"/>
          </p:cNvSpPr>
          <p:nvPr/>
        </p:nvSpPr>
        <p:spPr bwMode="auto">
          <a:xfrm>
            <a:off x="1603375" y="1676400"/>
            <a:ext cx="5900738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/>
            <a:r>
              <a:rPr lang="en-GB" sz="1800"/>
              <a:t>Avg. mem. time = Hit time</a:t>
            </a:r>
            <a:r>
              <a:rPr lang="en-GB" sz="1800" baseline="-25000"/>
              <a:t>L1</a:t>
            </a:r>
            <a:r>
              <a:rPr lang="en-GB" sz="1800"/>
              <a:t> + Miss rate</a:t>
            </a:r>
            <a:r>
              <a:rPr lang="en-GB" sz="1800" baseline="-25000"/>
              <a:t>L1</a:t>
            </a:r>
            <a:r>
              <a:rPr lang="en-GB" sz="1800"/>
              <a:t> x </a:t>
            </a:r>
            <a:r>
              <a:rPr lang="en-GB" sz="1800">
                <a:solidFill>
                  <a:srgbClr val="FF0000"/>
                </a:solidFill>
              </a:rPr>
              <a:t>Miss penalty</a:t>
            </a:r>
            <a:r>
              <a:rPr lang="en-GB" sz="1800" baseline="-25000">
                <a:solidFill>
                  <a:srgbClr val="FF0000"/>
                </a:solidFill>
              </a:rPr>
              <a:t>L1</a:t>
            </a:r>
          </a:p>
        </p:txBody>
      </p:sp>
      <p:sp>
        <p:nvSpPr>
          <p:cNvPr id="491527" name="Text Box 6"/>
          <p:cNvSpPr txBox="1">
            <a:spLocks noChangeArrowheads="1"/>
          </p:cNvSpPr>
          <p:nvPr/>
        </p:nvSpPr>
        <p:spPr bwMode="auto">
          <a:xfrm>
            <a:off x="1665288" y="2209800"/>
            <a:ext cx="5780087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/>
            <a:r>
              <a:rPr lang="en-GB" sz="1800">
                <a:solidFill>
                  <a:srgbClr val="FF0000"/>
                </a:solidFill>
              </a:rPr>
              <a:t>Miss penalty</a:t>
            </a:r>
            <a:r>
              <a:rPr lang="en-GB" sz="1800" baseline="-25000">
                <a:solidFill>
                  <a:srgbClr val="FF0000"/>
                </a:solidFill>
              </a:rPr>
              <a:t>L1</a:t>
            </a:r>
            <a:r>
              <a:rPr lang="en-GB" sz="1800"/>
              <a:t> = Hit time</a:t>
            </a:r>
            <a:r>
              <a:rPr lang="en-GB" sz="1800" baseline="-25000"/>
              <a:t>L2</a:t>
            </a:r>
            <a:r>
              <a:rPr lang="en-GB" sz="1800"/>
              <a:t> + Miss rate</a:t>
            </a:r>
            <a:r>
              <a:rPr lang="en-GB" sz="1800" baseline="-25000"/>
              <a:t>L2</a:t>
            </a:r>
            <a:r>
              <a:rPr lang="en-GB" sz="1800"/>
              <a:t> x Miss penalty</a:t>
            </a:r>
            <a:r>
              <a:rPr lang="en-GB" sz="1800" baseline="-25000"/>
              <a:t>L2</a:t>
            </a:r>
          </a:p>
        </p:txBody>
      </p:sp>
      <p:sp>
        <p:nvSpPr>
          <p:cNvPr id="491528" name="Text Box 7"/>
          <p:cNvSpPr txBox="1">
            <a:spLocks noChangeArrowheads="1"/>
          </p:cNvSpPr>
          <p:nvPr/>
        </p:nvSpPr>
        <p:spPr bwMode="auto">
          <a:xfrm>
            <a:off x="123825" y="2887663"/>
            <a:ext cx="8874125" cy="3667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/>
            <a:r>
              <a:rPr lang="en-GB" sz="1800">
                <a:sym typeface="Symbol" pitchFamily="-112" charset="2"/>
              </a:rPr>
              <a:t> </a:t>
            </a:r>
            <a:r>
              <a:rPr lang="en-GB" sz="1800"/>
              <a:t>Avg. mem. time = Hit time</a:t>
            </a:r>
            <a:r>
              <a:rPr lang="en-GB" sz="1800" baseline="-25000"/>
              <a:t>L1</a:t>
            </a:r>
            <a:r>
              <a:rPr lang="en-GB" sz="1800"/>
              <a:t> + Miss rate</a:t>
            </a:r>
            <a:r>
              <a:rPr lang="en-GB" sz="1800" baseline="-25000"/>
              <a:t>L1</a:t>
            </a:r>
            <a:r>
              <a:rPr lang="en-GB" sz="1800"/>
              <a:t> x (Hit time</a:t>
            </a:r>
            <a:r>
              <a:rPr lang="en-GB" sz="1800" baseline="-25000"/>
              <a:t>L2</a:t>
            </a:r>
            <a:r>
              <a:rPr lang="en-GB" sz="1800"/>
              <a:t> + Miss rate</a:t>
            </a:r>
            <a:r>
              <a:rPr lang="en-GB" sz="1800" baseline="-25000"/>
              <a:t>L2</a:t>
            </a:r>
            <a:r>
              <a:rPr lang="en-GB" sz="1800"/>
              <a:t> x Miss penalty</a:t>
            </a:r>
            <a:r>
              <a:rPr lang="en-GB" sz="1800" baseline="-25000"/>
              <a:t>L2</a:t>
            </a:r>
            <a:r>
              <a:rPr lang="en-GB" sz="1800"/>
              <a:t>)</a:t>
            </a:r>
            <a:endParaRPr lang="en-GB" sz="1800" baseline="-25000"/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CS/ECE 6810 Computer Architecture</a:t>
            </a:r>
            <a:endParaRPr lang="en-US" sz="1400" dirty="0">
              <a:latin typeface="Garamond" pitchFamily="-112" charset="0"/>
            </a:endParaRPr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1D520E3-8CCA-6448-BE88-CB327AD0BEEE}" type="slidenum">
              <a:rPr lang="en-US"/>
              <a:pPr>
                <a:defRPr/>
              </a:pPr>
              <a:t>25</a:t>
            </a:fld>
            <a:endParaRPr lang="en-US">
              <a:latin typeface="Garamond" pitchFamily="-112" charset="0"/>
            </a:endParaRPr>
          </a:p>
        </p:txBody>
      </p:sp>
      <p:sp>
        <p:nvSpPr>
          <p:cNvPr id="4935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/>
              <a:t>Cache Misses vs. L2 size</a:t>
            </a:r>
            <a:endParaRPr lang="en-US" sz="900"/>
          </a:p>
        </p:txBody>
      </p:sp>
      <p:sp>
        <p:nvSpPr>
          <p:cNvPr id="493574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533400" y="5257800"/>
            <a:ext cx="8178800" cy="1267544"/>
          </a:xfrm>
          <a:noFill/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0000"/>
                </a:solidFill>
              </a:rPr>
              <a:t>L2 caches must be much bigger than L1</a:t>
            </a:r>
          </a:p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0000"/>
                </a:solidFill>
              </a:rPr>
              <a:t>Local miss rates for L2 are larger than for L1 and are not a good measure of overall performance</a:t>
            </a:r>
          </a:p>
        </p:txBody>
      </p:sp>
      <p:sp>
        <p:nvSpPr>
          <p:cNvPr id="493575" name="Text Box 6"/>
          <p:cNvSpPr txBox="1">
            <a:spLocks noChangeArrowheads="1"/>
          </p:cNvSpPr>
          <p:nvPr/>
        </p:nvSpPr>
        <p:spPr bwMode="auto">
          <a:xfrm>
            <a:off x="7918450" y="4572000"/>
            <a:ext cx="993775" cy="6413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/>
            <a:r>
              <a:rPr lang="en-GB" sz="1800"/>
              <a:t>H&amp;P</a:t>
            </a:r>
          </a:p>
          <a:p>
            <a:pPr algn="ctr"/>
            <a:r>
              <a:rPr lang="en-GB" sz="1800"/>
              <a:t>Fig. 5.10</a:t>
            </a:r>
          </a:p>
        </p:txBody>
      </p:sp>
      <p:graphicFrame>
        <p:nvGraphicFramePr>
          <p:cNvPr id="493570" name="Object 2"/>
          <p:cNvGraphicFramePr>
            <a:graphicFrameLocks noChangeAspect="1"/>
          </p:cNvGraphicFramePr>
          <p:nvPr/>
        </p:nvGraphicFramePr>
        <p:xfrm>
          <a:off x="1311275" y="1400175"/>
          <a:ext cx="5911850" cy="363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4787900" imgH="2946400" progId="Excel.Sheet.8">
                  <p:embed/>
                </p:oleObj>
              </mc:Choice>
              <mc:Fallback>
                <p:oleObj name="Worksheet" r:id="rId3" imgW="4787900" imgH="2946400" progId="Excel.Sheet.8">
                  <p:embed/>
                  <p:pic>
                    <p:nvPicPr>
                      <p:cNvPr id="49357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1275" y="1400175"/>
                        <a:ext cx="5911850" cy="3632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6228184" y="2276872"/>
            <a:ext cx="29158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Secondary working </a:t>
            </a:r>
            <a:br>
              <a:rPr lang="en-US" sz="2000" dirty="0">
                <a:solidFill>
                  <a:srgbClr val="FF0000"/>
                </a:solidFill>
              </a:rPr>
            </a:br>
            <a:r>
              <a:rPr lang="en-US" sz="2000" dirty="0">
                <a:solidFill>
                  <a:srgbClr val="FF0000"/>
                </a:solidFill>
              </a:rPr>
              <a:t>set accommodated</a:t>
            </a:r>
          </a:p>
        </p:txBody>
      </p:sp>
      <p:sp>
        <p:nvSpPr>
          <p:cNvPr id="5" name="Freeform 4"/>
          <p:cNvSpPr/>
          <p:nvPr/>
        </p:nvSpPr>
        <p:spPr>
          <a:xfrm>
            <a:off x="5148064" y="2657732"/>
            <a:ext cx="1087060" cy="369315"/>
          </a:xfrm>
          <a:custGeom>
            <a:avLst/>
            <a:gdLst>
              <a:gd name="connsiteX0" fmla="*/ 576000 w 576000"/>
              <a:gd name="connsiteY0" fmla="*/ 0 h 562103"/>
              <a:gd name="connsiteX1" fmla="*/ 353928 w 576000"/>
              <a:gd name="connsiteY1" fmla="*/ 69396 h 562103"/>
              <a:gd name="connsiteX2" fmla="*/ 173494 w 576000"/>
              <a:gd name="connsiteY2" fmla="*/ 229005 h 562103"/>
              <a:gd name="connsiteX3" fmla="*/ 0 w 576000"/>
              <a:gd name="connsiteY3" fmla="*/ 562103 h 562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6000" h="562103">
                <a:moveTo>
                  <a:pt x="576000" y="0"/>
                </a:moveTo>
                <a:cubicBezTo>
                  <a:pt x="498506" y="15614"/>
                  <a:pt x="421012" y="31229"/>
                  <a:pt x="353928" y="69396"/>
                </a:cubicBezTo>
                <a:cubicBezTo>
                  <a:pt x="286844" y="107564"/>
                  <a:pt x="232482" y="146887"/>
                  <a:pt x="173494" y="229005"/>
                </a:cubicBezTo>
                <a:cubicBezTo>
                  <a:pt x="114506" y="311123"/>
                  <a:pt x="0" y="562103"/>
                  <a:pt x="0" y="562103"/>
                </a:cubicBezTo>
              </a:path>
            </a:pathLst>
          </a:custGeom>
          <a:ln w="28575" cmpd="sng">
            <a:solidFill>
              <a:srgbClr val="FF0000"/>
            </a:solidFill>
            <a:tailEnd type="stealth" w="lg" len="med"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Garamond" pitchFamily="-112" charset="0"/>
            </a:endParaRPr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CS/ECE 6810 Computer Architecture</a:t>
            </a:r>
            <a:endParaRPr lang="en-US" sz="1400" dirty="0">
              <a:latin typeface="Garamond" pitchFamily="-112" charset="0"/>
            </a:endParaRPr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50F2C45-9114-6D4D-966A-707A7023F000}" type="slidenum">
              <a:rPr lang="en-US"/>
              <a:pPr>
                <a:defRPr/>
              </a:pPr>
              <a:t>26</a:t>
            </a:fld>
            <a:endParaRPr lang="en-US">
              <a:latin typeface="Garamond" pitchFamily="-112" charset="0"/>
            </a:endParaRPr>
          </a:p>
        </p:txBody>
      </p:sp>
      <p:sp>
        <p:nvSpPr>
          <p:cNvPr id="475140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sz="2000"/>
              <a:t>Cache Performance II</a:t>
            </a:r>
          </a:p>
        </p:txBody>
      </p:sp>
      <p:sp>
        <p:nvSpPr>
          <p:cNvPr id="47514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382000" cy="4343400"/>
          </a:xfrm>
        </p:spPr>
        <p:txBody>
          <a:bodyPr/>
          <a:lstStyle/>
          <a:p>
            <a:r>
              <a:rPr lang="en-US" sz="1800" dirty="0"/>
              <a:t>Memory system and processor performance:</a:t>
            </a:r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r>
              <a:rPr lang="en-US" sz="1800" dirty="0"/>
              <a:t>Improving memory hierarchy performance:</a:t>
            </a:r>
          </a:p>
          <a:p>
            <a:pPr lvl="1">
              <a:buClr>
                <a:schemeClr val="tx1"/>
              </a:buClr>
            </a:pPr>
            <a:r>
              <a:rPr lang="en-US" sz="1600" dirty="0">
                <a:solidFill>
                  <a:srgbClr val="FF0000"/>
                </a:solidFill>
                <a:sym typeface="Symbol" pitchFamily="-112" charset="2"/>
              </a:rPr>
              <a:t>Decrease hit time</a:t>
            </a:r>
          </a:p>
          <a:p>
            <a:pPr lvl="1"/>
            <a:r>
              <a:rPr lang="en-US" sz="1600" dirty="0">
                <a:sym typeface="Symbol" pitchFamily="-112" charset="2"/>
              </a:rPr>
              <a:t>Decrease miss rate (block size, prefetching, associativity, compiler)</a:t>
            </a:r>
          </a:p>
          <a:p>
            <a:pPr lvl="1"/>
            <a:r>
              <a:rPr lang="en-US" sz="1600" dirty="0">
                <a:sym typeface="Symbol" pitchFamily="-112" charset="2"/>
              </a:rPr>
              <a:t>Decrease miss penalty (victim caches, reads over writes, prioritize critical word, non-blocking caches, additional cache levels)</a:t>
            </a:r>
          </a:p>
        </p:txBody>
      </p:sp>
      <p:sp>
        <p:nvSpPr>
          <p:cNvPr id="475142" name="Text Box 5"/>
          <p:cNvSpPr txBox="1">
            <a:spLocks noChangeArrowheads="1"/>
          </p:cNvSpPr>
          <p:nvPr/>
        </p:nvSpPr>
        <p:spPr bwMode="auto">
          <a:xfrm>
            <a:off x="1219200" y="1676400"/>
            <a:ext cx="3479800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GB" sz="1800"/>
              <a:t>CPU time = IC </a:t>
            </a:r>
            <a:r>
              <a:rPr lang="en-GB" sz="1200"/>
              <a:t>x</a:t>
            </a:r>
            <a:r>
              <a:rPr lang="en-GB" sz="1800"/>
              <a:t> CPI </a:t>
            </a:r>
            <a:r>
              <a:rPr lang="en-GB" sz="1200"/>
              <a:t>x</a:t>
            </a:r>
            <a:r>
              <a:rPr lang="en-GB" sz="1800"/>
              <a:t> Clock time</a:t>
            </a:r>
          </a:p>
        </p:txBody>
      </p:sp>
      <p:sp>
        <p:nvSpPr>
          <p:cNvPr id="475143" name="Text Box 6"/>
          <p:cNvSpPr txBox="1">
            <a:spLocks noChangeArrowheads="1"/>
          </p:cNvSpPr>
          <p:nvPr/>
        </p:nvSpPr>
        <p:spPr bwMode="auto">
          <a:xfrm>
            <a:off x="152400" y="2133600"/>
            <a:ext cx="5429250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GB" sz="1800"/>
              <a:t>Avg. mem. time = Hit time + Miss rate x Miss penalty</a:t>
            </a:r>
            <a:endParaRPr lang="en-GB" sz="1800">
              <a:solidFill>
                <a:srgbClr val="FF0000"/>
              </a:solidFill>
            </a:endParaRPr>
          </a:p>
        </p:txBody>
      </p:sp>
      <p:sp>
        <p:nvSpPr>
          <p:cNvPr id="475144" name="Line 7"/>
          <p:cNvSpPr>
            <a:spLocks noChangeShapeType="1"/>
          </p:cNvSpPr>
          <p:nvPr/>
        </p:nvSpPr>
        <p:spPr bwMode="auto">
          <a:xfrm>
            <a:off x="4724400" y="1905000"/>
            <a:ext cx="3810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5145" name="Text Box 8"/>
          <p:cNvSpPr txBox="1">
            <a:spLocks noChangeArrowheads="1"/>
          </p:cNvSpPr>
          <p:nvPr/>
        </p:nvSpPr>
        <p:spPr bwMode="auto">
          <a:xfrm>
            <a:off x="5257800" y="1676400"/>
            <a:ext cx="2408238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GB" sz="1800"/>
              <a:t>CPU performance eqn.</a:t>
            </a:r>
            <a:endParaRPr lang="en-GB" sz="1800">
              <a:solidFill>
                <a:srgbClr val="FF0000"/>
              </a:solidFill>
            </a:endParaRPr>
          </a:p>
        </p:txBody>
      </p:sp>
      <p:sp>
        <p:nvSpPr>
          <p:cNvPr id="475146" name="Line 9"/>
          <p:cNvSpPr>
            <a:spLocks noChangeShapeType="1"/>
          </p:cNvSpPr>
          <p:nvPr/>
        </p:nvSpPr>
        <p:spPr bwMode="auto">
          <a:xfrm>
            <a:off x="5638800" y="2362200"/>
            <a:ext cx="3810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5147" name="Text Box 10"/>
          <p:cNvSpPr txBox="1">
            <a:spLocks noChangeArrowheads="1"/>
          </p:cNvSpPr>
          <p:nvPr/>
        </p:nvSpPr>
        <p:spPr bwMode="auto">
          <a:xfrm>
            <a:off x="6172200" y="2133600"/>
            <a:ext cx="2754313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GB" sz="1800"/>
              <a:t>Memory performance eqn.</a:t>
            </a:r>
            <a:endParaRPr lang="en-GB" sz="18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5229007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CS/ECE 6810 Computer Architecture</a:t>
            </a:r>
            <a:endParaRPr lang="en-US" sz="1400" dirty="0">
              <a:latin typeface="Garamond" pitchFamily="-112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C3789A7-F536-8843-98BA-485A3E9892BF}" type="slidenum">
              <a:rPr lang="en-US"/>
              <a:pPr>
                <a:defRPr/>
              </a:pPr>
              <a:t>27</a:t>
            </a:fld>
            <a:endParaRPr lang="en-US">
              <a:latin typeface="Garamond" pitchFamily="-112" charset="0"/>
            </a:endParaRPr>
          </a:p>
        </p:txBody>
      </p:sp>
      <p:sp>
        <p:nvSpPr>
          <p:cNvPr id="49562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/>
              <a:t>Reducing Cache Hit Time</a:t>
            </a:r>
            <a:endParaRPr lang="en-US" sz="900"/>
          </a:p>
        </p:txBody>
      </p:sp>
      <p:sp>
        <p:nvSpPr>
          <p:cNvPr id="49562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560" y="1143000"/>
            <a:ext cx="7920880" cy="4343400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/>
              <a:t>Technique 1: small and simple caches</a:t>
            </a:r>
          </a:p>
          <a:p>
            <a:endParaRPr lang="en-US" sz="1800" dirty="0"/>
          </a:p>
          <a:p>
            <a:pPr lvl="1"/>
            <a:r>
              <a:rPr lang="en-US" sz="1600" dirty="0"/>
              <a:t>Small caches are compact </a:t>
            </a:r>
            <a:r>
              <a:rPr lang="en-US" sz="1600" dirty="0">
                <a:sym typeface="Wingdings"/>
              </a:rPr>
              <a:t> have short wire spans</a:t>
            </a:r>
          </a:p>
          <a:p>
            <a:pPr lvl="2"/>
            <a:r>
              <a:rPr lang="en-US" sz="1400" dirty="0">
                <a:sym typeface="Wingdings"/>
              </a:rPr>
              <a:t>Wires are slow </a:t>
            </a:r>
            <a:endParaRPr lang="en-US" sz="1400" dirty="0">
              <a:sym typeface="Symbol" pitchFamily="-112" charset="2"/>
            </a:endParaRPr>
          </a:p>
          <a:p>
            <a:pPr lvl="1"/>
            <a:endParaRPr lang="en-US" sz="1600" dirty="0">
              <a:sym typeface="Symbol" pitchFamily="-112" charset="2"/>
            </a:endParaRPr>
          </a:p>
          <a:p>
            <a:pPr lvl="1"/>
            <a:r>
              <a:rPr lang="en-US" sz="1600" dirty="0">
                <a:sym typeface="Symbol" pitchFamily="-112" charset="2"/>
              </a:rPr>
              <a:t>Low associativity caches have few tags to compare against the requested data</a:t>
            </a:r>
          </a:p>
          <a:p>
            <a:pPr lvl="1"/>
            <a:endParaRPr lang="en-US" sz="1600" dirty="0">
              <a:sym typeface="Symbol" pitchFamily="-112" charset="2"/>
            </a:endParaRPr>
          </a:p>
          <a:p>
            <a:pPr lvl="1"/>
            <a:r>
              <a:rPr lang="en-US" sz="1600" dirty="0">
                <a:sym typeface="Symbol" pitchFamily="-112" charset="2"/>
              </a:rPr>
              <a:t>Direct mapped caches have only one tag to compare and comparison can be done in parallel with the fetch of the data</a:t>
            </a:r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CS/ECE 6810 Computer Architecture</a:t>
            </a:r>
            <a:endParaRPr lang="en-US" sz="1400" dirty="0">
              <a:latin typeface="Garamond" pitchFamily="-112" charset="0"/>
            </a:endParaRPr>
          </a:p>
        </p:txBody>
      </p:sp>
      <p:sp>
        <p:nvSpPr>
          <p:cNvPr id="34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73D0F5C-4108-204D-9547-96BC24E1DC7E}" type="slidenum">
              <a:rPr lang="en-US"/>
              <a:pPr>
                <a:defRPr/>
              </a:pPr>
              <a:t>28</a:t>
            </a:fld>
            <a:endParaRPr lang="en-US">
              <a:latin typeface="Garamond" pitchFamily="-112" charset="0"/>
            </a:endParaRPr>
          </a:p>
        </p:txBody>
      </p:sp>
      <p:sp>
        <p:nvSpPr>
          <p:cNvPr id="49766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/>
              <a:t>Reducing Cache Hit Time</a:t>
            </a:r>
            <a:endParaRPr lang="en-US" sz="900"/>
          </a:p>
        </p:txBody>
      </p:sp>
      <p:sp>
        <p:nvSpPr>
          <p:cNvPr id="49766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382000" cy="4343400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/>
              <a:t>Technique 2: </a:t>
            </a:r>
            <a:r>
              <a:rPr lang="en-US" sz="1800" u="sng" dirty="0">
                <a:solidFill>
                  <a:srgbClr val="FF0000"/>
                </a:solidFill>
              </a:rPr>
              <a:t>virtual address caches</a:t>
            </a:r>
          </a:p>
          <a:p>
            <a:pPr lvl="1">
              <a:spcBef>
                <a:spcPts val="600"/>
              </a:spcBef>
            </a:pPr>
            <a:r>
              <a:rPr lang="en-US" sz="1600" dirty="0">
                <a:sym typeface="Symbol" pitchFamily="-112" charset="2"/>
              </a:rPr>
              <a:t>Programs use virtual addresses for data, while main memory uses physical addresses  addresses from processor must be translated at some point</a:t>
            </a:r>
          </a:p>
          <a:p>
            <a:pPr lvl="1">
              <a:spcBef>
                <a:spcPts val="600"/>
              </a:spcBef>
            </a:pPr>
            <a:r>
              <a:rPr lang="en-US" sz="1600" dirty="0">
                <a:sym typeface="Symbol" pitchFamily="-112" charset="2"/>
              </a:rPr>
              <a:t>Option 1: </a:t>
            </a:r>
            <a:r>
              <a:rPr lang="en-US" sz="1600" u="sng" dirty="0">
                <a:solidFill>
                  <a:srgbClr val="FF0000"/>
                </a:solidFill>
                <a:sym typeface="Symbol" pitchFamily="-112" charset="2"/>
              </a:rPr>
              <a:t>physical address caches</a:t>
            </a:r>
            <a:r>
              <a:rPr lang="en-US" sz="1600" dirty="0">
                <a:sym typeface="Symbol" pitchFamily="-112" charset="2"/>
              </a:rPr>
              <a:t>  perform address translation before cache access</a:t>
            </a:r>
          </a:p>
          <a:p>
            <a:pPr lvl="2"/>
            <a:r>
              <a:rPr lang="en-US" sz="1400" u="sng" dirty="0">
                <a:sym typeface="Symbol" pitchFamily="-112" charset="2"/>
              </a:rPr>
              <a:t>Hit time is increased to accommodate translation</a:t>
            </a:r>
          </a:p>
        </p:txBody>
      </p:sp>
      <p:grpSp>
        <p:nvGrpSpPr>
          <p:cNvPr id="497670" name="Group 5"/>
          <p:cNvGrpSpPr>
            <a:grpSpLocks/>
          </p:cNvGrpSpPr>
          <p:nvPr/>
        </p:nvGrpSpPr>
        <p:grpSpPr bwMode="auto">
          <a:xfrm>
            <a:off x="1905000" y="3657600"/>
            <a:ext cx="654050" cy="533400"/>
            <a:chOff x="432" y="2784"/>
            <a:chExt cx="412" cy="336"/>
          </a:xfrm>
        </p:grpSpPr>
        <p:sp>
          <p:nvSpPr>
            <p:cNvPr id="497697" name="Oval 6"/>
            <p:cNvSpPr>
              <a:spLocks noChangeArrowheads="1"/>
            </p:cNvSpPr>
            <p:nvPr/>
          </p:nvSpPr>
          <p:spPr bwMode="auto">
            <a:xfrm>
              <a:off x="446" y="2784"/>
              <a:ext cx="384" cy="33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7698" name="Text Box 7"/>
            <p:cNvSpPr txBox="1">
              <a:spLocks noChangeArrowheads="1"/>
            </p:cNvSpPr>
            <p:nvPr/>
          </p:nvSpPr>
          <p:spPr bwMode="auto">
            <a:xfrm>
              <a:off x="432" y="2832"/>
              <a:ext cx="412" cy="231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GB" sz="1800"/>
                <a:t>CPU</a:t>
              </a:r>
              <a:endParaRPr lang="en-GB" sz="1800">
                <a:solidFill>
                  <a:srgbClr val="FF0000"/>
                </a:solidFill>
              </a:endParaRPr>
            </a:p>
          </p:txBody>
        </p:sp>
      </p:grpSp>
      <p:sp>
        <p:nvSpPr>
          <p:cNvPr id="497671" name="Rectangle 8"/>
          <p:cNvSpPr>
            <a:spLocks noChangeArrowheads="1"/>
          </p:cNvSpPr>
          <p:nvPr/>
        </p:nvSpPr>
        <p:spPr bwMode="auto">
          <a:xfrm>
            <a:off x="4191000" y="4495800"/>
            <a:ext cx="381000" cy="8382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97672" name="Rectangle 9"/>
          <p:cNvSpPr>
            <a:spLocks noChangeArrowheads="1"/>
          </p:cNvSpPr>
          <p:nvPr/>
        </p:nvSpPr>
        <p:spPr bwMode="auto">
          <a:xfrm>
            <a:off x="4572000" y="4495800"/>
            <a:ext cx="685800" cy="8382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97673" name="Text Box 10"/>
          <p:cNvSpPr txBox="1">
            <a:spLocks noChangeArrowheads="1"/>
          </p:cNvSpPr>
          <p:nvPr/>
        </p:nvSpPr>
        <p:spPr bwMode="auto">
          <a:xfrm>
            <a:off x="4191000" y="4114800"/>
            <a:ext cx="1035050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GB" sz="1800"/>
              <a:t>L1 cache</a:t>
            </a:r>
            <a:endParaRPr lang="en-GB" sz="1800">
              <a:solidFill>
                <a:srgbClr val="FF0000"/>
              </a:solidFill>
            </a:endParaRPr>
          </a:p>
        </p:txBody>
      </p:sp>
      <p:sp>
        <p:nvSpPr>
          <p:cNvPr id="497674" name="Text Box 11"/>
          <p:cNvSpPr txBox="1">
            <a:spLocks noChangeArrowheads="1"/>
          </p:cNvSpPr>
          <p:nvPr/>
        </p:nvSpPr>
        <p:spPr bwMode="auto">
          <a:xfrm>
            <a:off x="4114800" y="4724400"/>
            <a:ext cx="488950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GB" sz="1800"/>
              <a:t>tag</a:t>
            </a:r>
            <a:endParaRPr lang="en-GB" sz="1800">
              <a:solidFill>
                <a:srgbClr val="FF0000"/>
              </a:solidFill>
            </a:endParaRPr>
          </a:p>
        </p:txBody>
      </p:sp>
      <p:sp>
        <p:nvSpPr>
          <p:cNvPr id="497675" name="Text Box 12"/>
          <p:cNvSpPr txBox="1">
            <a:spLocks noChangeArrowheads="1"/>
          </p:cNvSpPr>
          <p:nvPr/>
        </p:nvSpPr>
        <p:spPr bwMode="auto">
          <a:xfrm>
            <a:off x="4648200" y="4724400"/>
            <a:ext cx="600075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GB" sz="1800"/>
              <a:t>data</a:t>
            </a:r>
            <a:endParaRPr lang="en-GB" sz="1800">
              <a:solidFill>
                <a:srgbClr val="FF0000"/>
              </a:solidFill>
            </a:endParaRPr>
          </a:p>
        </p:txBody>
      </p:sp>
      <p:grpSp>
        <p:nvGrpSpPr>
          <p:cNvPr id="497676" name="Group 13"/>
          <p:cNvGrpSpPr>
            <a:grpSpLocks/>
          </p:cNvGrpSpPr>
          <p:nvPr/>
        </p:nvGrpSpPr>
        <p:grpSpPr bwMode="auto">
          <a:xfrm>
            <a:off x="4267200" y="5638800"/>
            <a:ext cx="304800" cy="366713"/>
            <a:chOff x="3936" y="2932"/>
            <a:chExt cx="192" cy="231"/>
          </a:xfrm>
        </p:grpSpPr>
        <p:sp>
          <p:nvSpPr>
            <p:cNvPr id="497695" name="Oval 14"/>
            <p:cNvSpPr>
              <a:spLocks noChangeArrowheads="1"/>
            </p:cNvSpPr>
            <p:nvPr/>
          </p:nvSpPr>
          <p:spPr bwMode="auto">
            <a:xfrm>
              <a:off x="3936" y="2952"/>
              <a:ext cx="192" cy="192"/>
            </a:xfrm>
            <a:prstGeom prst="ellipse">
              <a:avLst/>
            </a:prstGeom>
            <a:solidFill>
              <a:srgbClr val="FF0000">
                <a:alpha val="30196"/>
              </a:srgbClr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7696" name="Text Box 15"/>
            <p:cNvSpPr txBox="1">
              <a:spLocks noChangeArrowheads="1"/>
            </p:cNvSpPr>
            <p:nvPr/>
          </p:nvSpPr>
          <p:spPr bwMode="auto">
            <a:xfrm>
              <a:off x="3944" y="2932"/>
              <a:ext cx="176" cy="231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GB" sz="1800"/>
                <a:t>?</a:t>
              </a:r>
              <a:endParaRPr lang="en-GB" sz="1800">
                <a:solidFill>
                  <a:srgbClr val="FF0000"/>
                </a:solidFill>
              </a:endParaRPr>
            </a:p>
          </p:txBody>
        </p:sp>
      </p:grpSp>
      <p:sp>
        <p:nvSpPr>
          <p:cNvPr id="497677" name="Line 16"/>
          <p:cNvSpPr>
            <a:spLocks noChangeShapeType="1"/>
          </p:cNvSpPr>
          <p:nvPr/>
        </p:nvSpPr>
        <p:spPr bwMode="auto">
          <a:xfrm flipH="1">
            <a:off x="3886200" y="4800600"/>
            <a:ext cx="304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none" w="sm" len="sm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97678" name="Line 17"/>
          <p:cNvSpPr>
            <a:spLocks noChangeShapeType="1"/>
          </p:cNvSpPr>
          <p:nvPr/>
        </p:nvSpPr>
        <p:spPr bwMode="auto">
          <a:xfrm>
            <a:off x="3429000" y="3962400"/>
            <a:ext cx="3657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97679" name="Line 18"/>
          <p:cNvSpPr>
            <a:spLocks noChangeShapeType="1"/>
          </p:cNvSpPr>
          <p:nvPr/>
        </p:nvSpPr>
        <p:spPr bwMode="auto">
          <a:xfrm flipV="1">
            <a:off x="3886200" y="3962400"/>
            <a:ext cx="0" cy="1828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97680" name="Line 19"/>
          <p:cNvSpPr>
            <a:spLocks noChangeShapeType="1"/>
          </p:cNvSpPr>
          <p:nvPr/>
        </p:nvSpPr>
        <p:spPr bwMode="auto">
          <a:xfrm rot="5400000" flipH="1">
            <a:off x="4267200" y="5486400"/>
            <a:ext cx="304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none" w="sm" len="sm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97681" name="Line 20"/>
          <p:cNvSpPr>
            <a:spLocks noChangeShapeType="1"/>
          </p:cNvSpPr>
          <p:nvPr/>
        </p:nvSpPr>
        <p:spPr bwMode="auto">
          <a:xfrm flipH="1">
            <a:off x="3886200" y="5791200"/>
            <a:ext cx="381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none" w="sm" len="sm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97682" name="Line 21"/>
          <p:cNvSpPr>
            <a:spLocks noChangeShapeType="1"/>
          </p:cNvSpPr>
          <p:nvPr/>
        </p:nvSpPr>
        <p:spPr bwMode="auto">
          <a:xfrm>
            <a:off x="4876800" y="5334000"/>
            <a:ext cx="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97683" name="Line 22"/>
          <p:cNvSpPr>
            <a:spLocks noChangeShapeType="1"/>
          </p:cNvSpPr>
          <p:nvPr/>
        </p:nvSpPr>
        <p:spPr bwMode="auto">
          <a:xfrm flipH="1">
            <a:off x="2209800" y="6172200"/>
            <a:ext cx="2667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97684" name="Line 23"/>
          <p:cNvSpPr>
            <a:spLocks noChangeShapeType="1"/>
          </p:cNvSpPr>
          <p:nvPr/>
        </p:nvSpPr>
        <p:spPr bwMode="auto">
          <a:xfrm flipV="1">
            <a:off x="2209800" y="4191000"/>
            <a:ext cx="0" cy="1981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497685" name="Group 24"/>
          <p:cNvGrpSpPr>
            <a:grpSpLocks/>
          </p:cNvGrpSpPr>
          <p:nvPr/>
        </p:nvGrpSpPr>
        <p:grpSpPr bwMode="auto">
          <a:xfrm>
            <a:off x="7086600" y="3733800"/>
            <a:ext cx="990600" cy="914400"/>
            <a:chOff x="4416" y="2400"/>
            <a:chExt cx="624" cy="576"/>
          </a:xfrm>
        </p:grpSpPr>
        <p:sp>
          <p:nvSpPr>
            <p:cNvPr id="497693" name="AutoShape 25"/>
            <p:cNvSpPr>
              <a:spLocks noChangeArrowheads="1"/>
            </p:cNvSpPr>
            <p:nvPr/>
          </p:nvSpPr>
          <p:spPr bwMode="auto">
            <a:xfrm>
              <a:off x="4416" y="2400"/>
              <a:ext cx="624" cy="576"/>
            </a:xfrm>
            <a:prstGeom prst="roundRect">
              <a:avLst>
                <a:gd name="adj" fmla="val 16667"/>
              </a:avLst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7694" name="Text Box 26"/>
            <p:cNvSpPr txBox="1">
              <a:spLocks noChangeArrowheads="1"/>
            </p:cNvSpPr>
            <p:nvPr/>
          </p:nvSpPr>
          <p:spPr bwMode="auto">
            <a:xfrm>
              <a:off x="4417" y="2496"/>
              <a:ext cx="619" cy="404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GB" sz="1800"/>
                <a:t>Main</a:t>
              </a:r>
            </a:p>
            <a:p>
              <a:pPr algn="ctr"/>
              <a:r>
                <a:rPr lang="en-GB" sz="1800"/>
                <a:t>memory</a:t>
              </a:r>
              <a:endParaRPr lang="en-GB" sz="1800">
                <a:solidFill>
                  <a:srgbClr val="FF0000"/>
                </a:solidFill>
              </a:endParaRPr>
            </a:p>
          </p:txBody>
        </p:sp>
      </p:grpSp>
      <p:sp>
        <p:nvSpPr>
          <p:cNvPr id="497686" name="Line 27"/>
          <p:cNvSpPr>
            <a:spLocks noChangeShapeType="1"/>
          </p:cNvSpPr>
          <p:nvPr/>
        </p:nvSpPr>
        <p:spPr bwMode="auto">
          <a:xfrm flipV="1">
            <a:off x="7543800" y="4648200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97687" name="Line 28"/>
          <p:cNvSpPr>
            <a:spLocks noChangeShapeType="1"/>
          </p:cNvSpPr>
          <p:nvPr/>
        </p:nvSpPr>
        <p:spPr bwMode="auto">
          <a:xfrm flipH="1">
            <a:off x="5257800" y="4953000"/>
            <a:ext cx="2286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97688" name="Text Box 30"/>
          <p:cNvSpPr txBox="1">
            <a:spLocks noChangeArrowheads="1"/>
          </p:cNvSpPr>
          <p:nvPr/>
        </p:nvSpPr>
        <p:spPr bwMode="auto">
          <a:xfrm>
            <a:off x="762000" y="3505200"/>
            <a:ext cx="1031875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GB" sz="2000">
                <a:solidFill>
                  <a:srgbClr val="FF0000"/>
                </a:solidFill>
                <a:latin typeface="Lucida Console" pitchFamily="-112" charset="0"/>
              </a:rPr>
              <a:t>0x0003</a:t>
            </a:r>
          </a:p>
        </p:txBody>
      </p:sp>
      <p:sp>
        <p:nvSpPr>
          <p:cNvPr id="497689" name="Rectangle 47"/>
          <p:cNvSpPr>
            <a:spLocks noChangeArrowheads="1"/>
          </p:cNvSpPr>
          <p:nvPr/>
        </p:nvSpPr>
        <p:spPr bwMode="auto">
          <a:xfrm>
            <a:off x="3048000" y="3810000"/>
            <a:ext cx="381000" cy="381000"/>
          </a:xfrm>
          <a:prstGeom prst="rect">
            <a:avLst/>
          </a:prstGeom>
          <a:solidFill>
            <a:srgbClr val="0000FF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97690" name="Text Box 50"/>
          <p:cNvSpPr txBox="1">
            <a:spLocks noChangeArrowheads="1"/>
          </p:cNvSpPr>
          <p:nvPr/>
        </p:nvSpPr>
        <p:spPr bwMode="auto">
          <a:xfrm>
            <a:off x="2516188" y="4191000"/>
            <a:ext cx="1214437" cy="6413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/>
            <a:r>
              <a:rPr lang="en-GB" sz="1800">
                <a:solidFill>
                  <a:srgbClr val="0000FF"/>
                </a:solidFill>
              </a:rPr>
              <a:t>address</a:t>
            </a:r>
          </a:p>
          <a:p>
            <a:pPr algn="ctr"/>
            <a:r>
              <a:rPr lang="en-GB" sz="1800">
                <a:solidFill>
                  <a:srgbClr val="0000FF"/>
                </a:solidFill>
              </a:rPr>
              <a:t>translation</a:t>
            </a:r>
          </a:p>
        </p:txBody>
      </p:sp>
      <p:sp>
        <p:nvSpPr>
          <p:cNvPr id="497691" name="Line 51"/>
          <p:cNvSpPr>
            <a:spLocks noChangeShapeType="1"/>
          </p:cNvSpPr>
          <p:nvPr/>
        </p:nvSpPr>
        <p:spPr bwMode="auto">
          <a:xfrm flipH="1">
            <a:off x="2514600" y="3962400"/>
            <a:ext cx="533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97692" name="Text Box 52"/>
          <p:cNvSpPr txBox="1">
            <a:spLocks noChangeArrowheads="1"/>
          </p:cNvSpPr>
          <p:nvPr/>
        </p:nvSpPr>
        <p:spPr bwMode="auto">
          <a:xfrm>
            <a:off x="3505200" y="3581400"/>
            <a:ext cx="1031875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GB" sz="2000">
                <a:solidFill>
                  <a:srgbClr val="FF0000"/>
                </a:solidFill>
                <a:latin typeface="Lucida Console" pitchFamily="-112" charset="0"/>
              </a:rPr>
              <a:t>0x2103</a:t>
            </a:r>
          </a:p>
        </p:txBody>
      </p:sp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CS/ECE 6810 Computer Architecture</a:t>
            </a:r>
            <a:endParaRPr lang="en-US" sz="1400" dirty="0">
              <a:latin typeface="Garamond" pitchFamily="-112" charset="0"/>
            </a:endParaRPr>
          </a:p>
        </p:txBody>
      </p:sp>
      <p:sp>
        <p:nvSpPr>
          <p:cNvPr id="34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4A5C509-2110-C540-A6A8-7C6C1F1F8F05}" type="slidenum">
              <a:rPr lang="en-US"/>
              <a:pPr>
                <a:defRPr/>
              </a:pPr>
              <a:t>29</a:t>
            </a:fld>
            <a:endParaRPr lang="en-US">
              <a:latin typeface="Garamond" pitchFamily="-112" charset="0"/>
            </a:endParaRPr>
          </a:p>
        </p:txBody>
      </p:sp>
      <p:sp>
        <p:nvSpPr>
          <p:cNvPr id="49971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/>
              <a:t>Reducing Cache Hit Time</a:t>
            </a:r>
            <a:endParaRPr lang="en-US" sz="900"/>
          </a:p>
        </p:txBody>
      </p:sp>
      <p:sp>
        <p:nvSpPr>
          <p:cNvPr id="49971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382000" cy="4343400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/>
              <a:t>Technique 2: virtual address caches</a:t>
            </a:r>
          </a:p>
          <a:p>
            <a:pPr lvl="1">
              <a:spcBef>
                <a:spcPts val="600"/>
              </a:spcBef>
            </a:pPr>
            <a:r>
              <a:rPr lang="en-US" sz="1600" dirty="0">
                <a:sym typeface="Symbol" pitchFamily="-112" charset="2"/>
              </a:rPr>
              <a:t>Option 2: virtual address caches  perform address translation after cache access if miss</a:t>
            </a:r>
          </a:p>
          <a:p>
            <a:pPr lvl="2"/>
            <a:r>
              <a:rPr lang="en-US" sz="1400" u="sng" dirty="0">
                <a:sym typeface="Symbol" pitchFamily="-112" charset="2"/>
              </a:rPr>
              <a:t>Hit time does not include translation</a:t>
            </a:r>
          </a:p>
        </p:txBody>
      </p:sp>
      <p:grpSp>
        <p:nvGrpSpPr>
          <p:cNvPr id="499718" name="Group 5"/>
          <p:cNvGrpSpPr>
            <a:grpSpLocks/>
          </p:cNvGrpSpPr>
          <p:nvPr/>
        </p:nvGrpSpPr>
        <p:grpSpPr bwMode="auto">
          <a:xfrm>
            <a:off x="1905000" y="3124200"/>
            <a:ext cx="654050" cy="533400"/>
            <a:chOff x="432" y="2784"/>
            <a:chExt cx="412" cy="336"/>
          </a:xfrm>
        </p:grpSpPr>
        <p:sp>
          <p:nvSpPr>
            <p:cNvPr id="499745" name="Oval 6"/>
            <p:cNvSpPr>
              <a:spLocks noChangeArrowheads="1"/>
            </p:cNvSpPr>
            <p:nvPr/>
          </p:nvSpPr>
          <p:spPr bwMode="auto">
            <a:xfrm>
              <a:off x="446" y="2784"/>
              <a:ext cx="384" cy="33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9746" name="Text Box 7"/>
            <p:cNvSpPr txBox="1">
              <a:spLocks noChangeArrowheads="1"/>
            </p:cNvSpPr>
            <p:nvPr/>
          </p:nvSpPr>
          <p:spPr bwMode="auto">
            <a:xfrm>
              <a:off x="432" y="2832"/>
              <a:ext cx="412" cy="231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GB" sz="1800"/>
                <a:t>CPU</a:t>
              </a:r>
              <a:endParaRPr lang="en-GB" sz="1800">
                <a:solidFill>
                  <a:srgbClr val="FF0000"/>
                </a:solidFill>
              </a:endParaRPr>
            </a:p>
          </p:txBody>
        </p:sp>
      </p:grpSp>
      <p:sp>
        <p:nvSpPr>
          <p:cNvPr id="499719" name="Rectangle 8"/>
          <p:cNvSpPr>
            <a:spLocks noChangeArrowheads="1"/>
          </p:cNvSpPr>
          <p:nvPr/>
        </p:nvSpPr>
        <p:spPr bwMode="auto">
          <a:xfrm>
            <a:off x="3276600" y="3962400"/>
            <a:ext cx="381000" cy="8382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99720" name="Rectangle 9"/>
          <p:cNvSpPr>
            <a:spLocks noChangeArrowheads="1"/>
          </p:cNvSpPr>
          <p:nvPr/>
        </p:nvSpPr>
        <p:spPr bwMode="auto">
          <a:xfrm>
            <a:off x="3657600" y="3962400"/>
            <a:ext cx="685800" cy="8382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99721" name="Text Box 10"/>
          <p:cNvSpPr txBox="1">
            <a:spLocks noChangeArrowheads="1"/>
          </p:cNvSpPr>
          <p:nvPr/>
        </p:nvSpPr>
        <p:spPr bwMode="auto">
          <a:xfrm>
            <a:off x="3276600" y="3581400"/>
            <a:ext cx="1035050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GB" sz="1800"/>
              <a:t>L1 cache</a:t>
            </a:r>
            <a:endParaRPr lang="en-GB" sz="1800">
              <a:solidFill>
                <a:srgbClr val="FF0000"/>
              </a:solidFill>
            </a:endParaRPr>
          </a:p>
        </p:txBody>
      </p:sp>
      <p:sp>
        <p:nvSpPr>
          <p:cNvPr id="499722" name="Text Box 11"/>
          <p:cNvSpPr txBox="1">
            <a:spLocks noChangeArrowheads="1"/>
          </p:cNvSpPr>
          <p:nvPr/>
        </p:nvSpPr>
        <p:spPr bwMode="auto">
          <a:xfrm>
            <a:off x="3200400" y="4191000"/>
            <a:ext cx="488950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GB" sz="1800"/>
              <a:t>tag</a:t>
            </a:r>
            <a:endParaRPr lang="en-GB" sz="1800">
              <a:solidFill>
                <a:srgbClr val="FF0000"/>
              </a:solidFill>
            </a:endParaRPr>
          </a:p>
        </p:txBody>
      </p:sp>
      <p:sp>
        <p:nvSpPr>
          <p:cNvPr id="499723" name="Text Box 12"/>
          <p:cNvSpPr txBox="1">
            <a:spLocks noChangeArrowheads="1"/>
          </p:cNvSpPr>
          <p:nvPr/>
        </p:nvSpPr>
        <p:spPr bwMode="auto">
          <a:xfrm>
            <a:off x="3733800" y="4191000"/>
            <a:ext cx="600075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GB" sz="1800"/>
              <a:t>data</a:t>
            </a:r>
            <a:endParaRPr lang="en-GB" sz="1800">
              <a:solidFill>
                <a:srgbClr val="FF0000"/>
              </a:solidFill>
            </a:endParaRPr>
          </a:p>
        </p:txBody>
      </p:sp>
      <p:grpSp>
        <p:nvGrpSpPr>
          <p:cNvPr id="499724" name="Group 13"/>
          <p:cNvGrpSpPr>
            <a:grpSpLocks/>
          </p:cNvGrpSpPr>
          <p:nvPr/>
        </p:nvGrpSpPr>
        <p:grpSpPr bwMode="auto">
          <a:xfrm>
            <a:off x="3352800" y="5105400"/>
            <a:ext cx="304800" cy="366713"/>
            <a:chOff x="3936" y="2932"/>
            <a:chExt cx="192" cy="231"/>
          </a:xfrm>
        </p:grpSpPr>
        <p:sp>
          <p:nvSpPr>
            <p:cNvPr id="499743" name="Oval 14"/>
            <p:cNvSpPr>
              <a:spLocks noChangeArrowheads="1"/>
            </p:cNvSpPr>
            <p:nvPr/>
          </p:nvSpPr>
          <p:spPr bwMode="auto">
            <a:xfrm>
              <a:off x="3936" y="2952"/>
              <a:ext cx="192" cy="192"/>
            </a:xfrm>
            <a:prstGeom prst="ellipse">
              <a:avLst/>
            </a:prstGeom>
            <a:solidFill>
              <a:srgbClr val="FF0000">
                <a:alpha val="30196"/>
              </a:srgbClr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9744" name="Text Box 15"/>
            <p:cNvSpPr txBox="1">
              <a:spLocks noChangeArrowheads="1"/>
            </p:cNvSpPr>
            <p:nvPr/>
          </p:nvSpPr>
          <p:spPr bwMode="auto">
            <a:xfrm>
              <a:off x="3944" y="2932"/>
              <a:ext cx="176" cy="231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GB" sz="1800"/>
                <a:t>?</a:t>
              </a:r>
              <a:endParaRPr lang="en-GB" sz="1800">
                <a:solidFill>
                  <a:srgbClr val="FF0000"/>
                </a:solidFill>
              </a:endParaRPr>
            </a:p>
          </p:txBody>
        </p:sp>
      </p:grpSp>
      <p:sp>
        <p:nvSpPr>
          <p:cNvPr id="499725" name="Line 16"/>
          <p:cNvSpPr>
            <a:spLocks noChangeShapeType="1"/>
          </p:cNvSpPr>
          <p:nvPr/>
        </p:nvSpPr>
        <p:spPr bwMode="auto">
          <a:xfrm flipH="1">
            <a:off x="2971800" y="4267200"/>
            <a:ext cx="304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none" w="sm" len="sm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99726" name="Line 17"/>
          <p:cNvSpPr>
            <a:spLocks noChangeShapeType="1"/>
          </p:cNvSpPr>
          <p:nvPr/>
        </p:nvSpPr>
        <p:spPr bwMode="auto">
          <a:xfrm>
            <a:off x="5486400" y="3429000"/>
            <a:ext cx="1600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99727" name="Line 18"/>
          <p:cNvSpPr>
            <a:spLocks noChangeShapeType="1"/>
          </p:cNvSpPr>
          <p:nvPr/>
        </p:nvSpPr>
        <p:spPr bwMode="auto">
          <a:xfrm flipV="1">
            <a:off x="2971800" y="3429000"/>
            <a:ext cx="0" cy="1828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99728" name="Line 19"/>
          <p:cNvSpPr>
            <a:spLocks noChangeShapeType="1"/>
          </p:cNvSpPr>
          <p:nvPr/>
        </p:nvSpPr>
        <p:spPr bwMode="auto">
          <a:xfrm rot="5400000" flipH="1">
            <a:off x="3352800" y="4953000"/>
            <a:ext cx="304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none" w="sm" len="sm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99729" name="Line 20"/>
          <p:cNvSpPr>
            <a:spLocks noChangeShapeType="1"/>
          </p:cNvSpPr>
          <p:nvPr/>
        </p:nvSpPr>
        <p:spPr bwMode="auto">
          <a:xfrm flipH="1">
            <a:off x="2971800" y="5257800"/>
            <a:ext cx="381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none" w="sm" len="sm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99730" name="Line 21"/>
          <p:cNvSpPr>
            <a:spLocks noChangeShapeType="1"/>
          </p:cNvSpPr>
          <p:nvPr/>
        </p:nvSpPr>
        <p:spPr bwMode="auto">
          <a:xfrm>
            <a:off x="3962400" y="4800600"/>
            <a:ext cx="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99731" name="Line 22"/>
          <p:cNvSpPr>
            <a:spLocks noChangeShapeType="1"/>
          </p:cNvSpPr>
          <p:nvPr/>
        </p:nvSpPr>
        <p:spPr bwMode="auto">
          <a:xfrm flipH="1">
            <a:off x="2209800" y="5638800"/>
            <a:ext cx="1752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99732" name="Line 23"/>
          <p:cNvSpPr>
            <a:spLocks noChangeShapeType="1"/>
          </p:cNvSpPr>
          <p:nvPr/>
        </p:nvSpPr>
        <p:spPr bwMode="auto">
          <a:xfrm flipV="1">
            <a:off x="2209800" y="3657600"/>
            <a:ext cx="0" cy="1981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499733" name="Group 24"/>
          <p:cNvGrpSpPr>
            <a:grpSpLocks/>
          </p:cNvGrpSpPr>
          <p:nvPr/>
        </p:nvGrpSpPr>
        <p:grpSpPr bwMode="auto">
          <a:xfrm>
            <a:off x="7086600" y="3200400"/>
            <a:ext cx="990600" cy="914400"/>
            <a:chOff x="4416" y="2400"/>
            <a:chExt cx="624" cy="576"/>
          </a:xfrm>
        </p:grpSpPr>
        <p:sp>
          <p:nvSpPr>
            <p:cNvPr id="499741" name="AutoShape 25"/>
            <p:cNvSpPr>
              <a:spLocks noChangeArrowheads="1"/>
            </p:cNvSpPr>
            <p:nvPr/>
          </p:nvSpPr>
          <p:spPr bwMode="auto">
            <a:xfrm>
              <a:off x="4416" y="2400"/>
              <a:ext cx="624" cy="576"/>
            </a:xfrm>
            <a:prstGeom prst="roundRect">
              <a:avLst>
                <a:gd name="adj" fmla="val 16667"/>
              </a:avLst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9742" name="Text Box 26"/>
            <p:cNvSpPr txBox="1">
              <a:spLocks noChangeArrowheads="1"/>
            </p:cNvSpPr>
            <p:nvPr/>
          </p:nvSpPr>
          <p:spPr bwMode="auto">
            <a:xfrm>
              <a:off x="4417" y="2496"/>
              <a:ext cx="619" cy="404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GB" sz="1800"/>
                <a:t>Main</a:t>
              </a:r>
            </a:p>
            <a:p>
              <a:pPr algn="ctr"/>
              <a:r>
                <a:rPr lang="en-GB" sz="1800"/>
                <a:t>memory</a:t>
              </a:r>
              <a:endParaRPr lang="en-GB" sz="1800">
                <a:solidFill>
                  <a:srgbClr val="FF0000"/>
                </a:solidFill>
              </a:endParaRPr>
            </a:p>
          </p:txBody>
        </p:sp>
      </p:grpSp>
      <p:sp>
        <p:nvSpPr>
          <p:cNvPr id="499734" name="Line 27"/>
          <p:cNvSpPr>
            <a:spLocks noChangeShapeType="1"/>
          </p:cNvSpPr>
          <p:nvPr/>
        </p:nvSpPr>
        <p:spPr bwMode="auto">
          <a:xfrm flipV="1">
            <a:off x="7543800" y="4114800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99735" name="Line 28"/>
          <p:cNvSpPr>
            <a:spLocks noChangeShapeType="1"/>
          </p:cNvSpPr>
          <p:nvPr/>
        </p:nvSpPr>
        <p:spPr bwMode="auto">
          <a:xfrm flipH="1">
            <a:off x="4343400" y="4419600"/>
            <a:ext cx="3200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99736" name="Text Box 29"/>
          <p:cNvSpPr txBox="1">
            <a:spLocks noChangeArrowheads="1"/>
          </p:cNvSpPr>
          <p:nvPr/>
        </p:nvSpPr>
        <p:spPr bwMode="auto">
          <a:xfrm>
            <a:off x="762000" y="2971800"/>
            <a:ext cx="1031875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GB" sz="2000">
                <a:solidFill>
                  <a:srgbClr val="FF0000"/>
                </a:solidFill>
                <a:latin typeface="Lucida Console" pitchFamily="-112" charset="0"/>
              </a:rPr>
              <a:t>0x0003</a:t>
            </a:r>
          </a:p>
        </p:txBody>
      </p:sp>
      <p:sp>
        <p:nvSpPr>
          <p:cNvPr id="499737" name="Rectangle 30"/>
          <p:cNvSpPr>
            <a:spLocks noChangeArrowheads="1"/>
          </p:cNvSpPr>
          <p:nvPr/>
        </p:nvSpPr>
        <p:spPr bwMode="auto">
          <a:xfrm>
            <a:off x="5105400" y="3200400"/>
            <a:ext cx="381000" cy="381000"/>
          </a:xfrm>
          <a:prstGeom prst="rect">
            <a:avLst/>
          </a:prstGeom>
          <a:solidFill>
            <a:srgbClr val="0000FF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99738" name="Text Box 31"/>
          <p:cNvSpPr txBox="1">
            <a:spLocks noChangeArrowheads="1"/>
          </p:cNvSpPr>
          <p:nvPr/>
        </p:nvSpPr>
        <p:spPr bwMode="auto">
          <a:xfrm>
            <a:off x="4573588" y="3581400"/>
            <a:ext cx="1214437" cy="6413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/>
            <a:r>
              <a:rPr lang="en-GB" sz="1800">
                <a:solidFill>
                  <a:srgbClr val="0000FF"/>
                </a:solidFill>
              </a:rPr>
              <a:t>address</a:t>
            </a:r>
          </a:p>
          <a:p>
            <a:pPr algn="ctr"/>
            <a:r>
              <a:rPr lang="en-GB" sz="1800">
                <a:solidFill>
                  <a:srgbClr val="0000FF"/>
                </a:solidFill>
              </a:rPr>
              <a:t>translation</a:t>
            </a:r>
          </a:p>
        </p:txBody>
      </p:sp>
      <p:sp>
        <p:nvSpPr>
          <p:cNvPr id="499739" name="Text Box 33"/>
          <p:cNvSpPr txBox="1">
            <a:spLocks noChangeArrowheads="1"/>
          </p:cNvSpPr>
          <p:nvPr/>
        </p:nvSpPr>
        <p:spPr bwMode="auto">
          <a:xfrm>
            <a:off x="5638800" y="3048000"/>
            <a:ext cx="1031875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GB" sz="2000">
                <a:solidFill>
                  <a:srgbClr val="FF0000"/>
                </a:solidFill>
                <a:latin typeface="Lucida Console" pitchFamily="-112" charset="0"/>
              </a:rPr>
              <a:t>0x2103</a:t>
            </a:r>
          </a:p>
        </p:txBody>
      </p:sp>
      <p:sp>
        <p:nvSpPr>
          <p:cNvPr id="499740" name="Line 34"/>
          <p:cNvSpPr>
            <a:spLocks noChangeShapeType="1"/>
          </p:cNvSpPr>
          <p:nvPr/>
        </p:nvSpPr>
        <p:spPr bwMode="auto">
          <a:xfrm>
            <a:off x="2514600" y="3429000"/>
            <a:ext cx="2590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CS/ECE 6810 Computer Architecture</a:t>
            </a:r>
            <a:endParaRPr lang="en-US" sz="1400" dirty="0">
              <a:latin typeface="Garamond" pitchFamily="-112" charset="0"/>
            </a:endParaRPr>
          </a:p>
        </p:txBody>
      </p:sp>
      <p:sp>
        <p:nvSpPr>
          <p:cNvPr id="9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4C72C5A-048B-F241-A14C-6EB246558F7C}" type="slidenum">
              <a:rPr lang="en-US"/>
              <a:pPr>
                <a:defRPr/>
              </a:pPr>
              <a:t>30</a:t>
            </a:fld>
            <a:endParaRPr lang="en-US">
              <a:latin typeface="Garamond" pitchFamily="-112" charset="0"/>
            </a:endParaRPr>
          </a:p>
        </p:txBody>
      </p:sp>
      <p:sp>
        <p:nvSpPr>
          <p:cNvPr id="50381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/>
              <a:t>Cache Performance Techniques</a:t>
            </a:r>
            <a:endParaRPr lang="en-US" sz="900"/>
          </a:p>
        </p:txBody>
      </p:sp>
      <p:graphicFrame>
        <p:nvGraphicFramePr>
          <p:cNvPr id="810054" name="Group 70"/>
          <p:cNvGraphicFramePr>
            <a:graphicFrameLocks noGrp="1"/>
          </p:cNvGraphicFramePr>
          <p:nvPr/>
        </p:nvGraphicFramePr>
        <p:xfrm>
          <a:off x="1066800" y="1052736"/>
          <a:ext cx="7031038" cy="5099050"/>
        </p:xfrm>
        <a:graphic>
          <a:graphicData uri="http://schemas.openxmlformats.org/drawingml/2006/table">
            <a:tbl>
              <a:tblPr/>
              <a:tblGrid>
                <a:gridCol w="23955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2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4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1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6550"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112" charset="0"/>
                          <a:ea typeface="Arial" pitchFamily="-112" charset="0"/>
                          <a:cs typeface="Arial" pitchFamily="-112" charset="0"/>
                        </a:rPr>
                        <a:t>technique</a:t>
                      </a:r>
                      <a:endParaRPr kumimoji="0" 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12" charset="0"/>
                      </a:endParaRPr>
                    </a:p>
                  </a:txBody>
                  <a:tcPr anchor="b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112" charset="0"/>
                          <a:ea typeface="Arial" pitchFamily="-112" charset="0"/>
                          <a:cs typeface="Arial" pitchFamily="-112" charset="0"/>
                        </a:rPr>
                        <a:t>miss rate</a:t>
                      </a:r>
                      <a:endParaRPr kumimoji="0" lang="en-US" sz="1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12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112" charset="0"/>
                          <a:ea typeface="Arial" pitchFamily="-112" charset="0"/>
                          <a:cs typeface="Arial" pitchFamily="-112" charset="0"/>
                        </a:rPr>
                        <a:t>miss penalty</a:t>
                      </a:r>
                      <a:endParaRPr kumimoji="0" lang="en-US" sz="1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12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112" charset="0"/>
                          <a:ea typeface="Arial" pitchFamily="-112" charset="0"/>
                          <a:cs typeface="Arial" pitchFamily="-112" charset="0"/>
                        </a:rPr>
                        <a:t>hit time</a:t>
                      </a:r>
                      <a:endParaRPr kumimoji="0" lang="en-US" sz="1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12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112" charset="0"/>
                          <a:ea typeface="Arial" pitchFamily="-112" charset="0"/>
                          <a:cs typeface="Arial" pitchFamily="-112" charset="0"/>
                        </a:rPr>
                        <a:t>complexity</a:t>
                      </a:r>
                      <a:endParaRPr kumimoji="0" 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12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112" charset="0"/>
                          <a:ea typeface="Arial" pitchFamily="-112" charset="0"/>
                          <a:cs typeface="Arial" pitchFamily="-112" charset="0"/>
                        </a:rPr>
                        <a:t>large block size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12" charset="0"/>
                      </a:endParaRPr>
                    </a:p>
                  </a:txBody>
                  <a:tcPr marT="36576" marB="36576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Wingdings" pitchFamily="-112" charset="2"/>
                          <a:ea typeface="Arial" pitchFamily="-112" charset="0"/>
                          <a:cs typeface="Arial" pitchFamily="-112" charset="0"/>
                        </a:rPr>
                        <a:t>J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12" charset="0"/>
                      </a:endParaRPr>
                    </a:p>
                  </a:txBody>
                  <a:tcPr anchor="b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Wingdings" pitchFamily="-112" charset="2"/>
                          <a:ea typeface="Arial" pitchFamily="-112" charset="0"/>
                          <a:cs typeface="Arial" pitchFamily="-112" charset="0"/>
                        </a:rPr>
                        <a:t>L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12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-112" charset="0"/>
                          <a:ea typeface="Arial" pitchFamily="-112" charset="0"/>
                          <a:cs typeface="Arial" pitchFamily="-112" charset="0"/>
                        </a:rPr>
                        <a:t> 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12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Wingdings" pitchFamily="-112" charset="2"/>
                          <a:ea typeface="Arial" pitchFamily="-112" charset="0"/>
                          <a:cs typeface="Arial" pitchFamily="-112" charset="0"/>
                        </a:rPr>
                        <a:t>J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12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112" charset="0"/>
                          <a:ea typeface="Arial" pitchFamily="-112" charset="0"/>
                          <a:cs typeface="Arial" pitchFamily="-112" charset="0"/>
                        </a:rPr>
                        <a:t>high associativity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12" charset="0"/>
                      </a:endParaRPr>
                    </a:p>
                  </a:txBody>
                  <a:tcPr marT="36576" marB="36576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Wingdings" pitchFamily="-112" charset="2"/>
                          <a:ea typeface="Arial" pitchFamily="-112" charset="0"/>
                          <a:cs typeface="Arial" pitchFamily="-112" charset="0"/>
                        </a:rPr>
                        <a:t>J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12" charset="0"/>
                      </a:endParaRPr>
                    </a:p>
                  </a:txBody>
                  <a:tcPr anchor="b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-112" charset="0"/>
                          <a:ea typeface="Arial" pitchFamily="-112" charset="0"/>
                          <a:cs typeface="Arial" pitchFamily="-112" charset="0"/>
                        </a:rPr>
                        <a:t> 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12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Wingdings" pitchFamily="-112" charset="2"/>
                          <a:ea typeface="Arial" pitchFamily="-112" charset="0"/>
                          <a:cs typeface="Arial" pitchFamily="-112" charset="0"/>
                        </a:rPr>
                        <a:t>L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12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Wingdings" pitchFamily="-112" charset="2"/>
                          <a:ea typeface="Arial" pitchFamily="-112" charset="0"/>
                          <a:cs typeface="Arial" pitchFamily="-112" charset="0"/>
                        </a:rPr>
                        <a:t>L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112" charset="0"/>
                          <a:ea typeface="Arial" pitchFamily="-112" charset="0"/>
                          <a:cs typeface="Arial" pitchFamily="-112" charset="0"/>
                        </a:rPr>
                        <a:t>victim cache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12" charset="0"/>
                      </a:endParaRPr>
                    </a:p>
                  </a:txBody>
                  <a:tcPr marT="36576" marB="36576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Wingdings" pitchFamily="-112" charset="2"/>
                          <a:ea typeface="Arial" pitchFamily="-112" charset="0"/>
                          <a:cs typeface="Arial" pitchFamily="-112" charset="0"/>
                        </a:rPr>
                        <a:t>J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-112" charset="0"/>
                          <a:ea typeface="Arial" pitchFamily="-112" charset="0"/>
                          <a:cs typeface="Arial" pitchFamily="-112" charset="0"/>
                        </a:rPr>
                        <a:t> 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12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Wingdings" pitchFamily="-112" charset="2"/>
                          <a:ea typeface="Arial" pitchFamily="-112" charset="0"/>
                          <a:cs typeface="Arial" pitchFamily="-112" charset="0"/>
                        </a:rPr>
                        <a:t>J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12" charset="0"/>
                      </a:endParaRPr>
                    </a:p>
                  </a:txBody>
                  <a:tcPr anchor="b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-112" charset="0"/>
                          <a:ea typeface="Arial" pitchFamily="-112" charset="0"/>
                          <a:cs typeface="Arial" pitchFamily="-112" charset="0"/>
                        </a:rPr>
                        <a:t> 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12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Wingdings" pitchFamily="-112" charset="2"/>
                          <a:ea typeface="Arial" pitchFamily="-112" charset="0"/>
                          <a:cs typeface="Arial" pitchFamily="-112" charset="0"/>
                        </a:rPr>
                        <a:t>L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12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112" charset="0"/>
                          <a:ea typeface="Arial" pitchFamily="-112" charset="0"/>
                          <a:cs typeface="Arial" pitchFamily="-112" charset="0"/>
                        </a:rPr>
                        <a:t>hardware </a:t>
                      </a: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112" charset="0"/>
                          <a:ea typeface="Arial" pitchFamily="-112" charset="0"/>
                          <a:cs typeface="Arial" pitchFamily="-112" charset="0"/>
                        </a:rPr>
                        <a:t>prefetch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12" charset="0"/>
                      </a:endParaRPr>
                    </a:p>
                  </a:txBody>
                  <a:tcPr marT="36576" marB="36576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Wingdings" pitchFamily="-112" charset="2"/>
                          <a:ea typeface="Arial" pitchFamily="-112" charset="0"/>
                          <a:cs typeface="Arial" pitchFamily="-112" charset="0"/>
                        </a:rPr>
                        <a:t>J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12" charset="0"/>
                      </a:endParaRPr>
                    </a:p>
                  </a:txBody>
                  <a:tcPr anchor="b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-112" charset="0"/>
                          <a:ea typeface="Arial" pitchFamily="-112" charset="0"/>
                          <a:cs typeface="Arial" pitchFamily="-112" charset="0"/>
                        </a:rPr>
                        <a:t> 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12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-112" charset="0"/>
                          <a:ea typeface="Arial" pitchFamily="-112" charset="0"/>
                          <a:cs typeface="Arial" pitchFamily="-112" charset="0"/>
                        </a:rPr>
                        <a:t> 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12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Wingdings" pitchFamily="-112" charset="2"/>
                          <a:ea typeface="Arial" pitchFamily="-112" charset="0"/>
                          <a:cs typeface="Arial" pitchFamily="-112" charset="0"/>
                        </a:rPr>
                        <a:t>L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12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112" charset="0"/>
                          <a:ea typeface="Arial" pitchFamily="-112" charset="0"/>
                          <a:cs typeface="Arial" pitchFamily="-112" charset="0"/>
                        </a:rPr>
                        <a:t>compiler prefetch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12" charset="0"/>
                      </a:endParaRPr>
                    </a:p>
                  </a:txBody>
                  <a:tcPr marT="36576" marB="36576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Wingdings" pitchFamily="-112" charset="2"/>
                          <a:ea typeface="Arial" pitchFamily="-112" charset="0"/>
                          <a:cs typeface="Arial" pitchFamily="-112" charset="0"/>
                        </a:rPr>
                        <a:t>J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12" charset="0"/>
                      </a:endParaRPr>
                    </a:p>
                  </a:txBody>
                  <a:tcPr anchor="b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-112" charset="0"/>
                          <a:ea typeface="Arial" pitchFamily="-112" charset="0"/>
                          <a:cs typeface="Arial" pitchFamily="-112" charset="0"/>
                        </a:rPr>
                        <a:t> 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12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-112" charset="0"/>
                          <a:ea typeface="Arial" pitchFamily="-112" charset="0"/>
                          <a:cs typeface="Arial" pitchFamily="-112" charset="0"/>
                        </a:rPr>
                        <a:t> 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12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Wingdings" pitchFamily="-112" charset="2"/>
                          <a:ea typeface="Arial" pitchFamily="-112" charset="0"/>
                          <a:cs typeface="Arial" pitchFamily="-112" charset="0"/>
                        </a:rPr>
                        <a:t>L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12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112" charset="0"/>
                          <a:ea typeface="Arial" pitchFamily="-112" charset="0"/>
                          <a:cs typeface="Arial" pitchFamily="-112" charset="0"/>
                        </a:rPr>
                        <a:t>compiler optimizations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12" charset="0"/>
                      </a:endParaRPr>
                    </a:p>
                  </a:txBody>
                  <a:tcPr marT="36576" marB="36576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Wingdings" pitchFamily="-112" charset="2"/>
                          <a:ea typeface="Arial" pitchFamily="-112" charset="0"/>
                          <a:cs typeface="Arial" pitchFamily="-112" charset="0"/>
                        </a:rPr>
                        <a:t>J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12" charset="0"/>
                      </a:endParaRPr>
                    </a:p>
                  </a:txBody>
                  <a:tcPr anchor="b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-112" charset="0"/>
                          <a:ea typeface="Arial" pitchFamily="-112" charset="0"/>
                          <a:cs typeface="Arial" pitchFamily="-112" charset="0"/>
                        </a:rPr>
                        <a:t> 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12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-112" charset="0"/>
                          <a:ea typeface="Arial" pitchFamily="-112" charset="0"/>
                          <a:cs typeface="Arial" pitchFamily="-112" charset="0"/>
                        </a:rPr>
                        <a:t> 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12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Wingdings" pitchFamily="-112" charset="2"/>
                          <a:ea typeface="Arial" pitchFamily="-112" charset="0"/>
                          <a:cs typeface="Arial" pitchFamily="-112" charset="0"/>
                        </a:rPr>
                        <a:t>L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12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112" charset="0"/>
                          <a:ea typeface="Arial" pitchFamily="-112" charset="0"/>
                          <a:cs typeface="Arial" pitchFamily="-112" charset="0"/>
                        </a:rPr>
                        <a:t>prioritisation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112" charset="0"/>
                          <a:ea typeface="Arial" pitchFamily="-112" charset="0"/>
                          <a:cs typeface="Arial" pitchFamily="-112" charset="0"/>
                        </a:rPr>
                        <a:t> of reads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12" charset="0"/>
                      </a:endParaRPr>
                    </a:p>
                  </a:txBody>
                  <a:tcPr marT="36576" marB="36576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-112" charset="0"/>
                          <a:ea typeface="Arial" pitchFamily="-112" charset="0"/>
                          <a:cs typeface="Arial" pitchFamily="-112" charset="0"/>
                        </a:rPr>
                        <a:t> 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12" charset="0"/>
                      </a:endParaRPr>
                    </a:p>
                  </a:txBody>
                  <a:tcPr anchor="b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Wingdings" pitchFamily="-112" charset="2"/>
                          <a:ea typeface="Arial" pitchFamily="-112" charset="0"/>
                          <a:cs typeface="Arial" pitchFamily="-112" charset="0"/>
                        </a:rPr>
                        <a:t>J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12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-112" charset="0"/>
                          <a:ea typeface="Arial" pitchFamily="-112" charset="0"/>
                          <a:cs typeface="Arial" pitchFamily="-112" charset="0"/>
                        </a:rPr>
                        <a:t> 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12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Wingdings" pitchFamily="-112" charset="2"/>
                          <a:ea typeface="Arial" pitchFamily="-112" charset="0"/>
                          <a:cs typeface="Arial" pitchFamily="-112" charset="0"/>
                        </a:rPr>
                        <a:t>L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12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112" charset="0"/>
                          <a:ea typeface="Arial" pitchFamily="-112" charset="0"/>
                          <a:cs typeface="Arial" pitchFamily="-112" charset="0"/>
                        </a:rPr>
                        <a:t>critical word first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12" charset="0"/>
                      </a:endParaRPr>
                    </a:p>
                  </a:txBody>
                  <a:tcPr marT="36576" marB="36576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-112" charset="0"/>
                          <a:ea typeface="Arial" pitchFamily="-112" charset="0"/>
                          <a:cs typeface="Arial" pitchFamily="-112" charset="0"/>
                        </a:rPr>
                        <a:t> 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12" charset="0"/>
                      </a:endParaRPr>
                    </a:p>
                  </a:txBody>
                  <a:tcPr anchor="b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Wingdings" pitchFamily="-112" charset="2"/>
                          <a:ea typeface="Arial" pitchFamily="-112" charset="0"/>
                          <a:cs typeface="Arial" pitchFamily="-112" charset="0"/>
                        </a:rPr>
                        <a:t>J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12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-112" charset="0"/>
                          <a:ea typeface="Arial" pitchFamily="-112" charset="0"/>
                          <a:cs typeface="Arial" pitchFamily="-112" charset="0"/>
                        </a:rPr>
                        <a:t> 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12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Wingdings" pitchFamily="-112" charset="2"/>
                          <a:ea typeface="Arial" pitchFamily="-112" charset="0"/>
                          <a:cs typeface="Arial" pitchFamily="-112" charset="0"/>
                        </a:rPr>
                        <a:t>L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12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112" charset="0"/>
                          <a:ea typeface="Arial" pitchFamily="-112" charset="0"/>
                          <a:cs typeface="Arial" pitchFamily="-112" charset="0"/>
                        </a:rPr>
                        <a:t>nonblocking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112" charset="0"/>
                          <a:ea typeface="Arial" pitchFamily="-112" charset="0"/>
                          <a:cs typeface="Arial" pitchFamily="-112" charset="0"/>
                        </a:rPr>
                        <a:t> caches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12" charset="0"/>
                      </a:endParaRPr>
                    </a:p>
                  </a:txBody>
                  <a:tcPr marT="36576" marB="36576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-112" charset="0"/>
                          <a:ea typeface="Arial" pitchFamily="-112" charset="0"/>
                          <a:cs typeface="Arial" pitchFamily="-112" charset="0"/>
                        </a:rPr>
                        <a:t> 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12" charset="0"/>
                      </a:endParaRPr>
                    </a:p>
                  </a:txBody>
                  <a:tcPr anchor="b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Wingdings" pitchFamily="-112" charset="2"/>
                          <a:ea typeface="Arial" pitchFamily="-112" charset="0"/>
                          <a:cs typeface="Arial" pitchFamily="-112" charset="0"/>
                        </a:rPr>
                        <a:t>J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12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-112" charset="0"/>
                          <a:ea typeface="Arial" pitchFamily="-112" charset="0"/>
                          <a:cs typeface="Arial" pitchFamily="-112" charset="0"/>
                        </a:rPr>
                        <a:t> 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12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Wingdings" pitchFamily="-112" charset="2"/>
                          <a:ea typeface="Arial" pitchFamily="-112" charset="0"/>
                          <a:cs typeface="Arial" pitchFamily="-112" charset="0"/>
                        </a:rPr>
                        <a:t>L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12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112" charset="0"/>
                          <a:ea typeface="Arial" pitchFamily="-112" charset="0"/>
                          <a:cs typeface="Arial" pitchFamily="-112" charset="0"/>
                        </a:rPr>
                        <a:t>L2 caches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12" charset="0"/>
                      </a:endParaRPr>
                    </a:p>
                  </a:txBody>
                  <a:tcPr marT="36576" marB="36576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-112" charset="0"/>
                          <a:ea typeface="Arial" pitchFamily="-112" charset="0"/>
                          <a:cs typeface="Arial" pitchFamily="-112" charset="0"/>
                        </a:rPr>
                        <a:t> 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12" charset="0"/>
                      </a:endParaRPr>
                    </a:p>
                  </a:txBody>
                  <a:tcPr anchor="b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Wingdings" pitchFamily="-112" charset="2"/>
                          <a:ea typeface="Arial" pitchFamily="-112" charset="0"/>
                          <a:cs typeface="Arial" pitchFamily="-112" charset="0"/>
                        </a:rPr>
                        <a:t>J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12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-112" charset="0"/>
                          <a:ea typeface="Arial" pitchFamily="-112" charset="0"/>
                          <a:cs typeface="Arial" pitchFamily="-112" charset="0"/>
                        </a:rPr>
                        <a:t> 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12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Wingdings" pitchFamily="-112" charset="2"/>
                          <a:ea typeface="Arial" pitchFamily="-112" charset="0"/>
                          <a:cs typeface="Arial" pitchFamily="-112" charset="0"/>
                        </a:rPr>
                        <a:t>L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12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112" charset="0"/>
                          <a:ea typeface="Arial" pitchFamily="-112" charset="0"/>
                          <a:cs typeface="Arial" pitchFamily="-112" charset="0"/>
                        </a:rPr>
                        <a:t>small and simple caches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12" charset="0"/>
                      </a:endParaRPr>
                    </a:p>
                  </a:txBody>
                  <a:tcPr marT="36576" marB="36576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Wingdings" pitchFamily="-112" charset="2"/>
                          <a:ea typeface="Arial" pitchFamily="-112" charset="0"/>
                          <a:cs typeface="Arial" pitchFamily="-112" charset="0"/>
                        </a:rPr>
                        <a:t>L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12" charset="0"/>
                      </a:endParaRPr>
                    </a:p>
                  </a:txBody>
                  <a:tcPr anchor="b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-112" charset="0"/>
                          <a:ea typeface="Arial" pitchFamily="-112" charset="0"/>
                          <a:cs typeface="Arial" pitchFamily="-112" charset="0"/>
                        </a:rPr>
                        <a:t> 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12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Wingdings" pitchFamily="-112" charset="2"/>
                          <a:ea typeface="Arial" pitchFamily="-112" charset="0"/>
                          <a:cs typeface="Arial" pitchFamily="-112" charset="0"/>
                        </a:rPr>
                        <a:t>J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12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Wingdings" pitchFamily="-112" charset="2"/>
                          <a:ea typeface="Arial" pitchFamily="-112" charset="0"/>
                          <a:cs typeface="Arial" pitchFamily="-112" charset="0"/>
                        </a:rPr>
                        <a:t>J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12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112" charset="0"/>
                          <a:ea typeface="Arial" pitchFamily="-112" charset="0"/>
                          <a:cs typeface="Arial" pitchFamily="-112" charset="0"/>
                        </a:rPr>
                        <a:t>virtual-addressed caches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12" charset="0"/>
                      </a:endParaRPr>
                    </a:p>
                  </a:txBody>
                  <a:tcPr marT="36576" marB="36576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-112" charset="0"/>
                          <a:ea typeface="Arial" pitchFamily="-112" charset="0"/>
                          <a:cs typeface="Arial" pitchFamily="-112" charset="0"/>
                        </a:rPr>
                        <a:t> 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12" charset="0"/>
                      </a:endParaRPr>
                    </a:p>
                  </a:txBody>
                  <a:tcPr anchor="b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-112" charset="0"/>
                          <a:ea typeface="Arial" pitchFamily="-112" charset="0"/>
                          <a:cs typeface="Arial" pitchFamily="-112" charset="0"/>
                        </a:rPr>
                        <a:t> 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12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Wingdings" pitchFamily="-112" charset="2"/>
                          <a:ea typeface="Arial" pitchFamily="-112" charset="0"/>
                          <a:cs typeface="Arial" pitchFamily="-112" charset="0"/>
                        </a:rPr>
                        <a:t>J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12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Wingdings" pitchFamily="-112" charset="2"/>
                          <a:ea typeface="Arial" pitchFamily="-112" charset="0"/>
                          <a:cs typeface="Arial" pitchFamily="-112" charset="0"/>
                        </a:rPr>
                        <a:t>L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12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theme/theme1.xml><?xml version="1.0" encoding="utf-8"?>
<a:theme xmlns:a="http://schemas.openxmlformats.org/drawingml/2006/main" name="isca00_transp">
  <a:themeElements>
    <a:clrScheme name="isca00_transp 10">
      <a:dk1>
        <a:srgbClr val="000000"/>
      </a:dk1>
      <a:lt1>
        <a:srgbClr val="FFFFFF"/>
      </a:lt1>
      <a:dk2>
        <a:srgbClr val="000000"/>
      </a:dk2>
      <a:lt2>
        <a:srgbClr val="ABABAB"/>
      </a:lt2>
      <a:accent1>
        <a:srgbClr val="CC3300"/>
      </a:accent1>
      <a:accent2>
        <a:srgbClr val="D70000"/>
      </a:accent2>
      <a:accent3>
        <a:srgbClr val="FFFFFF"/>
      </a:accent3>
      <a:accent4>
        <a:srgbClr val="000000"/>
      </a:accent4>
      <a:accent5>
        <a:srgbClr val="E2ADAA"/>
      </a:accent5>
      <a:accent6>
        <a:srgbClr val="C30000"/>
      </a:accent6>
      <a:hlink>
        <a:srgbClr val="D70000"/>
      </a:hlink>
      <a:folHlink>
        <a:srgbClr val="D70000"/>
      </a:folHlink>
    </a:clrScheme>
    <a:fontScheme name="isca00_transp">
      <a:majorFont>
        <a:latin typeface="Geneva"/>
        <a:ea typeface=""/>
        <a:cs typeface=""/>
      </a:majorFont>
      <a:minorFont>
        <a:latin typeface="Gene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2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2" charset="0"/>
          </a:defRPr>
        </a:defPPr>
      </a:lstStyle>
    </a:lnDef>
  </a:objectDefaults>
  <a:extraClrSchemeLst>
    <a:extraClrScheme>
      <a:clrScheme name="isca00_transp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sca00_transp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sca00_transp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sca00_transp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sca00_transp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sca00_transp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sca00_transp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sca00_transp 8">
        <a:dk1>
          <a:srgbClr val="ABABAB"/>
        </a:dk1>
        <a:lt1>
          <a:srgbClr val="FFFFFF"/>
        </a:lt1>
        <a:dk2>
          <a:srgbClr val="212142"/>
        </a:dk2>
        <a:lt2>
          <a:srgbClr val="FFFFFF"/>
        </a:lt2>
        <a:accent1>
          <a:srgbClr val="CC6600"/>
        </a:accent1>
        <a:accent2>
          <a:srgbClr val="FF6600"/>
        </a:accent2>
        <a:accent3>
          <a:srgbClr val="ABABB0"/>
        </a:accent3>
        <a:accent4>
          <a:srgbClr val="DADADA"/>
        </a:accent4>
        <a:accent5>
          <a:srgbClr val="E2B8AA"/>
        </a:accent5>
        <a:accent6>
          <a:srgbClr val="E75C00"/>
        </a:accent6>
        <a:hlink>
          <a:srgbClr val="FF6600"/>
        </a:hlink>
        <a:folHlink>
          <a:srgbClr val="FF6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sca00_transp 9">
        <a:dk1>
          <a:srgbClr val="ABABAB"/>
        </a:dk1>
        <a:lt1>
          <a:srgbClr val="FFFFFF"/>
        </a:lt1>
        <a:dk2>
          <a:srgbClr val="333366"/>
        </a:dk2>
        <a:lt2>
          <a:srgbClr val="FFFFFF"/>
        </a:lt2>
        <a:accent1>
          <a:srgbClr val="CC6600"/>
        </a:accent1>
        <a:accent2>
          <a:srgbClr val="FF6600"/>
        </a:accent2>
        <a:accent3>
          <a:srgbClr val="ADADB8"/>
        </a:accent3>
        <a:accent4>
          <a:srgbClr val="DADADA"/>
        </a:accent4>
        <a:accent5>
          <a:srgbClr val="E2B8AA"/>
        </a:accent5>
        <a:accent6>
          <a:srgbClr val="E75C00"/>
        </a:accent6>
        <a:hlink>
          <a:srgbClr val="FF6600"/>
        </a:hlink>
        <a:folHlink>
          <a:srgbClr val="FF6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sca00_transp 10">
        <a:dk1>
          <a:srgbClr val="000000"/>
        </a:dk1>
        <a:lt1>
          <a:srgbClr val="FFFFFF"/>
        </a:lt1>
        <a:dk2>
          <a:srgbClr val="000000"/>
        </a:dk2>
        <a:lt2>
          <a:srgbClr val="ABABAB"/>
        </a:lt2>
        <a:accent1>
          <a:srgbClr val="CC3300"/>
        </a:accent1>
        <a:accent2>
          <a:srgbClr val="D70000"/>
        </a:accent2>
        <a:accent3>
          <a:srgbClr val="FFFFFF"/>
        </a:accent3>
        <a:accent4>
          <a:srgbClr val="000000"/>
        </a:accent4>
        <a:accent5>
          <a:srgbClr val="E2ADAA"/>
        </a:accent5>
        <a:accent6>
          <a:srgbClr val="C30000"/>
        </a:accent6>
        <a:hlink>
          <a:srgbClr val="D70000"/>
        </a:hlink>
        <a:folHlink>
          <a:srgbClr val="D7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C:\users\cintra\isca00_transp.ppt</Template>
  <TotalTime>267398</TotalTime>
  <Words>3135</Words>
  <Application>Microsoft Macintosh PowerPoint</Application>
  <PresentationFormat>On-screen Show (4:3)</PresentationFormat>
  <Paragraphs>595</Paragraphs>
  <Slides>30</Slides>
  <Notes>28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30</vt:i4>
      </vt:variant>
    </vt:vector>
  </HeadingPairs>
  <TitlesOfParts>
    <vt:vector size="41" baseType="lpstr">
      <vt:lpstr>Arial</vt:lpstr>
      <vt:lpstr>Courier New</vt:lpstr>
      <vt:lpstr>Garamond</vt:lpstr>
      <vt:lpstr>Geneva</vt:lpstr>
      <vt:lpstr>Lucida Console</vt:lpstr>
      <vt:lpstr>Symbol</vt:lpstr>
      <vt:lpstr>Times New Roman</vt:lpstr>
      <vt:lpstr>Wingdings</vt:lpstr>
      <vt:lpstr>isca00_transp</vt:lpstr>
      <vt:lpstr>Worksheet</vt:lpstr>
      <vt:lpstr>Chart</vt:lpstr>
      <vt:lpstr>Cache Performance</vt:lpstr>
      <vt:lpstr>Cache Performance – example problem</vt:lpstr>
      <vt:lpstr>PowerPoint Presentation</vt:lpstr>
      <vt:lpstr>Reducing Cache Miss Rates</vt:lpstr>
      <vt:lpstr>Cache Misses vs. Cache Size</vt:lpstr>
      <vt:lpstr>Reducing Cold Miss Rates</vt:lpstr>
      <vt:lpstr>Cache Misses vs. Block Size</vt:lpstr>
      <vt:lpstr>Reducing Cold Miss Rates</vt:lpstr>
      <vt:lpstr>Prefetching</vt:lpstr>
      <vt:lpstr>Software Prefetching</vt:lpstr>
      <vt:lpstr>Reducing Conflict Miss Rates</vt:lpstr>
      <vt:lpstr>Cache Misses vs. Associativity</vt:lpstr>
      <vt:lpstr>Reducing Miss Rates</vt:lpstr>
      <vt:lpstr>Reducing Miss Rates</vt:lpstr>
      <vt:lpstr>Reducing Miss Rates – Loop Blocking or Tiling</vt:lpstr>
      <vt:lpstr>Cache Performance II</vt:lpstr>
      <vt:lpstr>Reducing Cache Miss Penalty</vt:lpstr>
      <vt:lpstr>Reducing Cache Miss Penalty</vt:lpstr>
      <vt:lpstr>Reducing Cache Miss Penalty</vt:lpstr>
      <vt:lpstr>Reducing Cache Miss Penalty</vt:lpstr>
      <vt:lpstr>Reducing Cache Miss Penalty</vt:lpstr>
      <vt:lpstr>Non-blocking Caches</vt:lpstr>
      <vt:lpstr>Reducing Cache Miss Penalty</vt:lpstr>
      <vt:lpstr>Second Level Caches</vt:lpstr>
      <vt:lpstr>Cache Misses vs. L2 size</vt:lpstr>
      <vt:lpstr>Cache Performance II</vt:lpstr>
      <vt:lpstr>Reducing Cache Hit Time</vt:lpstr>
      <vt:lpstr>Reducing Cache Hit Time</vt:lpstr>
      <vt:lpstr>Reducing Cache Hit Time</vt:lpstr>
      <vt:lpstr>Cache Performance Techniques</vt:lpstr>
    </vt:vector>
  </TitlesOfParts>
  <Manager/>
  <Company>Office 2004 Test Drive User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Informatics 3  Computer Architecture</dc:title>
  <dc:subject/>
  <dc:creator>Office 2004 Test Drive User</dc:creator>
  <cp:keywords/>
  <dc:description/>
  <cp:lastModifiedBy>Vijay Nagarajan</cp:lastModifiedBy>
  <cp:revision>615</cp:revision>
  <cp:lastPrinted>2015-01-12T09:43:55Z</cp:lastPrinted>
  <dcterms:created xsi:type="dcterms:W3CDTF">2018-01-13T22:21:21Z</dcterms:created>
  <dcterms:modified xsi:type="dcterms:W3CDTF">2025-10-15T04:44:33Z</dcterms:modified>
  <cp:category/>
</cp:coreProperties>
</file>