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handoutMasterIdLst>
    <p:handoutMasterId r:id="rId22"/>
  </p:handoutMasterIdLst>
  <p:sldIdLst>
    <p:sldId id="958" r:id="rId2"/>
    <p:sldId id="934" r:id="rId3"/>
    <p:sldId id="937" r:id="rId4"/>
    <p:sldId id="938" r:id="rId5"/>
    <p:sldId id="959" r:id="rId6"/>
    <p:sldId id="960" r:id="rId7"/>
    <p:sldId id="961" r:id="rId8"/>
    <p:sldId id="658" r:id="rId9"/>
    <p:sldId id="659" r:id="rId10"/>
    <p:sldId id="660" r:id="rId11"/>
    <p:sldId id="662" r:id="rId12"/>
    <p:sldId id="955" r:id="rId13"/>
    <p:sldId id="956" r:id="rId14"/>
    <p:sldId id="935" r:id="rId15"/>
    <p:sldId id="936" r:id="rId16"/>
    <p:sldId id="663" r:id="rId17"/>
    <p:sldId id="664" r:id="rId18"/>
    <p:sldId id="665" r:id="rId19"/>
    <p:sldId id="957" r:id="rId20"/>
  </p:sldIdLst>
  <p:sldSz cx="9144000" cy="6858000" type="screen4x3"/>
  <p:notesSz cx="7315200" cy="9601200"/>
  <p:defaultTextStyle>
    <a:defPPr>
      <a:defRPr lang="en-US"/>
    </a:defPPr>
    <a:lvl1pPr algn="l" rtl="0" eaLnBrk="0" fontAlgn="base" hangingPunct="0">
      <a:spcBef>
        <a:spcPct val="0"/>
      </a:spcBef>
      <a:spcAft>
        <a:spcPct val="0"/>
      </a:spcAft>
      <a:defRPr sz="2400" b="1" kern="1200">
        <a:solidFill>
          <a:schemeClr val="tx1"/>
        </a:solidFill>
        <a:latin typeface="Garamond" pitchFamily="-112" charset="0"/>
        <a:ea typeface="+mn-ea"/>
        <a:cs typeface="+mn-cs"/>
      </a:defRPr>
    </a:lvl1pPr>
    <a:lvl2pPr marL="457200" algn="l" rtl="0" eaLnBrk="0" fontAlgn="base" hangingPunct="0">
      <a:spcBef>
        <a:spcPct val="0"/>
      </a:spcBef>
      <a:spcAft>
        <a:spcPct val="0"/>
      </a:spcAft>
      <a:defRPr sz="2400" b="1" kern="1200">
        <a:solidFill>
          <a:schemeClr val="tx1"/>
        </a:solidFill>
        <a:latin typeface="Garamond" pitchFamily="-112" charset="0"/>
        <a:ea typeface="+mn-ea"/>
        <a:cs typeface="+mn-cs"/>
      </a:defRPr>
    </a:lvl2pPr>
    <a:lvl3pPr marL="914400" algn="l" rtl="0" eaLnBrk="0" fontAlgn="base" hangingPunct="0">
      <a:spcBef>
        <a:spcPct val="0"/>
      </a:spcBef>
      <a:spcAft>
        <a:spcPct val="0"/>
      </a:spcAft>
      <a:defRPr sz="2400" b="1" kern="1200">
        <a:solidFill>
          <a:schemeClr val="tx1"/>
        </a:solidFill>
        <a:latin typeface="Garamond" pitchFamily="-112" charset="0"/>
        <a:ea typeface="+mn-ea"/>
        <a:cs typeface="+mn-cs"/>
      </a:defRPr>
    </a:lvl3pPr>
    <a:lvl4pPr marL="1371600" algn="l" rtl="0" eaLnBrk="0" fontAlgn="base" hangingPunct="0">
      <a:spcBef>
        <a:spcPct val="0"/>
      </a:spcBef>
      <a:spcAft>
        <a:spcPct val="0"/>
      </a:spcAft>
      <a:defRPr sz="2400" b="1" kern="1200">
        <a:solidFill>
          <a:schemeClr val="tx1"/>
        </a:solidFill>
        <a:latin typeface="Garamond" pitchFamily="-112" charset="0"/>
        <a:ea typeface="+mn-ea"/>
        <a:cs typeface="+mn-cs"/>
      </a:defRPr>
    </a:lvl4pPr>
    <a:lvl5pPr marL="1828800" algn="l" rtl="0" eaLnBrk="0" fontAlgn="base" hangingPunct="0">
      <a:spcBef>
        <a:spcPct val="0"/>
      </a:spcBef>
      <a:spcAft>
        <a:spcPct val="0"/>
      </a:spcAft>
      <a:defRPr sz="2400" b="1" kern="1200">
        <a:solidFill>
          <a:schemeClr val="tx1"/>
        </a:solidFill>
        <a:latin typeface="Garamond" pitchFamily="-112" charset="0"/>
        <a:ea typeface="+mn-ea"/>
        <a:cs typeface="+mn-cs"/>
      </a:defRPr>
    </a:lvl5pPr>
    <a:lvl6pPr marL="2286000" algn="l" defTabSz="457200" rtl="0" eaLnBrk="1" latinLnBrk="0" hangingPunct="1">
      <a:defRPr sz="2400" b="1" kern="1200">
        <a:solidFill>
          <a:schemeClr val="tx1"/>
        </a:solidFill>
        <a:latin typeface="Garamond" pitchFamily="-112" charset="0"/>
        <a:ea typeface="+mn-ea"/>
        <a:cs typeface="+mn-cs"/>
      </a:defRPr>
    </a:lvl6pPr>
    <a:lvl7pPr marL="2743200" algn="l" defTabSz="457200" rtl="0" eaLnBrk="1" latinLnBrk="0" hangingPunct="1">
      <a:defRPr sz="2400" b="1" kern="1200">
        <a:solidFill>
          <a:schemeClr val="tx1"/>
        </a:solidFill>
        <a:latin typeface="Garamond" pitchFamily="-112" charset="0"/>
        <a:ea typeface="+mn-ea"/>
        <a:cs typeface="+mn-cs"/>
      </a:defRPr>
    </a:lvl7pPr>
    <a:lvl8pPr marL="3200400" algn="l" defTabSz="457200" rtl="0" eaLnBrk="1" latinLnBrk="0" hangingPunct="1">
      <a:defRPr sz="2400" b="1" kern="1200">
        <a:solidFill>
          <a:schemeClr val="tx1"/>
        </a:solidFill>
        <a:latin typeface="Garamond" pitchFamily="-112" charset="0"/>
        <a:ea typeface="+mn-ea"/>
        <a:cs typeface="+mn-cs"/>
      </a:defRPr>
    </a:lvl8pPr>
    <a:lvl9pPr marL="3657600" algn="l" defTabSz="457200" rtl="0" eaLnBrk="1" latinLnBrk="0" hangingPunct="1">
      <a:defRPr sz="2400" b="1" kern="1200">
        <a:solidFill>
          <a:schemeClr val="tx1"/>
        </a:solidFill>
        <a:latin typeface="Garamond" pitchFamily="-112"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clrMru>
    <a:srgbClr val="606060"/>
    <a:srgbClr val="339933"/>
    <a:srgbClr val="0000FF"/>
    <a:srgbClr val="FF00FF"/>
    <a:srgbClr val="00FFFF"/>
    <a:srgbClr val="00FF00"/>
    <a:srgbClr val="000000"/>
    <a:srgbClr val="A80500"/>
    <a:srgbClr val="7819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40" autoAdjust="0"/>
    <p:restoredTop sz="80959" autoAdjust="0"/>
  </p:normalViewPr>
  <p:slideViewPr>
    <p:cSldViewPr>
      <p:cViewPr varScale="1">
        <p:scale>
          <a:sx n="102" d="100"/>
          <a:sy n="102" d="100"/>
        </p:scale>
        <p:origin x="2120"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93" d="100"/>
          <a:sy n="93" d="100"/>
        </p:scale>
        <p:origin x="4736" y="208"/>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5490"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Times New Roman" pitchFamily="-112" charset="0"/>
              </a:defRPr>
            </a:lvl1pPr>
          </a:lstStyle>
          <a:p>
            <a:pPr>
              <a:defRPr/>
            </a:pPr>
            <a:endParaRPr lang="en-US"/>
          </a:p>
        </p:txBody>
      </p:sp>
      <p:sp>
        <p:nvSpPr>
          <p:cNvPr id="575491"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12" charset="0"/>
              </a:defRPr>
            </a:lvl1pPr>
          </a:lstStyle>
          <a:p>
            <a:r>
              <a:rPr lang="en-US"/>
              <a:t>2008-2009</a:t>
            </a:r>
          </a:p>
        </p:txBody>
      </p:sp>
      <p:sp>
        <p:nvSpPr>
          <p:cNvPr id="575492" name="Rectangle 4"/>
          <p:cNvSpPr>
            <a:spLocks noGrp="1" noChangeArrowheads="1"/>
          </p:cNvSpPr>
          <p:nvPr>
            <p:ph type="ftr" sz="quarter" idx="2"/>
          </p:nvPr>
        </p:nvSpPr>
        <p:spPr bwMode="auto">
          <a:xfrm>
            <a:off x="0" y="9118600"/>
            <a:ext cx="3170238" cy="4810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Times New Roman" pitchFamily="-112" charset="0"/>
              </a:defRPr>
            </a:lvl1pPr>
          </a:lstStyle>
          <a:p>
            <a:r>
              <a:rPr lang="en-US"/>
              <a:t>Informatics 3   -   Computer Architecture</a:t>
            </a:r>
          </a:p>
        </p:txBody>
      </p:sp>
      <p:sp>
        <p:nvSpPr>
          <p:cNvPr id="575493" name="Rectangle 5"/>
          <p:cNvSpPr>
            <a:spLocks noGrp="1" noChangeArrowheads="1"/>
          </p:cNvSpPr>
          <p:nvPr>
            <p:ph type="sldNum" sz="quarter" idx="3"/>
          </p:nvPr>
        </p:nvSpPr>
        <p:spPr bwMode="auto">
          <a:xfrm>
            <a:off x="4143375" y="9118600"/>
            <a:ext cx="3170238" cy="4810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12" charset="0"/>
              </a:defRPr>
            </a:lvl1pPr>
          </a:lstStyle>
          <a:p>
            <a:pPr>
              <a:defRPr/>
            </a:pPr>
            <a:fld id="{BE1F0884-5E63-6845-9E6A-12C0C70E007E}" type="slidenum">
              <a:rPr lang="en-US"/>
              <a:pPr>
                <a:defRPr/>
              </a:pPr>
              <a:t>‹#›</a:t>
            </a:fld>
            <a:endParaRPr lang="en-US"/>
          </a:p>
        </p:txBody>
      </p:sp>
    </p:spTree>
    <p:extLst>
      <p:ext uri="{BB962C8B-B14F-4D97-AF65-F5344CB8AC3E}">
        <p14:creationId xmlns:p14="http://schemas.microsoft.com/office/powerpoint/2010/main" val="56468171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bwMode="auto">
          <a:xfrm>
            <a:off x="0" y="0"/>
            <a:ext cx="3170238" cy="479425"/>
          </a:xfrm>
          <a:prstGeom prst="rect">
            <a:avLst/>
          </a:prstGeom>
          <a:noFill/>
          <a:ln w="12700">
            <a:noFill/>
            <a:miter lim="800000"/>
            <a:headEnd type="none" w="sm" len="sm"/>
            <a:tailEnd type="none" w="sm" len="sm"/>
          </a:ln>
          <a:effectLst/>
        </p:spPr>
        <p:txBody>
          <a:bodyPr vert="horz" wrap="square" lIns="92226" tIns="46113" rIns="92226" bIns="46113" numCol="1" anchor="t" anchorCtr="0" compatLnSpc="1">
            <a:prstTxWarp prst="textNoShape">
              <a:avLst/>
            </a:prstTxWarp>
          </a:bodyPr>
          <a:lstStyle>
            <a:lvl1pPr defTabSz="922338">
              <a:defRPr sz="1200" b="0">
                <a:latin typeface="Times New Roman" pitchFamily="-112" charset="0"/>
              </a:defRPr>
            </a:lvl1pPr>
          </a:lstStyle>
          <a:p>
            <a:pPr>
              <a:defRPr/>
            </a:pPr>
            <a:endParaRPr lang="en-US"/>
          </a:p>
        </p:txBody>
      </p:sp>
      <p:sp>
        <p:nvSpPr>
          <p:cNvPr id="63491" name="Rectangle 3"/>
          <p:cNvSpPr>
            <a:spLocks noGrp="1" noChangeArrowheads="1"/>
          </p:cNvSpPr>
          <p:nvPr>
            <p:ph type="dt" idx="1"/>
          </p:nvPr>
        </p:nvSpPr>
        <p:spPr bwMode="auto">
          <a:xfrm>
            <a:off x="4144963" y="0"/>
            <a:ext cx="3170237" cy="479425"/>
          </a:xfrm>
          <a:prstGeom prst="rect">
            <a:avLst/>
          </a:prstGeom>
          <a:noFill/>
          <a:ln w="12700">
            <a:noFill/>
            <a:miter lim="800000"/>
            <a:headEnd type="none" w="sm" len="sm"/>
            <a:tailEnd type="none" w="sm" len="sm"/>
          </a:ln>
          <a:effectLst/>
        </p:spPr>
        <p:txBody>
          <a:bodyPr vert="horz" wrap="square" lIns="92226" tIns="46113" rIns="92226" bIns="46113" numCol="1" anchor="t" anchorCtr="0" compatLnSpc="1">
            <a:prstTxWarp prst="textNoShape">
              <a:avLst/>
            </a:prstTxWarp>
          </a:bodyPr>
          <a:lstStyle>
            <a:lvl1pPr algn="r" defTabSz="922338">
              <a:defRPr sz="1200" b="0">
                <a:latin typeface="Times New Roman" pitchFamily="-112" charset="0"/>
              </a:defRPr>
            </a:lvl1pPr>
          </a:lstStyle>
          <a:p>
            <a:r>
              <a:rPr lang="en-US"/>
              <a:t>2008-2009</a:t>
            </a:r>
          </a:p>
        </p:txBody>
      </p:sp>
      <p:sp>
        <p:nvSpPr>
          <p:cNvPr id="40964" name="Rectangle 4"/>
          <p:cNvSpPr>
            <a:spLocks noGrp="1" noRot="1" noChangeAspect="1" noChangeArrowheads="1" noTextEdit="1"/>
          </p:cNvSpPr>
          <p:nvPr>
            <p:ph type="sldImg" idx="2"/>
          </p:nvPr>
        </p:nvSpPr>
        <p:spPr bwMode="auto">
          <a:xfrm>
            <a:off x="685800" y="533400"/>
            <a:ext cx="6172200" cy="4343400"/>
          </a:xfrm>
          <a:prstGeom prst="rect">
            <a:avLst/>
          </a:prstGeom>
          <a:noFill/>
          <a:ln w="9525">
            <a:solidFill>
              <a:srgbClr val="000000"/>
            </a:solidFill>
            <a:miter lim="800000"/>
            <a:headEnd/>
            <a:tailEnd/>
          </a:ln>
        </p:spPr>
      </p:sp>
      <p:sp>
        <p:nvSpPr>
          <p:cNvPr id="63493" name="Rectangle 5"/>
          <p:cNvSpPr>
            <a:spLocks noGrp="1" noChangeArrowheads="1"/>
          </p:cNvSpPr>
          <p:nvPr>
            <p:ph type="body" sz="quarter" idx="3"/>
          </p:nvPr>
        </p:nvSpPr>
        <p:spPr bwMode="auto">
          <a:xfrm>
            <a:off x="685800" y="4953000"/>
            <a:ext cx="6172200" cy="1905000"/>
          </a:xfrm>
          <a:prstGeom prst="rect">
            <a:avLst/>
          </a:prstGeom>
          <a:noFill/>
          <a:ln w="12700">
            <a:noFill/>
            <a:miter lim="800000"/>
            <a:headEnd type="none" w="sm" len="sm"/>
            <a:tailEnd type="none" w="sm" len="sm"/>
          </a:ln>
          <a:effectLst/>
        </p:spPr>
        <p:txBody>
          <a:bodyPr vert="horz" wrap="square" lIns="92226" tIns="46113" rIns="92226" bIns="4611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3494" name="Rectangle 6"/>
          <p:cNvSpPr>
            <a:spLocks noGrp="1" noChangeArrowheads="1"/>
          </p:cNvSpPr>
          <p:nvPr>
            <p:ph type="ftr" sz="quarter" idx="4"/>
          </p:nvPr>
        </p:nvSpPr>
        <p:spPr bwMode="auto">
          <a:xfrm>
            <a:off x="0" y="9121775"/>
            <a:ext cx="3170238" cy="479425"/>
          </a:xfrm>
          <a:prstGeom prst="rect">
            <a:avLst/>
          </a:prstGeom>
          <a:noFill/>
          <a:ln w="12700">
            <a:noFill/>
            <a:miter lim="800000"/>
            <a:headEnd type="none" w="sm" len="sm"/>
            <a:tailEnd type="none" w="sm" len="sm"/>
          </a:ln>
          <a:effectLst/>
        </p:spPr>
        <p:txBody>
          <a:bodyPr vert="horz" wrap="square" lIns="92226" tIns="46113" rIns="92226" bIns="46113" numCol="1" anchor="b" anchorCtr="0" compatLnSpc="1">
            <a:prstTxWarp prst="textNoShape">
              <a:avLst/>
            </a:prstTxWarp>
          </a:bodyPr>
          <a:lstStyle>
            <a:lvl1pPr defTabSz="922338">
              <a:defRPr sz="1200" b="0">
                <a:latin typeface="Times New Roman" pitchFamily="-112" charset="0"/>
              </a:defRPr>
            </a:lvl1pPr>
          </a:lstStyle>
          <a:p>
            <a:r>
              <a:rPr lang="en-US"/>
              <a:t>Informatics 3   -   Computer Architecture</a:t>
            </a:r>
          </a:p>
        </p:txBody>
      </p:sp>
      <p:sp>
        <p:nvSpPr>
          <p:cNvPr id="63495" name="Rectangle 7"/>
          <p:cNvSpPr>
            <a:spLocks noGrp="1" noChangeArrowheads="1"/>
          </p:cNvSpPr>
          <p:nvPr>
            <p:ph type="sldNum" sz="quarter" idx="5"/>
          </p:nvPr>
        </p:nvSpPr>
        <p:spPr bwMode="auto">
          <a:xfrm>
            <a:off x="4144963" y="9121775"/>
            <a:ext cx="3170237" cy="479425"/>
          </a:xfrm>
          <a:prstGeom prst="rect">
            <a:avLst/>
          </a:prstGeom>
          <a:noFill/>
          <a:ln w="12700">
            <a:noFill/>
            <a:miter lim="800000"/>
            <a:headEnd type="none" w="sm" len="sm"/>
            <a:tailEnd type="none" w="sm" len="sm"/>
          </a:ln>
          <a:effectLst/>
        </p:spPr>
        <p:txBody>
          <a:bodyPr vert="horz" wrap="square" lIns="92226" tIns="46113" rIns="92226" bIns="46113" numCol="1" anchor="b" anchorCtr="0" compatLnSpc="1">
            <a:prstTxWarp prst="textNoShape">
              <a:avLst/>
            </a:prstTxWarp>
          </a:bodyPr>
          <a:lstStyle>
            <a:lvl1pPr algn="r" defTabSz="922338">
              <a:defRPr sz="1200" b="0">
                <a:latin typeface="Times New Roman" pitchFamily="-112" charset="0"/>
              </a:defRPr>
            </a:lvl1pPr>
          </a:lstStyle>
          <a:p>
            <a:pPr>
              <a:defRPr/>
            </a:pPr>
            <a:fld id="{3ACFF632-C89B-E148-8D44-977E94A39556}" type="slidenum">
              <a:rPr lang="en-US"/>
              <a:pPr>
                <a:defRPr/>
              </a:pPr>
              <a:t>‹#›</a:t>
            </a:fld>
            <a:endParaRPr lang="en-US"/>
          </a:p>
        </p:txBody>
      </p:sp>
      <p:grpSp>
        <p:nvGrpSpPr>
          <p:cNvPr id="40968" name="Group 17"/>
          <p:cNvGrpSpPr>
            <a:grpSpLocks/>
          </p:cNvGrpSpPr>
          <p:nvPr/>
        </p:nvGrpSpPr>
        <p:grpSpPr bwMode="auto">
          <a:xfrm>
            <a:off x="714375" y="7191375"/>
            <a:ext cx="6143625" cy="1981200"/>
            <a:chOff x="450" y="4530"/>
            <a:chExt cx="3389" cy="1248"/>
          </a:xfrm>
        </p:grpSpPr>
        <p:sp>
          <p:nvSpPr>
            <p:cNvPr id="63496" name="Line 8"/>
            <p:cNvSpPr>
              <a:spLocks noChangeShapeType="1"/>
            </p:cNvSpPr>
            <p:nvPr/>
          </p:nvSpPr>
          <p:spPr bwMode="auto">
            <a:xfrm>
              <a:off x="450" y="4530"/>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sp>
          <p:nvSpPr>
            <p:cNvPr id="63497" name="Line 9"/>
            <p:cNvSpPr>
              <a:spLocks noChangeShapeType="1"/>
            </p:cNvSpPr>
            <p:nvPr/>
          </p:nvSpPr>
          <p:spPr bwMode="auto">
            <a:xfrm>
              <a:off x="450" y="4709"/>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sp>
          <p:nvSpPr>
            <p:cNvPr id="63498" name="Line 10"/>
            <p:cNvSpPr>
              <a:spLocks noChangeShapeType="1"/>
            </p:cNvSpPr>
            <p:nvPr/>
          </p:nvSpPr>
          <p:spPr bwMode="auto">
            <a:xfrm>
              <a:off x="450" y="4886"/>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sp>
          <p:nvSpPr>
            <p:cNvPr id="63499" name="Line 11"/>
            <p:cNvSpPr>
              <a:spLocks noChangeShapeType="1"/>
            </p:cNvSpPr>
            <p:nvPr/>
          </p:nvSpPr>
          <p:spPr bwMode="auto">
            <a:xfrm>
              <a:off x="450" y="5065"/>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sp>
          <p:nvSpPr>
            <p:cNvPr id="63500" name="Line 12"/>
            <p:cNvSpPr>
              <a:spLocks noChangeShapeType="1"/>
            </p:cNvSpPr>
            <p:nvPr/>
          </p:nvSpPr>
          <p:spPr bwMode="auto">
            <a:xfrm>
              <a:off x="450" y="5243"/>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sp>
          <p:nvSpPr>
            <p:cNvPr id="63501" name="Line 13"/>
            <p:cNvSpPr>
              <a:spLocks noChangeShapeType="1"/>
            </p:cNvSpPr>
            <p:nvPr/>
          </p:nvSpPr>
          <p:spPr bwMode="auto">
            <a:xfrm>
              <a:off x="450" y="5421"/>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sp>
          <p:nvSpPr>
            <p:cNvPr id="63502" name="Line 14"/>
            <p:cNvSpPr>
              <a:spLocks noChangeShapeType="1"/>
            </p:cNvSpPr>
            <p:nvPr/>
          </p:nvSpPr>
          <p:spPr bwMode="auto">
            <a:xfrm>
              <a:off x="450" y="5600"/>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sp>
          <p:nvSpPr>
            <p:cNvPr id="63503" name="Line 15"/>
            <p:cNvSpPr>
              <a:spLocks noChangeShapeType="1"/>
            </p:cNvSpPr>
            <p:nvPr/>
          </p:nvSpPr>
          <p:spPr bwMode="auto">
            <a:xfrm>
              <a:off x="450" y="5778"/>
              <a:ext cx="3389" cy="0"/>
            </a:xfrm>
            <a:prstGeom prst="line">
              <a:avLst/>
            </a:prstGeom>
            <a:noFill/>
            <a:ln w="9525" cap="rnd">
              <a:solidFill>
                <a:schemeClr val="folHlink"/>
              </a:solidFill>
              <a:prstDash val="sysDot"/>
              <a:round/>
              <a:headEnd/>
              <a:tailEnd/>
            </a:ln>
            <a:effectLst/>
          </p:spPr>
          <p:txBody>
            <a:bodyPr>
              <a:prstTxWarp prst="textNoShape">
                <a:avLst/>
              </a:prstTxWarp>
            </a:bodyPr>
            <a:lstStyle/>
            <a:p>
              <a:pPr>
                <a:defRPr/>
              </a:pPr>
              <a:endParaRPr lang="en-US"/>
            </a:p>
          </p:txBody>
        </p:sp>
      </p:grpSp>
      <p:sp>
        <p:nvSpPr>
          <p:cNvPr id="63504" name="Text Box 16"/>
          <p:cNvSpPr txBox="1">
            <a:spLocks noChangeArrowheads="1"/>
          </p:cNvSpPr>
          <p:nvPr/>
        </p:nvSpPr>
        <p:spPr bwMode="auto">
          <a:xfrm>
            <a:off x="609600" y="6858000"/>
            <a:ext cx="1314450" cy="274638"/>
          </a:xfrm>
          <a:prstGeom prst="rect">
            <a:avLst/>
          </a:prstGeom>
          <a:noFill/>
          <a:ln w="9525">
            <a:noFill/>
            <a:miter lim="800000"/>
            <a:headEnd/>
            <a:tailEnd/>
          </a:ln>
          <a:effectLst/>
        </p:spPr>
        <p:txBody>
          <a:bodyPr wrap="none" lIns="92994" tIns="46497" rIns="92994" bIns="46497">
            <a:prstTxWarp prst="textNoShape">
              <a:avLst/>
            </a:prstTxWarp>
            <a:spAutoFit/>
          </a:bodyPr>
          <a:lstStyle/>
          <a:p>
            <a:pPr defTabSz="930275" eaLnBrk="1" hangingPunct="1">
              <a:defRPr/>
            </a:pPr>
            <a:r>
              <a:rPr lang="en-GB" sz="1200" b="0">
                <a:latin typeface="Arial" pitchFamily="-112" charset="0"/>
              </a:rPr>
              <a:t>Additional notes:</a:t>
            </a:r>
          </a:p>
        </p:txBody>
      </p:sp>
    </p:spTree>
    <p:extLst>
      <p:ext uri="{BB962C8B-B14F-4D97-AF65-F5344CB8AC3E}">
        <p14:creationId xmlns:p14="http://schemas.microsoft.com/office/powerpoint/2010/main" val="65477586"/>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kumimoji="1" sz="1200" kern="1200">
        <a:solidFill>
          <a:schemeClr val="tx1"/>
        </a:solidFill>
        <a:latin typeface="Times New Roman" pitchFamily="-112" charset="0"/>
        <a:ea typeface="ＭＳ Ｐゴシック" pitchFamily="-112" charset="-128"/>
        <a:cs typeface="ＭＳ Ｐゴシック" pitchFamily="-112" charset="-128"/>
      </a:defRPr>
    </a:lvl1pPr>
    <a:lvl2pPr marL="457200" algn="l" rtl="0" eaLnBrk="0" fontAlgn="base" hangingPunct="0">
      <a:spcBef>
        <a:spcPct val="30000"/>
      </a:spcBef>
      <a:spcAft>
        <a:spcPct val="0"/>
      </a:spcAft>
      <a:defRPr kumimoji="1" sz="1200" kern="1200">
        <a:solidFill>
          <a:schemeClr val="tx1"/>
        </a:solidFill>
        <a:latin typeface="Times New Roman" pitchFamily="-112" charset="0"/>
        <a:ea typeface="ＭＳ Ｐゴシック" pitchFamily="-112"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12" charset="0"/>
        <a:ea typeface="ＭＳ Ｐゴシック" pitchFamily="-112"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12" charset="0"/>
        <a:ea typeface="ＭＳ Ｐゴシック" pitchFamily="-112"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12" charset="0"/>
        <a:ea typeface="ＭＳ Ｐゴシック" pitchFamily="-112"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3"/>
          <p:cNvSpPr>
            <a:spLocks noGrp="1" noChangeArrowheads="1"/>
          </p:cNvSpPr>
          <p:nvPr>
            <p:ph type="dt" sz="quarter" idx="1"/>
          </p:nvPr>
        </p:nvSpPr>
        <p:spPr>
          <a:noFill/>
        </p:spPr>
        <p:txBody>
          <a:bodyPr/>
          <a:lstStyle/>
          <a:p>
            <a:r>
              <a:rPr lang="en-US"/>
              <a:t>2008-2009</a:t>
            </a:r>
          </a:p>
        </p:txBody>
      </p:sp>
      <p:sp>
        <p:nvSpPr>
          <p:cNvPr id="416771" name="Rectangle 6"/>
          <p:cNvSpPr>
            <a:spLocks noGrp="1" noChangeArrowheads="1"/>
          </p:cNvSpPr>
          <p:nvPr>
            <p:ph type="ftr" sz="quarter" idx="4"/>
          </p:nvPr>
        </p:nvSpPr>
        <p:spPr>
          <a:noFill/>
        </p:spPr>
        <p:txBody>
          <a:bodyPr/>
          <a:lstStyle/>
          <a:p>
            <a:r>
              <a:rPr lang="en-US"/>
              <a:t>Informatics 3   -   Computer Architecture</a:t>
            </a:r>
          </a:p>
        </p:txBody>
      </p:sp>
      <p:sp>
        <p:nvSpPr>
          <p:cNvPr id="416772" name="Rectangle 7"/>
          <p:cNvSpPr>
            <a:spLocks noGrp="1" noChangeArrowheads="1"/>
          </p:cNvSpPr>
          <p:nvPr>
            <p:ph type="sldNum" sz="quarter" idx="5"/>
          </p:nvPr>
        </p:nvSpPr>
        <p:spPr>
          <a:noFill/>
        </p:spPr>
        <p:txBody>
          <a:bodyPr/>
          <a:lstStyle/>
          <a:p>
            <a:fld id="{7D935B9C-9C23-AF45-B841-E7F4299B038D}" type="slidenum">
              <a:rPr lang="en-US"/>
              <a:pPr/>
              <a:t>2</a:t>
            </a:fld>
            <a:endParaRPr lang="en-US"/>
          </a:p>
        </p:txBody>
      </p:sp>
      <p:sp>
        <p:nvSpPr>
          <p:cNvPr id="416773" name="Rectangle 2"/>
          <p:cNvSpPr>
            <a:spLocks noGrp="1" noRot="1" noChangeAspect="1" noChangeArrowheads="1" noTextEdit="1"/>
          </p:cNvSpPr>
          <p:nvPr>
            <p:ph type="sldImg"/>
          </p:nvPr>
        </p:nvSpPr>
        <p:spPr>
          <a:xfrm>
            <a:off x="876300" y="533400"/>
            <a:ext cx="5791200" cy="4343400"/>
          </a:xfrm>
          <a:ln/>
        </p:spPr>
      </p:sp>
      <p:sp>
        <p:nvSpPr>
          <p:cNvPr id="416774" name="Rectangle 3"/>
          <p:cNvSpPr>
            <a:spLocks noGrp="1" noChangeArrowheads="1"/>
          </p:cNvSpPr>
          <p:nvPr>
            <p:ph type="body" idx="1"/>
          </p:nvPr>
        </p:nvSpPr>
        <p:spPr>
          <a:noFill/>
          <a:ln w="9525"/>
        </p:spPr>
        <p:txBody>
          <a:bodyPr/>
          <a:lstStyle/>
          <a:p>
            <a:r>
              <a:rPr lang="en-US" dirty="0"/>
              <a:t>Why has the speed of memory trailed behind the speed of the processor?  Dennard scaling means that as transistor size decreases, it switches faster. But memory is not only logic, it involves other operations like reading the charge of memory cells and amplifying it and those steps don’t get faster as compute.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3"/>
          <p:cNvSpPr>
            <a:spLocks noGrp="1" noChangeArrowheads="1"/>
          </p:cNvSpPr>
          <p:nvPr>
            <p:ph type="dt" sz="quarter" idx="1"/>
          </p:nvPr>
        </p:nvSpPr>
        <p:spPr/>
        <p:txBody>
          <a:bodyPr/>
          <a:lstStyle/>
          <a:p>
            <a:pPr>
              <a:defRPr/>
            </a:pPr>
            <a:r>
              <a:rPr lang="en-US"/>
              <a:t>2008-2009</a:t>
            </a:r>
          </a:p>
        </p:txBody>
      </p:sp>
      <p:sp>
        <p:nvSpPr>
          <p:cNvPr id="418819" name="Rectangle 6"/>
          <p:cNvSpPr>
            <a:spLocks noGrp="1" noChangeArrowheads="1"/>
          </p:cNvSpPr>
          <p:nvPr>
            <p:ph type="ftr" sz="quarter" idx="4"/>
          </p:nvPr>
        </p:nvSpPr>
        <p:spPr/>
        <p:txBody>
          <a:bodyPr/>
          <a:lstStyle/>
          <a:p>
            <a:pPr>
              <a:defRPr/>
            </a:pPr>
            <a:r>
              <a:rPr lang="en-US"/>
              <a:t>Informatics 3   -   Computer Architecture</a:t>
            </a:r>
          </a:p>
        </p:txBody>
      </p:sp>
      <p:sp>
        <p:nvSpPr>
          <p:cNvPr id="23555" name="Rectangle 7"/>
          <p:cNvSpPr>
            <a:spLocks noGrp="1" noChangeArrowheads="1"/>
          </p:cNvSpPr>
          <p:nvPr>
            <p:ph type="sldNum" sz="quarter" idx="5"/>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defTabSz="930275">
              <a:defRPr sz="2000" b="1">
                <a:solidFill>
                  <a:srgbClr val="FFFF00"/>
                </a:solidFill>
                <a:latin typeface="Garamond" charset="0"/>
                <a:ea typeface="ＭＳ Ｐゴシック" charset="0"/>
                <a:cs typeface="ＭＳ Ｐゴシック" charset="0"/>
              </a:defRPr>
            </a:lvl1pPr>
            <a:lvl2pPr marL="742950" indent="-285750" defTabSz="930275">
              <a:defRPr sz="2000" b="1">
                <a:solidFill>
                  <a:srgbClr val="FFFF00"/>
                </a:solidFill>
                <a:latin typeface="Garamond" charset="0"/>
                <a:ea typeface="ＭＳ Ｐゴシック" charset="0"/>
              </a:defRPr>
            </a:lvl2pPr>
            <a:lvl3pPr marL="1143000" indent="-228600" defTabSz="930275">
              <a:defRPr sz="2000" b="1">
                <a:solidFill>
                  <a:srgbClr val="FFFF00"/>
                </a:solidFill>
                <a:latin typeface="Garamond" charset="0"/>
                <a:ea typeface="ＭＳ Ｐゴシック" charset="0"/>
              </a:defRPr>
            </a:lvl3pPr>
            <a:lvl4pPr marL="1600200" indent="-228600" defTabSz="930275">
              <a:defRPr sz="2000" b="1">
                <a:solidFill>
                  <a:srgbClr val="FFFF00"/>
                </a:solidFill>
                <a:latin typeface="Garamond" charset="0"/>
                <a:ea typeface="ＭＳ Ｐゴシック" charset="0"/>
              </a:defRPr>
            </a:lvl4pPr>
            <a:lvl5pPr marL="2057400" indent="-228600" defTabSz="930275">
              <a:defRPr sz="2000" b="1">
                <a:solidFill>
                  <a:srgbClr val="FFFF00"/>
                </a:solidFill>
                <a:latin typeface="Garamond" charset="0"/>
                <a:ea typeface="ＭＳ Ｐゴシック" charset="0"/>
              </a:defRPr>
            </a:lvl5pPr>
            <a:lvl6pPr marL="2514600" indent="-228600" defTabSz="930275" eaLnBrk="0" fontAlgn="base" hangingPunct="0">
              <a:spcBef>
                <a:spcPct val="0"/>
              </a:spcBef>
              <a:spcAft>
                <a:spcPct val="0"/>
              </a:spcAft>
              <a:defRPr sz="2000" b="1">
                <a:solidFill>
                  <a:srgbClr val="FFFF00"/>
                </a:solidFill>
                <a:latin typeface="Garamond" charset="0"/>
                <a:ea typeface="ＭＳ Ｐゴシック" charset="0"/>
              </a:defRPr>
            </a:lvl6pPr>
            <a:lvl7pPr marL="2971800" indent="-228600" defTabSz="930275" eaLnBrk="0" fontAlgn="base" hangingPunct="0">
              <a:spcBef>
                <a:spcPct val="0"/>
              </a:spcBef>
              <a:spcAft>
                <a:spcPct val="0"/>
              </a:spcAft>
              <a:defRPr sz="2000" b="1">
                <a:solidFill>
                  <a:srgbClr val="FFFF00"/>
                </a:solidFill>
                <a:latin typeface="Garamond" charset="0"/>
                <a:ea typeface="ＭＳ Ｐゴシック" charset="0"/>
              </a:defRPr>
            </a:lvl7pPr>
            <a:lvl8pPr marL="3429000" indent="-228600" defTabSz="930275" eaLnBrk="0" fontAlgn="base" hangingPunct="0">
              <a:spcBef>
                <a:spcPct val="0"/>
              </a:spcBef>
              <a:spcAft>
                <a:spcPct val="0"/>
              </a:spcAft>
              <a:defRPr sz="2000" b="1">
                <a:solidFill>
                  <a:srgbClr val="FFFF00"/>
                </a:solidFill>
                <a:latin typeface="Garamond" charset="0"/>
                <a:ea typeface="ＭＳ Ｐゴシック" charset="0"/>
              </a:defRPr>
            </a:lvl8pPr>
            <a:lvl9pPr marL="3886200" indent="-228600" defTabSz="930275" eaLnBrk="0" fontAlgn="base" hangingPunct="0">
              <a:spcBef>
                <a:spcPct val="0"/>
              </a:spcBef>
              <a:spcAft>
                <a:spcPct val="0"/>
              </a:spcAft>
              <a:defRPr sz="2000" b="1">
                <a:solidFill>
                  <a:srgbClr val="FFFF00"/>
                </a:solidFill>
                <a:latin typeface="Garamond" charset="0"/>
                <a:ea typeface="ＭＳ Ｐゴシック" charset="0"/>
              </a:defRPr>
            </a:lvl9pPr>
          </a:lstStyle>
          <a:p>
            <a:fld id="{7CAC4B28-6C67-9C49-AFA8-1D9C00DBBF5A}" type="slidenum">
              <a:rPr lang="en-US" sz="1200" b="0">
                <a:solidFill>
                  <a:schemeClr val="tx1"/>
                </a:solidFill>
                <a:latin typeface="Times New Roman" charset="0"/>
              </a:rPr>
              <a:pPr/>
              <a:t>4</a:t>
            </a:fld>
            <a:endParaRPr lang="en-US" sz="1200" b="0">
              <a:solidFill>
                <a:schemeClr val="tx1"/>
              </a:solidFill>
              <a:latin typeface="Times New Roman" charset="0"/>
            </a:endParaRPr>
          </a:p>
        </p:txBody>
      </p:sp>
      <p:sp>
        <p:nvSpPr>
          <p:cNvPr id="23556" name="Rectangle 2"/>
          <p:cNvSpPr>
            <a:spLocks noGrp="1" noRot="1" noChangeAspect="1" noChangeArrowheads="1" noTextEdit="1"/>
          </p:cNvSpPr>
          <p:nvPr>
            <p:ph type="sldImg"/>
          </p:nvPr>
        </p:nvSpPr>
        <p:spPr>
          <a:xfrm>
            <a:off x="876300" y="533400"/>
            <a:ext cx="5791200" cy="4343400"/>
          </a:xfrm>
          <a:ln/>
        </p:spPr>
      </p:sp>
      <p:sp>
        <p:nvSpPr>
          <p:cNvPr id="23557"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 uri="{FAA26D3D-D897-4be2-8F04-BA451C77F1D7}">
              <ma14:placeholderFlag xmlns:ma14="http://schemas.microsoft.com/office/mac/drawingml/2011/main" xmlns="" val="1"/>
            </a:ext>
          </a:extLst>
        </p:spPr>
        <p:txBody>
          <a:bodyPr/>
          <a:lstStyle/>
          <a:p>
            <a:endParaRPr lang="en-US">
              <a:ea typeface="ＭＳ Ｐゴシック" charset="0"/>
              <a:cs typeface="ＭＳ Ｐゴシック"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6300" y="533400"/>
            <a:ext cx="5791200" cy="4343400"/>
          </a:xfrm>
        </p:spPr>
      </p:sp>
      <p:sp>
        <p:nvSpPr>
          <p:cNvPr id="3" name="Notes Placeholder 2"/>
          <p:cNvSpPr>
            <a:spLocks noGrp="1"/>
          </p:cNvSpPr>
          <p:nvPr>
            <p:ph type="body" idx="1"/>
          </p:nvPr>
        </p:nvSpPr>
        <p:spPr/>
        <p:txBody>
          <a:bodyPr/>
          <a:lstStyle/>
          <a:p>
            <a:r>
              <a:rPr lang="en-US" dirty="0"/>
              <a:t>Accessing from register: 1x</a:t>
            </a:r>
          </a:p>
          <a:p>
            <a:endParaRPr lang="en-US" dirty="0"/>
          </a:p>
          <a:p>
            <a:r>
              <a:rPr lang="en-US" dirty="0"/>
              <a:t>Accessing from L1 cache: 3-4 </a:t>
            </a:r>
          </a:p>
          <a:p>
            <a:endParaRPr lang="en-US" dirty="0"/>
          </a:p>
          <a:p>
            <a:r>
              <a:rPr lang="en-US" dirty="0"/>
              <a:t>L2 cache: 10-20</a:t>
            </a:r>
          </a:p>
          <a:p>
            <a:endParaRPr lang="en-US" dirty="0"/>
          </a:p>
          <a:p>
            <a:r>
              <a:rPr lang="en-US" dirty="0"/>
              <a:t>L3 cache: 30-80</a:t>
            </a:r>
          </a:p>
          <a:p>
            <a:endParaRPr lang="en-US" dirty="0"/>
          </a:p>
          <a:p>
            <a:r>
              <a:rPr lang="en-US" dirty="0"/>
              <a:t>Memory: 150 – 400</a:t>
            </a:r>
          </a:p>
          <a:p>
            <a:endParaRPr lang="en-US" dirty="0"/>
          </a:p>
          <a:p>
            <a:r>
              <a:rPr lang="en-US" dirty="0"/>
              <a:t>CXL memory expander: 600 – 1200 cycles</a:t>
            </a:r>
          </a:p>
          <a:p>
            <a:endParaRPr lang="en-US" dirty="0"/>
          </a:p>
          <a:p>
            <a:r>
              <a:rPr lang="en-US" dirty="0"/>
              <a:t>NVRAM: 3000 – 10000 cycles</a:t>
            </a:r>
          </a:p>
          <a:p>
            <a:endParaRPr lang="en-US" dirty="0"/>
          </a:p>
          <a:p>
            <a:r>
              <a:rPr lang="en-US" dirty="0"/>
              <a:t>Flash memory: tens of thousands of cycles</a:t>
            </a:r>
          </a:p>
          <a:p>
            <a:endParaRPr lang="en-US" dirty="0"/>
          </a:p>
          <a:p>
            <a:r>
              <a:rPr lang="en-US" dirty="0"/>
              <a:t>Hard disk: Millions of cycles. </a:t>
            </a:r>
          </a:p>
          <a:p>
            <a:endParaRPr lang="en-US" dirty="0"/>
          </a:p>
          <a:p>
            <a:r>
              <a:rPr lang="en-US" sz="1200" dirty="0">
                <a:solidFill>
                  <a:prstClr val="black"/>
                </a:solidFill>
                <a:latin typeface="ArialMT"/>
              </a:rPr>
              <a:t>Memory Level	Analogy: Where You Get the Information	Scaled Time	</a:t>
            </a:r>
          </a:p>
          <a:p>
            <a:r>
              <a:rPr lang="en-US" sz="1200" dirty="0">
                <a:solidFill>
                  <a:prstClr val="black"/>
                </a:solidFill>
                <a:latin typeface="ArialMT"/>
              </a:rPr>
              <a:t>Register	Reading a fact from a book open on your desk.	1 second	</a:t>
            </a:r>
          </a:p>
          <a:p>
            <a:r>
              <a:rPr lang="en-US" sz="1200" dirty="0">
                <a:solidFill>
                  <a:prstClr val="black"/>
                </a:solidFill>
                <a:latin typeface="ArialMT"/>
              </a:rPr>
              <a:t>L1 Cache	Grabbing a different book from a stack on your desk.	~3-4 seconds	</a:t>
            </a:r>
          </a:p>
          <a:p>
            <a:r>
              <a:rPr lang="en-US" sz="1200" dirty="0">
                <a:solidFill>
                  <a:prstClr val="black"/>
                </a:solidFill>
                <a:latin typeface="ArialMT"/>
              </a:rPr>
              <a:t>L2 Cache	Getting up to pull a book from a bookshelf in your office.	~10 seconds	</a:t>
            </a:r>
          </a:p>
          <a:p>
            <a:r>
              <a:rPr lang="en-US" sz="1200" dirty="0">
                <a:solidFill>
                  <a:prstClr val="black"/>
                </a:solidFill>
                <a:latin typeface="ArialMT"/>
              </a:rPr>
              <a:t>L3 Cache	Walking down the hall to a small library on your floor.	~40 seconds	</a:t>
            </a:r>
          </a:p>
          <a:p>
            <a:r>
              <a:rPr lang="en-US" sz="1200" dirty="0">
                <a:solidFill>
                  <a:prstClr val="black"/>
                </a:solidFill>
                <a:latin typeface="ArialMT"/>
              </a:rPr>
              <a:t>Main Memory (DRAM)	Taking an elevator to the main campus library in another building.	~2-3 minutes	</a:t>
            </a:r>
          </a:p>
          <a:p>
            <a:r>
              <a:rPr lang="en-US" sz="1200" dirty="0">
                <a:solidFill>
                  <a:prstClr val="black"/>
                </a:solidFill>
                <a:latin typeface="ArialMT"/>
              </a:rPr>
              <a:t>CXL Memory Expander	Getting in a car and driving to a library in the next town over.	~5-10 minutes	</a:t>
            </a:r>
          </a:p>
          <a:p>
            <a:r>
              <a:rPr lang="en-US" sz="1200" dirty="0" err="1">
                <a:solidFill>
                  <a:prstClr val="black"/>
                </a:solidFill>
                <a:latin typeface="ArialMT"/>
              </a:rPr>
              <a:t>NVMe</a:t>
            </a:r>
            <a:r>
              <a:rPr lang="en-US" sz="1200" dirty="0">
                <a:solidFill>
                  <a:prstClr val="black"/>
                </a:solidFill>
                <a:latin typeface="ArialMT"/>
              </a:rPr>
              <a:t> SSD	Placing an inter-library loan request for a book from another state.	~1-2 days	</a:t>
            </a:r>
          </a:p>
          <a:p>
            <a:r>
              <a:rPr lang="en-US" sz="1200" dirty="0">
                <a:solidFill>
                  <a:prstClr val="black"/>
                </a:solidFill>
                <a:latin typeface="ArialMT"/>
              </a:rPr>
              <a:t>Hard Disk (HDD)	Requesting a rare book from an archive on another continent.	~8-12 months	</a:t>
            </a:r>
          </a:p>
          <a:p>
            <a:endParaRPr lang="en-US" dirty="0"/>
          </a:p>
          <a:p>
            <a:endParaRPr lang="en-US" dirty="0"/>
          </a:p>
          <a:p>
            <a:endParaRPr lang="en-US" dirty="0"/>
          </a:p>
        </p:txBody>
      </p:sp>
      <p:sp>
        <p:nvSpPr>
          <p:cNvPr id="4" name="Date Placeholder 3"/>
          <p:cNvSpPr>
            <a:spLocks noGrp="1"/>
          </p:cNvSpPr>
          <p:nvPr>
            <p:ph type="dt" idx="1"/>
          </p:nvPr>
        </p:nvSpPr>
        <p:spPr/>
        <p:txBody>
          <a:bodyPr/>
          <a:lstStyle/>
          <a:p>
            <a:r>
              <a:rPr lang="en-US"/>
              <a:t>2008-2009</a:t>
            </a:r>
          </a:p>
        </p:txBody>
      </p:sp>
      <p:sp>
        <p:nvSpPr>
          <p:cNvPr id="5" name="Footer Placeholder 4"/>
          <p:cNvSpPr>
            <a:spLocks noGrp="1"/>
          </p:cNvSpPr>
          <p:nvPr>
            <p:ph type="ftr" sz="quarter" idx="4"/>
          </p:nvPr>
        </p:nvSpPr>
        <p:spPr/>
        <p:txBody>
          <a:bodyPr/>
          <a:lstStyle/>
          <a:p>
            <a:r>
              <a:rPr lang="en-US"/>
              <a:t>Informatics 3   -   Computer Architecture</a:t>
            </a:r>
          </a:p>
        </p:txBody>
      </p:sp>
      <p:sp>
        <p:nvSpPr>
          <p:cNvPr id="6" name="Slide Number Placeholder 5"/>
          <p:cNvSpPr>
            <a:spLocks noGrp="1"/>
          </p:cNvSpPr>
          <p:nvPr>
            <p:ph type="sldNum" sz="quarter" idx="5"/>
          </p:nvPr>
        </p:nvSpPr>
        <p:spPr/>
        <p:txBody>
          <a:bodyPr/>
          <a:lstStyle/>
          <a:p>
            <a:pPr>
              <a:defRPr/>
            </a:pPr>
            <a:fld id="{3ACFF632-C89B-E148-8D44-977E94A39556}" type="slidenum">
              <a:rPr lang="en-US" smtClean="0"/>
              <a:pPr>
                <a:defRPr/>
              </a:pPr>
              <a:t>5</a:t>
            </a:fld>
            <a:endParaRPr lang="en-US"/>
          </a:p>
        </p:txBody>
      </p:sp>
    </p:spTree>
    <p:extLst>
      <p:ext uri="{BB962C8B-B14F-4D97-AF65-F5344CB8AC3E}">
        <p14:creationId xmlns:p14="http://schemas.microsoft.com/office/powerpoint/2010/main" val="2290399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6300" y="533400"/>
            <a:ext cx="5791200" cy="4343400"/>
          </a:xfrm>
        </p:spPr>
      </p:sp>
      <p:sp>
        <p:nvSpPr>
          <p:cNvPr id="3" name="Notes Placeholder 2"/>
          <p:cNvSpPr>
            <a:spLocks noGrp="1"/>
          </p:cNvSpPr>
          <p:nvPr>
            <p:ph type="body" idx="1"/>
          </p:nvPr>
        </p:nvSpPr>
        <p:spPr/>
        <p:txBody>
          <a:bodyPr/>
          <a:lstStyle/>
          <a:p>
            <a:r>
              <a:rPr lang="en-US" dirty="0"/>
              <a:t>SRAM is basically like a flip flop. 4 transistors for core logic and 2 for access. (What about register file? It is also fundamentally a bunch of flip flops, but need more ports. So lots (about a dozen) per bit.  It is designed for speed but it has area of power overhead. It is volatile, meaning if power is lost, everything is lost. </a:t>
            </a:r>
          </a:p>
          <a:p>
            <a:endParaRPr lang="en-US" dirty="0"/>
          </a:p>
          <a:p>
            <a:r>
              <a:rPr lang="en-US" dirty="0"/>
              <a:t>A DRAM bit is essentially a capacitor (which holds a value) and a transistor (which is a gate). Because the charge can run out it needs to be periodically recharged (i.e. refreshed). Reading a bit discharges the charge so need to recharge it via a write. It is designed for density, but it slower. It is volatile because we need to refresh the charge, a power loss means data lost. </a:t>
            </a:r>
          </a:p>
          <a:p>
            <a:endParaRPr lang="en-US" dirty="0"/>
          </a:p>
          <a:p>
            <a:endParaRPr lang="en-US" dirty="0"/>
          </a:p>
          <a:p>
            <a:endParaRPr lang="en-US" dirty="0"/>
          </a:p>
        </p:txBody>
      </p:sp>
      <p:sp>
        <p:nvSpPr>
          <p:cNvPr id="4" name="Date Placeholder 3"/>
          <p:cNvSpPr>
            <a:spLocks noGrp="1"/>
          </p:cNvSpPr>
          <p:nvPr>
            <p:ph type="dt" idx="1"/>
          </p:nvPr>
        </p:nvSpPr>
        <p:spPr/>
        <p:txBody>
          <a:bodyPr/>
          <a:lstStyle/>
          <a:p>
            <a:r>
              <a:rPr lang="en-US"/>
              <a:t>2008-2009</a:t>
            </a:r>
          </a:p>
        </p:txBody>
      </p:sp>
      <p:sp>
        <p:nvSpPr>
          <p:cNvPr id="5" name="Footer Placeholder 4"/>
          <p:cNvSpPr>
            <a:spLocks noGrp="1"/>
          </p:cNvSpPr>
          <p:nvPr>
            <p:ph type="ftr" sz="quarter" idx="4"/>
          </p:nvPr>
        </p:nvSpPr>
        <p:spPr/>
        <p:txBody>
          <a:bodyPr/>
          <a:lstStyle/>
          <a:p>
            <a:r>
              <a:rPr lang="en-US"/>
              <a:t>Informatics 3   -   Computer Architecture</a:t>
            </a:r>
          </a:p>
        </p:txBody>
      </p:sp>
      <p:sp>
        <p:nvSpPr>
          <p:cNvPr id="6" name="Slide Number Placeholder 5"/>
          <p:cNvSpPr>
            <a:spLocks noGrp="1"/>
          </p:cNvSpPr>
          <p:nvPr>
            <p:ph type="sldNum" sz="quarter" idx="5"/>
          </p:nvPr>
        </p:nvSpPr>
        <p:spPr/>
        <p:txBody>
          <a:bodyPr/>
          <a:lstStyle/>
          <a:p>
            <a:pPr>
              <a:defRPr/>
            </a:pPr>
            <a:fld id="{3ACFF632-C89B-E148-8D44-977E94A39556}" type="slidenum">
              <a:rPr lang="en-US" smtClean="0"/>
              <a:pPr>
                <a:defRPr/>
              </a:pPr>
              <a:t>6</a:t>
            </a:fld>
            <a:endParaRPr lang="en-US"/>
          </a:p>
        </p:txBody>
      </p:sp>
    </p:spTree>
    <p:extLst>
      <p:ext uri="{BB962C8B-B14F-4D97-AF65-F5344CB8AC3E}">
        <p14:creationId xmlns:p14="http://schemas.microsoft.com/office/powerpoint/2010/main" val="108425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76300" y="533400"/>
            <a:ext cx="5791200" cy="4343400"/>
          </a:xfrm>
        </p:spPr>
      </p:sp>
      <p:sp>
        <p:nvSpPr>
          <p:cNvPr id="3" name="Notes Placeholder 2"/>
          <p:cNvSpPr>
            <a:spLocks noGrp="1"/>
          </p:cNvSpPr>
          <p:nvPr>
            <p:ph type="body" idx="1"/>
          </p:nvPr>
        </p:nvSpPr>
        <p:spPr/>
        <p:txBody>
          <a:bodyPr/>
          <a:lstStyle/>
          <a:p>
            <a:r>
              <a:rPr lang="en-US" dirty="0"/>
              <a:t>Typically, CPU is connected to DRAM via a specified interface and data flows through a bunch of pins in the </a:t>
            </a:r>
            <a:r>
              <a:rPr lang="en-US" dirty="0" err="1"/>
              <a:t>cpu</a:t>
            </a:r>
            <a:r>
              <a:rPr lang="en-US" dirty="0"/>
              <a:t> chip. The pins limit bandwidth. With GDDR, the memory chips are soldered on to a GPU chip and the memory circuitry also operated at a much higher clock frequency, so the effective bandwidth is much higher. HBM takes the idea even further: memory is stacked on to the processor chip for more bandwidth. </a:t>
            </a:r>
          </a:p>
          <a:p>
            <a:endParaRPr lang="en-US" dirty="0"/>
          </a:p>
          <a:p>
            <a:r>
              <a:rPr lang="en-US" dirty="0"/>
              <a:t>Flash memory is a transistor with an insulated floating gate. Writes are slow because a high voltage is required to force electrons through the insulator, where they become trapped; this high-voltage process also physically degrades the cell over time, leading to limited write endurance. This persistence without power makes it ideal for storage.</a:t>
            </a:r>
          </a:p>
        </p:txBody>
      </p:sp>
      <p:sp>
        <p:nvSpPr>
          <p:cNvPr id="4" name="Date Placeholder 3"/>
          <p:cNvSpPr>
            <a:spLocks noGrp="1"/>
          </p:cNvSpPr>
          <p:nvPr>
            <p:ph type="dt" idx="1"/>
          </p:nvPr>
        </p:nvSpPr>
        <p:spPr/>
        <p:txBody>
          <a:bodyPr/>
          <a:lstStyle/>
          <a:p>
            <a:r>
              <a:rPr lang="en-US"/>
              <a:t>2008-2009</a:t>
            </a:r>
          </a:p>
        </p:txBody>
      </p:sp>
      <p:sp>
        <p:nvSpPr>
          <p:cNvPr id="5" name="Footer Placeholder 4"/>
          <p:cNvSpPr>
            <a:spLocks noGrp="1"/>
          </p:cNvSpPr>
          <p:nvPr>
            <p:ph type="ftr" sz="quarter" idx="4"/>
          </p:nvPr>
        </p:nvSpPr>
        <p:spPr/>
        <p:txBody>
          <a:bodyPr/>
          <a:lstStyle/>
          <a:p>
            <a:r>
              <a:rPr lang="en-US"/>
              <a:t>Informatics 3   -   Computer Architecture</a:t>
            </a:r>
          </a:p>
        </p:txBody>
      </p:sp>
      <p:sp>
        <p:nvSpPr>
          <p:cNvPr id="6" name="Slide Number Placeholder 5"/>
          <p:cNvSpPr>
            <a:spLocks noGrp="1"/>
          </p:cNvSpPr>
          <p:nvPr>
            <p:ph type="sldNum" sz="quarter" idx="5"/>
          </p:nvPr>
        </p:nvSpPr>
        <p:spPr/>
        <p:txBody>
          <a:bodyPr/>
          <a:lstStyle/>
          <a:p>
            <a:pPr>
              <a:defRPr/>
            </a:pPr>
            <a:fld id="{3ACFF632-C89B-E148-8D44-977E94A39556}" type="slidenum">
              <a:rPr lang="en-US" smtClean="0"/>
              <a:pPr>
                <a:defRPr/>
              </a:pPr>
              <a:t>7</a:t>
            </a:fld>
            <a:endParaRPr lang="en-US"/>
          </a:p>
        </p:txBody>
      </p:sp>
    </p:spTree>
    <p:extLst>
      <p:ext uri="{BB962C8B-B14F-4D97-AF65-F5344CB8AC3E}">
        <p14:creationId xmlns:p14="http://schemas.microsoft.com/office/powerpoint/2010/main" val="469337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3"/>
          <p:cNvSpPr>
            <a:spLocks noGrp="1" noChangeArrowheads="1"/>
          </p:cNvSpPr>
          <p:nvPr>
            <p:ph type="dt" sz="quarter" idx="1"/>
          </p:nvPr>
        </p:nvSpPr>
        <p:spPr>
          <a:noFill/>
        </p:spPr>
        <p:txBody>
          <a:bodyPr/>
          <a:lstStyle/>
          <a:p>
            <a:r>
              <a:rPr lang="en-US"/>
              <a:t>2008-2009</a:t>
            </a:r>
          </a:p>
        </p:txBody>
      </p:sp>
      <p:sp>
        <p:nvSpPr>
          <p:cNvPr id="427011" name="Rectangle 6"/>
          <p:cNvSpPr>
            <a:spLocks noGrp="1" noChangeArrowheads="1"/>
          </p:cNvSpPr>
          <p:nvPr>
            <p:ph type="ftr" sz="quarter" idx="4"/>
          </p:nvPr>
        </p:nvSpPr>
        <p:spPr>
          <a:noFill/>
        </p:spPr>
        <p:txBody>
          <a:bodyPr/>
          <a:lstStyle/>
          <a:p>
            <a:r>
              <a:rPr lang="en-US"/>
              <a:t>Informatics 3   -   Computer Architecture</a:t>
            </a:r>
          </a:p>
        </p:txBody>
      </p:sp>
      <p:sp>
        <p:nvSpPr>
          <p:cNvPr id="427012" name="Rectangle 7"/>
          <p:cNvSpPr>
            <a:spLocks noGrp="1" noChangeArrowheads="1"/>
          </p:cNvSpPr>
          <p:nvPr>
            <p:ph type="sldNum" sz="quarter" idx="5"/>
          </p:nvPr>
        </p:nvSpPr>
        <p:spPr>
          <a:noFill/>
        </p:spPr>
        <p:txBody>
          <a:bodyPr/>
          <a:lstStyle/>
          <a:p>
            <a:fld id="{5A0B6401-CCEB-A846-99C0-0EDF9BB743F6}" type="slidenum">
              <a:rPr lang="en-US"/>
              <a:pPr/>
              <a:t>8</a:t>
            </a:fld>
            <a:endParaRPr lang="en-US"/>
          </a:p>
        </p:txBody>
      </p:sp>
      <p:sp>
        <p:nvSpPr>
          <p:cNvPr id="427013" name="Rectangle 2"/>
          <p:cNvSpPr>
            <a:spLocks noGrp="1" noRot="1" noChangeAspect="1" noChangeArrowheads="1" noTextEdit="1"/>
          </p:cNvSpPr>
          <p:nvPr>
            <p:ph type="sldImg"/>
          </p:nvPr>
        </p:nvSpPr>
        <p:spPr>
          <a:xfrm>
            <a:off x="876300" y="533400"/>
            <a:ext cx="5791200" cy="4343400"/>
          </a:xfrm>
          <a:ln/>
        </p:spPr>
      </p:sp>
      <p:sp>
        <p:nvSpPr>
          <p:cNvPr id="427014"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3"/>
          <p:cNvSpPr>
            <a:spLocks noGrp="1" noChangeArrowheads="1"/>
          </p:cNvSpPr>
          <p:nvPr>
            <p:ph type="dt" sz="quarter" idx="1"/>
          </p:nvPr>
        </p:nvSpPr>
        <p:spPr>
          <a:noFill/>
        </p:spPr>
        <p:txBody>
          <a:bodyPr/>
          <a:lstStyle/>
          <a:p>
            <a:r>
              <a:rPr lang="en-US"/>
              <a:t>2008-2009</a:t>
            </a:r>
          </a:p>
        </p:txBody>
      </p:sp>
      <p:sp>
        <p:nvSpPr>
          <p:cNvPr id="429059" name="Rectangle 6"/>
          <p:cNvSpPr>
            <a:spLocks noGrp="1" noChangeArrowheads="1"/>
          </p:cNvSpPr>
          <p:nvPr>
            <p:ph type="ftr" sz="quarter" idx="4"/>
          </p:nvPr>
        </p:nvSpPr>
        <p:spPr>
          <a:noFill/>
        </p:spPr>
        <p:txBody>
          <a:bodyPr/>
          <a:lstStyle/>
          <a:p>
            <a:r>
              <a:rPr lang="en-US"/>
              <a:t>Informatics 3   -   Computer Architecture</a:t>
            </a:r>
          </a:p>
        </p:txBody>
      </p:sp>
      <p:sp>
        <p:nvSpPr>
          <p:cNvPr id="429060" name="Rectangle 7"/>
          <p:cNvSpPr>
            <a:spLocks noGrp="1" noChangeArrowheads="1"/>
          </p:cNvSpPr>
          <p:nvPr>
            <p:ph type="sldNum" sz="quarter" idx="5"/>
          </p:nvPr>
        </p:nvSpPr>
        <p:spPr>
          <a:noFill/>
        </p:spPr>
        <p:txBody>
          <a:bodyPr/>
          <a:lstStyle/>
          <a:p>
            <a:fld id="{9018C322-E76E-FF4B-8709-5B63EE6D1098}" type="slidenum">
              <a:rPr lang="en-US"/>
              <a:pPr/>
              <a:t>9</a:t>
            </a:fld>
            <a:endParaRPr lang="en-US"/>
          </a:p>
        </p:txBody>
      </p:sp>
      <p:sp>
        <p:nvSpPr>
          <p:cNvPr id="429061" name="Rectangle 2"/>
          <p:cNvSpPr>
            <a:spLocks noGrp="1" noRot="1" noChangeAspect="1" noChangeArrowheads="1" noTextEdit="1"/>
          </p:cNvSpPr>
          <p:nvPr>
            <p:ph type="sldImg"/>
          </p:nvPr>
        </p:nvSpPr>
        <p:spPr>
          <a:xfrm>
            <a:off x="876300" y="533400"/>
            <a:ext cx="5791200" cy="4343400"/>
          </a:xfrm>
          <a:ln/>
        </p:spPr>
      </p:sp>
      <p:sp>
        <p:nvSpPr>
          <p:cNvPr id="429062"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3"/>
          <p:cNvSpPr>
            <a:spLocks noGrp="1" noChangeArrowheads="1"/>
          </p:cNvSpPr>
          <p:nvPr>
            <p:ph type="dt" sz="quarter" idx="1"/>
          </p:nvPr>
        </p:nvSpPr>
        <p:spPr>
          <a:noFill/>
        </p:spPr>
        <p:txBody>
          <a:bodyPr/>
          <a:lstStyle/>
          <a:p>
            <a:r>
              <a:rPr lang="en-US"/>
              <a:t>2008-2009</a:t>
            </a:r>
          </a:p>
        </p:txBody>
      </p:sp>
      <p:sp>
        <p:nvSpPr>
          <p:cNvPr id="431107" name="Rectangle 6"/>
          <p:cNvSpPr>
            <a:spLocks noGrp="1" noChangeArrowheads="1"/>
          </p:cNvSpPr>
          <p:nvPr>
            <p:ph type="ftr" sz="quarter" idx="4"/>
          </p:nvPr>
        </p:nvSpPr>
        <p:spPr>
          <a:noFill/>
        </p:spPr>
        <p:txBody>
          <a:bodyPr/>
          <a:lstStyle/>
          <a:p>
            <a:r>
              <a:rPr lang="en-US"/>
              <a:t>Informatics 3   -   Computer Architecture</a:t>
            </a:r>
          </a:p>
        </p:txBody>
      </p:sp>
      <p:sp>
        <p:nvSpPr>
          <p:cNvPr id="431108" name="Rectangle 7"/>
          <p:cNvSpPr>
            <a:spLocks noGrp="1" noChangeArrowheads="1"/>
          </p:cNvSpPr>
          <p:nvPr>
            <p:ph type="sldNum" sz="quarter" idx="5"/>
          </p:nvPr>
        </p:nvSpPr>
        <p:spPr>
          <a:noFill/>
        </p:spPr>
        <p:txBody>
          <a:bodyPr/>
          <a:lstStyle/>
          <a:p>
            <a:fld id="{7EFFC506-200F-414B-93AE-6AE9BD194EA4}" type="slidenum">
              <a:rPr lang="en-US"/>
              <a:pPr/>
              <a:t>10</a:t>
            </a:fld>
            <a:endParaRPr lang="en-US"/>
          </a:p>
        </p:txBody>
      </p:sp>
      <p:sp>
        <p:nvSpPr>
          <p:cNvPr id="431109" name="Rectangle 2"/>
          <p:cNvSpPr>
            <a:spLocks noGrp="1" noRot="1" noChangeAspect="1" noChangeArrowheads="1" noTextEdit="1"/>
          </p:cNvSpPr>
          <p:nvPr>
            <p:ph type="sldImg"/>
          </p:nvPr>
        </p:nvSpPr>
        <p:spPr>
          <a:xfrm>
            <a:off x="876300" y="533400"/>
            <a:ext cx="5791200" cy="4343400"/>
          </a:xfrm>
          <a:ln/>
        </p:spPr>
      </p:sp>
      <p:sp>
        <p:nvSpPr>
          <p:cNvPr id="431110"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3"/>
          <p:cNvSpPr>
            <a:spLocks noGrp="1" noChangeArrowheads="1"/>
          </p:cNvSpPr>
          <p:nvPr>
            <p:ph type="dt" sz="quarter" idx="1"/>
          </p:nvPr>
        </p:nvSpPr>
        <p:spPr>
          <a:noFill/>
        </p:spPr>
        <p:txBody>
          <a:bodyPr/>
          <a:lstStyle/>
          <a:p>
            <a:r>
              <a:rPr lang="en-US"/>
              <a:t>2008-2009</a:t>
            </a:r>
          </a:p>
        </p:txBody>
      </p:sp>
      <p:sp>
        <p:nvSpPr>
          <p:cNvPr id="433155" name="Rectangle 6"/>
          <p:cNvSpPr>
            <a:spLocks noGrp="1" noChangeArrowheads="1"/>
          </p:cNvSpPr>
          <p:nvPr>
            <p:ph type="ftr" sz="quarter" idx="4"/>
          </p:nvPr>
        </p:nvSpPr>
        <p:spPr>
          <a:noFill/>
        </p:spPr>
        <p:txBody>
          <a:bodyPr/>
          <a:lstStyle/>
          <a:p>
            <a:r>
              <a:rPr lang="en-US"/>
              <a:t>Informatics 3   -   Computer Architecture</a:t>
            </a:r>
          </a:p>
        </p:txBody>
      </p:sp>
      <p:sp>
        <p:nvSpPr>
          <p:cNvPr id="433156" name="Rectangle 7"/>
          <p:cNvSpPr>
            <a:spLocks noGrp="1" noChangeArrowheads="1"/>
          </p:cNvSpPr>
          <p:nvPr>
            <p:ph type="sldNum" sz="quarter" idx="5"/>
          </p:nvPr>
        </p:nvSpPr>
        <p:spPr>
          <a:noFill/>
        </p:spPr>
        <p:txBody>
          <a:bodyPr/>
          <a:lstStyle/>
          <a:p>
            <a:fld id="{AF423509-23CD-F74E-9DD7-79049918DF3F}" type="slidenum">
              <a:rPr lang="en-US"/>
              <a:pPr/>
              <a:t>11</a:t>
            </a:fld>
            <a:endParaRPr lang="en-US"/>
          </a:p>
        </p:txBody>
      </p:sp>
      <p:sp>
        <p:nvSpPr>
          <p:cNvPr id="433157" name="Rectangle 2"/>
          <p:cNvSpPr>
            <a:spLocks noGrp="1" noRot="1" noChangeAspect="1" noChangeArrowheads="1" noTextEdit="1"/>
          </p:cNvSpPr>
          <p:nvPr>
            <p:ph type="sldImg"/>
          </p:nvPr>
        </p:nvSpPr>
        <p:spPr>
          <a:xfrm>
            <a:off x="876300" y="533400"/>
            <a:ext cx="5791200" cy="4343400"/>
          </a:xfrm>
          <a:ln/>
        </p:spPr>
      </p:sp>
      <p:sp>
        <p:nvSpPr>
          <p:cNvPr id="433158"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3"/>
          <p:cNvSpPr>
            <a:spLocks noGrp="1" noChangeArrowheads="1"/>
          </p:cNvSpPr>
          <p:nvPr>
            <p:ph type="dt" sz="quarter" idx="1"/>
          </p:nvPr>
        </p:nvSpPr>
        <p:spPr>
          <a:noFill/>
        </p:spPr>
        <p:txBody>
          <a:bodyPr/>
          <a:lstStyle/>
          <a:p>
            <a:r>
              <a:rPr lang="en-US"/>
              <a:t>2008-2009</a:t>
            </a:r>
          </a:p>
        </p:txBody>
      </p:sp>
      <p:sp>
        <p:nvSpPr>
          <p:cNvPr id="474115" name="Rectangle 6"/>
          <p:cNvSpPr>
            <a:spLocks noGrp="1" noChangeArrowheads="1"/>
          </p:cNvSpPr>
          <p:nvPr>
            <p:ph type="ftr" sz="quarter" idx="4"/>
          </p:nvPr>
        </p:nvSpPr>
        <p:spPr>
          <a:noFill/>
        </p:spPr>
        <p:txBody>
          <a:bodyPr/>
          <a:lstStyle/>
          <a:p>
            <a:r>
              <a:rPr lang="en-US"/>
              <a:t>Informatics 3   -   Computer Architecture</a:t>
            </a:r>
          </a:p>
        </p:txBody>
      </p:sp>
      <p:sp>
        <p:nvSpPr>
          <p:cNvPr id="474116" name="Rectangle 7"/>
          <p:cNvSpPr>
            <a:spLocks noGrp="1" noChangeArrowheads="1"/>
          </p:cNvSpPr>
          <p:nvPr>
            <p:ph type="sldNum" sz="quarter" idx="5"/>
          </p:nvPr>
        </p:nvSpPr>
        <p:spPr>
          <a:noFill/>
        </p:spPr>
        <p:txBody>
          <a:bodyPr/>
          <a:lstStyle/>
          <a:p>
            <a:fld id="{263F9642-CB85-0642-8E05-73CA2E45B1D2}" type="slidenum">
              <a:rPr lang="en-US"/>
              <a:pPr/>
              <a:t>12</a:t>
            </a:fld>
            <a:endParaRPr lang="en-US"/>
          </a:p>
        </p:txBody>
      </p:sp>
      <p:sp>
        <p:nvSpPr>
          <p:cNvPr id="474117" name="Rectangle 2"/>
          <p:cNvSpPr>
            <a:spLocks noGrp="1" noRot="1" noChangeAspect="1" noChangeArrowheads="1" noTextEdit="1"/>
          </p:cNvSpPr>
          <p:nvPr>
            <p:ph type="sldImg"/>
          </p:nvPr>
        </p:nvSpPr>
        <p:spPr>
          <a:xfrm>
            <a:off x="876300" y="533400"/>
            <a:ext cx="5791200" cy="4343400"/>
          </a:xfrm>
          <a:ln/>
        </p:spPr>
      </p:sp>
      <p:sp>
        <p:nvSpPr>
          <p:cNvPr id="474118"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3"/>
          <p:cNvSpPr>
            <a:spLocks noGrp="1" noChangeArrowheads="1"/>
          </p:cNvSpPr>
          <p:nvPr>
            <p:ph type="dt" sz="quarter" idx="1"/>
          </p:nvPr>
        </p:nvSpPr>
        <p:spPr>
          <a:noFill/>
        </p:spPr>
        <p:txBody>
          <a:bodyPr/>
          <a:lstStyle/>
          <a:p>
            <a:r>
              <a:rPr lang="en-US"/>
              <a:t>2008-2009</a:t>
            </a:r>
          </a:p>
        </p:txBody>
      </p:sp>
      <p:sp>
        <p:nvSpPr>
          <p:cNvPr id="474115" name="Rectangle 6"/>
          <p:cNvSpPr>
            <a:spLocks noGrp="1" noChangeArrowheads="1"/>
          </p:cNvSpPr>
          <p:nvPr>
            <p:ph type="ftr" sz="quarter" idx="4"/>
          </p:nvPr>
        </p:nvSpPr>
        <p:spPr>
          <a:noFill/>
        </p:spPr>
        <p:txBody>
          <a:bodyPr/>
          <a:lstStyle/>
          <a:p>
            <a:r>
              <a:rPr lang="en-US"/>
              <a:t>Informatics 3   -   Computer Architecture</a:t>
            </a:r>
          </a:p>
        </p:txBody>
      </p:sp>
      <p:sp>
        <p:nvSpPr>
          <p:cNvPr id="474116" name="Rectangle 7"/>
          <p:cNvSpPr>
            <a:spLocks noGrp="1" noChangeArrowheads="1"/>
          </p:cNvSpPr>
          <p:nvPr>
            <p:ph type="sldNum" sz="quarter" idx="5"/>
          </p:nvPr>
        </p:nvSpPr>
        <p:spPr>
          <a:noFill/>
        </p:spPr>
        <p:txBody>
          <a:bodyPr/>
          <a:lstStyle/>
          <a:p>
            <a:fld id="{263F9642-CB85-0642-8E05-73CA2E45B1D2}" type="slidenum">
              <a:rPr lang="en-US"/>
              <a:pPr/>
              <a:t>13</a:t>
            </a:fld>
            <a:endParaRPr lang="en-US"/>
          </a:p>
        </p:txBody>
      </p:sp>
      <p:sp>
        <p:nvSpPr>
          <p:cNvPr id="474117" name="Rectangle 2"/>
          <p:cNvSpPr>
            <a:spLocks noGrp="1" noRot="1" noChangeAspect="1" noChangeArrowheads="1" noTextEdit="1"/>
          </p:cNvSpPr>
          <p:nvPr>
            <p:ph type="sldImg"/>
          </p:nvPr>
        </p:nvSpPr>
        <p:spPr>
          <a:xfrm>
            <a:off x="876300" y="533400"/>
            <a:ext cx="5791200" cy="4343400"/>
          </a:xfrm>
          <a:ln/>
        </p:spPr>
      </p:sp>
      <p:sp>
        <p:nvSpPr>
          <p:cNvPr id="474118"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3"/>
          <p:cNvSpPr>
            <a:spLocks noGrp="1" noChangeArrowheads="1"/>
          </p:cNvSpPr>
          <p:nvPr>
            <p:ph type="dt" sz="quarter" idx="1"/>
          </p:nvPr>
        </p:nvSpPr>
        <p:spPr>
          <a:noFill/>
        </p:spPr>
        <p:txBody>
          <a:bodyPr/>
          <a:lstStyle/>
          <a:p>
            <a:r>
              <a:rPr lang="en-US"/>
              <a:t>2008-2009</a:t>
            </a:r>
          </a:p>
        </p:txBody>
      </p:sp>
      <p:sp>
        <p:nvSpPr>
          <p:cNvPr id="441347" name="Rectangle 6"/>
          <p:cNvSpPr>
            <a:spLocks noGrp="1" noChangeArrowheads="1"/>
          </p:cNvSpPr>
          <p:nvPr>
            <p:ph type="ftr" sz="quarter" idx="4"/>
          </p:nvPr>
        </p:nvSpPr>
        <p:spPr>
          <a:noFill/>
        </p:spPr>
        <p:txBody>
          <a:bodyPr/>
          <a:lstStyle/>
          <a:p>
            <a:r>
              <a:rPr lang="en-US"/>
              <a:t>Informatics 3   -   Computer Architecture</a:t>
            </a:r>
          </a:p>
        </p:txBody>
      </p:sp>
      <p:sp>
        <p:nvSpPr>
          <p:cNvPr id="441348" name="Rectangle 7"/>
          <p:cNvSpPr>
            <a:spLocks noGrp="1" noChangeArrowheads="1"/>
          </p:cNvSpPr>
          <p:nvPr>
            <p:ph type="sldNum" sz="quarter" idx="5"/>
          </p:nvPr>
        </p:nvSpPr>
        <p:spPr>
          <a:noFill/>
        </p:spPr>
        <p:txBody>
          <a:bodyPr/>
          <a:lstStyle/>
          <a:p>
            <a:fld id="{A2314BEA-4B97-2745-9125-86E5ED9D8293}" type="slidenum">
              <a:rPr lang="en-US"/>
              <a:pPr/>
              <a:t>14</a:t>
            </a:fld>
            <a:endParaRPr lang="en-US"/>
          </a:p>
        </p:txBody>
      </p:sp>
      <p:sp>
        <p:nvSpPr>
          <p:cNvPr id="441349" name="Rectangle 2"/>
          <p:cNvSpPr>
            <a:spLocks noGrp="1" noRot="1" noChangeAspect="1" noChangeArrowheads="1" noTextEdit="1"/>
          </p:cNvSpPr>
          <p:nvPr>
            <p:ph type="sldImg"/>
          </p:nvPr>
        </p:nvSpPr>
        <p:spPr>
          <a:xfrm>
            <a:off x="876300" y="533400"/>
            <a:ext cx="5791200" cy="4343400"/>
          </a:xfrm>
          <a:ln/>
        </p:spPr>
      </p:sp>
      <p:sp>
        <p:nvSpPr>
          <p:cNvPr id="441350"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Rectangle 3"/>
          <p:cNvSpPr>
            <a:spLocks noGrp="1" noChangeArrowheads="1"/>
          </p:cNvSpPr>
          <p:nvPr>
            <p:ph type="dt" sz="quarter" idx="1"/>
          </p:nvPr>
        </p:nvSpPr>
        <p:spPr>
          <a:noFill/>
        </p:spPr>
        <p:txBody>
          <a:bodyPr/>
          <a:lstStyle/>
          <a:p>
            <a:r>
              <a:rPr lang="en-US"/>
              <a:t>2008-2009</a:t>
            </a:r>
          </a:p>
        </p:txBody>
      </p:sp>
      <p:sp>
        <p:nvSpPr>
          <p:cNvPr id="443395" name="Rectangle 6"/>
          <p:cNvSpPr>
            <a:spLocks noGrp="1" noChangeArrowheads="1"/>
          </p:cNvSpPr>
          <p:nvPr>
            <p:ph type="ftr" sz="quarter" idx="4"/>
          </p:nvPr>
        </p:nvSpPr>
        <p:spPr>
          <a:noFill/>
        </p:spPr>
        <p:txBody>
          <a:bodyPr/>
          <a:lstStyle/>
          <a:p>
            <a:r>
              <a:rPr lang="en-US"/>
              <a:t>Informatics 3   -   Computer Architecture</a:t>
            </a:r>
          </a:p>
        </p:txBody>
      </p:sp>
      <p:sp>
        <p:nvSpPr>
          <p:cNvPr id="443396" name="Rectangle 7"/>
          <p:cNvSpPr>
            <a:spLocks noGrp="1" noChangeArrowheads="1"/>
          </p:cNvSpPr>
          <p:nvPr>
            <p:ph type="sldNum" sz="quarter" idx="5"/>
          </p:nvPr>
        </p:nvSpPr>
        <p:spPr>
          <a:noFill/>
        </p:spPr>
        <p:txBody>
          <a:bodyPr/>
          <a:lstStyle/>
          <a:p>
            <a:fld id="{880B4911-42EC-134B-9CDF-FE3379829BF2}" type="slidenum">
              <a:rPr lang="en-US"/>
              <a:pPr/>
              <a:t>15</a:t>
            </a:fld>
            <a:endParaRPr lang="en-US"/>
          </a:p>
        </p:txBody>
      </p:sp>
      <p:sp>
        <p:nvSpPr>
          <p:cNvPr id="443397" name="Rectangle 2"/>
          <p:cNvSpPr>
            <a:spLocks noGrp="1" noRot="1" noChangeAspect="1" noChangeArrowheads="1" noTextEdit="1"/>
          </p:cNvSpPr>
          <p:nvPr>
            <p:ph type="sldImg"/>
          </p:nvPr>
        </p:nvSpPr>
        <p:spPr>
          <a:xfrm>
            <a:off x="876300" y="533400"/>
            <a:ext cx="5791200" cy="4343400"/>
          </a:xfrm>
          <a:ln/>
        </p:spPr>
      </p:sp>
      <p:sp>
        <p:nvSpPr>
          <p:cNvPr id="443398"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3"/>
          <p:cNvSpPr>
            <a:spLocks noGrp="1" noChangeArrowheads="1"/>
          </p:cNvSpPr>
          <p:nvPr>
            <p:ph type="dt" sz="quarter" idx="1"/>
          </p:nvPr>
        </p:nvSpPr>
        <p:spPr>
          <a:noFill/>
        </p:spPr>
        <p:txBody>
          <a:bodyPr/>
          <a:lstStyle/>
          <a:p>
            <a:r>
              <a:rPr lang="en-US"/>
              <a:t>2008-2009</a:t>
            </a:r>
          </a:p>
        </p:txBody>
      </p:sp>
      <p:sp>
        <p:nvSpPr>
          <p:cNvPr id="435203" name="Rectangle 6"/>
          <p:cNvSpPr>
            <a:spLocks noGrp="1" noChangeArrowheads="1"/>
          </p:cNvSpPr>
          <p:nvPr>
            <p:ph type="ftr" sz="quarter" idx="4"/>
          </p:nvPr>
        </p:nvSpPr>
        <p:spPr>
          <a:noFill/>
        </p:spPr>
        <p:txBody>
          <a:bodyPr/>
          <a:lstStyle/>
          <a:p>
            <a:r>
              <a:rPr lang="en-US"/>
              <a:t>Informatics 3   -   Computer Architecture</a:t>
            </a:r>
          </a:p>
        </p:txBody>
      </p:sp>
      <p:sp>
        <p:nvSpPr>
          <p:cNvPr id="435204" name="Rectangle 7"/>
          <p:cNvSpPr>
            <a:spLocks noGrp="1" noChangeArrowheads="1"/>
          </p:cNvSpPr>
          <p:nvPr>
            <p:ph type="sldNum" sz="quarter" idx="5"/>
          </p:nvPr>
        </p:nvSpPr>
        <p:spPr>
          <a:noFill/>
        </p:spPr>
        <p:txBody>
          <a:bodyPr/>
          <a:lstStyle/>
          <a:p>
            <a:fld id="{9818AE3E-0D1E-B84E-933F-93A5BA897B81}" type="slidenum">
              <a:rPr lang="en-US"/>
              <a:pPr/>
              <a:t>16</a:t>
            </a:fld>
            <a:endParaRPr lang="en-US"/>
          </a:p>
        </p:txBody>
      </p:sp>
      <p:sp>
        <p:nvSpPr>
          <p:cNvPr id="435205" name="Rectangle 2"/>
          <p:cNvSpPr>
            <a:spLocks noGrp="1" noRot="1" noChangeAspect="1" noChangeArrowheads="1" noTextEdit="1"/>
          </p:cNvSpPr>
          <p:nvPr>
            <p:ph type="sldImg"/>
          </p:nvPr>
        </p:nvSpPr>
        <p:spPr>
          <a:xfrm>
            <a:off x="876300" y="533400"/>
            <a:ext cx="5791200" cy="4343400"/>
          </a:xfrm>
          <a:ln/>
        </p:spPr>
      </p:sp>
      <p:sp>
        <p:nvSpPr>
          <p:cNvPr id="435206"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3"/>
          <p:cNvSpPr>
            <a:spLocks noGrp="1" noChangeArrowheads="1"/>
          </p:cNvSpPr>
          <p:nvPr>
            <p:ph type="dt" sz="quarter" idx="1"/>
          </p:nvPr>
        </p:nvSpPr>
        <p:spPr>
          <a:noFill/>
        </p:spPr>
        <p:txBody>
          <a:bodyPr/>
          <a:lstStyle/>
          <a:p>
            <a:r>
              <a:rPr lang="en-US"/>
              <a:t>2008-2009</a:t>
            </a:r>
          </a:p>
        </p:txBody>
      </p:sp>
      <p:sp>
        <p:nvSpPr>
          <p:cNvPr id="437251" name="Rectangle 6"/>
          <p:cNvSpPr>
            <a:spLocks noGrp="1" noChangeArrowheads="1"/>
          </p:cNvSpPr>
          <p:nvPr>
            <p:ph type="ftr" sz="quarter" idx="4"/>
          </p:nvPr>
        </p:nvSpPr>
        <p:spPr>
          <a:noFill/>
        </p:spPr>
        <p:txBody>
          <a:bodyPr/>
          <a:lstStyle/>
          <a:p>
            <a:r>
              <a:rPr lang="en-US"/>
              <a:t>Informatics 3   -   Computer Architecture</a:t>
            </a:r>
          </a:p>
        </p:txBody>
      </p:sp>
      <p:sp>
        <p:nvSpPr>
          <p:cNvPr id="437252" name="Rectangle 7"/>
          <p:cNvSpPr>
            <a:spLocks noGrp="1" noChangeArrowheads="1"/>
          </p:cNvSpPr>
          <p:nvPr>
            <p:ph type="sldNum" sz="quarter" idx="5"/>
          </p:nvPr>
        </p:nvSpPr>
        <p:spPr>
          <a:noFill/>
        </p:spPr>
        <p:txBody>
          <a:bodyPr/>
          <a:lstStyle/>
          <a:p>
            <a:fld id="{EA72D97E-773B-3748-88D7-CDF95983BC3F}" type="slidenum">
              <a:rPr lang="en-US"/>
              <a:pPr/>
              <a:t>17</a:t>
            </a:fld>
            <a:endParaRPr lang="en-US"/>
          </a:p>
        </p:txBody>
      </p:sp>
      <p:sp>
        <p:nvSpPr>
          <p:cNvPr id="437253" name="Rectangle 2"/>
          <p:cNvSpPr>
            <a:spLocks noGrp="1" noRot="1" noChangeAspect="1" noChangeArrowheads="1" noTextEdit="1"/>
          </p:cNvSpPr>
          <p:nvPr>
            <p:ph type="sldImg"/>
          </p:nvPr>
        </p:nvSpPr>
        <p:spPr>
          <a:xfrm>
            <a:off x="876300" y="533400"/>
            <a:ext cx="5791200" cy="4343400"/>
          </a:xfrm>
          <a:ln/>
        </p:spPr>
      </p:sp>
      <p:sp>
        <p:nvSpPr>
          <p:cNvPr id="437254"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3"/>
          <p:cNvSpPr>
            <a:spLocks noGrp="1" noChangeArrowheads="1"/>
          </p:cNvSpPr>
          <p:nvPr>
            <p:ph type="dt" sz="quarter" idx="1"/>
          </p:nvPr>
        </p:nvSpPr>
        <p:spPr>
          <a:noFill/>
        </p:spPr>
        <p:txBody>
          <a:bodyPr/>
          <a:lstStyle/>
          <a:p>
            <a:r>
              <a:rPr lang="en-US"/>
              <a:t>2008-2009</a:t>
            </a:r>
          </a:p>
        </p:txBody>
      </p:sp>
      <p:sp>
        <p:nvSpPr>
          <p:cNvPr id="439299" name="Rectangle 6"/>
          <p:cNvSpPr>
            <a:spLocks noGrp="1" noChangeArrowheads="1"/>
          </p:cNvSpPr>
          <p:nvPr>
            <p:ph type="ftr" sz="quarter" idx="4"/>
          </p:nvPr>
        </p:nvSpPr>
        <p:spPr>
          <a:noFill/>
        </p:spPr>
        <p:txBody>
          <a:bodyPr/>
          <a:lstStyle/>
          <a:p>
            <a:r>
              <a:rPr lang="en-US"/>
              <a:t>Informatics 3   -   Computer Architecture</a:t>
            </a:r>
          </a:p>
        </p:txBody>
      </p:sp>
      <p:sp>
        <p:nvSpPr>
          <p:cNvPr id="439300" name="Rectangle 7"/>
          <p:cNvSpPr>
            <a:spLocks noGrp="1" noChangeArrowheads="1"/>
          </p:cNvSpPr>
          <p:nvPr>
            <p:ph type="sldNum" sz="quarter" idx="5"/>
          </p:nvPr>
        </p:nvSpPr>
        <p:spPr>
          <a:noFill/>
        </p:spPr>
        <p:txBody>
          <a:bodyPr/>
          <a:lstStyle/>
          <a:p>
            <a:fld id="{AFB2FF8D-9B61-124A-9413-8BC79FC4A5E7}" type="slidenum">
              <a:rPr lang="en-US"/>
              <a:pPr/>
              <a:t>18</a:t>
            </a:fld>
            <a:endParaRPr lang="en-US"/>
          </a:p>
        </p:txBody>
      </p:sp>
      <p:sp>
        <p:nvSpPr>
          <p:cNvPr id="439301" name="Rectangle 2"/>
          <p:cNvSpPr>
            <a:spLocks noGrp="1" noRot="1" noChangeAspect="1" noChangeArrowheads="1" noTextEdit="1"/>
          </p:cNvSpPr>
          <p:nvPr>
            <p:ph type="sldImg"/>
          </p:nvPr>
        </p:nvSpPr>
        <p:spPr>
          <a:xfrm>
            <a:off x="876300" y="533400"/>
            <a:ext cx="5791200" cy="4343400"/>
          </a:xfrm>
          <a:ln/>
        </p:spPr>
      </p:sp>
      <p:sp>
        <p:nvSpPr>
          <p:cNvPr id="439302" name="Rectangle 3"/>
          <p:cNvSpPr>
            <a:spLocks noGrp="1" noChangeArrowheads="1"/>
          </p:cNvSpPr>
          <p:nvPr>
            <p:ph type="body" idx="1"/>
          </p:nvPr>
        </p:nvSpPr>
        <p:spPr>
          <a:noFill/>
          <a:ln w="9525"/>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4"/>
          <p:cNvSpPr>
            <a:spLocks noChangeShapeType="1"/>
          </p:cNvSpPr>
          <p:nvPr/>
        </p:nvSpPr>
        <p:spPr bwMode="auto">
          <a:xfrm>
            <a:off x="685800" y="3657600"/>
            <a:ext cx="7772400" cy="0"/>
          </a:xfrm>
          <a:prstGeom prst="line">
            <a:avLst/>
          </a:prstGeom>
          <a:noFill/>
          <a:ln w="76200">
            <a:solidFill>
              <a:schemeClr val="accent2"/>
            </a:solidFill>
            <a:round/>
            <a:headEnd/>
            <a:tailEnd/>
          </a:ln>
          <a:effectLst/>
        </p:spPr>
        <p:txBody>
          <a:bodyPr wrap="none" anchor="ctr">
            <a:prstTxWarp prst="textNoShape">
              <a:avLst/>
            </a:prstTxWarp>
          </a:bodyPr>
          <a:lstStyle/>
          <a:p>
            <a:pPr>
              <a:defRPr/>
            </a:pPr>
            <a:endParaRPr lang="en-US" dirty="0"/>
          </a:p>
        </p:txBody>
      </p:sp>
      <p:sp>
        <p:nvSpPr>
          <p:cNvPr id="5" name="Rectangle 7"/>
          <p:cNvSpPr>
            <a:spLocks noChangeArrowheads="1"/>
          </p:cNvSpPr>
          <p:nvPr/>
        </p:nvSpPr>
        <p:spPr bwMode="auto">
          <a:xfrm>
            <a:off x="685800" y="4038600"/>
            <a:ext cx="7772400" cy="1981200"/>
          </a:xfrm>
          <a:prstGeom prst="rect">
            <a:avLst/>
          </a:prstGeom>
          <a:noFill/>
          <a:ln w="9525">
            <a:noFill/>
            <a:miter lim="800000"/>
            <a:headEnd/>
            <a:tailEnd/>
          </a:ln>
          <a:effectLst/>
        </p:spPr>
        <p:txBody>
          <a:bodyPr>
            <a:prstTxWarp prst="textNoShape">
              <a:avLst/>
            </a:prstTxWarp>
          </a:bodyPr>
          <a:lstStyle/>
          <a:p>
            <a:pPr algn="ctr">
              <a:lnSpc>
                <a:spcPct val="120000"/>
              </a:lnSpc>
              <a:spcBef>
                <a:spcPct val="20000"/>
              </a:spcBef>
              <a:buClr>
                <a:schemeClr val="accent2"/>
              </a:buClr>
              <a:buFont typeface="Wingdings" pitchFamily="-112" charset="2"/>
              <a:buNone/>
              <a:defRPr/>
            </a:pPr>
            <a:r>
              <a:rPr lang="en-GB" sz="2000" b="0" baseline="0" dirty="0">
                <a:latin typeface="Geneva" pitchFamily="-112" charset="0"/>
              </a:rPr>
              <a:t>Prof. Vijay Nagarajan</a:t>
            </a:r>
            <a:endParaRPr lang="en-GB" sz="2000" b="0" dirty="0">
              <a:latin typeface="Geneva" pitchFamily="-112" charset="0"/>
            </a:endParaRPr>
          </a:p>
          <a:p>
            <a:pPr algn="ctr">
              <a:lnSpc>
                <a:spcPct val="120000"/>
              </a:lnSpc>
              <a:spcBef>
                <a:spcPct val="20000"/>
              </a:spcBef>
              <a:buClr>
                <a:schemeClr val="accent2"/>
              </a:buClr>
              <a:buFont typeface="Wingdings" pitchFamily="-112" charset="2"/>
              <a:buNone/>
              <a:defRPr/>
            </a:pPr>
            <a:endParaRPr lang="en-GB" sz="1600" b="0" dirty="0">
              <a:latin typeface="Geneva" pitchFamily="-112" charset="0"/>
            </a:endParaRPr>
          </a:p>
        </p:txBody>
      </p:sp>
      <p:sp>
        <p:nvSpPr>
          <p:cNvPr id="234498" name="Rectangle 2"/>
          <p:cNvSpPr>
            <a:spLocks noGrp="1" noChangeArrowheads="1"/>
          </p:cNvSpPr>
          <p:nvPr>
            <p:ph type="ctrTitle"/>
          </p:nvPr>
        </p:nvSpPr>
        <p:spPr>
          <a:xfrm>
            <a:off x="685800" y="1752600"/>
            <a:ext cx="7772400" cy="1676400"/>
          </a:xfrm>
        </p:spPr>
        <p:txBody>
          <a:bodyPr/>
          <a:lstStyle>
            <a:lvl1pPr algn="ctr">
              <a:defRPr sz="2000"/>
            </a:lvl1pPr>
          </a:lstStyle>
          <a:p>
            <a:r>
              <a:rPr lang="en-US"/>
              <a:t>Click to edit Master title style</a:t>
            </a:r>
          </a:p>
        </p:txBody>
      </p:sp>
      <p:pic>
        <p:nvPicPr>
          <p:cNvPr id="6" name="Picture 5" descr="A red and white logo&#10;&#10;Description automatically generated">
            <a:extLst>
              <a:ext uri="{FF2B5EF4-FFF2-40B4-BE49-F238E27FC236}">
                <a16:creationId xmlns:a16="http://schemas.microsoft.com/office/drawing/2014/main" id="{D59D87F7-4D95-717A-4D8A-3EFA7D55EE35}"/>
              </a:ext>
            </a:extLst>
          </p:cNvPr>
          <p:cNvPicPr>
            <a:picLocks noChangeAspect="1"/>
          </p:cNvPicPr>
          <p:nvPr userDrawn="1"/>
        </p:nvPicPr>
        <p:blipFill>
          <a:blip r:embed="rId2"/>
          <a:stretch>
            <a:fillRect/>
          </a:stretch>
        </p:blipFill>
        <p:spPr>
          <a:xfrm>
            <a:off x="8229600" y="173383"/>
            <a:ext cx="685800" cy="635000"/>
          </a:xfrm>
          <a:prstGeom prst="rect">
            <a:avLst/>
          </a:prstGeom>
        </p:spPr>
      </p:pic>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Footer Placeholder 3"/>
          <p:cNvSpPr>
            <a:spLocks noGrp="1"/>
          </p:cNvSpPr>
          <p:nvPr>
            <p:ph type="ftr" sz="quarter" idx="10"/>
          </p:nvPr>
        </p:nvSpPr>
        <p:spPr/>
        <p:txBody>
          <a:bodyPr/>
          <a:lstStyle>
            <a:lvl1pPr>
              <a:defRPr smtClean="0"/>
            </a:lvl1pPr>
          </a:lstStyle>
          <a:p>
            <a:pPr>
              <a:defRPr/>
            </a:pPr>
            <a:r>
              <a:rPr lang="en-US" dirty="0"/>
              <a:t>CS/ECE  Computer Architecture – Fall’25</a:t>
            </a:r>
            <a:endParaRPr lang="en-US" sz="1400" dirty="0">
              <a:latin typeface="Garamond" pitchFamily="-112" charset="0"/>
            </a:endParaRPr>
          </a:p>
        </p:txBody>
      </p:sp>
      <p:sp>
        <p:nvSpPr>
          <p:cNvPr id="5" name="Slide Number Placeholder 4"/>
          <p:cNvSpPr>
            <a:spLocks noGrp="1"/>
          </p:cNvSpPr>
          <p:nvPr>
            <p:ph type="sldNum" sz="quarter" idx="11"/>
          </p:nvPr>
        </p:nvSpPr>
        <p:spPr/>
        <p:txBody>
          <a:bodyPr/>
          <a:lstStyle>
            <a:lvl1pPr>
              <a:defRPr smtClean="0"/>
            </a:lvl1pPr>
          </a:lstStyle>
          <a:p>
            <a:pPr>
              <a:defRPr/>
            </a:pPr>
            <a:fld id="{FF10D8AA-72FC-054E-A724-04FB34D4ED2D}" type="slidenum">
              <a:rPr lang="en-US"/>
              <a:pPr>
                <a:defRPr/>
              </a:pPr>
              <a:t>‹#›</a:t>
            </a:fld>
            <a:endParaRPr lang="en-US">
              <a:latin typeface="Garamond" pitchFamily="-112" charset="0"/>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GB"/>
              <a:t>Click to edit Master text styles</a:t>
            </a:r>
          </a:p>
        </p:txBody>
      </p:sp>
      <p:sp>
        <p:nvSpPr>
          <p:cNvPr id="4" name="Footer Placeholder 3"/>
          <p:cNvSpPr>
            <a:spLocks noGrp="1"/>
          </p:cNvSpPr>
          <p:nvPr>
            <p:ph type="ftr" sz="quarter" idx="10"/>
          </p:nvPr>
        </p:nvSpPr>
        <p:spPr/>
        <p:txBody>
          <a:bodyPr/>
          <a:lstStyle>
            <a:lvl1pPr>
              <a:defRPr smtClean="0"/>
            </a:lvl1pPr>
          </a:lstStyle>
          <a:p>
            <a:pPr>
              <a:defRPr/>
            </a:pPr>
            <a:r>
              <a:rPr lang="en-US" dirty="0"/>
              <a:t>CS/ECE  Computer Architecture – Fall’25</a:t>
            </a:r>
            <a:endParaRPr lang="en-US" sz="1400" dirty="0">
              <a:latin typeface="Garamond" pitchFamily="-112" charset="0"/>
            </a:endParaRPr>
          </a:p>
        </p:txBody>
      </p:sp>
      <p:sp>
        <p:nvSpPr>
          <p:cNvPr id="5" name="Slide Number Placeholder 4"/>
          <p:cNvSpPr>
            <a:spLocks noGrp="1"/>
          </p:cNvSpPr>
          <p:nvPr>
            <p:ph type="sldNum" sz="quarter" idx="11"/>
          </p:nvPr>
        </p:nvSpPr>
        <p:spPr/>
        <p:txBody>
          <a:bodyPr/>
          <a:lstStyle>
            <a:lvl1pPr>
              <a:defRPr smtClean="0"/>
            </a:lvl1pPr>
          </a:lstStyle>
          <a:p>
            <a:pPr>
              <a:defRPr/>
            </a:pPr>
            <a:fld id="{439F0767-F541-5C44-BC09-F876CE08E507}" type="slidenum">
              <a:rPr lang="en-US"/>
              <a:pPr>
                <a:defRPr/>
              </a:pPr>
              <a:t>‹#›</a:t>
            </a:fld>
            <a:endParaRPr lang="en-US">
              <a:latin typeface="Garamond" pitchFamily="-112" charset="0"/>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85800" y="1524000"/>
            <a:ext cx="38100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524000"/>
            <a:ext cx="38100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p:cNvSpPr>
            <a:spLocks noGrp="1"/>
          </p:cNvSpPr>
          <p:nvPr>
            <p:ph type="ftr" sz="quarter" idx="10"/>
          </p:nvPr>
        </p:nvSpPr>
        <p:spPr>
          <a:xfrm>
            <a:off x="2438400" y="6553200"/>
            <a:ext cx="3810000" cy="304800"/>
          </a:xfrm>
        </p:spPr>
        <p:txBody>
          <a:bodyPr/>
          <a:lstStyle>
            <a:lvl1pPr>
              <a:defRPr sz="1400" baseline="0" smtClean="0">
                <a:latin typeface="+mn-lt"/>
              </a:defRPr>
            </a:lvl1pPr>
          </a:lstStyle>
          <a:p>
            <a:pPr>
              <a:defRPr/>
            </a:pPr>
            <a:r>
              <a:rPr lang="en-US" dirty="0">
                <a:latin typeface="Garamond" pitchFamily="-112" charset="0"/>
              </a:rPr>
              <a:t>CS/ECE  Computer Architecture – Fall’25</a:t>
            </a:r>
          </a:p>
          <a:p>
            <a:pPr>
              <a:defRPr/>
            </a:pPr>
            <a:endParaRPr lang="en-US" dirty="0">
              <a:latin typeface="Garamond" pitchFamily="-112" charset="0"/>
            </a:endParaRPr>
          </a:p>
          <a:p>
            <a:pPr>
              <a:defRPr/>
            </a:pPr>
            <a:endParaRPr lang="en-US" dirty="0">
              <a:latin typeface="Garamond" pitchFamily="-112" charset="0"/>
            </a:endParaRPr>
          </a:p>
        </p:txBody>
      </p:sp>
      <p:sp>
        <p:nvSpPr>
          <p:cNvPr id="6" name="Slide Number Placeholder 5"/>
          <p:cNvSpPr>
            <a:spLocks noGrp="1"/>
          </p:cNvSpPr>
          <p:nvPr>
            <p:ph type="sldNum" sz="quarter" idx="11"/>
          </p:nvPr>
        </p:nvSpPr>
        <p:spPr/>
        <p:txBody>
          <a:bodyPr/>
          <a:lstStyle>
            <a:lvl1pPr>
              <a:defRPr smtClean="0"/>
            </a:lvl1pPr>
          </a:lstStyle>
          <a:p>
            <a:pPr>
              <a:defRPr/>
            </a:pPr>
            <a:fld id="{32A40ACE-8BC5-0B40-BBA1-EF9CE833121F}" type="slidenum">
              <a:rPr lang="en-US"/>
              <a:pPr>
                <a:defRPr/>
              </a:pPr>
              <a:t>‹#›</a:t>
            </a:fld>
            <a:endParaRPr lang="en-US">
              <a:latin typeface="Garamond" pitchFamily="-112" charset="0"/>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Footer Placeholder 6"/>
          <p:cNvSpPr>
            <a:spLocks noGrp="1"/>
          </p:cNvSpPr>
          <p:nvPr>
            <p:ph type="ftr" sz="quarter" idx="10"/>
          </p:nvPr>
        </p:nvSpPr>
        <p:spPr/>
        <p:txBody>
          <a:bodyPr/>
          <a:lstStyle>
            <a:lvl1pPr>
              <a:defRPr smtClean="0"/>
            </a:lvl1pPr>
          </a:lstStyle>
          <a:p>
            <a:pPr>
              <a:defRPr/>
            </a:pPr>
            <a:r>
              <a:rPr lang="en-US" dirty="0"/>
              <a:t>CS/ECE  Computer Architecture – Fall’25</a:t>
            </a:r>
          </a:p>
          <a:p>
            <a:pPr>
              <a:defRPr/>
            </a:pPr>
            <a:endParaRPr lang="en-US" dirty="0"/>
          </a:p>
        </p:txBody>
      </p:sp>
      <p:sp>
        <p:nvSpPr>
          <p:cNvPr id="8" name="Slide Number Placeholder 7"/>
          <p:cNvSpPr>
            <a:spLocks noGrp="1"/>
          </p:cNvSpPr>
          <p:nvPr>
            <p:ph type="sldNum" sz="quarter" idx="11"/>
          </p:nvPr>
        </p:nvSpPr>
        <p:spPr/>
        <p:txBody>
          <a:bodyPr/>
          <a:lstStyle>
            <a:lvl1pPr>
              <a:defRPr smtClean="0"/>
            </a:lvl1pPr>
          </a:lstStyle>
          <a:p>
            <a:pPr>
              <a:defRPr/>
            </a:pPr>
            <a:fld id="{0F59B5E2-87DD-EB43-872A-3E0EACCB644F}" type="slidenum">
              <a:rPr lang="en-US"/>
              <a:pPr>
                <a:defRPr/>
              </a:pPr>
              <a:t>‹#›</a:t>
            </a:fld>
            <a:endParaRPr lang="en-US">
              <a:latin typeface="Garamond" pitchFamily="-112" charset="0"/>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Footer Placeholder 2"/>
          <p:cNvSpPr>
            <a:spLocks noGrp="1"/>
          </p:cNvSpPr>
          <p:nvPr>
            <p:ph type="ftr" sz="quarter" idx="10"/>
          </p:nvPr>
        </p:nvSpPr>
        <p:spPr/>
        <p:txBody>
          <a:bodyPr/>
          <a:lstStyle>
            <a:lvl1pPr>
              <a:defRPr smtClean="0"/>
            </a:lvl1pPr>
          </a:lstStyle>
          <a:p>
            <a:pPr>
              <a:defRPr/>
            </a:pPr>
            <a:r>
              <a:rPr lang="en-US" dirty="0"/>
              <a:t>CS/ECE  Computer Architecture – Fall’25</a:t>
            </a:r>
          </a:p>
          <a:p>
            <a:pPr>
              <a:defRPr/>
            </a:pPr>
            <a:endParaRPr lang="en-US" dirty="0"/>
          </a:p>
        </p:txBody>
      </p:sp>
      <p:sp>
        <p:nvSpPr>
          <p:cNvPr id="4" name="Slide Number Placeholder 3"/>
          <p:cNvSpPr>
            <a:spLocks noGrp="1"/>
          </p:cNvSpPr>
          <p:nvPr>
            <p:ph type="sldNum" sz="quarter" idx="11"/>
          </p:nvPr>
        </p:nvSpPr>
        <p:spPr/>
        <p:txBody>
          <a:bodyPr/>
          <a:lstStyle>
            <a:lvl1pPr>
              <a:defRPr smtClean="0"/>
            </a:lvl1pPr>
          </a:lstStyle>
          <a:p>
            <a:pPr>
              <a:defRPr/>
            </a:pPr>
            <a:fld id="{ED26977E-680E-ED4B-94F0-141655F29872}" type="slidenum">
              <a:rPr lang="en-US"/>
              <a:pPr>
                <a:defRPr/>
              </a:pPr>
              <a:t>‹#›</a:t>
            </a:fld>
            <a:endParaRPr lang="en-US">
              <a:latin typeface="Garamond" pitchFamily="-112" charset="0"/>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smtClean="0"/>
            </a:lvl1pPr>
          </a:lstStyle>
          <a:p>
            <a:pPr>
              <a:defRPr/>
            </a:pPr>
            <a:r>
              <a:rPr lang="en-US" dirty="0"/>
              <a:t>CS/ECE  Computer Architecture – Fall’25</a:t>
            </a:r>
          </a:p>
          <a:p>
            <a:pPr>
              <a:defRPr/>
            </a:pPr>
            <a:endParaRPr lang="en-US" dirty="0"/>
          </a:p>
        </p:txBody>
      </p:sp>
      <p:sp>
        <p:nvSpPr>
          <p:cNvPr id="3" name="Slide Number Placeholder 2"/>
          <p:cNvSpPr>
            <a:spLocks noGrp="1"/>
          </p:cNvSpPr>
          <p:nvPr>
            <p:ph type="sldNum" sz="quarter" idx="11"/>
          </p:nvPr>
        </p:nvSpPr>
        <p:spPr/>
        <p:txBody>
          <a:bodyPr/>
          <a:lstStyle>
            <a:lvl1pPr>
              <a:defRPr smtClean="0"/>
            </a:lvl1pPr>
          </a:lstStyle>
          <a:p>
            <a:pPr>
              <a:defRPr/>
            </a:pPr>
            <a:fld id="{7D1CA570-A426-4944-B7E4-1239F68B4EC3}" type="slidenum">
              <a:rPr lang="en-US"/>
              <a:pPr>
                <a:defRPr/>
              </a:pPr>
              <a:t>‹#›</a:t>
            </a:fld>
            <a:endParaRPr lang="en-US">
              <a:latin typeface="Garamond" pitchFamily="-112" charset="0"/>
            </a:endParaRPr>
          </a:p>
        </p:txBody>
      </p:sp>
      <p:sp>
        <p:nvSpPr>
          <p:cNvPr id="4" name="Rectangle 3"/>
          <p:cNvSpPr/>
          <p:nvPr userDrawn="1"/>
        </p:nvSpPr>
        <p:spPr bwMode="auto">
          <a:xfrm>
            <a:off x="467544" y="836712"/>
            <a:ext cx="8136904" cy="360040"/>
          </a:xfrm>
          <a:prstGeom prst="rect">
            <a:avLst/>
          </a:prstGeom>
          <a:solidFill>
            <a:schemeClr val="bg1"/>
          </a:solidFill>
          <a:ln w="12700" cap="flat" cmpd="sng" algn="ctr">
            <a:no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a:ln>
                <a:noFill/>
              </a:ln>
              <a:solidFill>
                <a:schemeClr val="tx1"/>
              </a:solidFill>
              <a:effectLst/>
              <a:latin typeface="Garamond" pitchFamily="-112" charset="0"/>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Footer Placeholder 4"/>
          <p:cNvSpPr>
            <a:spLocks noGrp="1"/>
          </p:cNvSpPr>
          <p:nvPr>
            <p:ph type="ftr" sz="quarter" idx="10"/>
          </p:nvPr>
        </p:nvSpPr>
        <p:spPr/>
        <p:txBody>
          <a:bodyPr/>
          <a:lstStyle>
            <a:lvl1pPr>
              <a:defRPr smtClean="0"/>
            </a:lvl1pPr>
          </a:lstStyle>
          <a:p>
            <a:pPr>
              <a:defRPr/>
            </a:pPr>
            <a:r>
              <a:rPr lang="en-US" dirty="0"/>
              <a:t>CS/ECE  Computer Architecture – Fall’25</a:t>
            </a:r>
          </a:p>
          <a:p>
            <a:pPr>
              <a:defRPr/>
            </a:pPr>
            <a:endParaRPr lang="en-US" dirty="0"/>
          </a:p>
        </p:txBody>
      </p:sp>
      <p:sp>
        <p:nvSpPr>
          <p:cNvPr id="6" name="Slide Number Placeholder 5"/>
          <p:cNvSpPr>
            <a:spLocks noGrp="1"/>
          </p:cNvSpPr>
          <p:nvPr>
            <p:ph type="sldNum" sz="quarter" idx="11"/>
          </p:nvPr>
        </p:nvSpPr>
        <p:spPr/>
        <p:txBody>
          <a:bodyPr/>
          <a:lstStyle>
            <a:lvl1pPr>
              <a:defRPr smtClean="0"/>
            </a:lvl1pPr>
          </a:lstStyle>
          <a:p>
            <a:pPr>
              <a:defRPr/>
            </a:pPr>
            <a:fld id="{39E4FD61-08EC-3449-AF81-7DDFB2B32A47}" type="slidenum">
              <a:rPr lang="en-US"/>
              <a:pPr>
                <a:defRPr/>
              </a:pPr>
              <a:t>‹#›</a:t>
            </a:fld>
            <a:endParaRPr lang="en-US">
              <a:latin typeface="Garamond" pitchFamily="-112" charset="0"/>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Footer Placeholder 4"/>
          <p:cNvSpPr>
            <a:spLocks noGrp="1"/>
          </p:cNvSpPr>
          <p:nvPr>
            <p:ph type="ftr" sz="quarter" idx="10"/>
          </p:nvPr>
        </p:nvSpPr>
        <p:spPr/>
        <p:txBody>
          <a:bodyPr/>
          <a:lstStyle>
            <a:lvl1pPr>
              <a:defRPr smtClean="0"/>
            </a:lvl1pPr>
          </a:lstStyle>
          <a:p>
            <a:pPr>
              <a:defRPr/>
            </a:pPr>
            <a:r>
              <a:rPr lang="en-US" dirty="0"/>
              <a:t>CS/ECE  Computer Architecture – Fall’25</a:t>
            </a:r>
          </a:p>
          <a:p>
            <a:pPr>
              <a:defRPr/>
            </a:pPr>
            <a:endParaRPr lang="en-US" dirty="0"/>
          </a:p>
        </p:txBody>
      </p:sp>
      <p:sp>
        <p:nvSpPr>
          <p:cNvPr id="6" name="Slide Number Placeholder 5"/>
          <p:cNvSpPr>
            <a:spLocks noGrp="1"/>
          </p:cNvSpPr>
          <p:nvPr>
            <p:ph type="sldNum" sz="quarter" idx="11"/>
          </p:nvPr>
        </p:nvSpPr>
        <p:spPr/>
        <p:txBody>
          <a:bodyPr/>
          <a:lstStyle>
            <a:lvl1pPr>
              <a:defRPr smtClean="0"/>
            </a:lvl1pPr>
          </a:lstStyle>
          <a:p>
            <a:pPr>
              <a:defRPr/>
            </a:pPr>
            <a:fld id="{454976B5-A97D-9348-B219-18176D30763E}" type="slidenum">
              <a:rPr lang="en-US"/>
              <a:pPr>
                <a:defRPr/>
              </a:pPr>
              <a:t>‹#›</a:t>
            </a:fld>
            <a:endParaRPr lang="en-US">
              <a:latin typeface="Garamond" pitchFamily="-112" charset="0"/>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Footer Placeholder 3"/>
          <p:cNvSpPr>
            <a:spLocks noGrp="1"/>
          </p:cNvSpPr>
          <p:nvPr>
            <p:ph type="ftr" sz="quarter" idx="10"/>
          </p:nvPr>
        </p:nvSpPr>
        <p:spPr/>
        <p:txBody>
          <a:bodyPr/>
          <a:lstStyle>
            <a:lvl1pPr>
              <a:defRPr smtClean="0"/>
            </a:lvl1pPr>
          </a:lstStyle>
          <a:p>
            <a:pPr>
              <a:defRPr/>
            </a:pPr>
            <a:r>
              <a:rPr lang="en-US" dirty="0"/>
              <a:t>CS/ECE  Computer Architecture – Fall’25</a:t>
            </a:r>
          </a:p>
          <a:p>
            <a:pPr>
              <a:defRPr/>
            </a:pPr>
            <a:endParaRPr lang="en-US" dirty="0"/>
          </a:p>
        </p:txBody>
      </p:sp>
      <p:sp>
        <p:nvSpPr>
          <p:cNvPr id="5" name="Slide Number Placeholder 4"/>
          <p:cNvSpPr>
            <a:spLocks noGrp="1"/>
          </p:cNvSpPr>
          <p:nvPr>
            <p:ph type="sldNum" sz="quarter" idx="11"/>
          </p:nvPr>
        </p:nvSpPr>
        <p:spPr/>
        <p:txBody>
          <a:bodyPr/>
          <a:lstStyle>
            <a:lvl1pPr>
              <a:defRPr smtClean="0"/>
            </a:lvl1pPr>
          </a:lstStyle>
          <a:p>
            <a:pPr>
              <a:defRPr/>
            </a:pPr>
            <a:fld id="{B6EB67F5-B818-A947-B3C0-F7774BB8DB12}" type="slidenum">
              <a:rPr lang="en-US"/>
              <a:pPr>
                <a:defRPr/>
              </a:pPr>
              <a:t>‹#›</a:t>
            </a:fld>
            <a:endParaRPr lang="en-US">
              <a:latin typeface="Garamond" pitchFamily="-112" charset="0"/>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152400"/>
            <a:ext cx="1943100" cy="6248400"/>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85800" y="152400"/>
            <a:ext cx="5676900" cy="62484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Footer Placeholder 3"/>
          <p:cNvSpPr>
            <a:spLocks noGrp="1"/>
          </p:cNvSpPr>
          <p:nvPr>
            <p:ph type="ftr" sz="quarter" idx="10"/>
          </p:nvPr>
        </p:nvSpPr>
        <p:spPr/>
        <p:txBody>
          <a:bodyPr/>
          <a:lstStyle>
            <a:lvl1pPr>
              <a:defRPr smtClean="0"/>
            </a:lvl1pPr>
          </a:lstStyle>
          <a:p>
            <a:pPr>
              <a:defRPr/>
            </a:pPr>
            <a:r>
              <a:rPr lang="en-US" dirty="0"/>
              <a:t>CS/ECE  Computer Architecture – Fall’25</a:t>
            </a:r>
          </a:p>
          <a:p>
            <a:pPr>
              <a:defRPr/>
            </a:pPr>
            <a:endParaRPr lang="en-US" dirty="0"/>
          </a:p>
        </p:txBody>
      </p:sp>
      <p:sp>
        <p:nvSpPr>
          <p:cNvPr id="5" name="Slide Number Placeholder 4"/>
          <p:cNvSpPr>
            <a:spLocks noGrp="1"/>
          </p:cNvSpPr>
          <p:nvPr>
            <p:ph type="sldNum" sz="quarter" idx="11"/>
          </p:nvPr>
        </p:nvSpPr>
        <p:spPr/>
        <p:txBody>
          <a:bodyPr/>
          <a:lstStyle>
            <a:lvl1pPr>
              <a:defRPr smtClean="0"/>
            </a:lvl1pPr>
          </a:lstStyle>
          <a:p>
            <a:pPr>
              <a:defRPr/>
            </a:pPr>
            <a:fld id="{576F58A6-734F-3F40-8ACC-F1E1F9649C4A}" type="slidenum">
              <a:rPr lang="en-US"/>
              <a:pPr>
                <a:defRPr/>
              </a:pPr>
              <a:t>‹#›</a:t>
            </a:fld>
            <a:endParaRPr lang="en-US">
              <a:latin typeface="Garamond" pitchFamily="-112" charset="0"/>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620000" cy="838200"/>
          </a:xfrm>
        </p:spPr>
        <p:txBody>
          <a:bodyPr/>
          <a:lstStyle/>
          <a:p>
            <a:r>
              <a:rPr lang="en-GB"/>
              <a:t>Click to edit Master title style</a:t>
            </a:r>
            <a:endParaRPr lang="en-US"/>
          </a:p>
        </p:txBody>
      </p:sp>
      <p:sp>
        <p:nvSpPr>
          <p:cNvPr id="3" name="Text Placeholder 2"/>
          <p:cNvSpPr>
            <a:spLocks noGrp="1"/>
          </p:cNvSpPr>
          <p:nvPr>
            <p:ph type="body" sz="half" idx="1"/>
          </p:nvPr>
        </p:nvSpPr>
        <p:spPr>
          <a:xfrm>
            <a:off x="685800" y="1524000"/>
            <a:ext cx="3810000" cy="4876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524000"/>
            <a:ext cx="3810000" cy="4876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p:cNvSpPr>
            <a:spLocks noGrp="1"/>
          </p:cNvSpPr>
          <p:nvPr>
            <p:ph type="ftr" sz="quarter" idx="10"/>
          </p:nvPr>
        </p:nvSpPr>
        <p:spPr/>
        <p:txBody>
          <a:bodyPr/>
          <a:lstStyle>
            <a:lvl1pPr>
              <a:defRPr smtClean="0"/>
            </a:lvl1pPr>
          </a:lstStyle>
          <a:p>
            <a:pPr>
              <a:defRPr/>
            </a:pPr>
            <a:r>
              <a:rPr lang="en-US" dirty="0"/>
              <a:t>CS/ECE  Computer Architecture – Fall’25</a:t>
            </a:r>
          </a:p>
          <a:p>
            <a:pPr>
              <a:defRPr/>
            </a:pPr>
            <a:endParaRPr lang="en-US" dirty="0"/>
          </a:p>
        </p:txBody>
      </p:sp>
      <p:sp>
        <p:nvSpPr>
          <p:cNvPr id="6" name="Slide Number Placeholder 5"/>
          <p:cNvSpPr>
            <a:spLocks noGrp="1"/>
          </p:cNvSpPr>
          <p:nvPr>
            <p:ph type="sldNum" sz="quarter" idx="11"/>
          </p:nvPr>
        </p:nvSpPr>
        <p:spPr/>
        <p:txBody>
          <a:bodyPr/>
          <a:lstStyle>
            <a:lvl1pPr>
              <a:defRPr smtClean="0"/>
            </a:lvl1pPr>
          </a:lstStyle>
          <a:p>
            <a:pPr>
              <a:defRPr/>
            </a:pPr>
            <a:fld id="{977F90CF-3290-294A-AFFA-BABFD9F61AFD}" type="slidenum">
              <a:rPr lang="en-US"/>
              <a:pPr>
                <a:defRPr/>
              </a:pPr>
              <a:t>‹#›</a:t>
            </a:fld>
            <a:endParaRPr lang="en-US">
              <a:latin typeface="Garamond" pitchFamily="-112" charset="0"/>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620000" cy="838200"/>
          </a:xfrm>
        </p:spPr>
        <p:txBody>
          <a:bodyPr/>
          <a:lstStyle/>
          <a:p>
            <a:r>
              <a:rPr lang="en-GB"/>
              <a:t>Click to edit Master title style</a:t>
            </a:r>
            <a:endParaRPr lang="en-US"/>
          </a:p>
        </p:txBody>
      </p:sp>
      <p:sp>
        <p:nvSpPr>
          <p:cNvPr id="3" name="Table Placeholder 2"/>
          <p:cNvSpPr>
            <a:spLocks noGrp="1"/>
          </p:cNvSpPr>
          <p:nvPr>
            <p:ph type="tbl" idx="1"/>
          </p:nvPr>
        </p:nvSpPr>
        <p:spPr>
          <a:xfrm>
            <a:off x="685800" y="1524000"/>
            <a:ext cx="7772400" cy="4876800"/>
          </a:xfrm>
        </p:spPr>
        <p:txBody>
          <a:bodyPr/>
          <a:lstStyle/>
          <a:p>
            <a:pPr lvl="0"/>
            <a:endParaRPr lang="en-US" noProof="0"/>
          </a:p>
        </p:txBody>
      </p:sp>
      <p:sp>
        <p:nvSpPr>
          <p:cNvPr id="4" name="Footer Placeholder 3"/>
          <p:cNvSpPr>
            <a:spLocks noGrp="1"/>
          </p:cNvSpPr>
          <p:nvPr>
            <p:ph type="ftr" sz="quarter" idx="10"/>
          </p:nvPr>
        </p:nvSpPr>
        <p:spPr/>
        <p:txBody>
          <a:bodyPr/>
          <a:lstStyle>
            <a:lvl1pPr>
              <a:defRPr smtClean="0"/>
            </a:lvl1pPr>
          </a:lstStyle>
          <a:p>
            <a:pPr>
              <a:defRPr/>
            </a:pPr>
            <a:r>
              <a:rPr lang="en-US" dirty="0"/>
              <a:t>CS/ECE  Computer Architecture – Fall’25</a:t>
            </a:r>
          </a:p>
          <a:p>
            <a:pPr>
              <a:defRPr/>
            </a:pPr>
            <a:endParaRPr lang="en-US" dirty="0"/>
          </a:p>
        </p:txBody>
      </p:sp>
      <p:sp>
        <p:nvSpPr>
          <p:cNvPr id="5" name="Slide Number Placeholder 4"/>
          <p:cNvSpPr>
            <a:spLocks noGrp="1"/>
          </p:cNvSpPr>
          <p:nvPr>
            <p:ph type="sldNum" sz="quarter" idx="11"/>
          </p:nvPr>
        </p:nvSpPr>
        <p:spPr/>
        <p:txBody>
          <a:bodyPr/>
          <a:lstStyle>
            <a:lvl1pPr>
              <a:defRPr smtClean="0"/>
            </a:lvl1pPr>
          </a:lstStyle>
          <a:p>
            <a:pPr>
              <a:defRPr/>
            </a:pPr>
            <a:fld id="{F5C3F736-FD0F-AA45-8F37-A57BE49B46B7}" type="slidenum">
              <a:rPr lang="en-US"/>
              <a:pPr>
                <a:defRPr/>
              </a:pPr>
              <a:t>‹#›</a:t>
            </a:fld>
            <a:endParaRPr lang="en-US">
              <a:latin typeface="Garamond" pitchFamily="-112" charset="0"/>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52400"/>
            <a:ext cx="7620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524000"/>
            <a:ext cx="77724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3476" name="Rectangle 4"/>
          <p:cNvSpPr>
            <a:spLocks noGrp="1" noChangeArrowheads="1"/>
          </p:cNvSpPr>
          <p:nvPr>
            <p:ph type="ftr" sz="quarter" idx="3"/>
          </p:nvPr>
        </p:nvSpPr>
        <p:spPr bwMode="auto">
          <a:xfrm>
            <a:off x="2895600" y="6553200"/>
            <a:ext cx="33528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b="0" smtClean="0">
                <a:latin typeface="+mn-lt"/>
              </a:defRPr>
            </a:lvl1pPr>
          </a:lstStyle>
          <a:p>
            <a:pPr>
              <a:defRPr/>
            </a:pPr>
            <a:r>
              <a:rPr lang="en-US" dirty="0"/>
              <a:t>CS/ECE Computer Architecture – Fall’25</a:t>
            </a:r>
            <a:endParaRPr lang="en-US" sz="1400" dirty="0"/>
          </a:p>
        </p:txBody>
      </p:sp>
      <p:sp>
        <p:nvSpPr>
          <p:cNvPr id="233477" name="Line 5"/>
          <p:cNvSpPr>
            <a:spLocks noChangeShapeType="1"/>
          </p:cNvSpPr>
          <p:nvPr/>
        </p:nvSpPr>
        <p:spPr bwMode="auto">
          <a:xfrm>
            <a:off x="685800" y="990600"/>
            <a:ext cx="7772400" cy="0"/>
          </a:xfrm>
          <a:prstGeom prst="line">
            <a:avLst/>
          </a:prstGeom>
          <a:noFill/>
          <a:ln w="38100">
            <a:solidFill>
              <a:schemeClr val="accent2">
                <a:alpha val="89000"/>
              </a:schemeClr>
            </a:solidFill>
            <a:round/>
            <a:headEnd/>
            <a:tailEnd/>
          </a:ln>
          <a:effectLst/>
        </p:spPr>
        <p:txBody>
          <a:bodyPr wrap="none" anchor="ctr">
            <a:prstTxWarp prst="textNoShape">
              <a:avLst/>
            </a:prstTxWarp>
          </a:bodyPr>
          <a:lstStyle/>
          <a:p>
            <a:pPr>
              <a:defRPr/>
            </a:pPr>
            <a:endParaRPr lang="en-US"/>
          </a:p>
        </p:txBody>
      </p:sp>
      <p:sp>
        <p:nvSpPr>
          <p:cNvPr id="233479" name="Rectangle 7"/>
          <p:cNvSpPr>
            <a:spLocks noGrp="1" noChangeArrowheads="1"/>
          </p:cNvSpPr>
          <p:nvPr>
            <p:ph type="sldNum" sz="quarter" idx="4"/>
          </p:nvPr>
        </p:nvSpPr>
        <p:spPr bwMode="auto">
          <a:xfrm>
            <a:off x="7086600" y="6553200"/>
            <a:ext cx="1905000" cy="3048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defRPr sz="1200">
                <a:latin typeface="+mn-lt"/>
              </a:defRPr>
            </a:lvl1pPr>
          </a:lstStyle>
          <a:p>
            <a:pPr>
              <a:defRPr/>
            </a:pPr>
            <a:fld id="{153BAC1E-BB0B-A049-B56D-74AA82B13E1A}" type="slidenum">
              <a:rPr lang="en-US"/>
              <a:pPr>
                <a:defRPr/>
              </a:pPr>
              <a:t>‹#›</a:t>
            </a:fld>
            <a:endParaRPr lang="en-US"/>
          </a:p>
        </p:txBody>
      </p:sp>
      <p:pic>
        <p:nvPicPr>
          <p:cNvPr id="3" name="Picture 2" descr="A red and white logo&#10;&#10;Description automatically generated">
            <a:extLst>
              <a:ext uri="{FF2B5EF4-FFF2-40B4-BE49-F238E27FC236}">
                <a16:creationId xmlns:a16="http://schemas.microsoft.com/office/drawing/2014/main" id="{7BA18FEC-871B-E19F-0632-FE1098BEDAA5}"/>
              </a:ext>
            </a:extLst>
          </p:cNvPr>
          <p:cNvPicPr>
            <a:picLocks noChangeAspect="1"/>
          </p:cNvPicPr>
          <p:nvPr userDrawn="1"/>
        </p:nvPicPr>
        <p:blipFill>
          <a:blip r:embed="rId15"/>
          <a:stretch>
            <a:fillRect/>
          </a:stretch>
        </p:blipFill>
        <p:spPr>
          <a:xfrm>
            <a:off x="8305800" y="139700"/>
            <a:ext cx="685800" cy="635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hf hdr="0" dt="0"/>
  <p:txStyles>
    <p:titleStyle>
      <a:lvl1pPr algn="l" rtl="0" eaLnBrk="0" fontAlgn="base" hangingPunct="0">
        <a:spcBef>
          <a:spcPct val="0"/>
        </a:spcBef>
        <a:spcAft>
          <a:spcPct val="0"/>
        </a:spcAft>
        <a:defRPr sz="2400">
          <a:solidFill>
            <a:schemeClr val="tx2"/>
          </a:solidFill>
          <a:latin typeface="+mj-lt"/>
          <a:ea typeface="ＭＳ Ｐゴシック" pitchFamily="-112" charset="-128"/>
          <a:cs typeface="ＭＳ Ｐゴシック" pitchFamily="-112" charset="-128"/>
        </a:defRPr>
      </a:lvl1pPr>
      <a:lvl2pPr algn="l" rtl="0" eaLnBrk="0" fontAlgn="base" hangingPunct="0">
        <a:spcBef>
          <a:spcPct val="0"/>
        </a:spcBef>
        <a:spcAft>
          <a:spcPct val="0"/>
        </a:spcAft>
        <a:defRPr sz="2400">
          <a:solidFill>
            <a:schemeClr val="tx2"/>
          </a:solidFill>
          <a:latin typeface="Geneva" pitchFamily="-112" charset="0"/>
          <a:ea typeface="ＭＳ Ｐゴシック" pitchFamily="-112" charset="-128"/>
          <a:cs typeface="ＭＳ Ｐゴシック" pitchFamily="-112" charset="-128"/>
        </a:defRPr>
      </a:lvl2pPr>
      <a:lvl3pPr algn="l" rtl="0" eaLnBrk="0" fontAlgn="base" hangingPunct="0">
        <a:spcBef>
          <a:spcPct val="0"/>
        </a:spcBef>
        <a:spcAft>
          <a:spcPct val="0"/>
        </a:spcAft>
        <a:defRPr sz="2400">
          <a:solidFill>
            <a:schemeClr val="tx2"/>
          </a:solidFill>
          <a:latin typeface="Geneva" pitchFamily="-112" charset="0"/>
          <a:ea typeface="ＭＳ Ｐゴシック" pitchFamily="-112" charset="-128"/>
          <a:cs typeface="ＭＳ Ｐゴシック" pitchFamily="-112" charset="-128"/>
        </a:defRPr>
      </a:lvl3pPr>
      <a:lvl4pPr algn="l" rtl="0" eaLnBrk="0" fontAlgn="base" hangingPunct="0">
        <a:spcBef>
          <a:spcPct val="0"/>
        </a:spcBef>
        <a:spcAft>
          <a:spcPct val="0"/>
        </a:spcAft>
        <a:defRPr sz="2400">
          <a:solidFill>
            <a:schemeClr val="tx2"/>
          </a:solidFill>
          <a:latin typeface="Geneva" pitchFamily="-112" charset="0"/>
          <a:ea typeface="ＭＳ Ｐゴシック" pitchFamily="-112" charset="-128"/>
          <a:cs typeface="ＭＳ Ｐゴシック" pitchFamily="-112" charset="-128"/>
        </a:defRPr>
      </a:lvl4pPr>
      <a:lvl5pPr algn="l" rtl="0" eaLnBrk="0" fontAlgn="base" hangingPunct="0">
        <a:spcBef>
          <a:spcPct val="0"/>
        </a:spcBef>
        <a:spcAft>
          <a:spcPct val="0"/>
        </a:spcAft>
        <a:defRPr sz="2400">
          <a:solidFill>
            <a:schemeClr val="tx2"/>
          </a:solidFill>
          <a:latin typeface="Geneva" pitchFamily="-112" charset="0"/>
          <a:ea typeface="ＭＳ Ｐゴシック" pitchFamily="-112" charset="-128"/>
          <a:cs typeface="ＭＳ Ｐゴシック" pitchFamily="-112" charset="-128"/>
        </a:defRPr>
      </a:lvl5pPr>
      <a:lvl6pPr marL="457200" algn="l" rtl="0" eaLnBrk="0" fontAlgn="base" hangingPunct="0">
        <a:spcBef>
          <a:spcPct val="0"/>
        </a:spcBef>
        <a:spcAft>
          <a:spcPct val="0"/>
        </a:spcAft>
        <a:defRPr sz="2400">
          <a:solidFill>
            <a:schemeClr val="tx2"/>
          </a:solidFill>
          <a:latin typeface="Geneva" pitchFamily="-112" charset="0"/>
        </a:defRPr>
      </a:lvl6pPr>
      <a:lvl7pPr marL="914400" algn="l" rtl="0" eaLnBrk="0" fontAlgn="base" hangingPunct="0">
        <a:spcBef>
          <a:spcPct val="0"/>
        </a:spcBef>
        <a:spcAft>
          <a:spcPct val="0"/>
        </a:spcAft>
        <a:defRPr sz="2400">
          <a:solidFill>
            <a:schemeClr val="tx2"/>
          </a:solidFill>
          <a:latin typeface="Geneva" pitchFamily="-112" charset="0"/>
        </a:defRPr>
      </a:lvl7pPr>
      <a:lvl8pPr marL="1371600" algn="l" rtl="0" eaLnBrk="0" fontAlgn="base" hangingPunct="0">
        <a:spcBef>
          <a:spcPct val="0"/>
        </a:spcBef>
        <a:spcAft>
          <a:spcPct val="0"/>
        </a:spcAft>
        <a:defRPr sz="2400">
          <a:solidFill>
            <a:schemeClr val="tx2"/>
          </a:solidFill>
          <a:latin typeface="Geneva" pitchFamily="-112" charset="0"/>
        </a:defRPr>
      </a:lvl8pPr>
      <a:lvl9pPr marL="1828800" algn="l" rtl="0" eaLnBrk="0" fontAlgn="base" hangingPunct="0">
        <a:spcBef>
          <a:spcPct val="0"/>
        </a:spcBef>
        <a:spcAft>
          <a:spcPct val="0"/>
        </a:spcAft>
        <a:defRPr sz="2400">
          <a:solidFill>
            <a:schemeClr val="tx2"/>
          </a:solidFill>
          <a:latin typeface="Geneva" pitchFamily="-112" charset="0"/>
        </a:defRPr>
      </a:lvl9pPr>
    </p:titleStyle>
    <p:bodyStyle>
      <a:lvl1pPr marL="342900" indent="-342900" algn="l" rtl="0" eaLnBrk="0" fontAlgn="base" hangingPunct="0">
        <a:lnSpc>
          <a:spcPct val="120000"/>
        </a:lnSpc>
        <a:spcBef>
          <a:spcPct val="20000"/>
        </a:spcBef>
        <a:spcAft>
          <a:spcPct val="0"/>
        </a:spcAft>
        <a:buClr>
          <a:schemeClr val="accent2"/>
        </a:buClr>
        <a:buFont typeface="Wingdings" pitchFamily="-112" charset="2"/>
        <a:buChar char="§"/>
        <a:defRPr sz="2400">
          <a:solidFill>
            <a:schemeClr val="tx1"/>
          </a:solidFill>
          <a:latin typeface="+mn-lt"/>
          <a:ea typeface="ＭＳ Ｐゴシック" pitchFamily="-112" charset="-128"/>
          <a:cs typeface="ＭＳ Ｐゴシック" pitchFamily="-112" charset="-128"/>
        </a:defRPr>
      </a:lvl1pPr>
      <a:lvl2pPr marL="742950" indent="-285750" algn="l" rtl="0" eaLnBrk="0" fontAlgn="base" hangingPunct="0">
        <a:spcBef>
          <a:spcPct val="20000"/>
        </a:spcBef>
        <a:spcAft>
          <a:spcPct val="0"/>
        </a:spcAft>
        <a:buChar char="–"/>
        <a:defRPr sz="2000">
          <a:solidFill>
            <a:schemeClr val="tx1"/>
          </a:solidFill>
          <a:latin typeface="+mn-lt"/>
          <a:ea typeface="ＭＳ Ｐゴシック" pitchFamily="-112" charset="-128"/>
        </a:defRPr>
      </a:lvl2pPr>
      <a:lvl3pPr marL="1143000" indent="-228600" algn="l" rtl="0" eaLnBrk="0" fontAlgn="base" hangingPunct="0">
        <a:spcBef>
          <a:spcPct val="20000"/>
        </a:spcBef>
        <a:spcAft>
          <a:spcPct val="0"/>
        </a:spcAft>
        <a:buFont typeface="Wingdings" pitchFamily="-112" charset="2"/>
        <a:buChar char="§"/>
        <a:defRPr>
          <a:solidFill>
            <a:schemeClr val="tx1"/>
          </a:solidFill>
          <a:latin typeface="+mn-lt"/>
          <a:ea typeface="ＭＳ Ｐゴシック" pitchFamily="-112" charset="-128"/>
        </a:defRPr>
      </a:lvl3pPr>
      <a:lvl4pPr marL="1600200" indent="-228600" algn="l" rtl="0" eaLnBrk="0" fontAlgn="base" hangingPunct="0">
        <a:spcBef>
          <a:spcPct val="20000"/>
        </a:spcBef>
        <a:spcAft>
          <a:spcPct val="0"/>
        </a:spcAft>
        <a:buChar char="–"/>
        <a:defRPr sz="1600">
          <a:solidFill>
            <a:schemeClr val="tx1"/>
          </a:solidFill>
          <a:latin typeface="+mn-lt"/>
          <a:ea typeface="ＭＳ Ｐゴシック" pitchFamily="-112" charset="-128"/>
        </a:defRPr>
      </a:lvl4pPr>
      <a:lvl5pPr marL="2057400" indent="-228600" algn="l" rtl="0" eaLnBrk="0" fontAlgn="base" hangingPunct="0">
        <a:spcBef>
          <a:spcPct val="20000"/>
        </a:spcBef>
        <a:spcAft>
          <a:spcPct val="0"/>
        </a:spcAft>
        <a:buFont typeface="Wingdings" pitchFamily="-112" charset="2"/>
        <a:buChar char="w"/>
        <a:defRPr sz="1400">
          <a:solidFill>
            <a:schemeClr val="tx1"/>
          </a:solidFill>
          <a:latin typeface="+mn-lt"/>
          <a:ea typeface="ＭＳ Ｐゴシック" pitchFamily="-112" charset="-128"/>
        </a:defRPr>
      </a:lvl5pPr>
      <a:lvl6pPr marL="2514600" indent="-228600" algn="l" rtl="0" eaLnBrk="0" fontAlgn="base" hangingPunct="0">
        <a:spcBef>
          <a:spcPct val="20000"/>
        </a:spcBef>
        <a:spcAft>
          <a:spcPct val="0"/>
        </a:spcAft>
        <a:buFont typeface="Wingdings" pitchFamily="-112" charset="2"/>
        <a:buChar char="w"/>
        <a:defRPr sz="1400">
          <a:solidFill>
            <a:schemeClr val="tx1"/>
          </a:solidFill>
          <a:latin typeface="+mn-lt"/>
          <a:ea typeface="ＭＳ Ｐゴシック" pitchFamily="-112" charset="-128"/>
        </a:defRPr>
      </a:lvl6pPr>
      <a:lvl7pPr marL="2971800" indent="-228600" algn="l" rtl="0" eaLnBrk="0" fontAlgn="base" hangingPunct="0">
        <a:spcBef>
          <a:spcPct val="20000"/>
        </a:spcBef>
        <a:spcAft>
          <a:spcPct val="0"/>
        </a:spcAft>
        <a:buFont typeface="Wingdings" pitchFamily="-112" charset="2"/>
        <a:buChar char="w"/>
        <a:defRPr sz="1400">
          <a:solidFill>
            <a:schemeClr val="tx1"/>
          </a:solidFill>
          <a:latin typeface="+mn-lt"/>
          <a:ea typeface="ＭＳ Ｐゴシック" pitchFamily="-112" charset="-128"/>
        </a:defRPr>
      </a:lvl7pPr>
      <a:lvl8pPr marL="3429000" indent="-228600" algn="l" rtl="0" eaLnBrk="0" fontAlgn="base" hangingPunct="0">
        <a:spcBef>
          <a:spcPct val="20000"/>
        </a:spcBef>
        <a:spcAft>
          <a:spcPct val="0"/>
        </a:spcAft>
        <a:buFont typeface="Wingdings" pitchFamily="-112" charset="2"/>
        <a:buChar char="w"/>
        <a:defRPr sz="1400">
          <a:solidFill>
            <a:schemeClr val="tx1"/>
          </a:solidFill>
          <a:latin typeface="+mn-lt"/>
          <a:ea typeface="ＭＳ Ｐゴシック" pitchFamily="-112" charset="-128"/>
        </a:defRPr>
      </a:lvl8pPr>
      <a:lvl9pPr marL="3886200" indent="-228600" algn="l" rtl="0" eaLnBrk="0" fontAlgn="base" hangingPunct="0">
        <a:spcBef>
          <a:spcPct val="20000"/>
        </a:spcBef>
        <a:spcAft>
          <a:spcPct val="0"/>
        </a:spcAft>
        <a:buFont typeface="Wingdings" pitchFamily="-112" charset="2"/>
        <a:buChar char="w"/>
        <a:defRPr sz="1400">
          <a:solidFill>
            <a:schemeClr val="tx1"/>
          </a:solidFill>
          <a:latin typeface="+mn-lt"/>
          <a:ea typeface="ＭＳ Ｐゴシック" pitchFamily="-112"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428CC-B424-E055-2DEB-D044E43994D0}"/>
              </a:ext>
            </a:extLst>
          </p:cNvPr>
          <p:cNvSpPr>
            <a:spLocks noGrp="1"/>
          </p:cNvSpPr>
          <p:nvPr>
            <p:ph type="title"/>
          </p:nvPr>
        </p:nvSpPr>
        <p:spPr/>
        <p:txBody>
          <a:bodyPr/>
          <a:lstStyle/>
          <a:p>
            <a:r>
              <a:rPr lang="en-US" dirty="0"/>
              <a:t>Caches</a:t>
            </a:r>
          </a:p>
        </p:txBody>
      </p:sp>
      <p:sp>
        <p:nvSpPr>
          <p:cNvPr id="3" name="Content Placeholder 2">
            <a:extLst>
              <a:ext uri="{FF2B5EF4-FFF2-40B4-BE49-F238E27FC236}">
                <a16:creationId xmlns:a16="http://schemas.microsoft.com/office/drawing/2014/main" id="{40F257CD-29E8-91AD-6763-4743D78BE699}"/>
              </a:ext>
            </a:extLst>
          </p:cNvPr>
          <p:cNvSpPr>
            <a:spLocks noGrp="1"/>
          </p:cNvSpPr>
          <p:nvPr>
            <p:ph idx="1"/>
          </p:nvPr>
        </p:nvSpPr>
        <p:spPr/>
        <p:txBody>
          <a:bodyPr/>
          <a:lstStyle/>
          <a:p>
            <a:r>
              <a:rPr lang="en-US" dirty="0"/>
              <a:t>Thus far: </a:t>
            </a:r>
          </a:p>
          <a:p>
            <a:pPr lvl="1"/>
            <a:r>
              <a:rPr lang="en-US" dirty="0"/>
              <a:t>Techniques for reducing CPI by leveraging ILP</a:t>
            </a:r>
          </a:p>
          <a:p>
            <a:endParaRPr lang="en-US" dirty="0"/>
          </a:p>
          <a:p>
            <a:r>
              <a:rPr lang="en-US" dirty="0"/>
              <a:t>What about memory?</a:t>
            </a:r>
          </a:p>
          <a:p>
            <a:endParaRPr lang="en-US" dirty="0"/>
          </a:p>
          <a:p>
            <a:pPr lvl="1"/>
            <a:r>
              <a:rPr lang="en-US" dirty="0"/>
              <a:t>Memory is significantly slower (~100x) than the processor</a:t>
            </a:r>
          </a:p>
          <a:p>
            <a:pPr lvl="1"/>
            <a:endParaRPr lang="en-US" dirty="0"/>
          </a:p>
          <a:p>
            <a:pPr lvl="1"/>
            <a:r>
              <a:rPr lang="en-US" dirty="0"/>
              <a:t>If we don’t optimize, we'll have CPI close to 100!</a:t>
            </a:r>
          </a:p>
          <a:p>
            <a:pPr lvl="1"/>
            <a:endParaRPr lang="en-US" dirty="0"/>
          </a:p>
          <a:p>
            <a:pPr lvl="1"/>
            <a:endParaRPr lang="en-US" dirty="0"/>
          </a:p>
          <a:p>
            <a:pPr lvl="1"/>
            <a:endParaRPr lang="en-US" dirty="0"/>
          </a:p>
          <a:p>
            <a:pPr lvl="1"/>
            <a:endParaRPr lang="en-US" dirty="0"/>
          </a:p>
        </p:txBody>
      </p:sp>
      <p:sp>
        <p:nvSpPr>
          <p:cNvPr id="4" name="Footer Placeholder 3">
            <a:extLst>
              <a:ext uri="{FF2B5EF4-FFF2-40B4-BE49-F238E27FC236}">
                <a16:creationId xmlns:a16="http://schemas.microsoft.com/office/drawing/2014/main" id="{1D729AC7-87A0-84DB-B60E-F5E68AE6FB5C}"/>
              </a:ext>
            </a:extLst>
          </p:cNvPr>
          <p:cNvSpPr>
            <a:spLocks noGrp="1"/>
          </p:cNvSpPr>
          <p:nvPr>
            <p:ph type="ftr" sz="quarter" idx="10"/>
          </p:nvPr>
        </p:nvSpPr>
        <p:spPr/>
        <p:txBody>
          <a:bodyPr/>
          <a:lstStyle/>
          <a:p>
            <a:pPr>
              <a:defRPr/>
            </a:pPr>
            <a:r>
              <a:rPr lang="en-US" dirty="0"/>
              <a:t>CS/ECE  Computer Architecture – Fall’25</a:t>
            </a:r>
            <a:endParaRPr lang="en-US" sz="1400" dirty="0">
              <a:latin typeface="Garamond" pitchFamily="-112" charset="0"/>
            </a:endParaRPr>
          </a:p>
        </p:txBody>
      </p:sp>
      <p:sp>
        <p:nvSpPr>
          <p:cNvPr id="5" name="Slide Number Placeholder 4">
            <a:extLst>
              <a:ext uri="{FF2B5EF4-FFF2-40B4-BE49-F238E27FC236}">
                <a16:creationId xmlns:a16="http://schemas.microsoft.com/office/drawing/2014/main" id="{28CB6A83-DDAD-A712-B39B-DCD1F01DA384}"/>
              </a:ext>
            </a:extLst>
          </p:cNvPr>
          <p:cNvSpPr>
            <a:spLocks noGrp="1"/>
          </p:cNvSpPr>
          <p:nvPr>
            <p:ph type="sldNum" sz="quarter" idx="11"/>
          </p:nvPr>
        </p:nvSpPr>
        <p:spPr/>
        <p:txBody>
          <a:bodyPr/>
          <a:lstStyle/>
          <a:p>
            <a:pPr>
              <a:defRPr/>
            </a:pPr>
            <a:fld id="{FF10D8AA-72FC-054E-A724-04FB34D4ED2D}" type="slidenum">
              <a:rPr lang="en-US" smtClean="0"/>
              <a:pPr>
                <a:defRPr/>
              </a:pPr>
              <a:t>1</a:t>
            </a:fld>
            <a:endParaRPr lang="en-US">
              <a:latin typeface="Garamond" pitchFamily="-112" charset="0"/>
            </a:endParaRPr>
          </a:p>
        </p:txBody>
      </p:sp>
    </p:spTree>
    <p:extLst>
      <p:ext uri="{BB962C8B-B14F-4D97-AF65-F5344CB8AC3E}">
        <p14:creationId xmlns:p14="http://schemas.microsoft.com/office/powerpoint/2010/main" val="3649527593"/>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3"/>
          <p:cNvSpPr>
            <a:spLocks noGrp="1"/>
          </p:cNvSpPr>
          <p:nvPr>
            <p:ph type="ftr" sz="quarter" idx="10"/>
          </p:nvPr>
        </p:nvSpPr>
        <p:spPr/>
        <p:txBody>
          <a:bodyPr/>
          <a:lstStyle/>
          <a:p>
            <a:pPr>
              <a:defRPr/>
            </a:pPr>
            <a:r>
              <a:rPr lang="en-US" dirty="0"/>
              <a:t>CS/ECE 6810: Computer Architecture</a:t>
            </a:r>
            <a:endParaRPr lang="en-US" sz="1400" dirty="0">
              <a:latin typeface="Garamond" pitchFamily="-112" charset="0"/>
            </a:endParaRPr>
          </a:p>
        </p:txBody>
      </p:sp>
      <p:sp>
        <p:nvSpPr>
          <p:cNvPr id="9" name="Slide Number Placeholder 4"/>
          <p:cNvSpPr>
            <a:spLocks noGrp="1"/>
          </p:cNvSpPr>
          <p:nvPr>
            <p:ph type="sldNum" sz="quarter" idx="11"/>
          </p:nvPr>
        </p:nvSpPr>
        <p:spPr/>
        <p:txBody>
          <a:bodyPr/>
          <a:lstStyle/>
          <a:p>
            <a:pPr>
              <a:defRPr/>
            </a:pPr>
            <a:fld id="{6C537B03-C9D2-D94E-A1BC-7FF5B26A162B}" type="slidenum">
              <a:rPr lang="en-US"/>
              <a:pPr>
                <a:defRPr/>
              </a:pPr>
              <a:t>2</a:t>
            </a:fld>
            <a:endParaRPr lang="en-US">
              <a:latin typeface="Garamond" pitchFamily="-112" charset="0"/>
            </a:endParaRPr>
          </a:p>
        </p:txBody>
      </p:sp>
      <p:sp>
        <p:nvSpPr>
          <p:cNvPr id="415749" name="Rectangle 2"/>
          <p:cNvSpPr>
            <a:spLocks noGrp="1" noChangeArrowheads="1"/>
          </p:cNvSpPr>
          <p:nvPr>
            <p:ph type="title"/>
          </p:nvPr>
        </p:nvSpPr>
        <p:spPr>
          <a:xfrm>
            <a:off x="685800" y="152400"/>
            <a:ext cx="8458200" cy="838200"/>
          </a:xfrm>
        </p:spPr>
        <p:txBody>
          <a:bodyPr/>
          <a:lstStyle/>
          <a:p>
            <a:r>
              <a:rPr lang="en-US" sz="2000" dirty="0"/>
              <a:t>The Memory Gap</a:t>
            </a:r>
          </a:p>
        </p:txBody>
      </p:sp>
      <p:sp>
        <p:nvSpPr>
          <p:cNvPr id="415750" name="Rectangle 3"/>
          <p:cNvSpPr>
            <a:spLocks noGrp="1" noChangeArrowheads="1"/>
          </p:cNvSpPr>
          <p:nvPr>
            <p:ph type="body" idx="1"/>
          </p:nvPr>
        </p:nvSpPr>
        <p:spPr>
          <a:xfrm>
            <a:off x="395536" y="6021288"/>
            <a:ext cx="8178800" cy="583382"/>
          </a:xfrm>
        </p:spPr>
        <p:txBody>
          <a:bodyPr/>
          <a:lstStyle/>
          <a:p>
            <a:pPr marL="0" indent="0" algn="ctr">
              <a:lnSpc>
                <a:spcPct val="80000"/>
              </a:lnSpc>
              <a:buNone/>
            </a:pPr>
            <a:r>
              <a:rPr lang="en-US" sz="1800" b="1" dirty="0">
                <a:solidFill>
                  <a:srgbClr val="FF0000"/>
                </a:solidFill>
              </a:rPr>
              <a:t>Memory subsystem design increasingly important!</a:t>
            </a:r>
          </a:p>
        </p:txBody>
      </p:sp>
      <p:sp>
        <p:nvSpPr>
          <p:cNvPr id="415751" name="Text Box 11"/>
          <p:cNvSpPr txBox="1">
            <a:spLocks noChangeArrowheads="1"/>
          </p:cNvSpPr>
          <p:nvPr/>
        </p:nvSpPr>
        <p:spPr bwMode="auto">
          <a:xfrm>
            <a:off x="6732240" y="5229200"/>
            <a:ext cx="2199431" cy="369332"/>
          </a:xfrm>
          <a:prstGeom prst="rect">
            <a:avLst/>
          </a:prstGeom>
          <a:noFill/>
          <a:ln w="12700">
            <a:noFill/>
            <a:miter lim="800000"/>
            <a:headEnd type="none" w="sm" len="sm"/>
            <a:tailEnd type="none" w="sm" len="sm"/>
          </a:ln>
        </p:spPr>
        <p:txBody>
          <a:bodyPr wrap="square">
            <a:prstTxWarp prst="textNoShape">
              <a:avLst/>
            </a:prstTxWarp>
            <a:spAutoFit/>
          </a:bodyPr>
          <a:lstStyle/>
          <a:p>
            <a:pPr algn="ctr"/>
            <a:r>
              <a:rPr lang="en-GB" sz="1800" dirty="0"/>
              <a:t>H&amp;P 6/e, Fig. 2.2</a:t>
            </a:r>
          </a:p>
        </p:txBody>
      </p:sp>
      <p:pic>
        <p:nvPicPr>
          <p:cNvPr id="2" name="Picture 1">
            <a:extLst>
              <a:ext uri="{FF2B5EF4-FFF2-40B4-BE49-F238E27FC236}">
                <a16:creationId xmlns:a16="http://schemas.microsoft.com/office/drawing/2014/main" id="{2DD956C7-7ECD-325A-4867-12D12433ED96}"/>
              </a:ext>
            </a:extLst>
          </p:cNvPr>
          <p:cNvPicPr>
            <a:picLocks noChangeAspect="1"/>
          </p:cNvPicPr>
          <p:nvPr/>
        </p:nvPicPr>
        <p:blipFill>
          <a:blip r:embed="rId3"/>
          <a:stretch>
            <a:fillRect/>
          </a:stretch>
        </p:blipFill>
        <p:spPr>
          <a:xfrm>
            <a:off x="211285" y="1413356"/>
            <a:ext cx="8230265" cy="3866090"/>
          </a:xfrm>
          <a:prstGeom prst="rect">
            <a:avLst/>
          </a:prstGeom>
        </p:spPr>
      </p:pic>
      <p:sp>
        <p:nvSpPr>
          <p:cNvPr id="415752" name="Text Box 52"/>
          <p:cNvSpPr txBox="1">
            <a:spLocks noChangeArrowheads="1"/>
          </p:cNvSpPr>
          <p:nvPr/>
        </p:nvSpPr>
        <p:spPr bwMode="auto">
          <a:xfrm>
            <a:off x="3657600" y="2438400"/>
            <a:ext cx="1371600" cy="396875"/>
          </a:xfrm>
          <a:prstGeom prst="rect">
            <a:avLst/>
          </a:prstGeom>
          <a:noFill/>
          <a:ln w="9525">
            <a:noFill/>
            <a:miter lim="800000"/>
            <a:headEnd/>
            <a:tailEnd/>
          </a:ln>
        </p:spPr>
        <p:txBody>
          <a:bodyPr>
            <a:prstTxWarp prst="textNoShape">
              <a:avLst/>
            </a:prstTxWarp>
            <a:spAutoFit/>
          </a:bodyPr>
          <a:lstStyle/>
          <a:p>
            <a:r>
              <a:rPr lang="en-US" sz="2000" dirty="0">
                <a:solidFill>
                  <a:srgbClr val="FF0000"/>
                </a:solidFill>
              </a:rPr>
              <a:t>1.2x-1.5x</a:t>
            </a:r>
          </a:p>
        </p:txBody>
      </p:sp>
      <p:sp>
        <p:nvSpPr>
          <p:cNvPr id="415753" name="Text Box 53"/>
          <p:cNvSpPr txBox="1">
            <a:spLocks noChangeArrowheads="1"/>
          </p:cNvSpPr>
          <p:nvPr/>
        </p:nvSpPr>
        <p:spPr bwMode="auto">
          <a:xfrm>
            <a:off x="6248400" y="3573462"/>
            <a:ext cx="1043905" cy="396875"/>
          </a:xfrm>
          <a:prstGeom prst="rect">
            <a:avLst/>
          </a:prstGeom>
          <a:noFill/>
          <a:ln w="9525">
            <a:noFill/>
            <a:miter lim="800000"/>
            <a:headEnd/>
            <a:tailEnd/>
          </a:ln>
        </p:spPr>
        <p:txBody>
          <a:bodyPr wrap="square">
            <a:prstTxWarp prst="textNoShape">
              <a:avLst/>
            </a:prstTxWarp>
            <a:spAutoFit/>
          </a:bodyPr>
          <a:lstStyle/>
          <a:p>
            <a:r>
              <a:rPr lang="en-US" sz="2000" dirty="0">
                <a:solidFill>
                  <a:srgbClr val="FF0000"/>
                </a:solidFill>
              </a:rPr>
              <a:t>1.07x</a:t>
            </a:r>
          </a:p>
        </p:txBody>
      </p:sp>
    </p:spTree>
    <p:extLst>
      <p:ext uri="{BB962C8B-B14F-4D97-AF65-F5344CB8AC3E}">
        <p14:creationId xmlns:p14="http://schemas.microsoft.com/office/powerpoint/2010/main" val="186221014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GB" sz="2000" dirty="0">
                <a:latin typeface="Geneva"/>
                <a:ea typeface="ＭＳ Ｐゴシック" charset="0"/>
                <a:cs typeface="Geneva"/>
              </a:rPr>
              <a:t>Caches: Idea of a memory hierarchy</a:t>
            </a:r>
            <a:endParaRPr lang="en-US" sz="2000" dirty="0">
              <a:latin typeface="Geneva"/>
              <a:ea typeface="ＭＳ Ｐゴシック" charset="0"/>
              <a:cs typeface="Geneva"/>
            </a:endParaRPr>
          </a:p>
        </p:txBody>
      </p:sp>
      <p:sp>
        <p:nvSpPr>
          <p:cNvPr id="21506" name="Rectangle 3"/>
          <p:cNvSpPr>
            <a:spLocks noGrp="1" noChangeArrowheads="1"/>
          </p:cNvSpPr>
          <p:nvPr>
            <p:ph type="body" idx="1"/>
          </p:nvPr>
        </p:nvSpPr>
        <p:spPr>
          <a:xfrm>
            <a:off x="685800" y="1341438"/>
            <a:ext cx="7772400" cy="2447925"/>
          </a:xfrm>
        </p:spPr>
        <p:txBody>
          <a:bodyPr/>
          <a:lstStyle/>
          <a:p>
            <a:pPr>
              <a:lnSpc>
                <a:spcPct val="80000"/>
              </a:lnSpc>
            </a:pPr>
            <a:r>
              <a:rPr lang="en-GB" sz="2800">
                <a:latin typeface="Garamond" charset="0"/>
                <a:ea typeface="ＭＳ Ｐゴシック" charset="0"/>
                <a:cs typeface="ＭＳ Ｐゴシック" charset="0"/>
              </a:rPr>
              <a:t>Use combination of memory kinds</a:t>
            </a:r>
          </a:p>
          <a:p>
            <a:pPr lvl="1"/>
            <a:r>
              <a:rPr lang="en-GB" sz="2400">
                <a:latin typeface="Garamond" charset="0"/>
                <a:ea typeface="ＭＳ Ｐゴシック" charset="0"/>
              </a:rPr>
              <a:t>Smaller amounts of expensive but fast memory closer to the processor</a:t>
            </a:r>
          </a:p>
          <a:p>
            <a:pPr lvl="1">
              <a:lnSpc>
                <a:spcPct val="80000"/>
              </a:lnSpc>
            </a:pPr>
            <a:r>
              <a:rPr lang="en-GB" sz="2400">
                <a:latin typeface="Garamond" charset="0"/>
                <a:ea typeface="ＭＳ Ｐゴシック" charset="0"/>
              </a:rPr>
              <a:t>Larger amounts of cheaper but slower memory farther from the processor</a:t>
            </a:r>
          </a:p>
          <a:p>
            <a:pPr>
              <a:spcBef>
                <a:spcPts val="600"/>
              </a:spcBef>
            </a:pPr>
            <a:r>
              <a:rPr lang="en-GB" sz="2800">
                <a:latin typeface="Garamond" charset="0"/>
                <a:ea typeface="ＭＳ Ｐゴシック" charset="0"/>
                <a:cs typeface="ＭＳ Ｐゴシック" charset="0"/>
              </a:rPr>
              <a:t>Idea is not new:</a:t>
            </a:r>
          </a:p>
        </p:txBody>
      </p:sp>
      <p:sp>
        <p:nvSpPr>
          <p:cNvPr id="21508" name="Slide Number Placeholder 6"/>
          <p:cNvSpPr>
            <a:spLocks noGrp="1"/>
          </p:cNvSpPr>
          <p:nvPr>
            <p:ph type="sldNum" sz="quarter" idx="11"/>
          </p:nvPr>
        </p:nvSpPr>
        <p:spPr>
          <a:xfrm>
            <a:off x="7086600" y="6553200"/>
            <a:ext cx="1905000" cy="304800"/>
          </a:xfrm>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a:defRPr sz="2000" b="1">
                <a:solidFill>
                  <a:srgbClr val="FFFF00"/>
                </a:solidFill>
                <a:latin typeface="Garamond" charset="0"/>
                <a:ea typeface="ＭＳ Ｐゴシック" charset="0"/>
                <a:cs typeface="ＭＳ Ｐゴシック" charset="0"/>
              </a:defRPr>
            </a:lvl1pPr>
            <a:lvl2pPr marL="742950" indent="-285750">
              <a:defRPr sz="2000" b="1">
                <a:solidFill>
                  <a:srgbClr val="FFFF00"/>
                </a:solidFill>
                <a:latin typeface="Garamond" charset="0"/>
                <a:ea typeface="ＭＳ Ｐゴシック" charset="0"/>
              </a:defRPr>
            </a:lvl2pPr>
            <a:lvl3pPr marL="1143000" indent="-228600">
              <a:defRPr sz="2000" b="1">
                <a:solidFill>
                  <a:srgbClr val="FFFF00"/>
                </a:solidFill>
                <a:latin typeface="Garamond" charset="0"/>
                <a:ea typeface="ＭＳ Ｐゴシック" charset="0"/>
              </a:defRPr>
            </a:lvl3pPr>
            <a:lvl4pPr marL="1600200" indent="-228600">
              <a:defRPr sz="2000" b="1">
                <a:solidFill>
                  <a:srgbClr val="FFFF00"/>
                </a:solidFill>
                <a:latin typeface="Garamond" charset="0"/>
                <a:ea typeface="ＭＳ Ｐゴシック" charset="0"/>
              </a:defRPr>
            </a:lvl4pPr>
            <a:lvl5pPr marL="2057400" indent="-228600">
              <a:defRPr sz="2000" b="1">
                <a:solidFill>
                  <a:srgbClr val="FFFF00"/>
                </a:solidFill>
                <a:latin typeface="Garamond" charset="0"/>
                <a:ea typeface="ＭＳ Ｐゴシック" charset="0"/>
              </a:defRPr>
            </a:lvl5pPr>
            <a:lvl6pPr marL="2514600" indent="-228600" eaLnBrk="0" fontAlgn="base" hangingPunct="0">
              <a:spcBef>
                <a:spcPct val="0"/>
              </a:spcBef>
              <a:spcAft>
                <a:spcPct val="0"/>
              </a:spcAft>
              <a:defRPr sz="2000" b="1">
                <a:solidFill>
                  <a:srgbClr val="FFFF00"/>
                </a:solidFill>
                <a:latin typeface="Garamond" charset="0"/>
                <a:ea typeface="ＭＳ Ｐゴシック" charset="0"/>
              </a:defRPr>
            </a:lvl6pPr>
            <a:lvl7pPr marL="2971800" indent="-228600" eaLnBrk="0" fontAlgn="base" hangingPunct="0">
              <a:spcBef>
                <a:spcPct val="0"/>
              </a:spcBef>
              <a:spcAft>
                <a:spcPct val="0"/>
              </a:spcAft>
              <a:defRPr sz="2000" b="1">
                <a:solidFill>
                  <a:srgbClr val="FFFF00"/>
                </a:solidFill>
                <a:latin typeface="Garamond" charset="0"/>
                <a:ea typeface="ＭＳ Ｐゴシック" charset="0"/>
              </a:defRPr>
            </a:lvl7pPr>
            <a:lvl8pPr marL="3429000" indent="-228600" eaLnBrk="0" fontAlgn="base" hangingPunct="0">
              <a:spcBef>
                <a:spcPct val="0"/>
              </a:spcBef>
              <a:spcAft>
                <a:spcPct val="0"/>
              </a:spcAft>
              <a:defRPr sz="2000" b="1">
                <a:solidFill>
                  <a:srgbClr val="FFFF00"/>
                </a:solidFill>
                <a:latin typeface="Garamond" charset="0"/>
                <a:ea typeface="ＭＳ Ｐゴシック" charset="0"/>
              </a:defRPr>
            </a:lvl8pPr>
            <a:lvl9pPr marL="3886200" indent="-228600" eaLnBrk="0" fontAlgn="base" hangingPunct="0">
              <a:spcBef>
                <a:spcPct val="0"/>
              </a:spcBef>
              <a:spcAft>
                <a:spcPct val="0"/>
              </a:spcAft>
              <a:defRPr sz="2000" b="1">
                <a:solidFill>
                  <a:srgbClr val="FFFF00"/>
                </a:solidFill>
                <a:latin typeface="Garamond" charset="0"/>
                <a:ea typeface="ＭＳ Ｐゴシック" charset="0"/>
              </a:defRPr>
            </a:lvl9pPr>
          </a:lstStyle>
          <a:p>
            <a:fld id="{0B096AA2-BF6E-FB4F-ABF5-A0CE2B1D0217}" type="slidenum">
              <a:rPr lang="en-US" sz="1400" smtClean="0">
                <a:solidFill>
                  <a:schemeClr val="tx1"/>
                </a:solidFill>
              </a:rPr>
              <a:pPr/>
              <a:t>3</a:t>
            </a:fld>
            <a:endParaRPr lang="en-US" sz="1400" dirty="0">
              <a:solidFill>
                <a:schemeClr val="tx1"/>
              </a:solidFill>
            </a:endParaRPr>
          </a:p>
        </p:txBody>
      </p:sp>
      <p:sp>
        <p:nvSpPr>
          <p:cNvPr id="21509" name="Footer Placeholder 1"/>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FFF00"/>
                </a:solidFill>
                <a:latin typeface="Garamond" charset="0"/>
                <a:ea typeface="ＭＳ Ｐゴシック" charset="0"/>
                <a:cs typeface="ＭＳ Ｐゴシック" charset="0"/>
              </a:defRPr>
            </a:lvl1pPr>
            <a:lvl2pPr marL="742950" indent="-285750">
              <a:defRPr sz="2000" b="1">
                <a:solidFill>
                  <a:srgbClr val="FFFF00"/>
                </a:solidFill>
                <a:latin typeface="Garamond" charset="0"/>
                <a:ea typeface="ＭＳ Ｐゴシック" charset="0"/>
              </a:defRPr>
            </a:lvl2pPr>
            <a:lvl3pPr marL="1143000" indent="-228600">
              <a:defRPr sz="2000" b="1">
                <a:solidFill>
                  <a:srgbClr val="FFFF00"/>
                </a:solidFill>
                <a:latin typeface="Garamond" charset="0"/>
                <a:ea typeface="ＭＳ Ｐゴシック" charset="0"/>
              </a:defRPr>
            </a:lvl3pPr>
            <a:lvl4pPr marL="1600200" indent="-228600">
              <a:defRPr sz="2000" b="1">
                <a:solidFill>
                  <a:srgbClr val="FFFF00"/>
                </a:solidFill>
                <a:latin typeface="Garamond" charset="0"/>
                <a:ea typeface="ＭＳ Ｐゴシック" charset="0"/>
              </a:defRPr>
            </a:lvl4pPr>
            <a:lvl5pPr marL="2057400" indent="-228600">
              <a:defRPr sz="2000" b="1">
                <a:solidFill>
                  <a:srgbClr val="FFFF00"/>
                </a:solidFill>
                <a:latin typeface="Garamond" charset="0"/>
                <a:ea typeface="ＭＳ Ｐゴシック" charset="0"/>
              </a:defRPr>
            </a:lvl5pPr>
            <a:lvl6pPr marL="2514600" indent="-228600" eaLnBrk="0" fontAlgn="base" hangingPunct="0">
              <a:spcBef>
                <a:spcPct val="0"/>
              </a:spcBef>
              <a:spcAft>
                <a:spcPct val="0"/>
              </a:spcAft>
              <a:defRPr sz="2000" b="1">
                <a:solidFill>
                  <a:srgbClr val="FFFF00"/>
                </a:solidFill>
                <a:latin typeface="Garamond" charset="0"/>
                <a:ea typeface="ＭＳ Ｐゴシック" charset="0"/>
              </a:defRPr>
            </a:lvl6pPr>
            <a:lvl7pPr marL="2971800" indent="-228600" eaLnBrk="0" fontAlgn="base" hangingPunct="0">
              <a:spcBef>
                <a:spcPct val="0"/>
              </a:spcBef>
              <a:spcAft>
                <a:spcPct val="0"/>
              </a:spcAft>
              <a:defRPr sz="2000" b="1">
                <a:solidFill>
                  <a:srgbClr val="FFFF00"/>
                </a:solidFill>
                <a:latin typeface="Garamond" charset="0"/>
                <a:ea typeface="ＭＳ Ｐゴシック" charset="0"/>
              </a:defRPr>
            </a:lvl7pPr>
            <a:lvl8pPr marL="3429000" indent="-228600" eaLnBrk="0" fontAlgn="base" hangingPunct="0">
              <a:spcBef>
                <a:spcPct val="0"/>
              </a:spcBef>
              <a:spcAft>
                <a:spcPct val="0"/>
              </a:spcAft>
              <a:defRPr sz="2000" b="1">
                <a:solidFill>
                  <a:srgbClr val="FFFF00"/>
                </a:solidFill>
                <a:latin typeface="Garamond" charset="0"/>
                <a:ea typeface="ＭＳ Ｐゴシック" charset="0"/>
              </a:defRPr>
            </a:lvl8pPr>
            <a:lvl9pPr marL="3886200" indent="-228600" eaLnBrk="0" fontAlgn="base" hangingPunct="0">
              <a:spcBef>
                <a:spcPct val="0"/>
              </a:spcBef>
              <a:spcAft>
                <a:spcPct val="0"/>
              </a:spcAft>
              <a:defRPr sz="2000" b="1">
                <a:solidFill>
                  <a:srgbClr val="FFFF00"/>
                </a:solidFill>
                <a:latin typeface="Garamond" charset="0"/>
                <a:ea typeface="ＭＳ Ｐゴシック" charset="0"/>
              </a:defRPr>
            </a:lvl9pPr>
          </a:lstStyle>
          <a:p>
            <a:r>
              <a:rPr lang="en-US" sz="1400" b="0" dirty="0">
                <a:solidFill>
                  <a:schemeClr val="tx1"/>
                </a:solidFill>
              </a:rPr>
              <a:t>CS/ECE 6810: Computer Architecture</a:t>
            </a:r>
          </a:p>
        </p:txBody>
      </p:sp>
      <p:sp>
        <p:nvSpPr>
          <p:cNvPr id="21510" name="Text Box 4"/>
          <p:cNvSpPr txBox="1">
            <a:spLocks noChangeArrowheads="1"/>
          </p:cNvSpPr>
          <p:nvPr/>
        </p:nvSpPr>
        <p:spPr bwMode="auto">
          <a:xfrm>
            <a:off x="755650" y="3789363"/>
            <a:ext cx="7993063" cy="2308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a:defRPr sz="2000" b="1">
                <a:solidFill>
                  <a:srgbClr val="FFFF00"/>
                </a:solidFill>
                <a:latin typeface="Garamond" charset="0"/>
                <a:ea typeface="ＭＳ Ｐゴシック" charset="0"/>
                <a:cs typeface="ＭＳ Ｐゴシック" charset="0"/>
              </a:defRPr>
            </a:lvl1pPr>
            <a:lvl2pPr marL="742950" indent="-285750">
              <a:defRPr sz="2000" b="1">
                <a:solidFill>
                  <a:srgbClr val="FFFF00"/>
                </a:solidFill>
                <a:latin typeface="Garamond" charset="0"/>
                <a:ea typeface="ＭＳ Ｐゴシック" charset="0"/>
              </a:defRPr>
            </a:lvl2pPr>
            <a:lvl3pPr marL="1143000" indent="-228600">
              <a:defRPr sz="2000" b="1">
                <a:solidFill>
                  <a:srgbClr val="FFFF00"/>
                </a:solidFill>
                <a:latin typeface="Garamond" charset="0"/>
                <a:ea typeface="ＭＳ Ｐゴシック" charset="0"/>
              </a:defRPr>
            </a:lvl3pPr>
            <a:lvl4pPr marL="1600200" indent="-228600">
              <a:defRPr sz="2000" b="1">
                <a:solidFill>
                  <a:srgbClr val="FFFF00"/>
                </a:solidFill>
                <a:latin typeface="Garamond" charset="0"/>
                <a:ea typeface="ＭＳ Ｐゴシック" charset="0"/>
              </a:defRPr>
            </a:lvl4pPr>
            <a:lvl5pPr marL="2057400" indent="-228600">
              <a:defRPr sz="2000" b="1">
                <a:solidFill>
                  <a:srgbClr val="FFFF00"/>
                </a:solidFill>
                <a:latin typeface="Garamond" charset="0"/>
                <a:ea typeface="ＭＳ Ｐゴシック" charset="0"/>
              </a:defRPr>
            </a:lvl5pPr>
            <a:lvl6pPr marL="2514600" indent="-228600" eaLnBrk="0" fontAlgn="base" hangingPunct="0">
              <a:spcBef>
                <a:spcPct val="0"/>
              </a:spcBef>
              <a:spcAft>
                <a:spcPct val="0"/>
              </a:spcAft>
              <a:defRPr sz="2000" b="1">
                <a:solidFill>
                  <a:srgbClr val="FFFF00"/>
                </a:solidFill>
                <a:latin typeface="Garamond" charset="0"/>
                <a:ea typeface="ＭＳ Ｐゴシック" charset="0"/>
              </a:defRPr>
            </a:lvl6pPr>
            <a:lvl7pPr marL="2971800" indent="-228600" eaLnBrk="0" fontAlgn="base" hangingPunct="0">
              <a:spcBef>
                <a:spcPct val="0"/>
              </a:spcBef>
              <a:spcAft>
                <a:spcPct val="0"/>
              </a:spcAft>
              <a:defRPr sz="2000" b="1">
                <a:solidFill>
                  <a:srgbClr val="FFFF00"/>
                </a:solidFill>
                <a:latin typeface="Garamond" charset="0"/>
                <a:ea typeface="ＭＳ Ｐゴシック" charset="0"/>
              </a:defRPr>
            </a:lvl7pPr>
            <a:lvl8pPr marL="3429000" indent="-228600" eaLnBrk="0" fontAlgn="base" hangingPunct="0">
              <a:spcBef>
                <a:spcPct val="0"/>
              </a:spcBef>
              <a:spcAft>
                <a:spcPct val="0"/>
              </a:spcAft>
              <a:defRPr sz="2000" b="1">
                <a:solidFill>
                  <a:srgbClr val="FFFF00"/>
                </a:solidFill>
                <a:latin typeface="Garamond" charset="0"/>
                <a:ea typeface="ＭＳ Ｐゴシック" charset="0"/>
              </a:defRPr>
            </a:lvl8pPr>
            <a:lvl9pPr marL="3886200" indent="-228600" eaLnBrk="0" fontAlgn="base" hangingPunct="0">
              <a:spcBef>
                <a:spcPct val="0"/>
              </a:spcBef>
              <a:spcAft>
                <a:spcPct val="0"/>
              </a:spcAft>
              <a:defRPr sz="2000" b="1">
                <a:solidFill>
                  <a:srgbClr val="FFFF00"/>
                </a:solidFill>
                <a:latin typeface="Garamond" charset="0"/>
                <a:ea typeface="ＭＳ Ｐゴシック" charset="0"/>
              </a:defRPr>
            </a:lvl9pPr>
          </a:lstStyle>
          <a:p>
            <a:r>
              <a:rPr lang="en-US" sz="2400">
                <a:solidFill>
                  <a:schemeClr val="tx1"/>
                </a:solidFill>
              </a:rPr>
              <a:t>“Ideally one would desire an indefinitely large memory capacity such that any particular … word would be immediately available… we are … forced to recognize the possibility of constructing a hierarchy of memories, each of which has greater capacity than the preceding but which is less quickly accessible.”</a:t>
            </a:r>
          </a:p>
        </p:txBody>
      </p:sp>
      <p:sp>
        <p:nvSpPr>
          <p:cNvPr id="21511" name="Text Box 5"/>
          <p:cNvSpPr txBox="1">
            <a:spLocks noChangeArrowheads="1"/>
          </p:cNvSpPr>
          <p:nvPr/>
        </p:nvSpPr>
        <p:spPr bwMode="auto">
          <a:xfrm>
            <a:off x="3894138" y="5949950"/>
            <a:ext cx="5141912"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spAutoFit/>
          </a:bodyPr>
          <a:lstStyle>
            <a:lvl1pPr>
              <a:defRPr sz="2000" b="1">
                <a:solidFill>
                  <a:srgbClr val="FFFF00"/>
                </a:solidFill>
                <a:latin typeface="Garamond" charset="0"/>
                <a:ea typeface="ＭＳ Ｐゴシック" charset="0"/>
                <a:cs typeface="ＭＳ Ｐゴシック" charset="0"/>
              </a:defRPr>
            </a:lvl1pPr>
            <a:lvl2pPr marL="742950" indent="-285750">
              <a:defRPr sz="2000" b="1">
                <a:solidFill>
                  <a:srgbClr val="FFFF00"/>
                </a:solidFill>
                <a:latin typeface="Garamond" charset="0"/>
                <a:ea typeface="ＭＳ Ｐゴシック" charset="0"/>
              </a:defRPr>
            </a:lvl2pPr>
            <a:lvl3pPr marL="1143000" indent="-228600">
              <a:defRPr sz="2000" b="1">
                <a:solidFill>
                  <a:srgbClr val="FFFF00"/>
                </a:solidFill>
                <a:latin typeface="Garamond" charset="0"/>
                <a:ea typeface="ＭＳ Ｐゴシック" charset="0"/>
              </a:defRPr>
            </a:lvl3pPr>
            <a:lvl4pPr marL="1600200" indent="-228600">
              <a:defRPr sz="2000" b="1">
                <a:solidFill>
                  <a:srgbClr val="FFFF00"/>
                </a:solidFill>
                <a:latin typeface="Garamond" charset="0"/>
                <a:ea typeface="ＭＳ Ｐゴシック" charset="0"/>
              </a:defRPr>
            </a:lvl4pPr>
            <a:lvl5pPr marL="2057400" indent="-228600">
              <a:defRPr sz="2000" b="1">
                <a:solidFill>
                  <a:srgbClr val="FFFF00"/>
                </a:solidFill>
                <a:latin typeface="Garamond" charset="0"/>
                <a:ea typeface="ＭＳ Ｐゴシック" charset="0"/>
              </a:defRPr>
            </a:lvl5pPr>
            <a:lvl6pPr marL="2514600" indent="-228600" eaLnBrk="0" fontAlgn="base" hangingPunct="0">
              <a:spcBef>
                <a:spcPct val="0"/>
              </a:spcBef>
              <a:spcAft>
                <a:spcPct val="0"/>
              </a:spcAft>
              <a:defRPr sz="2000" b="1">
                <a:solidFill>
                  <a:srgbClr val="FFFF00"/>
                </a:solidFill>
                <a:latin typeface="Garamond" charset="0"/>
                <a:ea typeface="ＭＳ Ｐゴシック" charset="0"/>
              </a:defRPr>
            </a:lvl6pPr>
            <a:lvl7pPr marL="2971800" indent="-228600" eaLnBrk="0" fontAlgn="base" hangingPunct="0">
              <a:spcBef>
                <a:spcPct val="0"/>
              </a:spcBef>
              <a:spcAft>
                <a:spcPct val="0"/>
              </a:spcAft>
              <a:defRPr sz="2000" b="1">
                <a:solidFill>
                  <a:srgbClr val="FFFF00"/>
                </a:solidFill>
                <a:latin typeface="Garamond" charset="0"/>
                <a:ea typeface="ＭＳ Ｐゴシック" charset="0"/>
              </a:defRPr>
            </a:lvl7pPr>
            <a:lvl8pPr marL="3429000" indent="-228600" eaLnBrk="0" fontAlgn="base" hangingPunct="0">
              <a:spcBef>
                <a:spcPct val="0"/>
              </a:spcBef>
              <a:spcAft>
                <a:spcPct val="0"/>
              </a:spcAft>
              <a:defRPr sz="2000" b="1">
                <a:solidFill>
                  <a:srgbClr val="FFFF00"/>
                </a:solidFill>
                <a:latin typeface="Garamond" charset="0"/>
                <a:ea typeface="ＭＳ Ｐゴシック" charset="0"/>
              </a:defRPr>
            </a:lvl8pPr>
            <a:lvl9pPr marL="3886200" indent="-228600" eaLnBrk="0" fontAlgn="base" hangingPunct="0">
              <a:spcBef>
                <a:spcPct val="0"/>
              </a:spcBef>
              <a:spcAft>
                <a:spcPct val="0"/>
              </a:spcAft>
              <a:defRPr sz="2000" b="1">
                <a:solidFill>
                  <a:srgbClr val="FFFF00"/>
                </a:solidFill>
                <a:latin typeface="Garamond" charset="0"/>
                <a:ea typeface="ＭＳ Ｐゴシック" charset="0"/>
              </a:defRPr>
            </a:lvl9pPr>
          </a:lstStyle>
          <a:p>
            <a:pPr algn="r"/>
            <a:r>
              <a:rPr lang="en-US" sz="1600">
                <a:solidFill>
                  <a:schemeClr val="tx1"/>
                </a:solidFill>
              </a:rPr>
              <a:t>A. W. Burks, H. H. Goldstine, and J. von Neumann - 1946</a:t>
            </a:r>
          </a:p>
        </p:txBody>
      </p:sp>
    </p:spTree>
    <p:extLst>
      <p:ext uri="{BB962C8B-B14F-4D97-AF65-F5344CB8AC3E}">
        <p14:creationId xmlns:p14="http://schemas.microsoft.com/office/powerpoint/2010/main" val="258818806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Footer Placeholder 3"/>
          <p:cNvSpPr>
            <a:spLocks noGrp="1"/>
          </p:cNvSpPr>
          <p:nvPr>
            <p:ph type="ftr" sz="quarter" idx="10"/>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000" b="1">
                <a:solidFill>
                  <a:srgbClr val="FFFF00"/>
                </a:solidFill>
                <a:latin typeface="Garamond" charset="0"/>
                <a:ea typeface="ＭＳ Ｐゴシック" charset="0"/>
                <a:cs typeface="ＭＳ Ｐゴシック" charset="0"/>
              </a:defRPr>
            </a:lvl1pPr>
            <a:lvl2pPr marL="742950" indent="-285750">
              <a:defRPr sz="2000" b="1">
                <a:solidFill>
                  <a:srgbClr val="FFFF00"/>
                </a:solidFill>
                <a:latin typeface="Garamond" charset="0"/>
                <a:ea typeface="ＭＳ Ｐゴシック" charset="0"/>
              </a:defRPr>
            </a:lvl2pPr>
            <a:lvl3pPr marL="1143000" indent="-228600">
              <a:defRPr sz="2000" b="1">
                <a:solidFill>
                  <a:srgbClr val="FFFF00"/>
                </a:solidFill>
                <a:latin typeface="Garamond" charset="0"/>
                <a:ea typeface="ＭＳ Ｐゴシック" charset="0"/>
              </a:defRPr>
            </a:lvl3pPr>
            <a:lvl4pPr marL="1600200" indent="-228600">
              <a:defRPr sz="2000" b="1">
                <a:solidFill>
                  <a:srgbClr val="FFFF00"/>
                </a:solidFill>
                <a:latin typeface="Garamond" charset="0"/>
                <a:ea typeface="ＭＳ Ｐゴシック" charset="0"/>
              </a:defRPr>
            </a:lvl4pPr>
            <a:lvl5pPr marL="2057400" indent="-228600">
              <a:defRPr sz="2000" b="1">
                <a:solidFill>
                  <a:srgbClr val="FFFF00"/>
                </a:solidFill>
                <a:latin typeface="Garamond" charset="0"/>
                <a:ea typeface="ＭＳ Ｐゴシック" charset="0"/>
              </a:defRPr>
            </a:lvl5pPr>
            <a:lvl6pPr marL="2514600" indent="-228600" eaLnBrk="0" fontAlgn="base" hangingPunct="0">
              <a:spcBef>
                <a:spcPct val="0"/>
              </a:spcBef>
              <a:spcAft>
                <a:spcPct val="0"/>
              </a:spcAft>
              <a:defRPr sz="2000" b="1">
                <a:solidFill>
                  <a:srgbClr val="FFFF00"/>
                </a:solidFill>
                <a:latin typeface="Garamond" charset="0"/>
                <a:ea typeface="ＭＳ Ｐゴシック" charset="0"/>
              </a:defRPr>
            </a:lvl6pPr>
            <a:lvl7pPr marL="2971800" indent="-228600" eaLnBrk="0" fontAlgn="base" hangingPunct="0">
              <a:spcBef>
                <a:spcPct val="0"/>
              </a:spcBef>
              <a:spcAft>
                <a:spcPct val="0"/>
              </a:spcAft>
              <a:defRPr sz="2000" b="1">
                <a:solidFill>
                  <a:srgbClr val="FFFF00"/>
                </a:solidFill>
                <a:latin typeface="Garamond" charset="0"/>
                <a:ea typeface="ＭＳ Ｐゴシック" charset="0"/>
              </a:defRPr>
            </a:lvl7pPr>
            <a:lvl8pPr marL="3429000" indent="-228600" eaLnBrk="0" fontAlgn="base" hangingPunct="0">
              <a:spcBef>
                <a:spcPct val="0"/>
              </a:spcBef>
              <a:spcAft>
                <a:spcPct val="0"/>
              </a:spcAft>
              <a:defRPr sz="2000" b="1">
                <a:solidFill>
                  <a:srgbClr val="FFFF00"/>
                </a:solidFill>
                <a:latin typeface="Garamond" charset="0"/>
                <a:ea typeface="ＭＳ Ｐゴシック" charset="0"/>
              </a:defRPr>
            </a:lvl8pPr>
            <a:lvl9pPr marL="3886200" indent="-228600" eaLnBrk="0" fontAlgn="base" hangingPunct="0">
              <a:spcBef>
                <a:spcPct val="0"/>
              </a:spcBef>
              <a:spcAft>
                <a:spcPct val="0"/>
              </a:spcAft>
              <a:defRPr sz="2000" b="1">
                <a:solidFill>
                  <a:srgbClr val="FFFF00"/>
                </a:solidFill>
                <a:latin typeface="Garamond" charset="0"/>
                <a:ea typeface="ＭＳ Ｐゴシック" charset="0"/>
              </a:defRPr>
            </a:lvl9pPr>
          </a:lstStyle>
          <a:p>
            <a:r>
              <a:rPr lang="en-US" sz="1400" b="0" dirty="0">
                <a:solidFill>
                  <a:schemeClr val="tx1"/>
                </a:solidFill>
              </a:rPr>
              <a:t>CS/ECE 6810: Computer Architecture</a:t>
            </a:r>
          </a:p>
        </p:txBody>
      </p:sp>
      <p:sp>
        <p:nvSpPr>
          <p:cNvPr id="22530" name="Slide Number Placeholder 4"/>
          <p:cNvSpPr>
            <a:spLocks noGrp="1"/>
          </p:cNvSpPr>
          <p:nvPr>
            <p:ph type="sldNum" sz="quarter" idx="1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lstStyle>
            <a:lvl1pPr>
              <a:defRPr sz="2000" b="1">
                <a:solidFill>
                  <a:srgbClr val="FFFF00"/>
                </a:solidFill>
                <a:latin typeface="Garamond" charset="0"/>
                <a:ea typeface="ＭＳ Ｐゴシック" charset="0"/>
                <a:cs typeface="ＭＳ Ｐゴシック" charset="0"/>
              </a:defRPr>
            </a:lvl1pPr>
            <a:lvl2pPr marL="742950" indent="-285750">
              <a:defRPr sz="2000" b="1">
                <a:solidFill>
                  <a:srgbClr val="FFFF00"/>
                </a:solidFill>
                <a:latin typeface="Garamond" charset="0"/>
                <a:ea typeface="ＭＳ Ｐゴシック" charset="0"/>
              </a:defRPr>
            </a:lvl2pPr>
            <a:lvl3pPr marL="1143000" indent="-228600">
              <a:defRPr sz="2000" b="1">
                <a:solidFill>
                  <a:srgbClr val="FFFF00"/>
                </a:solidFill>
                <a:latin typeface="Garamond" charset="0"/>
                <a:ea typeface="ＭＳ Ｐゴシック" charset="0"/>
              </a:defRPr>
            </a:lvl3pPr>
            <a:lvl4pPr marL="1600200" indent="-228600">
              <a:defRPr sz="2000" b="1">
                <a:solidFill>
                  <a:srgbClr val="FFFF00"/>
                </a:solidFill>
                <a:latin typeface="Garamond" charset="0"/>
                <a:ea typeface="ＭＳ Ｐゴシック" charset="0"/>
              </a:defRPr>
            </a:lvl4pPr>
            <a:lvl5pPr marL="2057400" indent="-228600">
              <a:defRPr sz="2000" b="1">
                <a:solidFill>
                  <a:srgbClr val="FFFF00"/>
                </a:solidFill>
                <a:latin typeface="Garamond" charset="0"/>
                <a:ea typeface="ＭＳ Ｐゴシック" charset="0"/>
              </a:defRPr>
            </a:lvl5pPr>
            <a:lvl6pPr marL="2514600" indent="-228600" eaLnBrk="0" fontAlgn="base" hangingPunct="0">
              <a:spcBef>
                <a:spcPct val="0"/>
              </a:spcBef>
              <a:spcAft>
                <a:spcPct val="0"/>
              </a:spcAft>
              <a:defRPr sz="2000" b="1">
                <a:solidFill>
                  <a:srgbClr val="FFFF00"/>
                </a:solidFill>
                <a:latin typeface="Garamond" charset="0"/>
                <a:ea typeface="ＭＳ Ｐゴシック" charset="0"/>
              </a:defRPr>
            </a:lvl6pPr>
            <a:lvl7pPr marL="2971800" indent="-228600" eaLnBrk="0" fontAlgn="base" hangingPunct="0">
              <a:spcBef>
                <a:spcPct val="0"/>
              </a:spcBef>
              <a:spcAft>
                <a:spcPct val="0"/>
              </a:spcAft>
              <a:defRPr sz="2000" b="1">
                <a:solidFill>
                  <a:srgbClr val="FFFF00"/>
                </a:solidFill>
                <a:latin typeface="Garamond" charset="0"/>
                <a:ea typeface="ＭＳ Ｐゴシック" charset="0"/>
              </a:defRPr>
            </a:lvl7pPr>
            <a:lvl8pPr marL="3429000" indent="-228600" eaLnBrk="0" fontAlgn="base" hangingPunct="0">
              <a:spcBef>
                <a:spcPct val="0"/>
              </a:spcBef>
              <a:spcAft>
                <a:spcPct val="0"/>
              </a:spcAft>
              <a:defRPr sz="2000" b="1">
                <a:solidFill>
                  <a:srgbClr val="FFFF00"/>
                </a:solidFill>
                <a:latin typeface="Garamond" charset="0"/>
                <a:ea typeface="ＭＳ Ｐゴシック" charset="0"/>
              </a:defRPr>
            </a:lvl8pPr>
            <a:lvl9pPr marL="3886200" indent="-228600" eaLnBrk="0" fontAlgn="base" hangingPunct="0">
              <a:spcBef>
                <a:spcPct val="0"/>
              </a:spcBef>
              <a:spcAft>
                <a:spcPct val="0"/>
              </a:spcAft>
              <a:defRPr sz="2000" b="1">
                <a:solidFill>
                  <a:srgbClr val="FFFF00"/>
                </a:solidFill>
                <a:latin typeface="Garamond" charset="0"/>
                <a:ea typeface="ＭＳ Ｐゴシック" charset="0"/>
              </a:defRPr>
            </a:lvl9pPr>
          </a:lstStyle>
          <a:p>
            <a:fld id="{E39FC74B-1202-1B4C-82B6-2B36C34C77FA}" type="slidenum">
              <a:rPr lang="en-US" sz="1400">
                <a:solidFill>
                  <a:schemeClr val="tx1"/>
                </a:solidFill>
              </a:rPr>
              <a:pPr/>
              <a:t>4</a:t>
            </a:fld>
            <a:endParaRPr lang="en-US" sz="1400">
              <a:solidFill>
                <a:schemeClr val="tx1"/>
              </a:solidFill>
            </a:endParaRPr>
          </a:p>
        </p:txBody>
      </p:sp>
      <p:sp>
        <p:nvSpPr>
          <p:cNvPr id="22531" name="Rectangle 2"/>
          <p:cNvSpPr>
            <a:spLocks noGrp="1" noChangeArrowheads="1"/>
          </p:cNvSpPr>
          <p:nvPr>
            <p:ph type="title"/>
          </p:nvPr>
        </p:nvSpPr>
        <p:spPr/>
        <p:txBody>
          <a:bodyPr/>
          <a:lstStyle/>
          <a:p>
            <a:r>
              <a:rPr lang="en-US" sz="2000" dirty="0">
                <a:latin typeface="Geneva"/>
                <a:ea typeface="ＭＳ Ｐゴシック" charset="0"/>
                <a:cs typeface="Geneva"/>
              </a:rPr>
              <a:t>Why is a memory hierarchy effective?</a:t>
            </a:r>
          </a:p>
        </p:txBody>
      </p:sp>
      <p:sp>
        <p:nvSpPr>
          <p:cNvPr id="22532" name="Rectangle 3"/>
          <p:cNvSpPr>
            <a:spLocks noGrp="1" noChangeArrowheads="1"/>
          </p:cNvSpPr>
          <p:nvPr>
            <p:ph type="body" idx="1"/>
          </p:nvPr>
        </p:nvSpPr>
        <p:spPr>
          <a:xfrm>
            <a:off x="457200" y="1196752"/>
            <a:ext cx="8234363" cy="5328592"/>
          </a:xfrm>
        </p:spPr>
        <p:txBody>
          <a:bodyPr/>
          <a:lstStyle/>
          <a:p>
            <a:pPr>
              <a:spcBef>
                <a:spcPts val="375"/>
              </a:spcBef>
            </a:pPr>
            <a:r>
              <a:rPr lang="en-US" sz="2000" dirty="0">
                <a:latin typeface="Geneva"/>
                <a:ea typeface="ＭＳ Ｐゴシック" charset="0"/>
                <a:cs typeface="Geneva"/>
              </a:rPr>
              <a:t>Temporal </a:t>
            </a:r>
            <a:r>
              <a:rPr lang="en-US" sz="2000" dirty="0">
                <a:latin typeface="Geneva (body)"/>
                <a:ea typeface="ＭＳ Ｐゴシック" charset="0"/>
                <a:cs typeface="Geneva (body)"/>
              </a:rPr>
              <a:t>Locality</a:t>
            </a:r>
            <a:r>
              <a:rPr lang="en-US" sz="2000" dirty="0">
                <a:latin typeface="Geneva"/>
                <a:ea typeface="ＭＳ Ｐゴシック" charset="0"/>
                <a:cs typeface="Geneva"/>
              </a:rPr>
              <a:t>:</a:t>
            </a:r>
          </a:p>
          <a:p>
            <a:pPr lvl="1">
              <a:spcBef>
                <a:spcPts val="375"/>
              </a:spcBef>
            </a:pPr>
            <a:r>
              <a:rPr lang="en-US" dirty="0">
                <a:latin typeface="Geneva"/>
                <a:ea typeface="ＭＳ Ｐゴシック" charset="0"/>
                <a:cs typeface="Geneva"/>
              </a:rPr>
              <a:t>A recently </a:t>
            </a:r>
            <a:r>
              <a:rPr lang="en-US" dirty="0">
                <a:latin typeface="Geneva (Body)"/>
                <a:ea typeface="ＭＳ Ｐゴシック" charset="0"/>
                <a:cs typeface="Geneva (Body)"/>
              </a:rPr>
              <a:t>accessed</a:t>
            </a:r>
            <a:r>
              <a:rPr lang="en-US" dirty="0">
                <a:latin typeface="Geneva"/>
                <a:ea typeface="ＭＳ Ｐゴシック" charset="0"/>
                <a:cs typeface="Geneva"/>
              </a:rPr>
              <a:t> memory location (instruction or data) is likely to be accessed again in the near future</a:t>
            </a:r>
            <a:endParaRPr lang="en-US" sz="1600" dirty="0">
              <a:latin typeface="Geneva"/>
              <a:ea typeface="ＭＳ Ｐゴシック" charset="0"/>
              <a:cs typeface="Geneva"/>
            </a:endParaRPr>
          </a:p>
          <a:p>
            <a:pPr>
              <a:spcBef>
                <a:spcPts val="1575"/>
              </a:spcBef>
            </a:pPr>
            <a:r>
              <a:rPr lang="en-US" sz="2000" dirty="0">
                <a:latin typeface="Geneva"/>
                <a:ea typeface="ＭＳ Ｐゴシック" charset="0"/>
                <a:cs typeface="Geneva"/>
              </a:rPr>
              <a:t>Spatial Locality:</a:t>
            </a:r>
          </a:p>
          <a:p>
            <a:pPr lvl="1">
              <a:spcBef>
                <a:spcPts val="375"/>
              </a:spcBef>
            </a:pPr>
            <a:r>
              <a:rPr lang="en-US" dirty="0">
                <a:latin typeface="Geneva"/>
                <a:ea typeface="ＭＳ Ｐゴシック" charset="0"/>
                <a:cs typeface="Geneva"/>
              </a:rPr>
              <a:t>Memory locations (instructions or data) close to a recently accessed location are likely to be accessed in the near future</a:t>
            </a:r>
            <a:endParaRPr lang="en-US" sz="1600" dirty="0">
              <a:latin typeface="Geneva"/>
              <a:ea typeface="ＭＳ Ｐゴシック" charset="0"/>
              <a:cs typeface="Geneva"/>
            </a:endParaRPr>
          </a:p>
          <a:p>
            <a:pPr>
              <a:spcBef>
                <a:spcPts val="1575"/>
              </a:spcBef>
            </a:pPr>
            <a:r>
              <a:rPr lang="en-US" sz="2000" dirty="0">
                <a:latin typeface="Geneva"/>
                <a:ea typeface="ＭＳ Ｐゴシック" charset="0"/>
                <a:cs typeface="Geneva"/>
              </a:rPr>
              <a:t>Why does locality exist in programs?</a:t>
            </a:r>
          </a:p>
          <a:p>
            <a:pPr lvl="1">
              <a:spcBef>
                <a:spcPts val="375"/>
              </a:spcBef>
            </a:pPr>
            <a:r>
              <a:rPr lang="en-US" dirty="0">
                <a:latin typeface="Geneva"/>
                <a:ea typeface="ＭＳ Ｐゴシック" charset="0"/>
                <a:cs typeface="Geneva"/>
              </a:rPr>
              <a:t>Instruction reuse: loops, functions</a:t>
            </a:r>
          </a:p>
          <a:p>
            <a:pPr lvl="1">
              <a:spcBef>
                <a:spcPts val="375"/>
              </a:spcBef>
            </a:pPr>
            <a:r>
              <a:rPr lang="en-US" dirty="0">
                <a:latin typeface="Geneva"/>
                <a:ea typeface="ＭＳ Ｐゴシック" charset="0"/>
                <a:cs typeface="Geneva"/>
              </a:rPr>
              <a:t>Data </a:t>
            </a:r>
            <a:r>
              <a:rPr lang="en-US" dirty="0">
                <a:solidFill>
                  <a:srgbClr val="0000FF"/>
                </a:solidFill>
                <a:latin typeface="Geneva"/>
                <a:ea typeface="ＭＳ Ｐゴシック" charset="0"/>
                <a:cs typeface="Geneva"/>
              </a:rPr>
              <a:t>working sets</a:t>
            </a:r>
            <a:r>
              <a:rPr lang="en-US" dirty="0">
                <a:latin typeface="Geneva"/>
                <a:ea typeface="ＭＳ Ｐゴシック" charset="0"/>
                <a:cs typeface="Geneva"/>
              </a:rPr>
              <a:t>: arrays, temporary variables, objects</a:t>
            </a:r>
          </a:p>
          <a:p>
            <a:pPr lvl="1">
              <a:spcBef>
                <a:spcPts val="375"/>
              </a:spcBef>
            </a:pPr>
            <a:endParaRPr lang="en-US" dirty="0">
              <a:latin typeface="Geneva"/>
              <a:ea typeface="ＭＳ Ｐゴシック" charset="0"/>
              <a:cs typeface="Geneva"/>
            </a:endParaRPr>
          </a:p>
          <a:p>
            <a:pPr>
              <a:spcBef>
                <a:spcPts val="375"/>
              </a:spcBef>
            </a:pPr>
            <a:r>
              <a:rPr lang="en-US" sz="2000" b="1" dirty="0">
                <a:solidFill>
                  <a:srgbClr val="FF0000"/>
                </a:solidFill>
              </a:rPr>
              <a:t>Bottom-line: small, fast caches backed up by larger, slower memories give the impression of a single, large, fast memory</a:t>
            </a:r>
          </a:p>
        </p:txBody>
      </p:sp>
    </p:spTree>
    <p:extLst>
      <p:ext uri="{BB962C8B-B14F-4D97-AF65-F5344CB8AC3E}">
        <p14:creationId xmlns:p14="http://schemas.microsoft.com/office/powerpoint/2010/main" val="156753444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A0EBB-2FF0-6D55-8A06-6D3EE5057594}"/>
              </a:ext>
            </a:extLst>
          </p:cNvPr>
          <p:cNvSpPr>
            <a:spLocks noGrp="1"/>
          </p:cNvSpPr>
          <p:nvPr>
            <p:ph type="title"/>
          </p:nvPr>
        </p:nvSpPr>
        <p:spPr/>
        <p:txBody>
          <a:bodyPr/>
          <a:lstStyle/>
          <a:p>
            <a:r>
              <a:rPr lang="en-US" dirty="0"/>
              <a:t>Memory Hierarchy</a:t>
            </a:r>
          </a:p>
        </p:txBody>
      </p:sp>
      <p:sp>
        <p:nvSpPr>
          <p:cNvPr id="5" name="Slide Number Placeholder 4">
            <a:extLst>
              <a:ext uri="{FF2B5EF4-FFF2-40B4-BE49-F238E27FC236}">
                <a16:creationId xmlns:a16="http://schemas.microsoft.com/office/drawing/2014/main" id="{A7A381BF-1751-44C2-3757-BF14F3C1522F}"/>
              </a:ext>
            </a:extLst>
          </p:cNvPr>
          <p:cNvSpPr>
            <a:spLocks noGrp="1"/>
          </p:cNvSpPr>
          <p:nvPr>
            <p:ph type="sldNum" sz="quarter" idx="11"/>
          </p:nvPr>
        </p:nvSpPr>
        <p:spPr/>
        <p:txBody>
          <a:bodyPr/>
          <a:lstStyle/>
          <a:p>
            <a:pPr>
              <a:defRPr/>
            </a:pPr>
            <a:fld id="{FF10D8AA-72FC-054E-A724-04FB34D4ED2D}" type="slidenum">
              <a:rPr lang="en-US" smtClean="0"/>
              <a:pPr>
                <a:defRPr/>
              </a:pPr>
              <a:t>5</a:t>
            </a:fld>
            <a:endParaRPr lang="en-US">
              <a:latin typeface="Garamond" pitchFamily="-112" charset="0"/>
            </a:endParaRPr>
          </a:p>
        </p:txBody>
      </p:sp>
      <p:pic>
        <p:nvPicPr>
          <p:cNvPr id="6" name="Picture 5">
            <a:extLst>
              <a:ext uri="{FF2B5EF4-FFF2-40B4-BE49-F238E27FC236}">
                <a16:creationId xmlns:a16="http://schemas.microsoft.com/office/drawing/2014/main" id="{FFC803A3-5919-AE29-A4A2-B6484F292420}"/>
              </a:ext>
            </a:extLst>
          </p:cNvPr>
          <p:cNvPicPr>
            <a:picLocks noChangeAspect="1"/>
          </p:cNvPicPr>
          <p:nvPr/>
        </p:nvPicPr>
        <p:blipFill>
          <a:blip r:embed="rId3"/>
          <a:stretch>
            <a:fillRect/>
          </a:stretch>
        </p:blipFill>
        <p:spPr>
          <a:xfrm>
            <a:off x="1428750" y="888652"/>
            <a:ext cx="6134100" cy="5994400"/>
          </a:xfrm>
          <a:prstGeom prst="rect">
            <a:avLst/>
          </a:prstGeom>
        </p:spPr>
      </p:pic>
    </p:spTree>
    <p:extLst>
      <p:ext uri="{BB962C8B-B14F-4D97-AF65-F5344CB8AC3E}">
        <p14:creationId xmlns:p14="http://schemas.microsoft.com/office/powerpoint/2010/main" val="111504241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6AC5D-EB09-A0E4-2FAE-2823B286679C}"/>
              </a:ext>
            </a:extLst>
          </p:cNvPr>
          <p:cNvSpPr>
            <a:spLocks noGrp="1"/>
          </p:cNvSpPr>
          <p:nvPr>
            <p:ph type="title"/>
          </p:nvPr>
        </p:nvSpPr>
        <p:spPr/>
        <p:txBody>
          <a:bodyPr/>
          <a:lstStyle/>
          <a:p>
            <a:r>
              <a:rPr lang="en-US" dirty="0"/>
              <a:t>Memory technologies</a:t>
            </a:r>
          </a:p>
        </p:txBody>
      </p:sp>
      <p:sp>
        <p:nvSpPr>
          <p:cNvPr id="3" name="Content Placeholder 2">
            <a:extLst>
              <a:ext uri="{FF2B5EF4-FFF2-40B4-BE49-F238E27FC236}">
                <a16:creationId xmlns:a16="http://schemas.microsoft.com/office/drawing/2014/main" id="{52E88FE4-A438-88E1-DDCC-9F8BA5193C33}"/>
              </a:ext>
            </a:extLst>
          </p:cNvPr>
          <p:cNvSpPr>
            <a:spLocks noGrp="1"/>
          </p:cNvSpPr>
          <p:nvPr>
            <p:ph idx="1"/>
          </p:nvPr>
        </p:nvSpPr>
        <p:spPr/>
        <p:txBody>
          <a:bodyPr>
            <a:normAutofit lnSpcReduction="10000"/>
          </a:bodyPr>
          <a:lstStyle/>
          <a:p>
            <a:r>
              <a:rPr lang="en-US" dirty="0"/>
              <a:t>SRAM</a:t>
            </a:r>
          </a:p>
          <a:p>
            <a:pPr lvl="1"/>
            <a:r>
              <a:rPr lang="en-US" dirty="0"/>
              <a:t>Static random access memory: caches</a:t>
            </a:r>
          </a:p>
          <a:p>
            <a:pPr lvl="1"/>
            <a:r>
              <a:rPr lang="en-US" dirty="0"/>
              <a:t>Uses flip flops: 6 transistors per bit</a:t>
            </a:r>
          </a:p>
          <a:p>
            <a:pPr lvl="1"/>
            <a:r>
              <a:rPr lang="en-US" dirty="0"/>
              <a:t>Fast access time</a:t>
            </a:r>
          </a:p>
          <a:p>
            <a:pPr lvl="1"/>
            <a:r>
              <a:rPr lang="en-US" dirty="0"/>
              <a:t>Area and power overhead per bit high</a:t>
            </a:r>
          </a:p>
          <a:p>
            <a:pPr lvl="1"/>
            <a:r>
              <a:rPr lang="en-US" dirty="0"/>
              <a:t>Used for L1, L2 and L3 caches on chip</a:t>
            </a:r>
          </a:p>
          <a:p>
            <a:endParaRPr lang="en-US" dirty="0"/>
          </a:p>
          <a:p>
            <a:r>
              <a:rPr lang="en-US" dirty="0"/>
              <a:t>DRAM</a:t>
            </a:r>
          </a:p>
          <a:p>
            <a:pPr lvl="1"/>
            <a:r>
              <a:rPr lang="en-US" dirty="0"/>
              <a:t>Dynamic random access memory: memory</a:t>
            </a:r>
          </a:p>
          <a:p>
            <a:pPr lvl="1"/>
            <a:r>
              <a:rPr lang="en-US" dirty="0"/>
              <a:t>Uses typically 1 capacitor and a transistor per bit </a:t>
            </a:r>
          </a:p>
          <a:p>
            <a:pPr lvl="1"/>
            <a:r>
              <a:rPr lang="en-US" dirty="0"/>
              <a:t>Slower than SRAM</a:t>
            </a:r>
          </a:p>
          <a:p>
            <a:pPr lvl="1"/>
            <a:r>
              <a:rPr lang="en-US" dirty="0"/>
              <a:t>Area overhead low</a:t>
            </a:r>
          </a:p>
          <a:p>
            <a:pPr lvl="1"/>
            <a:r>
              <a:rPr lang="en-US" dirty="0"/>
              <a:t>Needs to be periodically refreshed</a:t>
            </a:r>
          </a:p>
        </p:txBody>
      </p:sp>
      <p:sp>
        <p:nvSpPr>
          <p:cNvPr id="4" name="Footer Placeholder 3">
            <a:extLst>
              <a:ext uri="{FF2B5EF4-FFF2-40B4-BE49-F238E27FC236}">
                <a16:creationId xmlns:a16="http://schemas.microsoft.com/office/drawing/2014/main" id="{D20C6770-FCC5-8E8A-D085-6886B673381B}"/>
              </a:ext>
            </a:extLst>
          </p:cNvPr>
          <p:cNvSpPr>
            <a:spLocks noGrp="1"/>
          </p:cNvSpPr>
          <p:nvPr>
            <p:ph type="ftr" sz="quarter" idx="10"/>
          </p:nvPr>
        </p:nvSpPr>
        <p:spPr/>
        <p:txBody>
          <a:bodyPr/>
          <a:lstStyle/>
          <a:p>
            <a:pPr>
              <a:defRPr/>
            </a:pPr>
            <a:r>
              <a:rPr lang="en-US" dirty="0"/>
              <a:t>CS/ECE  Computer Architecture – Fall’25</a:t>
            </a:r>
            <a:endParaRPr lang="en-US" sz="1400" dirty="0">
              <a:latin typeface="Garamond" pitchFamily="-112" charset="0"/>
            </a:endParaRPr>
          </a:p>
        </p:txBody>
      </p:sp>
      <p:sp>
        <p:nvSpPr>
          <p:cNvPr id="5" name="Slide Number Placeholder 4">
            <a:extLst>
              <a:ext uri="{FF2B5EF4-FFF2-40B4-BE49-F238E27FC236}">
                <a16:creationId xmlns:a16="http://schemas.microsoft.com/office/drawing/2014/main" id="{880F1983-E495-E489-C90F-5312A592D8C9}"/>
              </a:ext>
            </a:extLst>
          </p:cNvPr>
          <p:cNvSpPr>
            <a:spLocks noGrp="1"/>
          </p:cNvSpPr>
          <p:nvPr>
            <p:ph type="sldNum" sz="quarter" idx="11"/>
          </p:nvPr>
        </p:nvSpPr>
        <p:spPr/>
        <p:txBody>
          <a:bodyPr/>
          <a:lstStyle/>
          <a:p>
            <a:pPr>
              <a:defRPr/>
            </a:pPr>
            <a:fld id="{FF10D8AA-72FC-054E-A724-04FB34D4ED2D}" type="slidenum">
              <a:rPr lang="en-US" smtClean="0"/>
              <a:pPr>
                <a:defRPr/>
              </a:pPr>
              <a:t>6</a:t>
            </a:fld>
            <a:endParaRPr lang="en-US">
              <a:latin typeface="Garamond" pitchFamily="-112" charset="0"/>
            </a:endParaRPr>
          </a:p>
        </p:txBody>
      </p:sp>
    </p:spTree>
    <p:extLst>
      <p:ext uri="{BB962C8B-B14F-4D97-AF65-F5344CB8AC3E}">
        <p14:creationId xmlns:p14="http://schemas.microsoft.com/office/powerpoint/2010/main" val="120170678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BC502-973D-D48A-35AE-273F8959CD51}"/>
              </a:ext>
            </a:extLst>
          </p:cNvPr>
          <p:cNvSpPr>
            <a:spLocks noGrp="1"/>
          </p:cNvSpPr>
          <p:nvPr>
            <p:ph type="title"/>
          </p:nvPr>
        </p:nvSpPr>
        <p:spPr/>
        <p:txBody>
          <a:bodyPr/>
          <a:lstStyle/>
          <a:p>
            <a:r>
              <a:rPr lang="en-US" dirty="0"/>
              <a:t>Memory Technologies</a:t>
            </a:r>
          </a:p>
        </p:txBody>
      </p:sp>
      <p:sp>
        <p:nvSpPr>
          <p:cNvPr id="3" name="Content Placeholder 2">
            <a:extLst>
              <a:ext uri="{FF2B5EF4-FFF2-40B4-BE49-F238E27FC236}">
                <a16:creationId xmlns:a16="http://schemas.microsoft.com/office/drawing/2014/main" id="{63C1A373-AC14-041B-2112-27EEA758ED9F}"/>
              </a:ext>
            </a:extLst>
          </p:cNvPr>
          <p:cNvSpPr>
            <a:spLocks noGrp="1"/>
          </p:cNvSpPr>
          <p:nvPr>
            <p:ph idx="1"/>
          </p:nvPr>
        </p:nvSpPr>
        <p:spPr/>
        <p:txBody>
          <a:bodyPr/>
          <a:lstStyle/>
          <a:p>
            <a:r>
              <a:rPr lang="en-US" dirty="0"/>
              <a:t>Memories that have higher bandwidth</a:t>
            </a:r>
          </a:p>
          <a:p>
            <a:pPr lvl="1"/>
            <a:r>
              <a:rPr lang="en-US" dirty="0"/>
              <a:t>GDDR: Used as memories for GPUs. Have wider busses, operate at a higher clock rate, tighter coupling with GPUs. </a:t>
            </a:r>
          </a:p>
          <a:p>
            <a:pPr lvl="1"/>
            <a:r>
              <a:rPr lang="en-US" dirty="0"/>
              <a:t>HBM: High-bandwidth memory: stacks multiple layers of memory on top of the CPU</a:t>
            </a:r>
          </a:p>
          <a:p>
            <a:r>
              <a:rPr lang="en-US" dirty="0"/>
              <a:t>Flash memory</a:t>
            </a:r>
          </a:p>
          <a:p>
            <a:pPr lvl="1"/>
            <a:r>
              <a:rPr lang="en-US" dirty="0"/>
              <a:t>Non-volatile</a:t>
            </a:r>
          </a:p>
          <a:p>
            <a:pPr lvl="1"/>
            <a:r>
              <a:rPr lang="en-US" dirty="0"/>
              <a:t>Normally read only memory but can be erased (limit to the number of writes that can happen)</a:t>
            </a:r>
          </a:p>
          <a:p>
            <a:pPr lvl="1"/>
            <a:r>
              <a:rPr lang="en-US" dirty="0"/>
              <a:t>Cheaper than DRAM but more expensive than disks</a:t>
            </a:r>
          </a:p>
          <a:p>
            <a:pPr lvl="1"/>
            <a:r>
              <a:rPr lang="en-US" dirty="0"/>
              <a:t>Slower than DRAM but faster than disks</a:t>
            </a:r>
          </a:p>
          <a:p>
            <a:pPr lvl="1"/>
            <a:endParaRPr lang="en-US" dirty="0"/>
          </a:p>
        </p:txBody>
      </p:sp>
      <p:sp>
        <p:nvSpPr>
          <p:cNvPr id="4" name="Footer Placeholder 3">
            <a:extLst>
              <a:ext uri="{FF2B5EF4-FFF2-40B4-BE49-F238E27FC236}">
                <a16:creationId xmlns:a16="http://schemas.microsoft.com/office/drawing/2014/main" id="{D9904430-35F3-57B6-7D88-6AC67A96A418}"/>
              </a:ext>
            </a:extLst>
          </p:cNvPr>
          <p:cNvSpPr>
            <a:spLocks noGrp="1"/>
          </p:cNvSpPr>
          <p:nvPr>
            <p:ph type="ftr" sz="quarter" idx="10"/>
          </p:nvPr>
        </p:nvSpPr>
        <p:spPr/>
        <p:txBody>
          <a:bodyPr/>
          <a:lstStyle/>
          <a:p>
            <a:pPr>
              <a:defRPr/>
            </a:pPr>
            <a:r>
              <a:rPr lang="en-US" dirty="0"/>
              <a:t>CS/ECE  Computer Architecture – Fall’25</a:t>
            </a:r>
            <a:endParaRPr lang="en-US" sz="1400" dirty="0">
              <a:latin typeface="Garamond" pitchFamily="-112" charset="0"/>
            </a:endParaRPr>
          </a:p>
        </p:txBody>
      </p:sp>
      <p:sp>
        <p:nvSpPr>
          <p:cNvPr id="5" name="Slide Number Placeholder 4">
            <a:extLst>
              <a:ext uri="{FF2B5EF4-FFF2-40B4-BE49-F238E27FC236}">
                <a16:creationId xmlns:a16="http://schemas.microsoft.com/office/drawing/2014/main" id="{11A5DC59-E9CB-F160-0586-8A9161DCCE1A}"/>
              </a:ext>
            </a:extLst>
          </p:cNvPr>
          <p:cNvSpPr>
            <a:spLocks noGrp="1"/>
          </p:cNvSpPr>
          <p:nvPr>
            <p:ph type="sldNum" sz="quarter" idx="11"/>
          </p:nvPr>
        </p:nvSpPr>
        <p:spPr/>
        <p:txBody>
          <a:bodyPr/>
          <a:lstStyle/>
          <a:p>
            <a:pPr>
              <a:defRPr/>
            </a:pPr>
            <a:fld id="{FF10D8AA-72FC-054E-A724-04FB34D4ED2D}" type="slidenum">
              <a:rPr lang="en-US" smtClean="0"/>
              <a:pPr>
                <a:defRPr/>
              </a:pPr>
              <a:t>7</a:t>
            </a:fld>
            <a:endParaRPr lang="en-US">
              <a:latin typeface="Garamond" pitchFamily="-112" charset="0"/>
            </a:endParaRPr>
          </a:p>
        </p:txBody>
      </p:sp>
    </p:spTree>
    <p:extLst>
      <p:ext uri="{BB962C8B-B14F-4D97-AF65-F5344CB8AC3E}">
        <p14:creationId xmlns:p14="http://schemas.microsoft.com/office/powerpoint/2010/main" val="221038889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dirty="0"/>
              <a:t>CS/ECE 6810: Computer Architecture</a:t>
            </a:r>
            <a:endParaRPr lang="en-US" sz="1400" dirty="0">
              <a:latin typeface="Garamond" pitchFamily="-112" charset="0"/>
            </a:endParaRPr>
          </a:p>
        </p:txBody>
      </p:sp>
      <p:sp>
        <p:nvSpPr>
          <p:cNvPr id="5" name="Slide Number Placeholder 4"/>
          <p:cNvSpPr>
            <a:spLocks noGrp="1"/>
          </p:cNvSpPr>
          <p:nvPr>
            <p:ph type="sldNum" sz="quarter" idx="11"/>
          </p:nvPr>
        </p:nvSpPr>
        <p:spPr/>
        <p:txBody>
          <a:bodyPr/>
          <a:lstStyle/>
          <a:p>
            <a:pPr>
              <a:defRPr/>
            </a:pPr>
            <a:fld id="{172A4AB3-D8DA-4742-9848-865A74DD6912}" type="slidenum">
              <a:rPr lang="en-US"/>
              <a:pPr>
                <a:defRPr/>
              </a:pPr>
              <a:t>8</a:t>
            </a:fld>
            <a:endParaRPr lang="en-US">
              <a:latin typeface="Garamond" pitchFamily="-112" charset="0"/>
            </a:endParaRPr>
          </a:p>
        </p:txBody>
      </p:sp>
      <p:sp>
        <p:nvSpPr>
          <p:cNvPr id="425988" name="Rectangle 2"/>
          <p:cNvSpPr>
            <a:spLocks noGrp="1" noChangeArrowheads="1"/>
          </p:cNvSpPr>
          <p:nvPr>
            <p:ph type="title"/>
          </p:nvPr>
        </p:nvSpPr>
        <p:spPr/>
        <p:txBody>
          <a:bodyPr/>
          <a:lstStyle/>
          <a:p>
            <a:r>
              <a:rPr lang="en-US" sz="1800"/>
              <a:t>Memory Hierarchy Issues</a:t>
            </a:r>
            <a:endParaRPr lang="en-US" sz="1600"/>
          </a:p>
        </p:txBody>
      </p:sp>
      <p:sp>
        <p:nvSpPr>
          <p:cNvPr id="425989" name="Rectangle 3"/>
          <p:cNvSpPr>
            <a:spLocks noGrp="1" noChangeArrowheads="1"/>
          </p:cNvSpPr>
          <p:nvPr>
            <p:ph type="body" idx="1"/>
          </p:nvPr>
        </p:nvSpPr>
        <p:spPr>
          <a:xfrm>
            <a:off x="457200" y="1143000"/>
            <a:ext cx="8234363" cy="4806280"/>
          </a:xfrm>
        </p:spPr>
        <p:txBody>
          <a:bodyPr/>
          <a:lstStyle/>
          <a:p>
            <a:pPr>
              <a:lnSpc>
                <a:spcPct val="110000"/>
              </a:lnSpc>
            </a:pPr>
            <a:r>
              <a:rPr lang="en-US" sz="1800" dirty="0"/>
              <a:t>Block size: smallest unit that is managed at each level</a:t>
            </a:r>
          </a:p>
          <a:p>
            <a:pPr lvl="1">
              <a:lnSpc>
                <a:spcPct val="90000"/>
              </a:lnSpc>
            </a:pPr>
            <a:r>
              <a:rPr lang="en-US" sz="1600" dirty="0"/>
              <a:t>E.g., 64B for cache lines, 4KB for memory pages</a:t>
            </a:r>
          </a:p>
          <a:p>
            <a:pPr>
              <a:lnSpc>
                <a:spcPct val="110000"/>
              </a:lnSpc>
              <a:spcBef>
                <a:spcPts val="1032"/>
              </a:spcBef>
            </a:pPr>
            <a:r>
              <a:rPr lang="en-US" sz="1800" dirty="0"/>
              <a:t>Block placement: Where can a block be placed?</a:t>
            </a:r>
          </a:p>
          <a:p>
            <a:pPr lvl="1">
              <a:lnSpc>
                <a:spcPct val="90000"/>
              </a:lnSpc>
            </a:pPr>
            <a:r>
              <a:rPr lang="en-US" sz="1600" dirty="0"/>
              <a:t>E.g., direct mapped (exactly 1 location), fully associative (any location)</a:t>
            </a:r>
          </a:p>
          <a:p>
            <a:pPr>
              <a:lnSpc>
                <a:spcPct val="110000"/>
              </a:lnSpc>
              <a:spcBef>
                <a:spcPts val="1032"/>
              </a:spcBef>
            </a:pPr>
            <a:r>
              <a:rPr lang="en-US" sz="1800" dirty="0"/>
              <a:t>Block identification: How can a block be identified?</a:t>
            </a:r>
          </a:p>
          <a:p>
            <a:pPr lvl="1">
              <a:lnSpc>
                <a:spcPct val="90000"/>
              </a:lnSpc>
            </a:pPr>
            <a:r>
              <a:rPr lang="en-US" sz="1600" dirty="0"/>
              <a:t>E.g., hardware tag matching (e.g., cache), OS page table</a:t>
            </a:r>
          </a:p>
          <a:p>
            <a:pPr>
              <a:lnSpc>
                <a:spcPct val="110000"/>
              </a:lnSpc>
              <a:spcBef>
                <a:spcPts val="1032"/>
              </a:spcBef>
            </a:pPr>
            <a:r>
              <a:rPr lang="en-US" sz="1800" dirty="0"/>
              <a:t>Block replacement: Which block should be replaced?</a:t>
            </a:r>
          </a:p>
          <a:p>
            <a:pPr lvl="1">
              <a:lnSpc>
                <a:spcPct val="90000"/>
              </a:lnSpc>
            </a:pPr>
            <a:r>
              <a:rPr lang="en-US" sz="1600" dirty="0"/>
              <a:t>E.g., Random, Least recently used (LRU), Not recently used (NRU)</a:t>
            </a:r>
          </a:p>
          <a:p>
            <a:pPr>
              <a:lnSpc>
                <a:spcPct val="110000"/>
              </a:lnSpc>
              <a:spcBef>
                <a:spcPts val="1032"/>
              </a:spcBef>
            </a:pPr>
            <a:r>
              <a:rPr lang="en-US" sz="1800" dirty="0"/>
              <a:t>Write strategy: What happens on a write?</a:t>
            </a:r>
          </a:p>
          <a:p>
            <a:pPr lvl="1">
              <a:lnSpc>
                <a:spcPct val="90000"/>
              </a:lnSpc>
            </a:pPr>
            <a:r>
              <a:rPr lang="en-US" sz="1600" dirty="0"/>
              <a:t>E.g., write-through, write-back, write-allocate</a:t>
            </a:r>
          </a:p>
          <a:p>
            <a:pPr>
              <a:lnSpc>
                <a:spcPct val="110000"/>
              </a:lnSpc>
              <a:spcBef>
                <a:spcPts val="1032"/>
              </a:spcBef>
            </a:pPr>
            <a:r>
              <a:rPr lang="en-US" sz="1800" dirty="0"/>
              <a:t>Inclusivity: whether next lower level contains all the data found in the current level</a:t>
            </a:r>
          </a:p>
          <a:p>
            <a:pPr lvl="1">
              <a:lnSpc>
                <a:spcPct val="90000"/>
              </a:lnSpc>
            </a:pPr>
            <a:r>
              <a:rPr lang="en-US" sz="1600" dirty="0"/>
              <a:t>Inclusive, exclusive</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Footer Placeholder 3"/>
          <p:cNvSpPr>
            <a:spLocks noGrp="1"/>
          </p:cNvSpPr>
          <p:nvPr>
            <p:ph type="ftr" sz="quarter" idx="10"/>
          </p:nvPr>
        </p:nvSpPr>
        <p:spPr/>
        <p:txBody>
          <a:bodyPr/>
          <a:lstStyle/>
          <a:p>
            <a:pPr>
              <a:defRPr/>
            </a:pPr>
            <a:r>
              <a:rPr lang="en-US" dirty="0"/>
              <a:t>CS/ECE 6810: Computer Architecture</a:t>
            </a:r>
            <a:endParaRPr lang="en-US" sz="1400" dirty="0">
              <a:latin typeface="Garamond" pitchFamily="-112" charset="0"/>
            </a:endParaRPr>
          </a:p>
        </p:txBody>
      </p:sp>
      <p:sp>
        <p:nvSpPr>
          <p:cNvPr id="104" name="Slide Number Placeholder 4"/>
          <p:cNvSpPr>
            <a:spLocks noGrp="1"/>
          </p:cNvSpPr>
          <p:nvPr>
            <p:ph type="sldNum" sz="quarter" idx="11"/>
          </p:nvPr>
        </p:nvSpPr>
        <p:spPr/>
        <p:txBody>
          <a:bodyPr/>
          <a:lstStyle/>
          <a:p>
            <a:pPr>
              <a:defRPr/>
            </a:pPr>
            <a:fld id="{7FC556FB-8422-404B-BBA9-93399E662E26}" type="slidenum">
              <a:rPr lang="en-US"/>
              <a:pPr>
                <a:defRPr/>
              </a:pPr>
              <a:t>9</a:t>
            </a:fld>
            <a:endParaRPr lang="en-US">
              <a:latin typeface="Garamond" pitchFamily="-112" charset="0"/>
            </a:endParaRPr>
          </a:p>
        </p:txBody>
      </p:sp>
      <p:sp>
        <p:nvSpPr>
          <p:cNvPr id="428036" name="Rectangle 2"/>
          <p:cNvSpPr>
            <a:spLocks noGrp="1" noChangeArrowheads="1"/>
          </p:cNvSpPr>
          <p:nvPr>
            <p:ph type="title"/>
          </p:nvPr>
        </p:nvSpPr>
        <p:spPr/>
        <p:txBody>
          <a:bodyPr/>
          <a:lstStyle/>
          <a:p>
            <a:r>
              <a:rPr lang="en-US" sz="1800"/>
              <a:t>Cache Block Placement</a:t>
            </a:r>
            <a:endParaRPr lang="en-US" sz="1600"/>
          </a:p>
        </p:txBody>
      </p:sp>
      <p:sp>
        <p:nvSpPr>
          <p:cNvPr id="428037" name="Rectangle 36"/>
          <p:cNvSpPr>
            <a:spLocks noChangeArrowheads="1"/>
          </p:cNvSpPr>
          <p:nvPr/>
        </p:nvSpPr>
        <p:spPr bwMode="auto">
          <a:xfrm>
            <a:off x="12954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38" name="Text Box 37"/>
          <p:cNvSpPr txBox="1">
            <a:spLocks noChangeArrowheads="1"/>
          </p:cNvSpPr>
          <p:nvPr/>
        </p:nvSpPr>
        <p:spPr bwMode="auto">
          <a:xfrm>
            <a:off x="460375" y="2438400"/>
            <a:ext cx="80645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Block:</a:t>
            </a:r>
          </a:p>
        </p:txBody>
      </p:sp>
      <p:sp>
        <p:nvSpPr>
          <p:cNvPr id="428039" name="Text Box 38"/>
          <p:cNvSpPr txBox="1">
            <a:spLocks noChangeArrowheads="1"/>
          </p:cNvSpPr>
          <p:nvPr/>
        </p:nvSpPr>
        <p:spPr bwMode="auto">
          <a:xfrm>
            <a:off x="1298575" y="24384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0</a:t>
            </a:r>
          </a:p>
        </p:txBody>
      </p:sp>
      <p:sp>
        <p:nvSpPr>
          <p:cNvPr id="428040" name="Rectangle 39"/>
          <p:cNvSpPr>
            <a:spLocks noChangeArrowheads="1"/>
          </p:cNvSpPr>
          <p:nvPr/>
        </p:nvSpPr>
        <p:spPr bwMode="auto">
          <a:xfrm>
            <a:off x="15240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41" name="Rectangle 40"/>
          <p:cNvSpPr>
            <a:spLocks noChangeArrowheads="1"/>
          </p:cNvSpPr>
          <p:nvPr/>
        </p:nvSpPr>
        <p:spPr bwMode="auto">
          <a:xfrm>
            <a:off x="17526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42" name="Rectangle 41"/>
          <p:cNvSpPr>
            <a:spLocks noChangeArrowheads="1"/>
          </p:cNvSpPr>
          <p:nvPr/>
        </p:nvSpPr>
        <p:spPr bwMode="auto">
          <a:xfrm>
            <a:off x="19812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43" name="Rectangle 42"/>
          <p:cNvSpPr>
            <a:spLocks noChangeArrowheads="1"/>
          </p:cNvSpPr>
          <p:nvPr/>
        </p:nvSpPr>
        <p:spPr bwMode="auto">
          <a:xfrm>
            <a:off x="22098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44" name="Rectangle 43"/>
          <p:cNvSpPr>
            <a:spLocks noChangeArrowheads="1"/>
          </p:cNvSpPr>
          <p:nvPr/>
        </p:nvSpPr>
        <p:spPr bwMode="auto">
          <a:xfrm>
            <a:off x="24384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45" name="Rectangle 44"/>
          <p:cNvSpPr>
            <a:spLocks noChangeArrowheads="1"/>
          </p:cNvSpPr>
          <p:nvPr/>
        </p:nvSpPr>
        <p:spPr bwMode="auto">
          <a:xfrm>
            <a:off x="26670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46" name="Rectangle 45"/>
          <p:cNvSpPr>
            <a:spLocks noChangeArrowheads="1"/>
          </p:cNvSpPr>
          <p:nvPr/>
        </p:nvSpPr>
        <p:spPr bwMode="auto">
          <a:xfrm>
            <a:off x="28956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47" name="Rectangle 46"/>
          <p:cNvSpPr>
            <a:spLocks noChangeArrowheads="1"/>
          </p:cNvSpPr>
          <p:nvPr/>
        </p:nvSpPr>
        <p:spPr bwMode="auto">
          <a:xfrm>
            <a:off x="31242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48" name="Rectangle 47"/>
          <p:cNvSpPr>
            <a:spLocks noChangeArrowheads="1"/>
          </p:cNvSpPr>
          <p:nvPr/>
        </p:nvSpPr>
        <p:spPr bwMode="auto">
          <a:xfrm>
            <a:off x="33528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49" name="Rectangle 48"/>
          <p:cNvSpPr>
            <a:spLocks noChangeArrowheads="1"/>
          </p:cNvSpPr>
          <p:nvPr/>
        </p:nvSpPr>
        <p:spPr bwMode="auto">
          <a:xfrm>
            <a:off x="35814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50" name="Rectangle 49"/>
          <p:cNvSpPr>
            <a:spLocks noChangeArrowheads="1"/>
          </p:cNvSpPr>
          <p:nvPr/>
        </p:nvSpPr>
        <p:spPr bwMode="auto">
          <a:xfrm>
            <a:off x="38100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51" name="Rectangle 50"/>
          <p:cNvSpPr>
            <a:spLocks noChangeArrowheads="1"/>
          </p:cNvSpPr>
          <p:nvPr/>
        </p:nvSpPr>
        <p:spPr bwMode="auto">
          <a:xfrm>
            <a:off x="4038600" y="1676400"/>
            <a:ext cx="228600" cy="762000"/>
          </a:xfrm>
          <a:prstGeom prst="rect">
            <a:avLst/>
          </a:prstGeom>
          <a:solidFill>
            <a:srgbClr val="FF0000"/>
          </a:solid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52" name="Rectangle 51"/>
          <p:cNvSpPr>
            <a:spLocks noChangeArrowheads="1"/>
          </p:cNvSpPr>
          <p:nvPr/>
        </p:nvSpPr>
        <p:spPr bwMode="auto">
          <a:xfrm>
            <a:off x="42672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53" name="Rectangle 52"/>
          <p:cNvSpPr>
            <a:spLocks noChangeArrowheads="1"/>
          </p:cNvSpPr>
          <p:nvPr/>
        </p:nvSpPr>
        <p:spPr bwMode="auto">
          <a:xfrm>
            <a:off x="44958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54" name="Rectangle 53"/>
          <p:cNvSpPr>
            <a:spLocks noChangeArrowheads="1"/>
          </p:cNvSpPr>
          <p:nvPr/>
        </p:nvSpPr>
        <p:spPr bwMode="auto">
          <a:xfrm>
            <a:off x="47244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55" name="Rectangle 54"/>
          <p:cNvSpPr>
            <a:spLocks noChangeArrowheads="1"/>
          </p:cNvSpPr>
          <p:nvPr/>
        </p:nvSpPr>
        <p:spPr bwMode="auto">
          <a:xfrm>
            <a:off x="49530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56" name="Rectangle 55"/>
          <p:cNvSpPr>
            <a:spLocks noChangeArrowheads="1"/>
          </p:cNvSpPr>
          <p:nvPr/>
        </p:nvSpPr>
        <p:spPr bwMode="auto">
          <a:xfrm>
            <a:off x="51816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57" name="Rectangle 56"/>
          <p:cNvSpPr>
            <a:spLocks noChangeArrowheads="1"/>
          </p:cNvSpPr>
          <p:nvPr/>
        </p:nvSpPr>
        <p:spPr bwMode="auto">
          <a:xfrm>
            <a:off x="54102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58" name="Rectangle 57"/>
          <p:cNvSpPr>
            <a:spLocks noChangeArrowheads="1"/>
          </p:cNvSpPr>
          <p:nvPr/>
        </p:nvSpPr>
        <p:spPr bwMode="auto">
          <a:xfrm>
            <a:off x="56388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59" name="Rectangle 58"/>
          <p:cNvSpPr>
            <a:spLocks noChangeArrowheads="1"/>
          </p:cNvSpPr>
          <p:nvPr/>
        </p:nvSpPr>
        <p:spPr bwMode="auto">
          <a:xfrm>
            <a:off x="58674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60" name="Rectangle 59"/>
          <p:cNvSpPr>
            <a:spLocks noChangeArrowheads="1"/>
          </p:cNvSpPr>
          <p:nvPr/>
        </p:nvSpPr>
        <p:spPr bwMode="auto">
          <a:xfrm>
            <a:off x="60960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61" name="Rectangle 60"/>
          <p:cNvSpPr>
            <a:spLocks noChangeArrowheads="1"/>
          </p:cNvSpPr>
          <p:nvPr/>
        </p:nvSpPr>
        <p:spPr bwMode="auto">
          <a:xfrm>
            <a:off x="63246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62" name="Rectangle 61"/>
          <p:cNvSpPr>
            <a:spLocks noChangeArrowheads="1"/>
          </p:cNvSpPr>
          <p:nvPr/>
        </p:nvSpPr>
        <p:spPr bwMode="auto">
          <a:xfrm>
            <a:off x="65532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63" name="Rectangle 62"/>
          <p:cNvSpPr>
            <a:spLocks noChangeArrowheads="1"/>
          </p:cNvSpPr>
          <p:nvPr/>
        </p:nvSpPr>
        <p:spPr bwMode="auto">
          <a:xfrm>
            <a:off x="67818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64" name="Rectangle 63"/>
          <p:cNvSpPr>
            <a:spLocks noChangeArrowheads="1"/>
          </p:cNvSpPr>
          <p:nvPr/>
        </p:nvSpPr>
        <p:spPr bwMode="auto">
          <a:xfrm>
            <a:off x="70104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65" name="Rectangle 64"/>
          <p:cNvSpPr>
            <a:spLocks noChangeArrowheads="1"/>
          </p:cNvSpPr>
          <p:nvPr/>
        </p:nvSpPr>
        <p:spPr bwMode="auto">
          <a:xfrm>
            <a:off x="72390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66" name="Rectangle 65"/>
          <p:cNvSpPr>
            <a:spLocks noChangeArrowheads="1"/>
          </p:cNvSpPr>
          <p:nvPr/>
        </p:nvSpPr>
        <p:spPr bwMode="auto">
          <a:xfrm>
            <a:off x="74676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67" name="Rectangle 66"/>
          <p:cNvSpPr>
            <a:spLocks noChangeArrowheads="1"/>
          </p:cNvSpPr>
          <p:nvPr/>
        </p:nvSpPr>
        <p:spPr bwMode="auto">
          <a:xfrm>
            <a:off x="76962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68" name="Rectangle 67"/>
          <p:cNvSpPr>
            <a:spLocks noChangeArrowheads="1"/>
          </p:cNvSpPr>
          <p:nvPr/>
        </p:nvSpPr>
        <p:spPr bwMode="auto">
          <a:xfrm>
            <a:off x="79248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69" name="Rectangle 68"/>
          <p:cNvSpPr>
            <a:spLocks noChangeArrowheads="1"/>
          </p:cNvSpPr>
          <p:nvPr/>
        </p:nvSpPr>
        <p:spPr bwMode="auto">
          <a:xfrm>
            <a:off x="81534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70" name="Rectangle 69"/>
          <p:cNvSpPr>
            <a:spLocks noChangeArrowheads="1"/>
          </p:cNvSpPr>
          <p:nvPr/>
        </p:nvSpPr>
        <p:spPr bwMode="auto">
          <a:xfrm>
            <a:off x="8382000" y="16764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71" name="Text Box 70"/>
          <p:cNvSpPr txBox="1">
            <a:spLocks noChangeArrowheads="1"/>
          </p:cNvSpPr>
          <p:nvPr/>
        </p:nvSpPr>
        <p:spPr bwMode="auto">
          <a:xfrm>
            <a:off x="1531938" y="2438400"/>
            <a:ext cx="274637"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1</a:t>
            </a:r>
          </a:p>
        </p:txBody>
      </p:sp>
      <p:sp>
        <p:nvSpPr>
          <p:cNvPr id="428072" name="Text Box 71"/>
          <p:cNvSpPr txBox="1">
            <a:spLocks noChangeArrowheads="1"/>
          </p:cNvSpPr>
          <p:nvPr/>
        </p:nvSpPr>
        <p:spPr bwMode="auto">
          <a:xfrm>
            <a:off x="3962400" y="2438400"/>
            <a:ext cx="382588"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12</a:t>
            </a:r>
          </a:p>
        </p:txBody>
      </p:sp>
      <p:sp>
        <p:nvSpPr>
          <p:cNvPr id="428073" name="Text Box 72"/>
          <p:cNvSpPr txBox="1">
            <a:spLocks noChangeArrowheads="1"/>
          </p:cNvSpPr>
          <p:nvPr/>
        </p:nvSpPr>
        <p:spPr bwMode="auto">
          <a:xfrm>
            <a:off x="8305800" y="2438400"/>
            <a:ext cx="382588"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31</a:t>
            </a:r>
          </a:p>
        </p:txBody>
      </p:sp>
      <p:sp>
        <p:nvSpPr>
          <p:cNvPr id="428074" name="Text Box 73"/>
          <p:cNvSpPr txBox="1">
            <a:spLocks noChangeArrowheads="1"/>
          </p:cNvSpPr>
          <p:nvPr/>
        </p:nvSpPr>
        <p:spPr bwMode="auto">
          <a:xfrm>
            <a:off x="4116388" y="1219200"/>
            <a:ext cx="998537"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Memory</a:t>
            </a:r>
          </a:p>
        </p:txBody>
      </p:sp>
      <p:sp>
        <p:nvSpPr>
          <p:cNvPr id="428083" name="Text Box 83"/>
          <p:cNvSpPr txBox="1">
            <a:spLocks noChangeArrowheads="1"/>
          </p:cNvSpPr>
          <p:nvPr/>
        </p:nvSpPr>
        <p:spPr bwMode="auto">
          <a:xfrm>
            <a:off x="3175" y="4419600"/>
            <a:ext cx="80645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Block:</a:t>
            </a:r>
          </a:p>
        </p:txBody>
      </p:sp>
      <p:grpSp>
        <p:nvGrpSpPr>
          <p:cNvPr id="4" name="Group 3"/>
          <p:cNvGrpSpPr/>
          <p:nvPr/>
        </p:nvGrpSpPr>
        <p:grpSpPr>
          <a:xfrm>
            <a:off x="838200" y="3657600"/>
            <a:ext cx="1895475" cy="1128713"/>
            <a:chOff x="838200" y="3657600"/>
            <a:chExt cx="1895475" cy="1128713"/>
          </a:xfrm>
        </p:grpSpPr>
        <p:sp>
          <p:nvSpPr>
            <p:cNvPr id="428075" name="Rectangle 75"/>
            <p:cNvSpPr>
              <a:spLocks noChangeArrowheads="1"/>
            </p:cNvSpPr>
            <p:nvPr/>
          </p:nvSpPr>
          <p:spPr bwMode="auto">
            <a:xfrm>
              <a:off x="838200" y="3657600"/>
              <a:ext cx="228600" cy="762000"/>
            </a:xfrm>
            <a:prstGeom prst="rect">
              <a:avLst/>
            </a:prstGeom>
            <a:solidFill>
              <a:srgbClr val="FF0000"/>
            </a:solid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76" name="Rectangle 76"/>
            <p:cNvSpPr>
              <a:spLocks noChangeArrowheads="1"/>
            </p:cNvSpPr>
            <p:nvPr/>
          </p:nvSpPr>
          <p:spPr bwMode="auto">
            <a:xfrm>
              <a:off x="1066800" y="3657600"/>
              <a:ext cx="228600" cy="762000"/>
            </a:xfrm>
            <a:prstGeom prst="rect">
              <a:avLst/>
            </a:prstGeom>
            <a:solidFill>
              <a:srgbClr val="FF0000"/>
            </a:solid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77" name="Rectangle 77"/>
            <p:cNvSpPr>
              <a:spLocks noChangeArrowheads="1"/>
            </p:cNvSpPr>
            <p:nvPr/>
          </p:nvSpPr>
          <p:spPr bwMode="auto">
            <a:xfrm>
              <a:off x="1295400" y="3657600"/>
              <a:ext cx="228600" cy="762000"/>
            </a:xfrm>
            <a:prstGeom prst="rect">
              <a:avLst/>
            </a:prstGeom>
            <a:solidFill>
              <a:srgbClr val="FF0000"/>
            </a:solid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78" name="Rectangle 78"/>
            <p:cNvSpPr>
              <a:spLocks noChangeArrowheads="1"/>
            </p:cNvSpPr>
            <p:nvPr/>
          </p:nvSpPr>
          <p:spPr bwMode="auto">
            <a:xfrm>
              <a:off x="1524000" y="3657600"/>
              <a:ext cx="228600" cy="762000"/>
            </a:xfrm>
            <a:prstGeom prst="rect">
              <a:avLst/>
            </a:prstGeom>
            <a:solidFill>
              <a:srgbClr val="FF0000"/>
            </a:solid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79" name="Rectangle 79"/>
            <p:cNvSpPr>
              <a:spLocks noChangeArrowheads="1"/>
            </p:cNvSpPr>
            <p:nvPr/>
          </p:nvSpPr>
          <p:spPr bwMode="auto">
            <a:xfrm>
              <a:off x="1752600" y="3657600"/>
              <a:ext cx="228600" cy="762000"/>
            </a:xfrm>
            <a:prstGeom prst="rect">
              <a:avLst/>
            </a:prstGeom>
            <a:solidFill>
              <a:srgbClr val="FF0000"/>
            </a:solid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80" name="Rectangle 80"/>
            <p:cNvSpPr>
              <a:spLocks noChangeArrowheads="1"/>
            </p:cNvSpPr>
            <p:nvPr/>
          </p:nvSpPr>
          <p:spPr bwMode="auto">
            <a:xfrm>
              <a:off x="1981200" y="3657600"/>
              <a:ext cx="228600" cy="762000"/>
            </a:xfrm>
            <a:prstGeom prst="rect">
              <a:avLst/>
            </a:prstGeom>
            <a:solidFill>
              <a:srgbClr val="FF0000"/>
            </a:solid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81" name="Rectangle 81"/>
            <p:cNvSpPr>
              <a:spLocks noChangeArrowheads="1"/>
            </p:cNvSpPr>
            <p:nvPr/>
          </p:nvSpPr>
          <p:spPr bwMode="auto">
            <a:xfrm>
              <a:off x="2209800" y="3657600"/>
              <a:ext cx="228600" cy="762000"/>
            </a:xfrm>
            <a:prstGeom prst="rect">
              <a:avLst/>
            </a:prstGeom>
            <a:solidFill>
              <a:srgbClr val="FF0000"/>
            </a:solid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82" name="Rectangle 82"/>
            <p:cNvSpPr>
              <a:spLocks noChangeArrowheads="1"/>
            </p:cNvSpPr>
            <p:nvPr/>
          </p:nvSpPr>
          <p:spPr bwMode="auto">
            <a:xfrm>
              <a:off x="2438400" y="3657600"/>
              <a:ext cx="228600" cy="762000"/>
            </a:xfrm>
            <a:prstGeom prst="rect">
              <a:avLst/>
            </a:prstGeom>
            <a:solidFill>
              <a:srgbClr val="FF0000"/>
            </a:solid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84" name="Text Box 84"/>
            <p:cNvSpPr txBox="1">
              <a:spLocks noChangeArrowheads="1"/>
            </p:cNvSpPr>
            <p:nvPr/>
          </p:nvSpPr>
          <p:spPr bwMode="auto">
            <a:xfrm>
              <a:off x="841375" y="44196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0</a:t>
              </a:r>
            </a:p>
          </p:txBody>
        </p:sp>
        <p:sp>
          <p:nvSpPr>
            <p:cNvPr id="428085" name="Text Box 85"/>
            <p:cNvSpPr txBox="1">
              <a:spLocks noChangeArrowheads="1"/>
            </p:cNvSpPr>
            <p:nvPr/>
          </p:nvSpPr>
          <p:spPr bwMode="auto">
            <a:xfrm>
              <a:off x="1074738" y="4419600"/>
              <a:ext cx="274637"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1</a:t>
              </a:r>
            </a:p>
          </p:txBody>
        </p:sp>
        <p:sp>
          <p:nvSpPr>
            <p:cNvPr id="428086" name="Text Box 86"/>
            <p:cNvSpPr txBox="1">
              <a:spLocks noChangeArrowheads="1"/>
            </p:cNvSpPr>
            <p:nvPr/>
          </p:nvSpPr>
          <p:spPr bwMode="auto">
            <a:xfrm>
              <a:off x="1298575" y="44196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2</a:t>
              </a:r>
            </a:p>
          </p:txBody>
        </p:sp>
        <p:sp>
          <p:nvSpPr>
            <p:cNvPr id="428087" name="Text Box 87"/>
            <p:cNvSpPr txBox="1">
              <a:spLocks noChangeArrowheads="1"/>
            </p:cNvSpPr>
            <p:nvPr/>
          </p:nvSpPr>
          <p:spPr bwMode="auto">
            <a:xfrm>
              <a:off x="1527175" y="44196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3</a:t>
              </a:r>
            </a:p>
          </p:txBody>
        </p:sp>
        <p:sp>
          <p:nvSpPr>
            <p:cNvPr id="428088" name="Text Box 88"/>
            <p:cNvSpPr txBox="1">
              <a:spLocks noChangeArrowheads="1"/>
            </p:cNvSpPr>
            <p:nvPr/>
          </p:nvSpPr>
          <p:spPr bwMode="auto">
            <a:xfrm>
              <a:off x="1755775" y="44196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4</a:t>
              </a:r>
            </a:p>
          </p:txBody>
        </p:sp>
        <p:sp>
          <p:nvSpPr>
            <p:cNvPr id="428089" name="Text Box 89"/>
            <p:cNvSpPr txBox="1">
              <a:spLocks noChangeArrowheads="1"/>
            </p:cNvSpPr>
            <p:nvPr/>
          </p:nvSpPr>
          <p:spPr bwMode="auto">
            <a:xfrm>
              <a:off x="1984375" y="44196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5</a:t>
              </a:r>
            </a:p>
          </p:txBody>
        </p:sp>
        <p:sp>
          <p:nvSpPr>
            <p:cNvPr id="428090" name="Text Box 90"/>
            <p:cNvSpPr txBox="1">
              <a:spLocks noChangeArrowheads="1"/>
            </p:cNvSpPr>
            <p:nvPr/>
          </p:nvSpPr>
          <p:spPr bwMode="auto">
            <a:xfrm>
              <a:off x="2212975" y="44196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6</a:t>
              </a:r>
            </a:p>
          </p:txBody>
        </p:sp>
        <p:sp>
          <p:nvSpPr>
            <p:cNvPr id="428091" name="Text Box 91"/>
            <p:cNvSpPr txBox="1">
              <a:spLocks noChangeArrowheads="1"/>
            </p:cNvSpPr>
            <p:nvPr/>
          </p:nvSpPr>
          <p:spPr bwMode="auto">
            <a:xfrm>
              <a:off x="2441575" y="44196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7</a:t>
              </a:r>
            </a:p>
          </p:txBody>
        </p:sp>
      </p:grpSp>
      <p:sp>
        <p:nvSpPr>
          <p:cNvPr id="428092" name="Text Box 92"/>
          <p:cNvSpPr txBox="1">
            <a:spLocks noChangeArrowheads="1"/>
          </p:cNvSpPr>
          <p:nvPr/>
        </p:nvSpPr>
        <p:spPr bwMode="auto">
          <a:xfrm>
            <a:off x="1325563" y="3200400"/>
            <a:ext cx="788987"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Cache</a:t>
            </a:r>
          </a:p>
        </p:txBody>
      </p:sp>
      <p:sp>
        <p:nvSpPr>
          <p:cNvPr id="428093" name="Text Box 93"/>
          <p:cNvSpPr txBox="1">
            <a:spLocks noChangeArrowheads="1"/>
          </p:cNvSpPr>
          <p:nvPr/>
        </p:nvSpPr>
        <p:spPr bwMode="auto">
          <a:xfrm>
            <a:off x="406400" y="5085184"/>
            <a:ext cx="2654300" cy="1190625"/>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dirty="0">
                <a:solidFill>
                  <a:srgbClr val="FF0000"/>
                </a:solidFill>
              </a:rPr>
              <a:t>Fully associative:</a:t>
            </a:r>
          </a:p>
          <a:p>
            <a:pPr algn="ctr"/>
            <a:endParaRPr lang="en-GB" sz="1800" dirty="0"/>
          </a:p>
          <a:p>
            <a:pPr algn="ctr"/>
            <a:r>
              <a:rPr lang="en-GB" sz="1800" dirty="0"/>
              <a:t>block 12 can go anywhere</a:t>
            </a:r>
          </a:p>
          <a:p>
            <a:pPr algn="ctr"/>
            <a:r>
              <a:rPr lang="en-GB" sz="1800" dirty="0"/>
              <a:t>in the cache</a:t>
            </a:r>
          </a:p>
        </p:txBody>
      </p:sp>
      <p:sp>
        <p:nvSpPr>
          <p:cNvPr id="428102" name="Text Box 102"/>
          <p:cNvSpPr txBox="1">
            <a:spLocks noChangeArrowheads="1"/>
          </p:cNvSpPr>
          <p:nvPr/>
        </p:nvSpPr>
        <p:spPr bwMode="auto">
          <a:xfrm>
            <a:off x="6083300" y="4419600"/>
            <a:ext cx="80645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Block:</a:t>
            </a:r>
          </a:p>
        </p:txBody>
      </p:sp>
      <p:sp>
        <p:nvSpPr>
          <p:cNvPr id="428111" name="Text Box 111"/>
          <p:cNvSpPr txBox="1">
            <a:spLocks noChangeArrowheads="1"/>
          </p:cNvSpPr>
          <p:nvPr/>
        </p:nvSpPr>
        <p:spPr bwMode="auto">
          <a:xfrm>
            <a:off x="7405688" y="3200400"/>
            <a:ext cx="788987"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Cache</a:t>
            </a:r>
          </a:p>
        </p:txBody>
      </p:sp>
      <p:sp>
        <p:nvSpPr>
          <p:cNvPr id="428112" name="Text Box 112"/>
          <p:cNvSpPr txBox="1">
            <a:spLocks noChangeArrowheads="1"/>
          </p:cNvSpPr>
          <p:nvPr/>
        </p:nvSpPr>
        <p:spPr bwMode="auto">
          <a:xfrm>
            <a:off x="6486525" y="5085184"/>
            <a:ext cx="2654300" cy="146526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dirty="0">
                <a:solidFill>
                  <a:srgbClr val="FF0000"/>
                </a:solidFill>
              </a:rPr>
              <a:t>Set associative:</a:t>
            </a:r>
          </a:p>
          <a:p>
            <a:pPr algn="ctr"/>
            <a:endParaRPr lang="en-GB" sz="1800" dirty="0"/>
          </a:p>
          <a:p>
            <a:pPr algn="ctr"/>
            <a:r>
              <a:rPr lang="en-GB" sz="1800" dirty="0"/>
              <a:t>block 12 can go anywhere</a:t>
            </a:r>
          </a:p>
          <a:p>
            <a:pPr algn="ctr"/>
            <a:r>
              <a:rPr lang="en-GB" sz="1800" dirty="0"/>
              <a:t>in set 0</a:t>
            </a:r>
          </a:p>
          <a:p>
            <a:pPr algn="ctr"/>
            <a:r>
              <a:rPr lang="en-GB" sz="1800" dirty="0"/>
              <a:t>(12 mod 4)</a:t>
            </a:r>
          </a:p>
        </p:txBody>
      </p:sp>
      <p:sp>
        <p:nvSpPr>
          <p:cNvPr id="428121" name="Text Box 122"/>
          <p:cNvSpPr txBox="1">
            <a:spLocks noChangeArrowheads="1"/>
          </p:cNvSpPr>
          <p:nvPr/>
        </p:nvSpPr>
        <p:spPr bwMode="auto">
          <a:xfrm>
            <a:off x="3106738" y="4419600"/>
            <a:ext cx="80645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Block:</a:t>
            </a:r>
          </a:p>
        </p:txBody>
      </p:sp>
      <p:grpSp>
        <p:nvGrpSpPr>
          <p:cNvPr id="2" name="Group 1"/>
          <p:cNvGrpSpPr/>
          <p:nvPr/>
        </p:nvGrpSpPr>
        <p:grpSpPr>
          <a:xfrm>
            <a:off x="3941763" y="3657600"/>
            <a:ext cx="1895475" cy="1128713"/>
            <a:chOff x="3941763" y="3657600"/>
            <a:chExt cx="1895475" cy="1128713"/>
          </a:xfrm>
        </p:grpSpPr>
        <p:sp>
          <p:nvSpPr>
            <p:cNvPr id="428113" name="Rectangle 114"/>
            <p:cNvSpPr>
              <a:spLocks noChangeArrowheads="1"/>
            </p:cNvSpPr>
            <p:nvPr/>
          </p:nvSpPr>
          <p:spPr bwMode="auto">
            <a:xfrm>
              <a:off x="3941763" y="36576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114" name="Rectangle 115"/>
            <p:cNvSpPr>
              <a:spLocks noChangeArrowheads="1"/>
            </p:cNvSpPr>
            <p:nvPr/>
          </p:nvSpPr>
          <p:spPr bwMode="auto">
            <a:xfrm>
              <a:off x="4170363" y="36576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115" name="Rectangle 116"/>
            <p:cNvSpPr>
              <a:spLocks noChangeArrowheads="1"/>
            </p:cNvSpPr>
            <p:nvPr/>
          </p:nvSpPr>
          <p:spPr bwMode="auto">
            <a:xfrm>
              <a:off x="4398963" y="36576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116" name="Rectangle 117"/>
            <p:cNvSpPr>
              <a:spLocks noChangeArrowheads="1"/>
            </p:cNvSpPr>
            <p:nvPr/>
          </p:nvSpPr>
          <p:spPr bwMode="auto">
            <a:xfrm>
              <a:off x="4627563" y="36576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117" name="Rectangle 118"/>
            <p:cNvSpPr>
              <a:spLocks noChangeArrowheads="1"/>
            </p:cNvSpPr>
            <p:nvPr/>
          </p:nvSpPr>
          <p:spPr bwMode="auto">
            <a:xfrm>
              <a:off x="4856163" y="3657600"/>
              <a:ext cx="228600" cy="762000"/>
            </a:xfrm>
            <a:prstGeom prst="rect">
              <a:avLst/>
            </a:prstGeom>
            <a:solidFill>
              <a:srgbClr val="FF0000"/>
            </a:solid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118" name="Rectangle 119"/>
            <p:cNvSpPr>
              <a:spLocks noChangeArrowheads="1"/>
            </p:cNvSpPr>
            <p:nvPr/>
          </p:nvSpPr>
          <p:spPr bwMode="auto">
            <a:xfrm>
              <a:off x="5084763" y="36576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119" name="Rectangle 120"/>
            <p:cNvSpPr>
              <a:spLocks noChangeArrowheads="1"/>
            </p:cNvSpPr>
            <p:nvPr/>
          </p:nvSpPr>
          <p:spPr bwMode="auto">
            <a:xfrm>
              <a:off x="5313363" y="36576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120" name="Rectangle 121"/>
            <p:cNvSpPr>
              <a:spLocks noChangeArrowheads="1"/>
            </p:cNvSpPr>
            <p:nvPr/>
          </p:nvSpPr>
          <p:spPr bwMode="auto">
            <a:xfrm>
              <a:off x="5541963" y="36576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122" name="Text Box 123"/>
            <p:cNvSpPr txBox="1">
              <a:spLocks noChangeArrowheads="1"/>
            </p:cNvSpPr>
            <p:nvPr/>
          </p:nvSpPr>
          <p:spPr bwMode="auto">
            <a:xfrm>
              <a:off x="3944938" y="44196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dirty="0"/>
                <a:t>0</a:t>
              </a:r>
            </a:p>
          </p:txBody>
        </p:sp>
        <p:sp>
          <p:nvSpPr>
            <p:cNvPr id="428123" name="Text Box 124"/>
            <p:cNvSpPr txBox="1">
              <a:spLocks noChangeArrowheads="1"/>
            </p:cNvSpPr>
            <p:nvPr/>
          </p:nvSpPr>
          <p:spPr bwMode="auto">
            <a:xfrm>
              <a:off x="4178300" y="4419600"/>
              <a:ext cx="274638"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1</a:t>
              </a:r>
            </a:p>
          </p:txBody>
        </p:sp>
        <p:sp>
          <p:nvSpPr>
            <p:cNvPr id="428124" name="Text Box 125"/>
            <p:cNvSpPr txBox="1">
              <a:spLocks noChangeArrowheads="1"/>
            </p:cNvSpPr>
            <p:nvPr/>
          </p:nvSpPr>
          <p:spPr bwMode="auto">
            <a:xfrm>
              <a:off x="4402138" y="44196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2</a:t>
              </a:r>
            </a:p>
          </p:txBody>
        </p:sp>
        <p:sp>
          <p:nvSpPr>
            <p:cNvPr id="428125" name="Text Box 126"/>
            <p:cNvSpPr txBox="1">
              <a:spLocks noChangeArrowheads="1"/>
            </p:cNvSpPr>
            <p:nvPr/>
          </p:nvSpPr>
          <p:spPr bwMode="auto">
            <a:xfrm>
              <a:off x="4630738" y="44196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3</a:t>
              </a:r>
            </a:p>
          </p:txBody>
        </p:sp>
        <p:sp>
          <p:nvSpPr>
            <p:cNvPr id="428126" name="Text Box 127"/>
            <p:cNvSpPr txBox="1">
              <a:spLocks noChangeArrowheads="1"/>
            </p:cNvSpPr>
            <p:nvPr/>
          </p:nvSpPr>
          <p:spPr bwMode="auto">
            <a:xfrm>
              <a:off x="4859338" y="44196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4</a:t>
              </a:r>
            </a:p>
          </p:txBody>
        </p:sp>
        <p:sp>
          <p:nvSpPr>
            <p:cNvPr id="428127" name="Text Box 128"/>
            <p:cNvSpPr txBox="1">
              <a:spLocks noChangeArrowheads="1"/>
            </p:cNvSpPr>
            <p:nvPr/>
          </p:nvSpPr>
          <p:spPr bwMode="auto">
            <a:xfrm>
              <a:off x="5087938" y="44196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5</a:t>
              </a:r>
            </a:p>
          </p:txBody>
        </p:sp>
        <p:sp>
          <p:nvSpPr>
            <p:cNvPr id="428128" name="Text Box 129"/>
            <p:cNvSpPr txBox="1">
              <a:spLocks noChangeArrowheads="1"/>
            </p:cNvSpPr>
            <p:nvPr/>
          </p:nvSpPr>
          <p:spPr bwMode="auto">
            <a:xfrm>
              <a:off x="5316538" y="44196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6</a:t>
              </a:r>
            </a:p>
          </p:txBody>
        </p:sp>
        <p:sp>
          <p:nvSpPr>
            <p:cNvPr id="428129" name="Text Box 130"/>
            <p:cNvSpPr txBox="1">
              <a:spLocks noChangeArrowheads="1"/>
            </p:cNvSpPr>
            <p:nvPr/>
          </p:nvSpPr>
          <p:spPr bwMode="auto">
            <a:xfrm>
              <a:off x="5545138" y="44196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7</a:t>
              </a:r>
            </a:p>
          </p:txBody>
        </p:sp>
      </p:grpSp>
      <p:sp>
        <p:nvSpPr>
          <p:cNvPr id="428130" name="Text Box 131"/>
          <p:cNvSpPr txBox="1">
            <a:spLocks noChangeArrowheads="1"/>
          </p:cNvSpPr>
          <p:nvPr/>
        </p:nvSpPr>
        <p:spPr bwMode="auto">
          <a:xfrm>
            <a:off x="4429125" y="3200400"/>
            <a:ext cx="788988"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Cache</a:t>
            </a:r>
          </a:p>
        </p:txBody>
      </p:sp>
      <p:sp>
        <p:nvSpPr>
          <p:cNvPr id="428131" name="Text Box 132"/>
          <p:cNvSpPr txBox="1">
            <a:spLocks noChangeArrowheads="1"/>
          </p:cNvSpPr>
          <p:nvPr/>
        </p:nvSpPr>
        <p:spPr bwMode="auto">
          <a:xfrm>
            <a:off x="3740150" y="5088941"/>
            <a:ext cx="2198688" cy="146526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dirty="0">
                <a:solidFill>
                  <a:srgbClr val="FF0000"/>
                </a:solidFill>
              </a:rPr>
              <a:t>Direct mapped:</a:t>
            </a:r>
          </a:p>
          <a:p>
            <a:pPr algn="ctr"/>
            <a:endParaRPr lang="en-GB" sz="1800" dirty="0"/>
          </a:p>
          <a:p>
            <a:pPr algn="ctr"/>
            <a:r>
              <a:rPr lang="en-GB" sz="1800" dirty="0"/>
              <a:t>block 12 can only go </a:t>
            </a:r>
          </a:p>
          <a:p>
            <a:pPr algn="ctr"/>
            <a:r>
              <a:rPr lang="en-GB" sz="1800" dirty="0"/>
              <a:t>into block 4</a:t>
            </a:r>
          </a:p>
          <a:p>
            <a:pPr algn="ctr"/>
            <a:r>
              <a:rPr lang="en-GB" sz="1800" dirty="0"/>
              <a:t>(12 mod 8)</a:t>
            </a:r>
          </a:p>
        </p:txBody>
      </p:sp>
      <p:sp>
        <p:nvSpPr>
          <p:cNvPr id="428132" name="Text Box 134"/>
          <p:cNvSpPr txBox="1">
            <a:spLocks noChangeArrowheads="1"/>
          </p:cNvSpPr>
          <p:nvPr/>
        </p:nvSpPr>
        <p:spPr bwMode="auto">
          <a:xfrm>
            <a:off x="6230938" y="4648200"/>
            <a:ext cx="538162"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dirty="0">
                <a:solidFill>
                  <a:srgbClr val="595959"/>
                </a:solidFill>
              </a:rPr>
              <a:t>Set:</a:t>
            </a:r>
          </a:p>
        </p:txBody>
      </p:sp>
      <p:grpSp>
        <p:nvGrpSpPr>
          <p:cNvPr id="3" name="Group 2"/>
          <p:cNvGrpSpPr/>
          <p:nvPr/>
        </p:nvGrpSpPr>
        <p:grpSpPr>
          <a:xfrm>
            <a:off x="6918325" y="3657600"/>
            <a:ext cx="1895475" cy="1357313"/>
            <a:chOff x="6918325" y="3657600"/>
            <a:chExt cx="1895475" cy="1357313"/>
          </a:xfrm>
        </p:grpSpPr>
        <p:sp>
          <p:nvSpPr>
            <p:cNvPr id="428094" name="Rectangle 94"/>
            <p:cNvSpPr>
              <a:spLocks noChangeArrowheads="1"/>
            </p:cNvSpPr>
            <p:nvPr/>
          </p:nvSpPr>
          <p:spPr bwMode="auto">
            <a:xfrm>
              <a:off x="6918325" y="3657600"/>
              <a:ext cx="228600" cy="762000"/>
            </a:xfrm>
            <a:prstGeom prst="rect">
              <a:avLst/>
            </a:prstGeom>
            <a:solidFill>
              <a:srgbClr val="FF0000"/>
            </a:solid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95" name="Rectangle 95"/>
            <p:cNvSpPr>
              <a:spLocks noChangeArrowheads="1"/>
            </p:cNvSpPr>
            <p:nvPr/>
          </p:nvSpPr>
          <p:spPr bwMode="auto">
            <a:xfrm>
              <a:off x="7146925" y="3657600"/>
              <a:ext cx="228600" cy="762000"/>
            </a:xfrm>
            <a:prstGeom prst="rect">
              <a:avLst/>
            </a:prstGeom>
            <a:solidFill>
              <a:srgbClr val="FF0000"/>
            </a:solid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96" name="Rectangle 96"/>
            <p:cNvSpPr>
              <a:spLocks noChangeArrowheads="1"/>
            </p:cNvSpPr>
            <p:nvPr/>
          </p:nvSpPr>
          <p:spPr bwMode="auto">
            <a:xfrm>
              <a:off x="7375525" y="36576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97" name="Rectangle 97"/>
            <p:cNvSpPr>
              <a:spLocks noChangeArrowheads="1"/>
            </p:cNvSpPr>
            <p:nvPr/>
          </p:nvSpPr>
          <p:spPr bwMode="auto">
            <a:xfrm>
              <a:off x="7604125" y="36576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98" name="Rectangle 98"/>
            <p:cNvSpPr>
              <a:spLocks noChangeArrowheads="1"/>
            </p:cNvSpPr>
            <p:nvPr/>
          </p:nvSpPr>
          <p:spPr bwMode="auto">
            <a:xfrm>
              <a:off x="7832725" y="36576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099" name="Rectangle 99"/>
            <p:cNvSpPr>
              <a:spLocks noChangeArrowheads="1"/>
            </p:cNvSpPr>
            <p:nvPr/>
          </p:nvSpPr>
          <p:spPr bwMode="auto">
            <a:xfrm>
              <a:off x="8061325" y="36576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100" name="Rectangle 100"/>
            <p:cNvSpPr>
              <a:spLocks noChangeArrowheads="1"/>
            </p:cNvSpPr>
            <p:nvPr/>
          </p:nvSpPr>
          <p:spPr bwMode="auto">
            <a:xfrm>
              <a:off x="8289925" y="36576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101" name="Rectangle 101"/>
            <p:cNvSpPr>
              <a:spLocks noChangeArrowheads="1"/>
            </p:cNvSpPr>
            <p:nvPr/>
          </p:nvSpPr>
          <p:spPr bwMode="auto">
            <a:xfrm>
              <a:off x="8518525" y="3657600"/>
              <a:ext cx="228600" cy="762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28103" name="Text Box 103"/>
            <p:cNvSpPr txBox="1">
              <a:spLocks noChangeArrowheads="1"/>
            </p:cNvSpPr>
            <p:nvPr/>
          </p:nvSpPr>
          <p:spPr bwMode="auto">
            <a:xfrm>
              <a:off x="6921500" y="44196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0</a:t>
              </a:r>
            </a:p>
          </p:txBody>
        </p:sp>
        <p:sp>
          <p:nvSpPr>
            <p:cNvPr id="428104" name="Text Box 104"/>
            <p:cNvSpPr txBox="1">
              <a:spLocks noChangeArrowheads="1"/>
            </p:cNvSpPr>
            <p:nvPr/>
          </p:nvSpPr>
          <p:spPr bwMode="auto">
            <a:xfrm>
              <a:off x="7154863" y="4419600"/>
              <a:ext cx="274637"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1</a:t>
              </a:r>
            </a:p>
          </p:txBody>
        </p:sp>
        <p:sp>
          <p:nvSpPr>
            <p:cNvPr id="428105" name="Text Box 105"/>
            <p:cNvSpPr txBox="1">
              <a:spLocks noChangeArrowheads="1"/>
            </p:cNvSpPr>
            <p:nvPr/>
          </p:nvSpPr>
          <p:spPr bwMode="auto">
            <a:xfrm>
              <a:off x="7378700" y="44196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2</a:t>
              </a:r>
            </a:p>
          </p:txBody>
        </p:sp>
        <p:sp>
          <p:nvSpPr>
            <p:cNvPr id="428106" name="Text Box 106"/>
            <p:cNvSpPr txBox="1">
              <a:spLocks noChangeArrowheads="1"/>
            </p:cNvSpPr>
            <p:nvPr/>
          </p:nvSpPr>
          <p:spPr bwMode="auto">
            <a:xfrm>
              <a:off x="7607300" y="44196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3</a:t>
              </a:r>
            </a:p>
          </p:txBody>
        </p:sp>
        <p:sp>
          <p:nvSpPr>
            <p:cNvPr id="428107" name="Text Box 107"/>
            <p:cNvSpPr txBox="1">
              <a:spLocks noChangeArrowheads="1"/>
            </p:cNvSpPr>
            <p:nvPr/>
          </p:nvSpPr>
          <p:spPr bwMode="auto">
            <a:xfrm>
              <a:off x="7835900" y="44196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4</a:t>
              </a:r>
            </a:p>
          </p:txBody>
        </p:sp>
        <p:sp>
          <p:nvSpPr>
            <p:cNvPr id="428108" name="Text Box 108"/>
            <p:cNvSpPr txBox="1">
              <a:spLocks noChangeArrowheads="1"/>
            </p:cNvSpPr>
            <p:nvPr/>
          </p:nvSpPr>
          <p:spPr bwMode="auto">
            <a:xfrm>
              <a:off x="8064500" y="44196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5</a:t>
              </a:r>
            </a:p>
          </p:txBody>
        </p:sp>
        <p:sp>
          <p:nvSpPr>
            <p:cNvPr id="428109" name="Text Box 109"/>
            <p:cNvSpPr txBox="1">
              <a:spLocks noChangeArrowheads="1"/>
            </p:cNvSpPr>
            <p:nvPr/>
          </p:nvSpPr>
          <p:spPr bwMode="auto">
            <a:xfrm>
              <a:off x="8293100" y="44196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6</a:t>
              </a:r>
            </a:p>
          </p:txBody>
        </p:sp>
        <p:sp>
          <p:nvSpPr>
            <p:cNvPr id="428110" name="Text Box 110"/>
            <p:cNvSpPr txBox="1">
              <a:spLocks noChangeArrowheads="1"/>
            </p:cNvSpPr>
            <p:nvPr/>
          </p:nvSpPr>
          <p:spPr bwMode="auto">
            <a:xfrm>
              <a:off x="8521700" y="44196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7</a:t>
              </a:r>
            </a:p>
          </p:txBody>
        </p:sp>
        <p:sp>
          <p:nvSpPr>
            <p:cNvPr id="428133" name="Text Box 135"/>
            <p:cNvSpPr txBox="1">
              <a:spLocks noChangeArrowheads="1"/>
            </p:cNvSpPr>
            <p:nvPr/>
          </p:nvSpPr>
          <p:spPr bwMode="auto">
            <a:xfrm>
              <a:off x="7013575" y="46482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dirty="0">
                  <a:solidFill>
                    <a:srgbClr val="595959"/>
                  </a:solidFill>
                </a:rPr>
                <a:t>0</a:t>
              </a:r>
            </a:p>
          </p:txBody>
        </p:sp>
        <p:sp>
          <p:nvSpPr>
            <p:cNvPr id="428134" name="Text Box 137"/>
            <p:cNvSpPr txBox="1">
              <a:spLocks noChangeArrowheads="1"/>
            </p:cNvSpPr>
            <p:nvPr/>
          </p:nvSpPr>
          <p:spPr bwMode="auto">
            <a:xfrm>
              <a:off x="7467600" y="4648200"/>
              <a:ext cx="274638"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dirty="0">
                  <a:solidFill>
                    <a:srgbClr val="595959"/>
                  </a:solidFill>
                </a:rPr>
                <a:t>1</a:t>
              </a:r>
            </a:p>
          </p:txBody>
        </p:sp>
        <p:sp>
          <p:nvSpPr>
            <p:cNvPr id="428135" name="Text Box 139"/>
            <p:cNvSpPr txBox="1">
              <a:spLocks noChangeArrowheads="1"/>
            </p:cNvSpPr>
            <p:nvPr/>
          </p:nvSpPr>
          <p:spPr bwMode="auto">
            <a:xfrm>
              <a:off x="7927975" y="46482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dirty="0">
                  <a:solidFill>
                    <a:schemeClr val="tx1">
                      <a:lumMod val="65000"/>
                      <a:lumOff val="35000"/>
                    </a:schemeClr>
                  </a:solidFill>
                </a:rPr>
                <a:t>2</a:t>
              </a:r>
            </a:p>
          </p:txBody>
        </p:sp>
        <p:sp>
          <p:nvSpPr>
            <p:cNvPr id="428136" name="Text Box 141"/>
            <p:cNvSpPr txBox="1">
              <a:spLocks noChangeArrowheads="1"/>
            </p:cNvSpPr>
            <p:nvPr/>
          </p:nvSpPr>
          <p:spPr bwMode="auto">
            <a:xfrm>
              <a:off x="8385175" y="4648200"/>
              <a:ext cx="2921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dirty="0">
                  <a:solidFill>
                    <a:schemeClr val="tx1">
                      <a:lumMod val="65000"/>
                      <a:lumOff val="35000"/>
                    </a:schemeClr>
                  </a:solidFill>
                </a:rPr>
                <a:t>3</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808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2809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2809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281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281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281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2810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281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281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2813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083" grpId="0"/>
      <p:bldP spid="428092" grpId="0"/>
      <p:bldP spid="428093" grpId="0"/>
      <p:bldP spid="428102" grpId="0"/>
      <p:bldP spid="428111" grpId="0"/>
      <p:bldP spid="428112" grpId="0"/>
      <p:bldP spid="428121" grpId="0"/>
      <p:bldP spid="428130" grpId="0"/>
      <p:bldP spid="428131" grpId="0"/>
      <p:bldP spid="42813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dirty="0"/>
              <a:t>CS/ECE 6810: Computer Architecture</a:t>
            </a:r>
            <a:endParaRPr lang="en-US" sz="1400" dirty="0">
              <a:latin typeface="Garamond" pitchFamily="-112" charset="0"/>
            </a:endParaRPr>
          </a:p>
        </p:txBody>
      </p:sp>
      <p:sp>
        <p:nvSpPr>
          <p:cNvPr id="5" name="Slide Number Placeholder 4"/>
          <p:cNvSpPr>
            <a:spLocks noGrp="1"/>
          </p:cNvSpPr>
          <p:nvPr>
            <p:ph type="sldNum" sz="quarter" idx="11"/>
          </p:nvPr>
        </p:nvSpPr>
        <p:spPr/>
        <p:txBody>
          <a:bodyPr/>
          <a:lstStyle/>
          <a:p>
            <a:pPr>
              <a:defRPr/>
            </a:pPr>
            <a:fld id="{ADED33D1-9E29-804F-8D20-081CEF97B9D7}" type="slidenum">
              <a:rPr lang="en-US"/>
              <a:pPr>
                <a:defRPr/>
              </a:pPr>
              <a:t>10</a:t>
            </a:fld>
            <a:endParaRPr lang="en-US">
              <a:latin typeface="Garamond" pitchFamily="-112" charset="0"/>
            </a:endParaRPr>
          </a:p>
        </p:txBody>
      </p:sp>
      <p:sp>
        <p:nvSpPr>
          <p:cNvPr id="430084" name="Rectangle 2"/>
          <p:cNvSpPr>
            <a:spLocks noGrp="1" noChangeArrowheads="1"/>
          </p:cNvSpPr>
          <p:nvPr>
            <p:ph type="title"/>
          </p:nvPr>
        </p:nvSpPr>
        <p:spPr/>
        <p:txBody>
          <a:bodyPr/>
          <a:lstStyle/>
          <a:p>
            <a:r>
              <a:rPr lang="en-US" sz="1800" dirty="0"/>
              <a:t>Summary of Cache Associativity</a:t>
            </a:r>
            <a:endParaRPr lang="en-US" sz="1600" dirty="0"/>
          </a:p>
        </p:txBody>
      </p:sp>
      <p:sp>
        <p:nvSpPr>
          <p:cNvPr id="430085" name="Rectangle 3"/>
          <p:cNvSpPr>
            <a:spLocks noGrp="1" noChangeArrowheads="1"/>
          </p:cNvSpPr>
          <p:nvPr>
            <p:ph type="body" idx="1"/>
          </p:nvPr>
        </p:nvSpPr>
        <p:spPr>
          <a:xfrm>
            <a:off x="457200" y="1143000"/>
            <a:ext cx="8234363" cy="5022304"/>
          </a:xfrm>
        </p:spPr>
        <p:txBody>
          <a:bodyPr/>
          <a:lstStyle/>
          <a:p>
            <a:r>
              <a:rPr lang="en-US" sz="2000" dirty="0"/>
              <a:t>Fully associative</a:t>
            </a:r>
          </a:p>
          <a:p>
            <a:pPr lvl="1"/>
            <a:r>
              <a:rPr lang="en-US" sz="1600" dirty="0"/>
              <a:t>The block from the lower level can go into any location in the cache</a:t>
            </a:r>
          </a:p>
          <a:p>
            <a:pPr lvl="1"/>
            <a:r>
              <a:rPr lang="en-US" sz="1600" dirty="0"/>
              <a:t>Most flexible approach </a:t>
            </a:r>
            <a:r>
              <a:rPr lang="en-US" sz="1600" dirty="0">
                <a:sym typeface="Symbol" pitchFamily="-112" charset="2"/>
              </a:rPr>
              <a:t> lowest miss rate</a:t>
            </a:r>
            <a:endParaRPr lang="en-US" sz="1600" dirty="0"/>
          </a:p>
          <a:p>
            <a:pPr lvl="1"/>
            <a:r>
              <a:rPr lang="en-US" sz="1600" dirty="0"/>
              <a:t>Must search the whole cache to find the block </a:t>
            </a:r>
            <a:br>
              <a:rPr lang="en-US" sz="1600" dirty="0"/>
            </a:br>
            <a:r>
              <a:rPr lang="en-US" sz="1600" dirty="0"/>
              <a:t>	</a:t>
            </a:r>
            <a:r>
              <a:rPr lang="en-US" sz="1600" dirty="0">
                <a:sym typeface="Symbol" pitchFamily="-112" charset="2"/>
              </a:rPr>
              <a:t> increased access time and high power consumption</a:t>
            </a:r>
          </a:p>
          <a:p>
            <a:pPr>
              <a:spcBef>
                <a:spcPts val="600"/>
              </a:spcBef>
            </a:pPr>
            <a:r>
              <a:rPr lang="en-US" sz="2000" dirty="0">
                <a:sym typeface="Symbol" pitchFamily="-112" charset="2"/>
              </a:rPr>
              <a:t>Direct mapped</a:t>
            </a:r>
          </a:p>
          <a:p>
            <a:pPr lvl="1"/>
            <a:r>
              <a:rPr lang="en-US" sz="1600" dirty="0">
                <a:sym typeface="Symbol" pitchFamily="-112" charset="2"/>
              </a:rPr>
              <a:t>The block from the lower level can only go into one location in the cache</a:t>
            </a:r>
          </a:p>
          <a:p>
            <a:pPr lvl="1"/>
            <a:r>
              <a:rPr lang="en-US" sz="1600" dirty="0">
                <a:sym typeface="Symbol" pitchFamily="-112" charset="2"/>
              </a:rPr>
              <a:t>Simplest approach to implement</a:t>
            </a:r>
          </a:p>
          <a:p>
            <a:pPr lvl="1"/>
            <a:r>
              <a:rPr lang="en-US" sz="1600" dirty="0">
                <a:sym typeface="Symbol" pitchFamily="-112" charset="2"/>
              </a:rPr>
              <a:t>Blocks mapping to the same location  increased miss rates</a:t>
            </a:r>
          </a:p>
          <a:p>
            <a:r>
              <a:rPr lang="en-US" sz="2000" dirty="0">
                <a:sym typeface="Symbol" pitchFamily="-112" charset="2"/>
              </a:rPr>
              <a:t>Set associative</a:t>
            </a:r>
          </a:p>
          <a:p>
            <a:pPr lvl="1"/>
            <a:r>
              <a:rPr lang="en-US" sz="1600" dirty="0">
                <a:sym typeface="Symbol" pitchFamily="-112" charset="2"/>
              </a:rPr>
              <a:t>Split the cache into groups of </a:t>
            </a:r>
            <a:r>
              <a:rPr lang="en-US" sz="1600" i="1" dirty="0">
                <a:sym typeface="Symbol" pitchFamily="-112" charset="2"/>
              </a:rPr>
              <a:t>m</a:t>
            </a:r>
            <a:r>
              <a:rPr lang="en-US" sz="1600" dirty="0">
                <a:sym typeface="Symbol" pitchFamily="-112" charset="2"/>
              </a:rPr>
              <a:t> blocks (</a:t>
            </a:r>
            <a:r>
              <a:rPr lang="en-US" sz="1600" b="1" dirty="0">
                <a:solidFill>
                  <a:srgbClr val="FF0000"/>
                </a:solidFill>
                <a:sym typeface="Symbol" pitchFamily="-112" charset="2"/>
              </a:rPr>
              <a:t>sets</a:t>
            </a:r>
            <a:r>
              <a:rPr lang="en-US" sz="1600" dirty="0">
                <a:sym typeface="Symbol" pitchFamily="-112" charset="2"/>
              </a:rPr>
              <a:t>)  </a:t>
            </a:r>
            <a:r>
              <a:rPr lang="en-US" sz="1600" u="sng" dirty="0">
                <a:sym typeface="Symbol" pitchFamily="-112" charset="2"/>
              </a:rPr>
              <a:t>m-way set-associative</a:t>
            </a:r>
          </a:p>
          <a:p>
            <a:pPr lvl="1"/>
            <a:r>
              <a:rPr lang="en-US" sz="1600" dirty="0">
                <a:sym typeface="Symbol" pitchFamily="-112" charset="2"/>
              </a:rPr>
              <a:t>The block from the lower level can only go into one set, but within that set it can go anywhere</a:t>
            </a:r>
          </a:p>
          <a:p>
            <a:pPr lvl="1"/>
            <a:r>
              <a:rPr lang="en-US" sz="1600" dirty="0">
                <a:sym typeface="Symbol" pitchFamily="-112" charset="2"/>
              </a:rPr>
              <a:t>What’s a good degree of associativity?</a:t>
            </a:r>
          </a:p>
          <a:p>
            <a:pPr lvl="2"/>
            <a:r>
              <a:rPr lang="en-US" sz="1500" dirty="0">
                <a:sym typeface="Symbol" pitchFamily="-112" charset="2"/>
              </a:rPr>
              <a:t>Higher level caches: 2- or 4-way common</a:t>
            </a:r>
          </a:p>
          <a:p>
            <a:pPr lvl="2"/>
            <a:r>
              <a:rPr lang="en-US" sz="1500" dirty="0">
                <a:sym typeface="Symbol" pitchFamily="-112" charset="2"/>
              </a:rPr>
              <a:t>Lower level caches: 8- to 32-way common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08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008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0085">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0085">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30085">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0085">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30085">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30085">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30085">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3008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3"/>
          <p:cNvSpPr>
            <a:spLocks noGrp="1"/>
          </p:cNvSpPr>
          <p:nvPr>
            <p:ph type="ftr" sz="quarter" idx="10"/>
          </p:nvPr>
        </p:nvSpPr>
        <p:spPr/>
        <p:txBody>
          <a:bodyPr/>
          <a:lstStyle/>
          <a:p>
            <a:pPr>
              <a:defRPr/>
            </a:pPr>
            <a:r>
              <a:rPr lang="en-US" dirty="0"/>
              <a:t>CS/ECE 6810: Computer Architecture</a:t>
            </a:r>
            <a:endParaRPr lang="en-US" sz="1400" dirty="0">
              <a:latin typeface="Garamond" pitchFamily="-112" charset="0"/>
            </a:endParaRPr>
          </a:p>
        </p:txBody>
      </p:sp>
      <p:sp>
        <p:nvSpPr>
          <p:cNvPr id="12" name="Slide Number Placeholder 4"/>
          <p:cNvSpPr>
            <a:spLocks noGrp="1"/>
          </p:cNvSpPr>
          <p:nvPr>
            <p:ph type="sldNum" sz="quarter" idx="11"/>
          </p:nvPr>
        </p:nvSpPr>
        <p:spPr/>
        <p:txBody>
          <a:bodyPr/>
          <a:lstStyle/>
          <a:p>
            <a:pPr>
              <a:defRPr/>
            </a:pPr>
            <a:fld id="{9A26FAD8-BF16-374C-A530-9EDCE83B9F27}" type="slidenum">
              <a:rPr lang="en-US"/>
              <a:pPr>
                <a:defRPr/>
              </a:pPr>
              <a:t>11</a:t>
            </a:fld>
            <a:endParaRPr lang="en-US">
              <a:latin typeface="Garamond" pitchFamily="-112" charset="0"/>
            </a:endParaRPr>
          </a:p>
        </p:txBody>
      </p:sp>
      <p:sp>
        <p:nvSpPr>
          <p:cNvPr id="432132" name="Rectangle 2"/>
          <p:cNvSpPr>
            <a:spLocks noGrp="1" noChangeArrowheads="1"/>
          </p:cNvSpPr>
          <p:nvPr>
            <p:ph type="title"/>
          </p:nvPr>
        </p:nvSpPr>
        <p:spPr/>
        <p:txBody>
          <a:bodyPr/>
          <a:lstStyle/>
          <a:p>
            <a:r>
              <a:rPr lang="en-US" sz="1800"/>
              <a:t>Cache Block Identification</a:t>
            </a:r>
            <a:endParaRPr lang="en-US" sz="1600"/>
          </a:p>
        </p:txBody>
      </p:sp>
      <p:sp>
        <p:nvSpPr>
          <p:cNvPr id="432133" name="Rectangle 3"/>
          <p:cNvSpPr>
            <a:spLocks noGrp="1" noChangeArrowheads="1"/>
          </p:cNvSpPr>
          <p:nvPr>
            <p:ph type="body" idx="1"/>
          </p:nvPr>
        </p:nvSpPr>
        <p:spPr>
          <a:xfrm>
            <a:off x="457200" y="1143000"/>
            <a:ext cx="8382000" cy="5022304"/>
          </a:xfrm>
        </p:spPr>
        <p:txBody>
          <a:bodyPr/>
          <a:lstStyle/>
          <a:p>
            <a:pPr>
              <a:lnSpc>
                <a:spcPct val="110000"/>
              </a:lnSpc>
            </a:pPr>
            <a:r>
              <a:rPr lang="en-US" sz="1800" dirty="0"/>
              <a:t>Every block is identified by a name or </a:t>
            </a:r>
            <a:r>
              <a:rPr lang="en-US" sz="1800" u="sng" dirty="0">
                <a:solidFill>
                  <a:srgbClr val="FF0000"/>
                </a:solidFill>
              </a:rPr>
              <a:t>tag</a:t>
            </a:r>
            <a:r>
              <a:rPr lang="en-US" sz="1800" dirty="0"/>
              <a:t>, which is part of the memory address</a:t>
            </a:r>
          </a:p>
          <a:p>
            <a:pPr>
              <a:lnSpc>
                <a:spcPct val="110000"/>
              </a:lnSpc>
            </a:pPr>
            <a:r>
              <a:rPr lang="en-US" sz="1800" dirty="0"/>
              <a:t>Block tag is stored alongside the block data in the cache</a:t>
            </a:r>
          </a:p>
          <a:p>
            <a:pPr>
              <a:lnSpc>
                <a:spcPct val="110000"/>
              </a:lnSpc>
            </a:pPr>
            <a:r>
              <a:rPr lang="en-US" sz="1800" dirty="0"/>
              <a:t>Block tags in the cache are compared with the tag of the requested block </a:t>
            </a:r>
            <a:r>
              <a:rPr lang="en-US" sz="1800" dirty="0">
                <a:sym typeface="Symbol" pitchFamily="-112" charset="2"/>
              </a:rPr>
              <a:t> often in parallel for set-associative caches, for speed</a:t>
            </a:r>
          </a:p>
          <a:p>
            <a:pPr>
              <a:lnSpc>
                <a:spcPct val="110000"/>
              </a:lnSpc>
            </a:pPr>
            <a:r>
              <a:rPr lang="en-US" sz="1800" dirty="0">
                <a:sym typeface="Symbol" pitchFamily="-112" charset="2"/>
              </a:rPr>
              <a:t>Block tag usually comprises the high-order bits of the memory address</a:t>
            </a:r>
          </a:p>
          <a:p>
            <a:pPr>
              <a:lnSpc>
                <a:spcPct val="110000"/>
              </a:lnSpc>
            </a:pPr>
            <a:endParaRPr lang="en-US" sz="1800" dirty="0">
              <a:sym typeface="Symbol" pitchFamily="-112" charset="2"/>
            </a:endParaRPr>
          </a:p>
          <a:p>
            <a:pPr>
              <a:lnSpc>
                <a:spcPct val="110000"/>
              </a:lnSpc>
            </a:pPr>
            <a:endParaRPr lang="en-US" sz="1800" dirty="0">
              <a:sym typeface="Symbol" pitchFamily="-112" charset="2"/>
            </a:endParaRPr>
          </a:p>
          <a:p>
            <a:pPr>
              <a:lnSpc>
                <a:spcPct val="110000"/>
              </a:lnSpc>
            </a:pPr>
            <a:endParaRPr lang="en-US" sz="1800" dirty="0">
              <a:sym typeface="Symbol" pitchFamily="-112" charset="2"/>
            </a:endParaRPr>
          </a:p>
          <a:p>
            <a:pPr lvl="1">
              <a:lnSpc>
                <a:spcPct val="90000"/>
              </a:lnSpc>
            </a:pPr>
            <a:endParaRPr lang="en-US" sz="1600" dirty="0">
              <a:sym typeface="Symbol" pitchFamily="-112" charset="2"/>
            </a:endParaRPr>
          </a:p>
          <a:p>
            <a:pPr lvl="1">
              <a:lnSpc>
                <a:spcPct val="90000"/>
              </a:lnSpc>
            </a:pPr>
            <a:r>
              <a:rPr lang="en-US" sz="1600" dirty="0">
                <a:sym typeface="Symbol" pitchFamily="-112" charset="2"/>
              </a:rPr>
              <a:t>Data address: the address of the byte being referenced  32 bits for MIPS</a:t>
            </a:r>
          </a:p>
          <a:p>
            <a:pPr lvl="1">
              <a:lnSpc>
                <a:spcPct val="90000"/>
              </a:lnSpc>
            </a:pPr>
            <a:r>
              <a:rPr lang="en-US" sz="1600" dirty="0">
                <a:sym typeface="Symbol" pitchFamily="-112" charset="2"/>
              </a:rPr>
              <a:t>Offset: the byte within the block; e.g., 6 bits for a 64B block</a:t>
            </a:r>
          </a:p>
          <a:p>
            <a:pPr lvl="1">
              <a:lnSpc>
                <a:spcPct val="90000"/>
              </a:lnSpc>
            </a:pPr>
            <a:r>
              <a:rPr lang="en-US" sz="1600" dirty="0">
                <a:sym typeface="Symbol" pitchFamily="-112" charset="2"/>
              </a:rPr>
              <a:t>Index: the set where the block can be found; e.g., 8 bits for a 4-way 64KB cache</a:t>
            </a:r>
          </a:p>
          <a:p>
            <a:pPr lvl="1">
              <a:lnSpc>
                <a:spcPct val="90000"/>
              </a:lnSpc>
            </a:pPr>
            <a:r>
              <a:rPr lang="en-US" sz="1600" dirty="0">
                <a:sym typeface="Symbol" pitchFamily="-112" charset="2"/>
              </a:rPr>
              <a:t>Tag: the “ID” of the block; e.g., 32-8-6=18 bits</a:t>
            </a:r>
          </a:p>
        </p:txBody>
      </p:sp>
      <p:sp>
        <p:nvSpPr>
          <p:cNvPr id="432134" name="Text Box 5"/>
          <p:cNvSpPr txBox="1">
            <a:spLocks noChangeArrowheads="1"/>
          </p:cNvSpPr>
          <p:nvPr/>
        </p:nvSpPr>
        <p:spPr bwMode="auto">
          <a:xfrm>
            <a:off x="612775" y="3886200"/>
            <a:ext cx="227965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Full memory address:</a:t>
            </a:r>
          </a:p>
        </p:txBody>
      </p:sp>
      <p:sp>
        <p:nvSpPr>
          <p:cNvPr id="432135" name="Rectangle 6"/>
          <p:cNvSpPr>
            <a:spLocks noChangeArrowheads="1"/>
          </p:cNvSpPr>
          <p:nvPr/>
        </p:nvSpPr>
        <p:spPr bwMode="auto">
          <a:xfrm>
            <a:off x="3048000" y="3886200"/>
            <a:ext cx="5029200" cy="3810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32136" name="Text Box 9"/>
          <p:cNvSpPr txBox="1">
            <a:spLocks noChangeArrowheads="1"/>
          </p:cNvSpPr>
          <p:nvPr/>
        </p:nvSpPr>
        <p:spPr bwMode="auto">
          <a:xfrm>
            <a:off x="6707188" y="3886200"/>
            <a:ext cx="1335087"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Block offset</a:t>
            </a:r>
          </a:p>
        </p:txBody>
      </p:sp>
      <p:sp>
        <p:nvSpPr>
          <p:cNvPr id="432137" name="Text Box 18"/>
          <p:cNvSpPr txBox="1">
            <a:spLocks noChangeArrowheads="1"/>
          </p:cNvSpPr>
          <p:nvPr/>
        </p:nvSpPr>
        <p:spPr bwMode="auto">
          <a:xfrm>
            <a:off x="5792788" y="3886200"/>
            <a:ext cx="749300"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Index</a:t>
            </a:r>
          </a:p>
        </p:txBody>
      </p:sp>
      <p:sp>
        <p:nvSpPr>
          <p:cNvPr id="432138" name="Line 23"/>
          <p:cNvSpPr>
            <a:spLocks noChangeShapeType="1"/>
          </p:cNvSpPr>
          <p:nvPr/>
        </p:nvSpPr>
        <p:spPr bwMode="auto">
          <a:xfrm>
            <a:off x="6629400" y="3886200"/>
            <a:ext cx="0" cy="381000"/>
          </a:xfrm>
          <a:prstGeom prst="line">
            <a:avLst/>
          </a:prstGeom>
          <a:noFill/>
          <a:ln w="12700">
            <a:solidFill>
              <a:schemeClr val="tx1"/>
            </a:solidFill>
            <a:round/>
            <a:headEnd type="none" w="sm" len="sm"/>
            <a:tailEnd type="none" w="sm" len="sm"/>
          </a:ln>
        </p:spPr>
        <p:txBody>
          <a:bodyPr>
            <a:prstTxWarp prst="textNoShape">
              <a:avLst/>
            </a:prstTxWarp>
          </a:bodyPr>
          <a:lstStyle/>
          <a:p>
            <a:endParaRPr lang="en-US"/>
          </a:p>
        </p:txBody>
      </p:sp>
      <p:sp>
        <p:nvSpPr>
          <p:cNvPr id="432139" name="Line 24"/>
          <p:cNvSpPr>
            <a:spLocks noChangeShapeType="1"/>
          </p:cNvSpPr>
          <p:nvPr/>
        </p:nvSpPr>
        <p:spPr bwMode="auto">
          <a:xfrm>
            <a:off x="5715000" y="3886200"/>
            <a:ext cx="0" cy="381000"/>
          </a:xfrm>
          <a:prstGeom prst="line">
            <a:avLst/>
          </a:prstGeom>
          <a:noFill/>
          <a:ln w="12700">
            <a:solidFill>
              <a:schemeClr val="tx1"/>
            </a:solidFill>
            <a:round/>
            <a:headEnd type="none" w="sm" len="sm"/>
            <a:tailEnd type="none" w="sm" len="sm"/>
          </a:ln>
        </p:spPr>
        <p:txBody>
          <a:bodyPr>
            <a:prstTxWarp prst="textNoShape">
              <a:avLst/>
            </a:prstTxWarp>
          </a:bodyPr>
          <a:lstStyle/>
          <a:p>
            <a:endParaRPr lang="en-US"/>
          </a:p>
        </p:txBody>
      </p:sp>
      <p:sp>
        <p:nvSpPr>
          <p:cNvPr id="432140" name="Text Box 25"/>
          <p:cNvSpPr txBox="1">
            <a:spLocks noChangeArrowheads="1"/>
          </p:cNvSpPr>
          <p:nvPr/>
        </p:nvSpPr>
        <p:spPr bwMode="auto">
          <a:xfrm>
            <a:off x="4203700" y="3886200"/>
            <a:ext cx="574675" cy="366713"/>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Tag</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3"/>
          <p:cNvSpPr>
            <a:spLocks noGrp="1"/>
          </p:cNvSpPr>
          <p:nvPr>
            <p:ph type="ftr" sz="quarter" idx="10"/>
          </p:nvPr>
        </p:nvSpPr>
        <p:spPr/>
        <p:txBody>
          <a:bodyPr/>
          <a:lstStyle/>
          <a:p>
            <a:pPr>
              <a:defRPr/>
            </a:pPr>
            <a:r>
              <a:rPr lang="en-US" dirty="0"/>
              <a:t>CS/ECE 6810: Computer Architecture</a:t>
            </a:r>
            <a:endParaRPr lang="en-US" sz="1400" dirty="0">
              <a:latin typeface="Garamond" pitchFamily="-112" charset="0"/>
            </a:endParaRPr>
          </a:p>
        </p:txBody>
      </p:sp>
      <p:sp>
        <p:nvSpPr>
          <p:cNvPr id="15" name="Slide Number Placeholder 4"/>
          <p:cNvSpPr>
            <a:spLocks noGrp="1"/>
          </p:cNvSpPr>
          <p:nvPr>
            <p:ph type="sldNum" sz="quarter" idx="11"/>
          </p:nvPr>
        </p:nvSpPr>
        <p:spPr/>
        <p:txBody>
          <a:bodyPr/>
          <a:lstStyle/>
          <a:p>
            <a:pPr>
              <a:defRPr/>
            </a:pPr>
            <a:fld id="{0829A8D6-94A4-FD42-AF8C-F5B14F989C18}" type="slidenum">
              <a:rPr lang="en-US"/>
              <a:pPr>
                <a:defRPr/>
              </a:pPr>
              <a:t>12</a:t>
            </a:fld>
            <a:endParaRPr lang="en-US">
              <a:latin typeface="Garamond" pitchFamily="-112" charset="0"/>
            </a:endParaRPr>
          </a:p>
        </p:txBody>
      </p:sp>
      <p:sp>
        <p:nvSpPr>
          <p:cNvPr id="473092" name="Rectangle 2"/>
          <p:cNvSpPr>
            <a:spLocks noGrp="1" noChangeArrowheads="1"/>
          </p:cNvSpPr>
          <p:nvPr>
            <p:ph type="title"/>
          </p:nvPr>
        </p:nvSpPr>
        <p:spPr>
          <a:noFill/>
        </p:spPr>
        <p:txBody>
          <a:bodyPr/>
          <a:lstStyle/>
          <a:p>
            <a:r>
              <a:rPr lang="en-US" sz="2000" dirty="0"/>
              <a:t>Address Mapping Example</a:t>
            </a:r>
          </a:p>
        </p:txBody>
      </p:sp>
      <p:sp>
        <p:nvSpPr>
          <p:cNvPr id="473093" name="Rectangle 3"/>
          <p:cNvSpPr>
            <a:spLocks noGrp="1" noChangeArrowheads="1"/>
          </p:cNvSpPr>
          <p:nvPr>
            <p:ph type="body" idx="1"/>
          </p:nvPr>
        </p:nvSpPr>
        <p:spPr>
          <a:xfrm>
            <a:off x="457200" y="1143000"/>
            <a:ext cx="8382000" cy="5334000"/>
          </a:xfrm>
        </p:spPr>
        <p:txBody>
          <a:bodyPr/>
          <a:lstStyle/>
          <a:p>
            <a:r>
              <a:rPr lang="en-US" sz="1800" dirty="0"/>
              <a:t>Cache: 32 </a:t>
            </a:r>
            <a:r>
              <a:rPr lang="en-US" sz="1800" dirty="0" err="1"/>
              <a:t>KBytes</a:t>
            </a:r>
            <a:r>
              <a:rPr lang="en-US" sz="1800" dirty="0"/>
              <a:t>, 2-way, 64 byte lines</a:t>
            </a:r>
          </a:p>
          <a:p>
            <a:r>
              <a:rPr lang="en-US" sz="1800" dirty="0"/>
              <a:t>Address: 32 bits</a:t>
            </a:r>
          </a:p>
          <a:p>
            <a:endParaRPr lang="en-US" sz="1800" dirty="0"/>
          </a:p>
          <a:p>
            <a:r>
              <a:rPr lang="en-US" sz="1800" dirty="0"/>
              <a:t>Example: 0x000249F0 =   </a:t>
            </a:r>
            <a:r>
              <a:rPr lang="en-US" sz="1400" dirty="0">
                <a:solidFill>
                  <a:srgbClr val="0000FF"/>
                </a:solidFill>
              </a:rPr>
              <a:t>(0000 0000 0000 0010 0100 1001 1111 0000)</a:t>
            </a:r>
            <a:r>
              <a:rPr lang="en-US" sz="1400" baseline="-25000" dirty="0">
                <a:solidFill>
                  <a:srgbClr val="0000FF"/>
                </a:solidFill>
              </a:rPr>
              <a:t>2</a:t>
            </a:r>
            <a:endParaRPr lang="en-US" sz="1600" baseline="-25000" dirty="0">
              <a:solidFill>
                <a:srgbClr val="0000FF"/>
              </a:solidFill>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ooter Placeholder 3"/>
          <p:cNvSpPr>
            <a:spLocks noGrp="1"/>
          </p:cNvSpPr>
          <p:nvPr>
            <p:ph type="ftr" sz="quarter" idx="10"/>
          </p:nvPr>
        </p:nvSpPr>
        <p:spPr/>
        <p:txBody>
          <a:bodyPr/>
          <a:lstStyle/>
          <a:p>
            <a:pPr>
              <a:defRPr/>
            </a:pPr>
            <a:r>
              <a:rPr lang="en-US" dirty="0"/>
              <a:t>CS/ECE 6810: Computer Architecture</a:t>
            </a:r>
            <a:endParaRPr lang="en-US" sz="1400" dirty="0">
              <a:latin typeface="Garamond" pitchFamily="-112" charset="0"/>
            </a:endParaRPr>
          </a:p>
        </p:txBody>
      </p:sp>
      <p:sp>
        <p:nvSpPr>
          <p:cNvPr id="15" name="Slide Number Placeholder 4"/>
          <p:cNvSpPr>
            <a:spLocks noGrp="1"/>
          </p:cNvSpPr>
          <p:nvPr>
            <p:ph type="sldNum" sz="quarter" idx="11"/>
          </p:nvPr>
        </p:nvSpPr>
        <p:spPr/>
        <p:txBody>
          <a:bodyPr/>
          <a:lstStyle/>
          <a:p>
            <a:pPr>
              <a:defRPr/>
            </a:pPr>
            <a:fld id="{0829A8D6-94A4-FD42-AF8C-F5B14F989C18}" type="slidenum">
              <a:rPr lang="en-US"/>
              <a:pPr>
                <a:defRPr/>
              </a:pPr>
              <a:t>13</a:t>
            </a:fld>
            <a:endParaRPr lang="en-US">
              <a:latin typeface="Garamond" pitchFamily="-112" charset="0"/>
            </a:endParaRPr>
          </a:p>
        </p:txBody>
      </p:sp>
      <p:sp>
        <p:nvSpPr>
          <p:cNvPr id="473092" name="Rectangle 2"/>
          <p:cNvSpPr>
            <a:spLocks noGrp="1" noChangeArrowheads="1"/>
          </p:cNvSpPr>
          <p:nvPr>
            <p:ph type="title"/>
          </p:nvPr>
        </p:nvSpPr>
        <p:spPr>
          <a:noFill/>
        </p:spPr>
        <p:txBody>
          <a:bodyPr/>
          <a:lstStyle/>
          <a:p>
            <a:r>
              <a:rPr lang="en-US" sz="2000" dirty="0"/>
              <a:t>Address Mapping Example</a:t>
            </a:r>
          </a:p>
        </p:txBody>
      </p:sp>
      <p:sp>
        <p:nvSpPr>
          <p:cNvPr id="473093" name="Rectangle 3"/>
          <p:cNvSpPr>
            <a:spLocks noGrp="1" noChangeArrowheads="1"/>
          </p:cNvSpPr>
          <p:nvPr>
            <p:ph type="body" idx="1"/>
          </p:nvPr>
        </p:nvSpPr>
        <p:spPr>
          <a:xfrm>
            <a:off x="457200" y="1143000"/>
            <a:ext cx="8382000" cy="5334000"/>
          </a:xfrm>
        </p:spPr>
        <p:txBody>
          <a:bodyPr/>
          <a:lstStyle/>
          <a:p>
            <a:r>
              <a:rPr lang="en-US" sz="1800" dirty="0"/>
              <a:t>Cache: 32 </a:t>
            </a:r>
            <a:r>
              <a:rPr lang="en-US" sz="1800" dirty="0" err="1"/>
              <a:t>KBytes</a:t>
            </a:r>
            <a:r>
              <a:rPr lang="en-US" sz="1800" dirty="0"/>
              <a:t>, 2-way, 64 byte lines</a:t>
            </a:r>
          </a:p>
          <a:p>
            <a:r>
              <a:rPr lang="en-US" sz="1800" dirty="0"/>
              <a:t>Address: 32 bits</a:t>
            </a:r>
          </a:p>
          <a:p>
            <a:endParaRPr lang="en-US" sz="1800" dirty="0"/>
          </a:p>
          <a:p>
            <a:r>
              <a:rPr lang="en-US" sz="1800" dirty="0"/>
              <a:t>Example: 0x000249F0 =   </a:t>
            </a:r>
            <a:r>
              <a:rPr lang="en-US" sz="1400" dirty="0">
                <a:solidFill>
                  <a:srgbClr val="0000FF"/>
                </a:solidFill>
              </a:rPr>
              <a:t>(0000 0000 0000 0010 0100 1001 1111 0000)</a:t>
            </a:r>
            <a:r>
              <a:rPr lang="en-US" sz="1400" baseline="-25000" dirty="0">
                <a:solidFill>
                  <a:srgbClr val="0000FF"/>
                </a:solidFill>
              </a:rPr>
              <a:t>2</a:t>
            </a:r>
            <a:endParaRPr lang="en-US" sz="1600" baseline="-25000" dirty="0">
              <a:solidFill>
                <a:srgbClr val="0000FF"/>
              </a:solidFill>
            </a:endParaRPr>
          </a:p>
          <a:p>
            <a:pPr lvl="1"/>
            <a:r>
              <a:rPr lang="en-US" sz="1600" dirty="0"/>
              <a:t>Byte offset</a:t>
            </a:r>
          </a:p>
          <a:p>
            <a:pPr lvl="1">
              <a:buFontTx/>
              <a:buNone/>
            </a:pPr>
            <a:r>
              <a:rPr lang="en-US" sz="1600" dirty="0"/>
              <a:t>     </a:t>
            </a:r>
            <a:r>
              <a:rPr lang="en-US" sz="1600" dirty="0">
                <a:solidFill>
                  <a:srgbClr val="0000FF"/>
                </a:solidFill>
              </a:rPr>
              <a:t>64 bytes </a:t>
            </a:r>
            <a:r>
              <a:rPr lang="en-US" sz="1600" dirty="0" err="1">
                <a:solidFill>
                  <a:srgbClr val="0000FF"/>
                </a:solidFill>
                <a:sym typeface="Symbol" pitchFamily="-112" charset="2"/>
              </a:rPr>
              <a:t></a:t>
            </a:r>
            <a:r>
              <a:rPr lang="en-US" sz="1600" dirty="0">
                <a:solidFill>
                  <a:srgbClr val="0000FF"/>
                </a:solidFill>
                <a:sym typeface="Symbol" pitchFamily="-112" charset="2"/>
              </a:rPr>
              <a:t> 6 bits </a:t>
            </a:r>
            <a:r>
              <a:rPr lang="en-US" sz="1600" dirty="0" err="1">
                <a:solidFill>
                  <a:srgbClr val="0000FF"/>
                </a:solidFill>
                <a:sym typeface="Symbol" pitchFamily="-112" charset="2"/>
              </a:rPr>
              <a:t></a:t>
            </a:r>
            <a:r>
              <a:rPr lang="en-US" sz="1600" dirty="0">
                <a:solidFill>
                  <a:srgbClr val="0000FF"/>
                </a:solidFill>
                <a:sym typeface="Symbol" pitchFamily="-112" charset="2"/>
              </a:rPr>
              <a:t> 11 0000</a:t>
            </a:r>
          </a:p>
          <a:p>
            <a:pPr lvl="1"/>
            <a:endParaRPr lang="en-US" sz="1600" dirty="0"/>
          </a:p>
          <a:p>
            <a:pPr lvl="1"/>
            <a:r>
              <a:rPr lang="en-US" sz="1600" dirty="0"/>
              <a:t>Index: 32K/64 = 512 lines in the cache</a:t>
            </a:r>
          </a:p>
          <a:p>
            <a:pPr lvl="1">
              <a:buFontTx/>
              <a:buNone/>
            </a:pPr>
            <a:r>
              <a:rPr lang="en-US" sz="1600" dirty="0"/>
              <a:t>               512/2  = 256 sets in the cache</a:t>
            </a:r>
          </a:p>
          <a:p>
            <a:pPr lvl="1">
              <a:buFontTx/>
              <a:buNone/>
            </a:pPr>
            <a:r>
              <a:rPr lang="en-US" sz="1600" dirty="0">
                <a:solidFill>
                  <a:srgbClr val="0000FF"/>
                </a:solidFill>
              </a:rPr>
              <a:t>     256 sets </a:t>
            </a:r>
            <a:r>
              <a:rPr lang="en-US" sz="1600" dirty="0">
                <a:solidFill>
                  <a:srgbClr val="0000FF"/>
                </a:solidFill>
                <a:sym typeface="Symbol" pitchFamily="-112" charset="2"/>
              </a:rPr>
              <a:t> 8 bits  00 1001 11 = 39</a:t>
            </a:r>
          </a:p>
          <a:p>
            <a:pPr lvl="1">
              <a:buFontTx/>
              <a:buNone/>
            </a:pPr>
            <a:endParaRPr lang="en-US" sz="1600" dirty="0">
              <a:solidFill>
                <a:srgbClr val="0000FF"/>
              </a:solidFill>
              <a:sym typeface="Symbol" pitchFamily="-112" charset="2"/>
            </a:endParaRPr>
          </a:p>
          <a:p>
            <a:pPr lvl="1"/>
            <a:r>
              <a:rPr lang="en-US" sz="1600" dirty="0"/>
              <a:t>Tag:</a:t>
            </a:r>
          </a:p>
          <a:p>
            <a:pPr lvl="1">
              <a:buFontTx/>
              <a:buNone/>
            </a:pPr>
            <a:r>
              <a:rPr lang="en-US" sz="1600" dirty="0">
                <a:solidFill>
                  <a:srgbClr val="0000FF"/>
                </a:solidFill>
              </a:rPr>
              <a:t>     0000 0000 0000 0010 01</a:t>
            </a:r>
          </a:p>
        </p:txBody>
      </p:sp>
      <p:grpSp>
        <p:nvGrpSpPr>
          <p:cNvPr id="2" name="Group 25"/>
          <p:cNvGrpSpPr>
            <a:grpSpLocks/>
          </p:cNvGrpSpPr>
          <p:nvPr/>
        </p:nvGrpSpPr>
        <p:grpSpPr bwMode="auto">
          <a:xfrm>
            <a:off x="7380237" y="2681287"/>
            <a:ext cx="792163" cy="442913"/>
            <a:chOff x="4560" y="1536"/>
            <a:chExt cx="499" cy="279"/>
          </a:xfrm>
        </p:grpSpPr>
        <p:sp>
          <p:nvSpPr>
            <p:cNvPr id="473102" name="AutoShape 19"/>
            <p:cNvSpPr>
              <a:spLocks/>
            </p:cNvSpPr>
            <p:nvPr/>
          </p:nvSpPr>
          <p:spPr bwMode="auto">
            <a:xfrm rot="-5400000">
              <a:off x="4752" y="1344"/>
              <a:ext cx="96" cy="480"/>
            </a:xfrm>
            <a:prstGeom prst="leftBrace">
              <a:avLst>
                <a:gd name="adj1" fmla="val 41667"/>
                <a:gd name="adj2" fmla="val 50000"/>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73103" name="Text Box 20"/>
            <p:cNvSpPr txBox="1">
              <a:spLocks noChangeArrowheads="1"/>
            </p:cNvSpPr>
            <p:nvPr/>
          </p:nvSpPr>
          <p:spPr bwMode="auto">
            <a:xfrm>
              <a:off x="4608" y="1584"/>
              <a:ext cx="451" cy="231"/>
            </a:xfrm>
            <a:prstGeom prst="rect">
              <a:avLst/>
            </a:prstGeom>
            <a:noFill/>
            <a:ln w="12700">
              <a:noFill/>
              <a:miter lim="800000"/>
              <a:headEnd type="none" w="sm" len="sm"/>
              <a:tailEnd type="none" w="sm" len="sm"/>
            </a:ln>
          </p:spPr>
          <p:txBody>
            <a:bodyPr wrap="none">
              <a:prstTxWarp prst="textNoShape">
                <a:avLst/>
              </a:prstTxWarp>
              <a:spAutoFit/>
            </a:bodyPr>
            <a:lstStyle/>
            <a:p>
              <a:r>
                <a:rPr lang="en-US" sz="1800"/>
                <a:t>offset</a:t>
              </a:r>
            </a:p>
          </p:txBody>
        </p:sp>
      </p:grpSp>
      <p:grpSp>
        <p:nvGrpSpPr>
          <p:cNvPr id="3" name="Group 26"/>
          <p:cNvGrpSpPr>
            <a:grpSpLocks/>
          </p:cNvGrpSpPr>
          <p:nvPr/>
        </p:nvGrpSpPr>
        <p:grpSpPr bwMode="auto">
          <a:xfrm>
            <a:off x="6313437" y="2681287"/>
            <a:ext cx="1066800" cy="442913"/>
            <a:chOff x="3888" y="1536"/>
            <a:chExt cx="672" cy="279"/>
          </a:xfrm>
        </p:grpSpPr>
        <p:sp>
          <p:nvSpPr>
            <p:cNvPr id="473100" name="AutoShape 21"/>
            <p:cNvSpPr>
              <a:spLocks/>
            </p:cNvSpPr>
            <p:nvPr/>
          </p:nvSpPr>
          <p:spPr bwMode="auto">
            <a:xfrm rot="-5400000">
              <a:off x="4176" y="1248"/>
              <a:ext cx="96" cy="672"/>
            </a:xfrm>
            <a:prstGeom prst="leftBrace">
              <a:avLst>
                <a:gd name="adj1" fmla="val 58333"/>
                <a:gd name="adj2" fmla="val 50000"/>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73101" name="Text Box 22"/>
            <p:cNvSpPr txBox="1">
              <a:spLocks noChangeArrowheads="1"/>
            </p:cNvSpPr>
            <p:nvPr/>
          </p:nvSpPr>
          <p:spPr bwMode="auto">
            <a:xfrm>
              <a:off x="3984" y="1584"/>
              <a:ext cx="455" cy="231"/>
            </a:xfrm>
            <a:prstGeom prst="rect">
              <a:avLst/>
            </a:prstGeom>
            <a:noFill/>
            <a:ln w="12700">
              <a:noFill/>
              <a:miter lim="800000"/>
              <a:headEnd type="none" w="sm" len="sm"/>
              <a:tailEnd type="none" w="sm" len="sm"/>
            </a:ln>
          </p:spPr>
          <p:txBody>
            <a:bodyPr wrap="none">
              <a:prstTxWarp prst="textNoShape">
                <a:avLst/>
              </a:prstTxWarp>
              <a:spAutoFit/>
            </a:bodyPr>
            <a:lstStyle/>
            <a:p>
              <a:r>
                <a:rPr lang="en-US" sz="1800"/>
                <a:t>index</a:t>
              </a:r>
            </a:p>
          </p:txBody>
        </p:sp>
      </p:grpSp>
      <p:grpSp>
        <p:nvGrpSpPr>
          <p:cNvPr id="4" name="Group 27"/>
          <p:cNvGrpSpPr>
            <a:grpSpLocks/>
          </p:cNvGrpSpPr>
          <p:nvPr/>
        </p:nvGrpSpPr>
        <p:grpSpPr bwMode="auto">
          <a:xfrm>
            <a:off x="3951237" y="2681287"/>
            <a:ext cx="2362200" cy="442913"/>
            <a:chOff x="2400" y="1536"/>
            <a:chExt cx="1488" cy="279"/>
          </a:xfrm>
        </p:grpSpPr>
        <p:sp>
          <p:nvSpPr>
            <p:cNvPr id="473098" name="AutoShape 23"/>
            <p:cNvSpPr>
              <a:spLocks/>
            </p:cNvSpPr>
            <p:nvPr/>
          </p:nvSpPr>
          <p:spPr bwMode="auto">
            <a:xfrm rot="-5400000">
              <a:off x="3096" y="840"/>
              <a:ext cx="96" cy="1488"/>
            </a:xfrm>
            <a:prstGeom prst="leftBrace">
              <a:avLst>
                <a:gd name="adj1" fmla="val 129167"/>
                <a:gd name="adj2" fmla="val 50000"/>
              </a:avLst>
            </a:prstGeom>
            <a:no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73099" name="Text Box 24"/>
            <p:cNvSpPr txBox="1">
              <a:spLocks noChangeArrowheads="1"/>
            </p:cNvSpPr>
            <p:nvPr/>
          </p:nvSpPr>
          <p:spPr bwMode="auto">
            <a:xfrm>
              <a:off x="3072" y="1584"/>
              <a:ext cx="308" cy="231"/>
            </a:xfrm>
            <a:prstGeom prst="rect">
              <a:avLst/>
            </a:prstGeom>
            <a:noFill/>
            <a:ln w="12700">
              <a:noFill/>
              <a:miter lim="800000"/>
              <a:headEnd type="none" w="sm" len="sm"/>
              <a:tailEnd type="none" w="sm" len="sm"/>
            </a:ln>
          </p:spPr>
          <p:txBody>
            <a:bodyPr wrap="none">
              <a:prstTxWarp prst="textNoShape">
                <a:avLst/>
              </a:prstTxWarp>
              <a:spAutoFit/>
            </a:bodyPr>
            <a:lstStyle/>
            <a:p>
              <a:r>
                <a:rPr lang="en-US" sz="1800"/>
                <a:t>tag</a:t>
              </a:r>
            </a:p>
          </p:txBody>
        </p:sp>
      </p:grpSp>
    </p:spTree>
    <p:extLst>
      <p:ext uri="{BB962C8B-B14F-4D97-AF65-F5344CB8AC3E}">
        <p14:creationId xmlns:p14="http://schemas.microsoft.com/office/powerpoint/2010/main" val="62373409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309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309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7309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309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3093">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7309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7309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Footer Placeholder 3"/>
          <p:cNvSpPr>
            <a:spLocks noGrp="1"/>
          </p:cNvSpPr>
          <p:nvPr>
            <p:ph type="ftr" sz="quarter" idx="10"/>
          </p:nvPr>
        </p:nvSpPr>
        <p:spPr/>
        <p:txBody>
          <a:bodyPr/>
          <a:lstStyle/>
          <a:p>
            <a:pPr>
              <a:defRPr/>
            </a:pPr>
            <a:r>
              <a:rPr lang="en-US" dirty="0"/>
              <a:t>CS/ECE 6810: Computer Architecture</a:t>
            </a:r>
            <a:endParaRPr lang="en-US" sz="1400" dirty="0">
              <a:latin typeface="Garamond" pitchFamily="-112" charset="0"/>
            </a:endParaRPr>
          </a:p>
        </p:txBody>
      </p:sp>
      <p:sp>
        <p:nvSpPr>
          <p:cNvPr id="64" name="Slide Number Placeholder 4"/>
          <p:cNvSpPr>
            <a:spLocks noGrp="1"/>
          </p:cNvSpPr>
          <p:nvPr>
            <p:ph type="sldNum" sz="quarter" idx="11"/>
          </p:nvPr>
        </p:nvSpPr>
        <p:spPr/>
        <p:txBody>
          <a:bodyPr/>
          <a:lstStyle/>
          <a:p>
            <a:pPr>
              <a:defRPr/>
            </a:pPr>
            <a:fld id="{CB33A08B-0D67-0344-9281-B2264743BC36}" type="slidenum">
              <a:rPr lang="en-US"/>
              <a:pPr>
                <a:defRPr/>
              </a:pPr>
              <a:t>14</a:t>
            </a:fld>
            <a:endParaRPr lang="en-US">
              <a:latin typeface="Garamond" pitchFamily="-112" charset="0"/>
            </a:endParaRPr>
          </a:p>
        </p:txBody>
      </p:sp>
      <p:sp>
        <p:nvSpPr>
          <p:cNvPr id="440324" name="Rectangle 2"/>
          <p:cNvSpPr>
            <a:spLocks noGrp="1" noChangeArrowheads="1"/>
          </p:cNvSpPr>
          <p:nvPr>
            <p:ph type="title"/>
          </p:nvPr>
        </p:nvSpPr>
        <p:spPr/>
        <p:txBody>
          <a:bodyPr/>
          <a:lstStyle/>
          <a:p>
            <a:r>
              <a:rPr lang="en-US" sz="1800"/>
              <a:t>Cache Organization: Direct mapped</a:t>
            </a:r>
            <a:endParaRPr lang="en-US" sz="1600"/>
          </a:p>
        </p:txBody>
      </p:sp>
      <p:sp>
        <p:nvSpPr>
          <p:cNvPr id="440325" name="Text Box 6"/>
          <p:cNvSpPr txBox="1">
            <a:spLocks noChangeArrowheads="1"/>
          </p:cNvSpPr>
          <p:nvPr/>
        </p:nvSpPr>
        <p:spPr bwMode="auto">
          <a:xfrm>
            <a:off x="1069975" y="5486400"/>
            <a:ext cx="2270125" cy="915988"/>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H&amp;P</a:t>
            </a:r>
          </a:p>
          <a:p>
            <a:pPr algn="ctr"/>
            <a:r>
              <a:rPr lang="en-GB" sz="1800"/>
              <a:t>(2e)</a:t>
            </a:r>
          </a:p>
          <a:p>
            <a:pPr algn="ctr"/>
            <a:r>
              <a:rPr lang="en-GB" sz="1800"/>
              <a:t>Fig. 5.5 (Alpha 21064)</a:t>
            </a:r>
          </a:p>
        </p:txBody>
      </p:sp>
      <p:sp>
        <p:nvSpPr>
          <p:cNvPr id="440326" name="Rectangle 15"/>
          <p:cNvSpPr>
            <a:spLocks noChangeArrowheads="1"/>
          </p:cNvSpPr>
          <p:nvPr/>
        </p:nvSpPr>
        <p:spPr bwMode="auto">
          <a:xfrm>
            <a:off x="3733800" y="3124200"/>
            <a:ext cx="8382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0327" name="Text Box 18"/>
          <p:cNvSpPr txBox="1">
            <a:spLocks noChangeArrowheads="1"/>
          </p:cNvSpPr>
          <p:nvPr/>
        </p:nvSpPr>
        <p:spPr bwMode="auto">
          <a:xfrm>
            <a:off x="3810000" y="2590800"/>
            <a:ext cx="630238" cy="581025"/>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tag</a:t>
            </a:r>
          </a:p>
          <a:p>
            <a:pPr algn="ctr"/>
            <a:r>
              <a:rPr lang="en-GB" sz="1600"/>
              <a:t>&lt;21&gt;</a:t>
            </a:r>
            <a:endParaRPr lang="en-GB" sz="1600">
              <a:solidFill>
                <a:srgbClr val="FF0000"/>
              </a:solidFill>
            </a:endParaRPr>
          </a:p>
        </p:txBody>
      </p:sp>
      <p:sp>
        <p:nvSpPr>
          <p:cNvPr id="440328" name="Line 23"/>
          <p:cNvSpPr>
            <a:spLocks noChangeShapeType="1"/>
          </p:cNvSpPr>
          <p:nvPr/>
        </p:nvSpPr>
        <p:spPr bwMode="auto">
          <a:xfrm flipH="1">
            <a:off x="1676400" y="3581400"/>
            <a:ext cx="1676400" cy="0"/>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sp>
        <p:nvSpPr>
          <p:cNvPr id="440329" name="Line 24"/>
          <p:cNvSpPr>
            <a:spLocks noChangeShapeType="1"/>
          </p:cNvSpPr>
          <p:nvPr/>
        </p:nvSpPr>
        <p:spPr bwMode="auto">
          <a:xfrm flipH="1">
            <a:off x="3505200" y="4876800"/>
            <a:ext cx="457200" cy="0"/>
          </a:xfrm>
          <a:prstGeom prst="line">
            <a:avLst/>
          </a:prstGeom>
          <a:noFill/>
          <a:ln w="12700">
            <a:solidFill>
              <a:schemeClr val="tx1"/>
            </a:solidFill>
            <a:round/>
            <a:headEnd/>
            <a:tailEnd type="none" w="sm" len="sm"/>
          </a:ln>
        </p:spPr>
        <p:txBody>
          <a:bodyPr>
            <a:prstTxWarp prst="textNoShape">
              <a:avLst/>
            </a:prstTxWarp>
          </a:bodyPr>
          <a:lstStyle/>
          <a:p>
            <a:endParaRPr lang="en-US"/>
          </a:p>
        </p:txBody>
      </p:sp>
      <p:sp>
        <p:nvSpPr>
          <p:cNvPr id="440330" name="Line 25"/>
          <p:cNvSpPr>
            <a:spLocks noChangeShapeType="1"/>
          </p:cNvSpPr>
          <p:nvPr/>
        </p:nvSpPr>
        <p:spPr bwMode="auto">
          <a:xfrm>
            <a:off x="2819400" y="1828800"/>
            <a:ext cx="4343400" cy="0"/>
          </a:xfrm>
          <a:prstGeom prst="line">
            <a:avLst/>
          </a:prstGeom>
          <a:noFill/>
          <a:ln w="12700">
            <a:solidFill>
              <a:schemeClr val="tx1"/>
            </a:solidFill>
            <a:round/>
            <a:headEnd type="triangle" w="med" len="med"/>
            <a:tailEnd/>
          </a:ln>
        </p:spPr>
        <p:txBody>
          <a:bodyPr>
            <a:prstTxWarp prst="textNoShape">
              <a:avLst/>
            </a:prstTxWarp>
          </a:bodyPr>
          <a:lstStyle/>
          <a:p>
            <a:endParaRPr lang="en-US"/>
          </a:p>
        </p:txBody>
      </p:sp>
      <p:sp>
        <p:nvSpPr>
          <p:cNvPr id="440331" name="Text Box 26"/>
          <p:cNvSpPr txBox="1">
            <a:spLocks noChangeArrowheads="1"/>
          </p:cNvSpPr>
          <p:nvPr/>
        </p:nvSpPr>
        <p:spPr bwMode="auto">
          <a:xfrm>
            <a:off x="3657600" y="3886200"/>
            <a:ext cx="438150" cy="396875"/>
          </a:xfrm>
          <a:prstGeom prst="rect">
            <a:avLst/>
          </a:prstGeom>
          <a:noFill/>
          <a:ln w="12700">
            <a:noFill/>
            <a:miter lim="800000"/>
            <a:headEnd type="none" w="sm" len="sm"/>
            <a:tailEnd type="none" w="sm" len="sm"/>
          </a:ln>
        </p:spPr>
        <p:txBody>
          <a:bodyPr wrap="none">
            <a:prstTxWarp prst="textNoShape">
              <a:avLst/>
            </a:prstTxWarp>
            <a:spAutoFit/>
          </a:bodyPr>
          <a:lstStyle/>
          <a:p>
            <a:r>
              <a:rPr lang="en-GB" sz="2000"/>
              <a:t>…</a:t>
            </a:r>
            <a:endParaRPr lang="en-GB" sz="2000">
              <a:solidFill>
                <a:srgbClr val="FF0000"/>
              </a:solidFill>
            </a:endParaRPr>
          </a:p>
        </p:txBody>
      </p:sp>
      <p:sp>
        <p:nvSpPr>
          <p:cNvPr id="440332" name="Line 27"/>
          <p:cNvSpPr>
            <a:spLocks noChangeShapeType="1"/>
          </p:cNvSpPr>
          <p:nvPr/>
        </p:nvSpPr>
        <p:spPr bwMode="auto">
          <a:xfrm flipV="1">
            <a:off x="1676400" y="2362200"/>
            <a:ext cx="0" cy="1219200"/>
          </a:xfrm>
          <a:prstGeom prst="line">
            <a:avLst/>
          </a:prstGeom>
          <a:noFill/>
          <a:ln w="12700">
            <a:solidFill>
              <a:schemeClr val="tx1"/>
            </a:solidFill>
            <a:round/>
            <a:headEnd type="none" w="sm" len="sm"/>
            <a:tailEnd type="none" w="sm" len="sm"/>
          </a:ln>
        </p:spPr>
        <p:txBody>
          <a:bodyPr>
            <a:prstTxWarp prst="textNoShape">
              <a:avLst/>
            </a:prstTxWarp>
          </a:bodyPr>
          <a:lstStyle/>
          <a:p>
            <a:endParaRPr lang="en-US"/>
          </a:p>
        </p:txBody>
      </p:sp>
      <p:sp>
        <p:nvSpPr>
          <p:cNvPr id="440333" name="Line 30"/>
          <p:cNvSpPr>
            <a:spLocks noChangeShapeType="1"/>
          </p:cNvSpPr>
          <p:nvPr/>
        </p:nvSpPr>
        <p:spPr bwMode="auto">
          <a:xfrm flipV="1">
            <a:off x="6553200" y="2514600"/>
            <a:ext cx="0" cy="1066800"/>
          </a:xfrm>
          <a:prstGeom prst="line">
            <a:avLst/>
          </a:prstGeom>
          <a:noFill/>
          <a:ln w="12700">
            <a:solidFill>
              <a:schemeClr val="tx1"/>
            </a:solidFill>
            <a:round/>
            <a:headEnd type="none" w="sm" len="sm"/>
            <a:tailEnd type="none" w="sm" len="sm"/>
          </a:ln>
        </p:spPr>
        <p:txBody>
          <a:bodyPr>
            <a:prstTxWarp prst="textNoShape">
              <a:avLst/>
            </a:prstTxWarp>
          </a:bodyPr>
          <a:lstStyle/>
          <a:p>
            <a:endParaRPr lang="en-US"/>
          </a:p>
        </p:txBody>
      </p:sp>
      <p:grpSp>
        <p:nvGrpSpPr>
          <p:cNvPr id="440334" name="Group 31"/>
          <p:cNvGrpSpPr>
            <a:grpSpLocks/>
          </p:cNvGrpSpPr>
          <p:nvPr/>
        </p:nvGrpSpPr>
        <p:grpSpPr bwMode="auto">
          <a:xfrm>
            <a:off x="3886200" y="5105400"/>
            <a:ext cx="304800" cy="366713"/>
            <a:chOff x="3936" y="2932"/>
            <a:chExt cx="192" cy="231"/>
          </a:xfrm>
        </p:grpSpPr>
        <p:sp>
          <p:nvSpPr>
            <p:cNvPr id="440383" name="Oval 32"/>
            <p:cNvSpPr>
              <a:spLocks noChangeArrowheads="1"/>
            </p:cNvSpPr>
            <p:nvPr/>
          </p:nvSpPr>
          <p:spPr bwMode="auto">
            <a:xfrm>
              <a:off x="3936" y="2952"/>
              <a:ext cx="192" cy="192"/>
            </a:xfrm>
            <a:prstGeom prst="ellipse">
              <a:avLst/>
            </a:prstGeom>
            <a:solidFill>
              <a:srgbClr val="FF0000">
                <a:alpha val="30196"/>
              </a:srgbClr>
            </a:solid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40384" name="Text Box 33"/>
            <p:cNvSpPr txBox="1">
              <a:spLocks noChangeArrowheads="1"/>
            </p:cNvSpPr>
            <p:nvPr/>
          </p:nvSpPr>
          <p:spPr bwMode="auto">
            <a:xfrm>
              <a:off x="3944" y="2932"/>
              <a:ext cx="176" cy="231"/>
            </a:xfrm>
            <a:prstGeom prst="rect">
              <a:avLst/>
            </a:prstGeom>
            <a:noFill/>
            <a:ln w="12700">
              <a:noFill/>
              <a:miter lim="800000"/>
              <a:headEnd type="none" w="sm" len="sm"/>
              <a:tailEnd type="none" w="sm" len="sm"/>
            </a:ln>
          </p:spPr>
          <p:txBody>
            <a:bodyPr wrap="none">
              <a:prstTxWarp prst="textNoShape">
                <a:avLst/>
              </a:prstTxWarp>
              <a:spAutoFit/>
            </a:bodyPr>
            <a:lstStyle/>
            <a:p>
              <a:r>
                <a:rPr lang="en-GB" sz="1800"/>
                <a:t>?</a:t>
              </a:r>
              <a:endParaRPr lang="en-GB" sz="1800">
                <a:solidFill>
                  <a:srgbClr val="FF0000"/>
                </a:solidFill>
              </a:endParaRPr>
            </a:p>
          </p:txBody>
        </p:sp>
      </p:grpSp>
      <p:sp>
        <p:nvSpPr>
          <p:cNvPr id="440335" name="Line 34"/>
          <p:cNvSpPr>
            <a:spLocks noChangeShapeType="1"/>
          </p:cNvSpPr>
          <p:nvPr/>
        </p:nvSpPr>
        <p:spPr bwMode="auto">
          <a:xfrm rot="5400000" flipH="1">
            <a:off x="3848100" y="4991100"/>
            <a:ext cx="228600" cy="0"/>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sp>
        <p:nvSpPr>
          <p:cNvPr id="440336" name="Line 35"/>
          <p:cNvSpPr>
            <a:spLocks noChangeShapeType="1"/>
          </p:cNvSpPr>
          <p:nvPr/>
        </p:nvSpPr>
        <p:spPr bwMode="auto">
          <a:xfrm flipH="1">
            <a:off x="914400" y="5257800"/>
            <a:ext cx="2971800" cy="0"/>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grpSp>
        <p:nvGrpSpPr>
          <p:cNvPr id="440337" name="Group 46"/>
          <p:cNvGrpSpPr>
            <a:grpSpLocks/>
          </p:cNvGrpSpPr>
          <p:nvPr/>
        </p:nvGrpSpPr>
        <p:grpSpPr bwMode="auto">
          <a:xfrm>
            <a:off x="7162800" y="1295400"/>
            <a:ext cx="1219200" cy="1219200"/>
            <a:chOff x="912" y="1008"/>
            <a:chExt cx="768" cy="768"/>
          </a:xfrm>
        </p:grpSpPr>
        <p:sp>
          <p:nvSpPr>
            <p:cNvPr id="440381" name="Text Box 9"/>
            <p:cNvSpPr txBox="1">
              <a:spLocks noChangeArrowheads="1"/>
            </p:cNvSpPr>
            <p:nvPr/>
          </p:nvSpPr>
          <p:spPr bwMode="auto">
            <a:xfrm>
              <a:off x="960" y="1070"/>
              <a:ext cx="705" cy="674"/>
            </a:xfrm>
            <a:prstGeom prst="rect">
              <a:avLst/>
            </a:prstGeom>
            <a:noFill/>
            <a:ln w="12700">
              <a:noFill/>
              <a:miter lim="800000"/>
              <a:headEnd type="none" w="sm" len="sm"/>
              <a:tailEnd type="none" w="sm" len="sm"/>
            </a:ln>
          </p:spPr>
          <p:txBody>
            <a:bodyPr wrap="none">
              <a:prstTxWarp prst="textNoShape">
                <a:avLst/>
              </a:prstTxWarp>
              <a:spAutoFit/>
            </a:bodyPr>
            <a:lstStyle/>
            <a:p>
              <a:r>
                <a:rPr lang="en-GB" sz="1600"/>
                <a:t>CPU</a:t>
              </a:r>
            </a:p>
            <a:p>
              <a:r>
                <a:rPr lang="en-GB" sz="1600"/>
                <a:t>address</a:t>
              </a:r>
            </a:p>
            <a:p>
              <a:r>
                <a:rPr lang="en-GB" sz="1600"/>
                <a:t>Data  Data</a:t>
              </a:r>
            </a:p>
            <a:p>
              <a:r>
                <a:rPr lang="en-GB" sz="1600"/>
                <a:t>in       out</a:t>
              </a:r>
              <a:endParaRPr lang="en-GB" sz="1600">
                <a:solidFill>
                  <a:srgbClr val="FF0000"/>
                </a:solidFill>
              </a:endParaRPr>
            </a:p>
          </p:txBody>
        </p:sp>
        <p:sp>
          <p:nvSpPr>
            <p:cNvPr id="440382" name="Rectangle 45"/>
            <p:cNvSpPr>
              <a:spLocks noChangeArrowheads="1"/>
            </p:cNvSpPr>
            <p:nvPr/>
          </p:nvSpPr>
          <p:spPr bwMode="auto">
            <a:xfrm>
              <a:off x="912" y="1008"/>
              <a:ext cx="768" cy="768"/>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grpSp>
      <p:sp>
        <p:nvSpPr>
          <p:cNvPr id="440338" name="Rectangle 47"/>
          <p:cNvSpPr>
            <a:spLocks noChangeArrowheads="1"/>
          </p:cNvSpPr>
          <p:nvPr/>
        </p:nvSpPr>
        <p:spPr bwMode="auto">
          <a:xfrm>
            <a:off x="3352800" y="3124200"/>
            <a:ext cx="3810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0339" name="Text Box 48"/>
          <p:cNvSpPr txBox="1">
            <a:spLocks noChangeArrowheads="1"/>
          </p:cNvSpPr>
          <p:nvPr/>
        </p:nvSpPr>
        <p:spPr bwMode="auto">
          <a:xfrm>
            <a:off x="3200400" y="2590800"/>
            <a:ext cx="596900" cy="581025"/>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valid</a:t>
            </a:r>
          </a:p>
          <a:p>
            <a:pPr algn="ctr"/>
            <a:r>
              <a:rPr lang="en-GB" sz="1600"/>
              <a:t>&lt;1&gt;</a:t>
            </a:r>
            <a:endParaRPr lang="en-GB" sz="1600">
              <a:solidFill>
                <a:srgbClr val="FF0000"/>
              </a:solidFill>
            </a:endParaRPr>
          </a:p>
        </p:txBody>
      </p:sp>
      <p:sp>
        <p:nvSpPr>
          <p:cNvPr id="440340" name="Rectangle 49"/>
          <p:cNvSpPr>
            <a:spLocks noChangeArrowheads="1"/>
          </p:cNvSpPr>
          <p:nvPr/>
        </p:nvSpPr>
        <p:spPr bwMode="auto">
          <a:xfrm>
            <a:off x="4572000" y="3124200"/>
            <a:ext cx="16764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0341" name="Text Box 50"/>
          <p:cNvSpPr txBox="1">
            <a:spLocks noChangeArrowheads="1"/>
          </p:cNvSpPr>
          <p:nvPr/>
        </p:nvSpPr>
        <p:spPr bwMode="auto">
          <a:xfrm>
            <a:off x="4975225" y="2590800"/>
            <a:ext cx="741363" cy="581025"/>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data</a:t>
            </a:r>
          </a:p>
          <a:p>
            <a:pPr algn="ctr"/>
            <a:r>
              <a:rPr lang="en-GB" sz="1600"/>
              <a:t>&lt;256&gt;</a:t>
            </a:r>
            <a:endParaRPr lang="en-GB" sz="1600">
              <a:solidFill>
                <a:srgbClr val="FF0000"/>
              </a:solidFill>
            </a:endParaRPr>
          </a:p>
        </p:txBody>
      </p:sp>
      <p:sp>
        <p:nvSpPr>
          <p:cNvPr id="440342" name="Rectangle 51"/>
          <p:cNvSpPr>
            <a:spLocks noChangeArrowheads="1"/>
          </p:cNvSpPr>
          <p:nvPr/>
        </p:nvSpPr>
        <p:spPr bwMode="auto">
          <a:xfrm>
            <a:off x="3733800" y="3429000"/>
            <a:ext cx="838200" cy="304800"/>
          </a:xfrm>
          <a:prstGeom prst="rect">
            <a:avLst/>
          </a:prstGeom>
          <a:solidFill>
            <a:srgbClr val="FF0000">
              <a:alpha val="39999"/>
            </a:srgbClr>
          </a:solid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0343" name="Rectangle 52"/>
          <p:cNvSpPr>
            <a:spLocks noChangeArrowheads="1"/>
          </p:cNvSpPr>
          <p:nvPr/>
        </p:nvSpPr>
        <p:spPr bwMode="auto">
          <a:xfrm>
            <a:off x="3352800" y="3429000"/>
            <a:ext cx="381000" cy="304800"/>
          </a:xfrm>
          <a:prstGeom prst="rect">
            <a:avLst/>
          </a:prstGeom>
          <a:solidFill>
            <a:srgbClr val="FF0000">
              <a:alpha val="39999"/>
            </a:srgbClr>
          </a:solid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0344" name="Rectangle 53"/>
          <p:cNvSpPr>
            <a:spLocks noChangeArrowheads="1"/>
          </p:cNvSpPr>
          <p:nvPr/>
        </p:nvSpPr>
        <p:spPr bwMode="auto">
          <a:xfrm>
            <a:off x="4572000" y="3429000"/>
            <a:ext cx="1676400" cy="304800"/>
          </a:xfrm>
          <a:prstGeom prst="rect">
            <a:avLst/>
          </a:prstGeom>
          <a:solidFill>
            <a:srgbClr val="FF0000">
              <a:alpha val="39999"/>
            </a:srgbClr>
          </a:solid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0345" name="Rectangle 54"/>
          <p:cNvSpPr>
            <a:spLocks noChangeArrowheads="1"/>
          </p:cNvSpPr>
          <p:nvPr/>
        </p:nvSpPr>
        <p:spPr bwMode="auto">
          <a:xfrm>
            <a:off x="3733800" y="3733800"/>
            <a:ext cx="8382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0346" name="Rectangle 55"/>
          <p:cNvSpPr>
            <a:spLocks noChangeArrowheads="1"/>
          </p:cNvSpPr>
          <p:nvPr/>
        </p:nvSpPr>
        <p:spPr bwMode="auto">
          <a:xfrm>
            <a:off x="3352800" y="3733800"/>
            <a:ext cx="3810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0347" name="Rectangle 56"/>
          <p:cNvSpPr>
            <a:spLocks noChangeArrowheads="1"/>
          </p:cNvSpPr>
          <p:nvPr/>
        </p:nvSpPr>
        <p:spPr bwMode="auto">
          <a:xfrm>
            <a:off x="4572000" y="3733800"/>
            <a:ext cx="16764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0348" name="Text Box 57"/>
          <p:cNvSpPr txBox="1">
            <a:spLocks noChangeArrowheads="1"/>
          </p:cNvSpPr>
          <p:nvPr/>
        </p:nvSpPr>
        <p:spPr bwMode="auto">
          <a:xfrm>
            <a:off x="5181600" y="3886200"/>
            <a:ext cx="438150" cy="396875"/>
          </a:xfrm>
          <a:prstGeom prst="rect">
            <a:avLst/>
          </a:prstGeom>
          <a:noFill/>
          <a:ln w="12700">
            <a:noFill/>
            <a:miter lim="800000"/>
            <a:headEnd type="none" w="sm" len="sm"/>
            <a:tailEnd type="none" w="sm" len="sm"/>
          </a:ln>
        </p:spPr>
        <p:txBody>
          <a:bodyPr wrap="none">
            <a:prstTxWarp prst="textNoShape">
              <a:avLst/>
            </a:prstTxWarp>
            <a:spAutoFit/>
          </a:bodyPr>
          <a:lstStyle/>
          <a:p>
            <a:r>
              <a:rPr lang="en-GB" sz="2000"/>
              <a:t>…</a:t>
            </a:r>
            <a:endParaRPr lang="en-GB" sz="2000">
              <a:solidFill>
                <a:srgbClr val="FF0000"/>
              </a:solidFill>
            </a:endParaRPr>
          </a:p>
        </p:txBody>
      </p:sp>
      <p:sp>
        <p:nvSpPr>
          <p:cNvPr id="440349" name="Rectangle 58"/>
          <p:cNvSpPr>
            <a:spLocks noChangeArrowheads="1"/>
          </p:cNvSpPr>
          <p:nvPr/>
        </p:nvSpPr>
        <p:spPr bwMode="auto">
          <a:xfrm>
            <a:off x="3733800" y="4267200"/>
            <a:ext cx="8382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0350" name="Rectangle 59"/>
          <p:cNvSpPr>
            <a:spLocks noChangeArrowheads="1"/>
          </p:cNvSpPr>
          <p:nvPr/>
        </p:nvSpPr>
        <p:spPr bwMode="auto">
          <a:xfrm>
            <a:off x="3352800" y="4267200"/>
            <a:ext cx="3810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0351" name="Rectangle 60"/>
          <p:cNvSpPr>
            <a:spLocks noChangeArrowheads="1"/>
          </p:cNvSpPr>
          <p:nvPr/>
        </p:nvSpPr>
        <p:spPr bwMode="auto">
          <a:xfrm>
            <a:off x="4572000" y="4267200"/>
            <a:ext cx="16764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0352" name="Rectangle 61"/>
          <p:cNvSpPr>
            <a:spLocks noChangeArrowheads="1"/>
          </p:cNvSpPr>
          <p:nvPr/>
        </p:nvSpPr>
        <p:spPr bwMode="auto">
          <a:xfrm>
            <a:off x="457200" y="2073275"/>
            <a:ext cx="8382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0353" name="Text Box 62"/>
          <p:cNvSpPr txBox="1">
            <a:spLocks noChangeArrowheads="1"/>
          </p:cNvSpPr>
          <p:nvPr/>
        </p:nvSpPr>
        <p:spPr bwMode="auto">
          <a:xfrm>
            <a:off x="609600" y="2057400"/>
            <a:ext cx="455613" cy="336550"/>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tag</a:t>
            </a:r>
            <a:endParaRPr lang="en-GB" sz="1600">
              <a:solidFill>
                <a:srgbClr val="FF0000"/>
              </a:solidFill>
            </a:endParaRPr>
          </a:p>
        </p:txBody>
      </p:sp>
      <p:sp>
        <p:nvSpPr>
          <p:cNvPr id="440354" name="Rectangle 63"/>
          <p:cNvSpPr>
            <a:spLocks noChangeArrowheads="1"/>
          </p:cNvSpPr>
          <p:nvPr/>
        </p:nvSpPr>
        <p:spPr bwMode="auto">
          <a:xfrm>
            <a:off x="1295400" y="2073275"/>
            <a:ext cx="8382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0355" name="Rectangle 65"/>
          <p:cNvSpPr>
            <a:spLocks noChangeArrowheads="1"/>
          </p:cNvSpPr>
          <p:nvPr/>
        </p:nvSpPr>
        <p:spPr bwMode="auto">
          <a:xfrm>
            <a:off x="2133600" y="2073275"/>
            <a:ext cx="3810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0356" name="Text Box 66"/>
          <p:cNvSpPr txBox="1">
            <a:spLocks noChangeArrowheads="1"/>
          </p:cNvSpPr>
          <p:nvPr/>
        </p:nvSpPr>
        <p:spPr bwMode="auto">
          <a:xfrm>
            <a:off x="609600" y="1524000"/>
            <a:ext cx="1390650" cy="336550"/>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Block address</a:t>
            </a:r>
            <a:endParaRPr lang="en-GB" sz="1600">
              <a:solidFill>
                <a:srgbClr val="FF0000"/>
              </a:solidFill>
            </a:endParaRPr>
          </a:p>
        </p:txBody>
      </p:sp>
      <p:sp>
        <p:nvSpPr>
          <p:cNvPr id="440357" name="Text Box 67"/>
          <p:cNvSpPr txBox="1">
            <a:spLocks noChangeArrowheads="1"/>
          </p:cNvSpPr>
          <p:nvPr/>
        </p:nvSpPr>
        <p:spPr bwMode="auto">
          <a:xfrm>
            <a:off x="533400" y="1752600"/>
            <a:ext cx="630238" cy="336550"/>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&lt;21&gt;</a:t>
            </a:r>
            <a:endParaRPr lang="en-GB" sz="1600">
              <a:solidFill>
                <a:srgbClr val="FF0000"/>
              </a:solidFill>
            </a:endParaRPr>
          </a:p>
        </p:txBody>
      </p:sp>
      <p:sp>
        <p:nvSpPr>
          <p:cNvPr id="440358" name="Text Box 68"/>
          <p:cNvSpPr txBox="1">
            <a:spLocks noChangeArrowheads="1"/>
          </p:cNvSpPr>
          <p:nvPr/>
        </p:nvSpPr>
        <p:spPr bwMode="auto">
          <a:xfrm>
            <a:off x="1447800" y="1752600"/>
            <a:ext cx="550863" cy="336550"/>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&lt;8&gt;</a:t>
            </a:r>
            <a:endParaRPr lang="en-GB" sz="1600">
              <a:solidFill>
                <a:srgbClr val="FF0000"/>
              </a:solidFill>
            </a:endParaRPr>
          </a:p>
        </p:txBody>
      </p:sp>
      <p:sp>
        <p:nvSpPr>
          <p:cNvPr id="440359" name="Text Box 69"/>
          <p:cNvSpPr txBox="1">
            <a:spLocks noChangeArrowheads="1"/>
          </p:cNvSpPr>
          <p:nvPr/>
        </p:nvSpPr>
        <p:spPr bwMode="auto">
          <a:xfrm>
            <a:off x="2057400" y="1752600"/>
            <a:ext cx="550863" cy="336550"/>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&lt;5&gt;</a:t>
            </a:r>
            <a:endParaRPr lang="en-GB" sz="1600">
              <a:solidFill>
                <a:srgbClr val="FF0000"/>
              </a:solidFill>
            </a:endParaRPr>
          </a:p>
        </p:txBody>
      </p:sp>
      <p:sp>
        <p:nvSpPr>
          <p:cNvPr id="440360" name="Text Box 70"/>
          <p:cNvSpPr txBox="1">
            <a:spLocks noChangeArrowheads="1"/>
          </p:cNvSpPr>
          <p:nvPr/>
        </p:nvSpPr>
        <p:spPr bwMode="auto">
          <a:xfrm>
            <a:off x="1981200" y="1295400"/>
            <a:ext cx="684213" cy="581025"/>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Block</a:t>
            </a:r>
          </a:p>
          <a:p>
            <a:pPr algn="ctr"/>
            <a:r>
              <a:rPr lang="en-GB" sz="1600"/>
              <a:t>offset</a:t>
            </a:r>
            <a:endParaRPr lang="en-GB" sz="1600">
              <a:solidFill>
                <a:srgbClr val="FF0000"/>
              </a:solidFill>
            </a:endParaRPr>
          </a:p>
        </p:txBody>
      </p:sp>
      <p:sp>
        <p:nvSpPr>
          <p:cNvPr id="440361" name="Line 72"/>
          <p:cNvSpPr>
            <a:spLocks noChangeShapeType="1"/>
          </p:cNvSpPr>
          <p:nvPr/>
        </p:nvSpPr>
        <p:spPr bwMode="auto">
          <a:xfrm rot="5400000" flipH="1">
            <a:off x="4343400" y="4648200"/>
            <a:ext cx="1828800" cy="0"/>
          </a:xfrm>
          <a:prstGeom prst="line">
            <a:avLst/>
          </a:prstGeom>
          <a:noFill/>
          <a:ln w="12700">
            <a:solidFill>
              <a:schemeClr val="tx1"/>
            </a:solidFill>
            <a:round/>
            <a:headEnd/>
            <a:tailEnd type="none" w="sm" len="sm"/>
          </a:ln>
        </p:spPr>
        <p:txBody>
          <a:bodyPr>
            <a:prstTxWarp prst="textNoShape">
              <a:avLst/>
            </a:prstTxWarp>
          </a:bodyPr>
          <a:lstStyle/>
          <a:p>
            <a:endParaRPr lang="en-US"/>
          </a:p>
        </p:txBody>
      </p:sp>
      <p:sp>
        <p:nvSpPr>
          <p:cNvPr id="440362" name="Line 75"/>
          <p:cNvSpPr>
            <a:spLocks noChangeShapeType="1"/>
          </p:cNvSpPr>
          <p:nvPr/>
        </p:nvSpPr>
        <p:spPr bwMode="auto">
          <a:xfrm flipV="1">
            <a:off x="2286000" y="2362200"/>
            <a:ext cx="0" cy="152400"/>
          </a:xfrm>
          <a:prstGeom prst="line">
            <a:avLst/>
          </a:prstGeom>
          <a:noFill/>
          <a:ln w="12700">
            <a:solidFill>
              <a:schemeClr val="tx1"/>
            </a:solidFill>
            <a:round/>
            <a:headEnd type="none" w="sm" len="sm"/>
            <a:tailEnd type="none" w="sm" len="sm"/>
          </a:ln>
        </p:spPr>
        <p:txBody>
          <a:bodyPr>
            <a:prstTxWarp prst="textNoShape">
              <a:avLst/>
            </a:prstTxWarp>
          </a:bodyPr>
          <a:lstStyle/>
          <a:p>
            <a:endParaRPr lang="en-US"/>
          </a:p>
        </p:txBody>
      </p:sp>
      <p:sp>
        <p:nvSpPr>
          <p:cNvPr id="440363" name="Line 76"/>
          <p:cNvSpPr>
            <a:spLocks noChangeShapeType="1"/>
          </p:cNvSpPr>
          <p:nvPr/>
        </p:nvSpPr>
        <p:spPr bwMode="auto">
          <a:xfrm flipH="1">
            <a:off x="2286000" y="2514600"/>
            <a:ext cx="4267200" cy="0"/>
          </a:xfrm>
          <a:prstGeom prst="line">
            <a:avLst/>
          </a:prstGeom>
          <a:noFill/>
          <a:ln w="12700">
            <a:solidFill>
              <a:schemeClr val="tx1"/>
            </a:solidFill>
            <a:round/>
            <a:headEnd/>
            <a:tailEnd type="none" w="sm" len="sm"/>
          </a:ln>
        </p:spPr>
        <p:txBody>
          <a:bodyPr>
            <a:prstTxWarp prst="textNoShape">
              <a:avLst/>
            </a:prstTxWarp>
          </a:bodyPr>
          <a:lstStyle/>
          <a:p>
            <a:endParaRPr lang="en-US"/>
          </a:p>
        </p:txBody>
      </p:sp>
      <p:sp>
        <p:nvSpPr>
          <p:cNvPr id="440364" name="Line 77"/>
          <p:cNvSpPr>
            <a:spLocks noChangeShapeType="1"/>
          </p:cNvSpPr>
          <p:nvPr/>
        </p:nvSpPr>
        <p:spPr bwMode="auto">
          <a:xfrm flipH="1">
            <a:off x="6248400" y="3581400"/>
            <a:ext cx="304800" cy="0"/>
          </a:xfrm>
          <a:prstGeom prst="line">
            <a:avLst/>
          </a:prstGeom>
          <a:noFill/>
          <a:ln w="12700">
            <a:solidFill>
              <a:schemeClr val="tx1"/>
            </a:solidFill>
            <a:round/>
            <a:headEnd/>
            <a:tailEnd type="triangle" w="med" len="med"/>
          </a:ln>
        </p:spPr>
        <p:txBody>
          <a:bodyPr>
            <a:prstTxWarp prst="textNoShape">
              <a:avLst/>
            </a:prstTxWarp>
          </a:bodyPr>
          <a:lstStyle/>
          <a:p>
            <a:endParaRPr lang="en-US"/>
          </a:p>
        </p:txBody>
      </p:sp>
      <p:sp>
        <p:nvSpPr>
          <p:cNvPr id="440365" name="Line 78"/>
          <p:cNvSpPr>
            <a:spLocks noChangeShapeType="1"/>
          </p:cNvSpPr>
          <p:nvPr/>
        </p:nvSpPr>
        <p:spPr bwMode="auto">
          <a:xfrm rot="5400000" flipH="1">
            <a:off x="2933700" y="4305300"/>
            <a:ext cx="1143000" cy="0"/>
          </a:xfrm>
          <a:prstGeom prst="line">
            <a:avLst/>
          </a:prstGeom>
          <a:noFill/>
          <a:ln w="12700">
            <a:solidFill>
              <a:schemeClr val="tx1"/>
            </a:solidFill>
            <a:round/>
            <a:headEnd/>
            <a:tailEnd type="none" w="sm" len="sm"/>
          </a:ln>
        </p:spPr>
        <p:txBody>
          <a:bodyPr>
            <a:prstTxWarp prst="textNoShape">
              <a:avLst/>
            </a:prstTxWarp>
          </a:bodyPr>
          <a:lstStyle/>
          <a:p>
            <a:endParaRPr lang="en-US"/>
          </a:p>
        </p:txBody>
      </p:sp>
      <p:sp>
        <p:nvSpPr>
          <p:cNvPr id="440366" name="Line 79"/>
          <p:cNvSpPr>
            <a:spLocks noChangeShapeType="1"/>
          </p:cNvSpPr>
          <p:nvPr/>
        </p:nvSpPr>
        <p:spPr bwMode="auto">
          <a:xfrm rot="5400000" flipH="1">
            <a:off x="3429000" y="4419600"/>
            <a:ext cx="1371600" cy="0"/>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sp>
        <p:nvSpPr>
          <p:cNvPr id="440367" name="Line 80"/>
          <p:cNvSpPr>
            <a:spLocks noChangeShapeType="1"/>
          </p:cNvSpPr>
          <p:nvPr/>
        </p:nvSpPr>
        <p:spPr bwMode="auto">
          <a:xfrm flipV="1">
            <a:off x="914400" y="2362200"/>
            <a:ext cx="0" cy="2895600"/>
          </a:xfrm>
          <a:prstGeom prst="line">
            <a:avLst/>
          </a:prstGeom>
          <a:noFill/>
          <a:ln w="12700">
            <a:solidFill>
              <a:schemeClr val="tx1"/>
            </a:solidFill>
            <a:round/>
            <a:headEnd type="none" w="sm" len="sm"/>
            <a:tailEnd type="none" w="sm" len="sm"/>
          </a:ln>
        </p:spPr>
        <p:txBody>
          <a:bodyPr>
            <a:prstTxWarp prst="textNoShape">
              <a:avLst/>
            </a:prstTxWarp>
          </a:bodyPr>
          <a:lstStyle/>
          <a:p>
            <a:endParaRPr lang="en-US"/>
          </a:p>
        </p:txBody>
      </p:sp>
      <p:sp>
        <p:nvSpPr>
          <p:cNvPr id="440368" name="Line 82"/>
          <p:cNvSpPr>
            <a:spLocks noChangeShapeType="1"/>
          </p:cNvSpPr>
          <p:nvPr/>
        </p:nvSpPr>
        <p:spPr bwMode="auto">
          <a:xfrm flipH="1">
            <a:off x="5257800" y="5562600"/>
            <a:ext cx="1600200" cy="0"/>
          </a:xfrm>
          <a:prstGeom prst="line">
            <a:avLst/>
          </a:prstGeom>
          <a:noFill/>
          <a:ln w="12700">
            <a:solidFill>
              <a:schemeClr val="tx1"/>
            </a:solidFill>
            <a:round/>
            <a:headEnd/>
            <a:tailEnd type="none" w="sm" len="sm"/>
          </a:ln>
        </p:spPr>
        <p:txBody>
          <a:bodyPr>
            <a:prstTxWarp prst="textNoShape">
              <a:avLst/>
            </a:prstTxWarp>
          </a:bodyPr>
          <a:lstStyle/>
          <a:p>
            <a:endParaRPr lang="en-US"/>
          </a:p>
        </p:txBody>
      </p:sp>
      <p:sp>
        <p:nvSpPr>
          <p:cNvPr id="440369" name="Line 83"/>
          <p:cNvSpPr>
            <a:spLocks noChangeShapeType="1"/>
          </p:cNvSpPr>
          <p:nvPr/>
        </p:nvSpPr>
        <p:spPr bwMode="auto">
          <a:xfrm flipV="1">
            <a:off x="6858000" y="2286000"/>
            <a:ext cx="0" cy="3276600"/>
          </a:xfrm>
          <a:prstGeom prst="line">
            <a:avLst/>
          </a:prstGeom>
          <a:noFill/>
          <a:ln w="12700">
            <a:solidFill>
              <a:schemeClr val="tx1"/>
            </a:solidFill>
            <a:round/>
            <a:headEnd type="none" w="sm" len="sm"/>
            <a:tailEnd type="none" w="sm" len="sm"/>
          </a:ln>
        </p:spPr>
        <p:txBody>
          <a:bodyPr>
            <a:prstTxWarp prst="textNoShape">
              <a:avLst/>
            </a:prstTxWarp>
          </a:bodyPr>
          <a:lstStyle/>
          <a:p>
            <a:endParaRPr lang="en-US"/>
          </a:p>
        </p:txBody>
      </p:sp>
      <p:sp>
        <p:nvSpPr>
          <p:cNvPr id="440370" name="Line 84"/>
          <p:cNvSpPr>
            <a:spLocks noChangeShapeType="1"/>
          </p:cNvSpPr>
          <p:nvPr/>
        </p:nvSpPr>
        <p:spPr bwMode="auto">
          <a:xfrm flipH="1">
            <a:off x="6858000" y="2286000"/>
            <a:ext cx="304800" cy="0"/>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sp>
        <p:nvSpPr>
          <p:cNvPr id="440371" name="Line 85"/>
          <p:cNvSpPr>
            <a:spLocks noChangeShapeType="1"/>
          </p:cNvSpPr>
          <p:nvPr/>
        </p:nvSpPr>
        <p:spPr bwMode="auto">
          <a:xfrm rot="5400000" flipH="1">
            <a:off x="5829300" y="3009900"/>
            <a:ext cx="228600" cy="0"/>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sp>
        <p:nvSpPr>
          <p:cNvPr id="440372" name="Line 86"/>
          <p:cNvSpPr>
            <a:spLocks noChangeShapeType="1"/>
          </p:cNvSpPr>
          <p:nvPr/>
        </p:nvSpPr>
        <p:spPr bwMode="auto">
          <a:xfrm flipH="1">
            <a:off x="5943600" y="2895600"/>
            <a:ext cx="2133600" cy="0"/>
          </a:xfrm>
          <a:prstGeom prst="line">
            <a:avLst/>
          </a:prstGeom>
          <a:noFill/>
          <a:ln w="12700">
            <a:solidFill>
              <a:schemeClr val="tx1"/>
            </a:solidFill>
            <a:round/>
            <a:headEnd/>
            <a:tailEnd type="none" w="sm" len="sm"/>
          </a:ln>
        </p:spPr>
        <p:txBody>
          <a:bodyPr>
            <a:prstTxWarp prst="textNoShape">
              <a:avLst/>
            </a:prstTxWarp>
          </a:bodyPr>
          <a:lstStyle/>
          <a:p>
            <a:endParaRPr lang="en-US"/>
          </a:p>
        </p:txBody>
      </p:sp>
      <p:sp>
        <p:nvSpPr>
          <p:cNvPr id="440373" name="Line 87"/>
          <p:cNvSpPr>
            <a:spLocks noChangeShapeType="1"/>
          </p:cNvSpPr>
          <p:nvPr/>
        </p:nvSpPr>
        <p:spPr bwMode="auto">
          <a:xfrm rot="5400000" flipH="1">
            <a:off x="7315200" y="3276600"/>
            <a:ext cx="1524000" cy="0"/>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sp>
        <p:nvSpPr>
          <p:cNvPr id="440374" name="Text Box 88"/>
          <p:cNvSpPr txBox="1">
            <a:spLocks noChangeArrowheads="1"/>
          </p:cNvSpPr>
          <p:nvPr/>
        </p:nvSpPr>
        <p:spPr bwMode="auto">
          <a:xfrm>
            <a:off x="7773988" y="4114800"/>
            <a:ext cx="696912" cy="581025"/>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Write</a:t>
            </a:r>
          </a:p>
          <a:p>
            <a:pPr algn="ctr"/>
            <a:r>
              <a:rPr lang="en-GB" sz="1600"/>
              <a:t>buffer</a:t>
            </a:r>
            <a:endParaRPr lang="en-GB" sz="1600">
              <a:solidFill>
                <a:srgbClr val="FF0000"/>
              </a:solidFill>
            </a:endParaRPr>
          </a:p>
        </p:txBody>
      </p:sp>
      <p:sp>
        <p:nvSpPr>
          <p:cNvPr id="440375" name="Rectangle 89"/>
          <p:cNvSpPr>
            <a:spLocks noChangeArrowheads="1"/>
          </p:cNvSpPr>
          <p:nvPr/>
        </p:nvSpPr>
        <p:spPr bwMode="auto">
          <a:xfrm>
            <a:off x="7696200" y="4038600"/>
            <a:ext cx="838200" cy="762000"/>
          </a:xfrm>
          <a:prstGeom prst="rect">
            <a:avLst/>
          </a:prstGeom>
          <a:no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0376" name="Line 90"/>
          <p:cNvSpPr>
            <a:spLocks noChangeShapeType="1"/>
          </p:cNvSpPr>
          <p:nvPr/>
        </p:nvSpPr>
        <p:spPr bwMode="auto">
          <a:xfrm rot="5400000" flipH="1">
            <a:off x="7886700" y="4991100"/>
            <a:ext cx="381000" cy="0"/>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sp>
        <p:nvSpPr>
          <p:cNvPr id="440377" name="Text Box 91"/>
          <p:cNvSpPr txBox="1">
            <a:spLocks noChangeArrowheads="1"/>
          </p:cNvSpPr>
          <p:nvPr/>
        </p:nvSpPr>
        <p:spPr bwMode="auto">
          <a:xfrm>
            <a:off x="7239000" y="5257800"/>
            <a:ext cx="1168400" cy="581025"/>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Lower level</a:t>
            </a:r>
          </a:p>
          <a:p>
            <a:pPr algn="ctr"/>
            <a:r>
              <a:rPr lang="en-GB" sz="1600"/>
              <a:t>memory</a:t>
            </a:r>
            <a:endParaRPr lang="en-GB" sz="1600">
              <a:solidFill>
                <a:srgbClr val="FF0000"/>
              </a:solidFill>
            </a:endParaRPr>
          </a:p>
        </p:txBody>
      </p:sp>
      <p:sp>
        <p:nvSpPr>
          <p:cNvPr id="440378" name="Rectangle 92"/>
          <p:cNvSpPr>
            <a:spLocks noChangeArrowheads="1"/>
          </p:cNvSpPr>
          <p:nvPr/>
        </p:nvSpPr>
        <p:spPr bwMode="auto">
          <a:xfrm>
            <a:off x="7162800" y="5181600"/>
            <a:ext cx="1371600" cy="762000"/>
          </a:xfrm>
          <a:prstGeom prst="rect">
            <a:avLst/>
          </a:prstGeom>
          <a:no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0379" name="Line 93"/>
          <p:cNvSpPr>
            <a:spLocks noChangeShapeType="1"/>
          </p:cNvSpPr>
          <p:nvPr/>
        </p:nvSpPr>
        <p:spPr bwMode="auto">
          <a:xfrm flipV="1">
            <a:off x="7543800" y="2895600"/>
            <a:ext cx="0" cy="2286000"/>
          </a:xfrm>
          <a:prstGeom prst="line">
            <a:avLst/>
          </a:prstGeom>
          <a:noFill/>
          <a:ln w="12700">
            <a:solidFill>
              <a:schemeClr val="tx1"/>
            </a:solidFill>
            <a:round/>
            <a:headEnd type="none" w="sm" len="sm"/>
            <a:tailEnd type="triangle" w="med" len="med"/>
          </a:ln>
        </p:spPr>
        <p:txBody>
          <a:bodyPr>
            <a:prstTxWarp prst="textNoShape">
              <a:avLst/>
            </a:prstTxWarp>
          </a:bodyPr>
          <a:lstStyle/>
          <a:p>
            <a:endParaRPr lang="en-US"/>
          </a:p>
        </p:txBody>
      </p:sp>
      <p:sp>
        <p:nvSpPr>
          <p:cNvPr id="440380" name="Text Box 94"/>
          <p:cNvSpPr txBox="1">
            <a:spLocks noChangeArrowheads="1"/>
          </p:cNvSpPr>
          <p:nvPr/>
        </p:nvSpPr>
        <p:spPr bwMode="auto">
          <a:xfrm>
            <a:off x="1346200" y="2057400"/>
            <a:ext cx="661988" cy="336550"/>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index</a:t>
            </a:r>
            <a:endParaRPr lang="en-GB" sz="1600">
              <a:solidFill>
                <a:srgbClr val="FF0000"/>
              </a:solidFill>
            </a:endParaRPr>
          </a:p>
        </p:txBody>
      </p:sp>
    </p:spTree>
    <p:extLst>
      <p:ext uri="{BB962C8B-B14F-4D97-AF65-F5344CB8AC3E}">
        <p14:creationId xmlns:p14="http://schemas.microsoft.com/office/powerpoint/2010/main" val="422028840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Footer Placeholder 3"/>
          <p:cNvSpPr>
            <a:spLocks noGrp="1"/>
          </p:cNvSpPr>
          <p:nvPr>
            <p:ph type="ftr" sz="quarter" idx="10"/>
          </p:nvPr>
        </p:nvSpPr>
        <p:spPr/>
        <p:txBody>
          <a:bodyPr/>
          <a:lstStyle/>
          <a:p>
            <a:pPr>
              <a:defRPr/>
            </a:pPr>
            <a:r>
              <a:rPr lang="en-US" dirty="0"/>
              <a:t>CS/ECE 6810: Computer Architecture</a:t>
            </a:r>
            <a:endParaRPr lang="en-US" sz="1400" dirty="0">
              <a:latin typeface="Garamond" pitchFamily="-112" charset="0"/>
            </a:endParaRPr>
          </a:p>
        </p:txBody>
      </p:sp>
      <p:sp>
        <p:nvSpPr>
          <p:cNvPr id="86" name="Slide Number Placeholder 4"/>
          <p:cNvSpPr>
            <a:spLocks noGrp="1"/>
          </p:cNvSpPr>
          <p:nvPr>
            <p:ph type="sldNum" sz="quarter" idx="11"/>
          </p:nvPr>
        </p:nvSpPr>
        <p:spPr/>
        <p:txBody>
          <a:bodyPr/>
          <a:lstStyle/>
          <a:p>
            <a:pPr>
              <a:defRPr/>
            </a:pPr>
            <a:fld id="{A9D47910-63B2-C648-80A7-8B60D28296A5}" type="slidenum">
              <a:rPr lang="en-US"/>
              <a:pPr>
                <a:defRPr/>
              </a:pPr>
              <a:t>15</a:t>
            </a:fld>
            <a:endParaRPr lang="en-US">
              <a:latin typeface="Garamond" pitchFamily="-112" charset="0"/>
            </a:endParaRPr>
          </a:p>
        </p:txBody>
      </p:sp>
      <p:sp>
        <p:nvSpPr>
          <p:cNvPr id="442372" name="Rectangle 2"/>
          <p:cNvSpPr>
            <a:spLocks noGrp="1" noChangeArrowheads="1"/>
          </p:cNvSpPr>
          <p:nvPr>
            <p:ph type="title"/>
          </p:nvPr>
        </p:nvSpPr>
        <p:spPr>
          <a:xfrm>
            <a:off x="609600" y="152400"/>
            <a:ext cx="8382000" cy="838200"/>
          </a:xfrm>
        </p:spPr>
        <p:txBody>
          <a:bodyPr/>
          <a:lstStyle/>
          <a:p>
            <a:r>
              <a:rPr lang="en-US" sz="1800"/>
              <a:t>Cache Organization: 2-way set associative</a:t>
            </a:r>
            <a:endParaRPr lang="en-US" sz="1600"/>
          </a:p>
        </p:txBody>
      </p:sp>
      <p:sp>
        <p:nvSpPr>
          <p:cNvPr id="442373" name="Rectangle 5"/>
          <p:cNvSpPr>
            <a:spLocks noChangeArrowheads="1"/>
          </p:cNvSpPr>
          <p:nvPr/>
        </p:nvSpPr>
        <p:spPr bwMode="auto">
          <a:xfrm>
            <a:off x="3055938" y="3048000"/>
            <a:ext cx="8382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2374" name="Text Box 6"/>
          <p:cNvSpPr txBox="1">
            <a:spLocks noChangeArrowheads="1"/>
          </p:cNvSpPr>
          <p:nvPr/>
        </p:nvSpPr>
        <p:spPr bwMode="auto">
          <a:xfrm>
            <a:off x="3124200" y="2514600"/>
            <a:ext cx="646113" cy="581025"/>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tag</a:t>
            </a:r>
          </a:p>
          <a:p>
            <a:pPr algn="ctr"/>
            <a:r>
              <a:rPr lang="en-GB" sz="1600"/>
              <a:t>&lt;29&gt;</a:t>
            </a:r>
            <a:endParaRPr lang="en-GB" sz="1600">
              <a:solidFill>
                <a:srgbClr val="FF0000"/>
              </a:solidFill>
            </a:endParaRPr>
          </a:p>
        </p:txBody>
      </p:sp>
      <p:sp>
        <p:nvSpPr>
          <p:cNvPr id="442375" name="Line 7"/>
          <p:cNvSpPr>
            <a:spLocks noChangeShapeType="1"/>
          </p:cNvSpPr>
          <p:nvPr/>
        </p:nvSpPr>
        <p:spPr bwMode="auto">
          <a:xfrm flipH="1">
            <a:off x="1684338" y="3505200"/>
            <a:ext cx="990600" cy="0"/>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sp>
        <p:nvSpPr>
          <p:cNvPr id="442376" name="Line 8"/>
          <p:cNvSpPr>
            <a:spLocks noChangeShapeType="1"/>
          </p:cNvSpPr>
          <p:nvPr/>
        </p:nvSpPr>
        <p:spPr bwMode="auto">
          <a:xfrm flipH="1">
            <a:off x="2827338" y="4038600"/>
            <a:ext cx="457200" cy="0"/>
          </a:xfrm>
          <a:prstGeom prst="line">
            <a:avLst/>
          </a:prstGeom>
          <a:noFill/>
          <a:ln w="12700">
            <a:solidFill>
              <a:schemeClr val="tx1"/>
            </a:solidFill>
            <a:round/>
            <a:headEnd/>
            <a:tailEnd type="none" w="sm" len="sm"/>
          </a:ln>
        </p:spPr>
        <p:txBody>
          <a:bodyPr>
            <a:prstTxWarp prst="textNoShape">
              <a:avLst/>
            </a:prstTxWarp>
          </a:bodyPr>
          <a:lstStyle/>
          <a:p>
            <a:endParaRPr lang="en-US"/>
          </a:p>
        </p:txBody>
      </p:sp>
      <p:sp>
        <p:nvSpPr>
          <p:cNvPr id="442377" name="Line 9"/>
          <p:cNvSpPr>
            <a:spLocks noChangeShapeType="1"/>
          </p:cNvSpPr>
          <p:nvPr/>
        </p:nvSpPr>
        <p:spPr bwMode="auto">
          <a:xfrm>
            <a:off x="2819400" y="1828800"/>
            <a:ext cx="4343400" cy="0"/>
          </a:xfrm>
          <a:prstGeom prst="line">
            <a:avLst/>
          </a:prstGeom>
          <a:noFill/>
          <a:ln w="12700">
            <a:solidFill>
              <a:schemeClr val="tx1"/>
            </a:solidFill>
            <a:round/>
            <a:headEnd type="triangle" w="med" len="med"/>
            <a:tailEnd/>
          </a:ln>
        </p:spPr>
        <p:txBody>
          <a:bodyPr>
            <a:prstTxWarp prst="textNoShape">
              <a:avLst/>
            </a:prstTxWarp>
          </a:bodyPr>
          <a:lstStyle/>
          <a:p>
            <a:endParaRPr lang="en-US"/>
          </a:p>
        </p:txBody>
      </p:sp>
      <p:sp>
        <p:nvSpPr>
          <p:cNvPr id="442378" name="Line 10"/>
          <p:cNvSpPr>
            <a:spLocks noChangeShapeType="1"/>
          </p:cNvSpPr>
          <p:nvPr/>
        </p:nvSpPr>
        <p:spPr bwMode="auto">
          <a:xfrm flipV="1">
            <a:off x="1676400" y="2362200"/>
            <a:ext cx="0" cy="2743200"/>
          </a:xfrm>
          <a:prstGeom prst="line">
            <a:avLst/>
          </a:prstGeom>
          <a:noFill/>
          <a:ln w="12700">
            <a:solidFill>
              <a:schemeClr val="tx1"/>
            </a:solidFill>
            <a:round/>
            <a:headEnd type="none" w="sm" len="sm"/>
            <a:tailEnd type="none" w="sm" len="sm"/>
          </a:ln>
        </p:spPr>
        <p:txBody>
          <a:bodyPr>
            <a:prstTxWarp prst="textNoShape">
              <a:avLst/>
            </a:prstTxWarp>
          </a:bodyPr>
          <a:lstStyle/>
          <a:p>
            <a:endParaRPr lang="en-US"/>
          </a:p>
        </p:txBody>
      </p:sp>
      <p:sp>
        <p:nvSpPr>
          <p:cNvPr id="442379" name="Line 11"/>
          <p:cNvSpPr>
            <a:spLocks noChangeShapeType="1"/>
          </p:cNvSpPr>
          <p:nvPr/>
        </p:nvSpPr>
        <p:spPr bwMode="auto">
          <a:xfrm flipV="1">
            <a:off x="4343400" y="2209800"/>
            <a:ext cx="0" cy="2819400"/>
          </a:xfrm>
          <a:prstGeom prst="line">
            <a:avLst/>
          </a:prstGeom>
          <a:noFill/>
          <a:ln w="12700">
            <a:solidFill>
              <a:schemeClr val="tx1"/>
            </a:solidFill>
            <a:round/>
            <a:headEnd type="none" w="sm" len="sm"/>
            <a:tailEnd type="none" w="sm" len="sm"/>
          </a:ln>
        </p:spPr>
        <p:txBody>
          <a:bodyPr>
            <a:prstTxWarp prst="textNoShape">
              <a:avLst/>
            </a:prstTxWarp>
          </a:bodyPr>
          <a:lstStyle/>
          <a:p>
            <a:endParaRPr lang="en-US"/>
          </a:p>
        </p:txBody>
      </p:sp>
      <p:grpSp>
        <p:nvGrpSpPr>
          <p:cNvPr id="442380" name="Group 12"/>
          <p:cNvGrpSpPr>
            <a:grpSpLocks/>
          </p:cNvGrpSpPr>
          <p:nvPr/>
        </p:nvGrpSpPr>
        <p:grpSpPr bwMode="auto">
          <a:xfrm>
            <a:off x="3208338" y="4191000"/>
            <a:ext cx="304800" cy="366713"/>
            <a:chOff x="3936" y="2932"/>
            <a:chExt cx="192" cy="231"/>
          </a:xfrm>
        </p:grpSpPr>
        <p:sp>
          <p:nvSpPr>
            <p:cNvPr id="442453" name="Oval 13"/>
            <p:cNvSpPr>
              <a:spLocks noChangeArrowheads="1"/>
            </p:cNvSpPr>
            <p:nvPr/>
          </p:nvSpPr>
          <p:spPr bwMode="auto">
            <a:xfrm>
              <a:off x="3936" y="2952"/>
              <a:ext cx="192" cy="192"/>
            </a:xfrm>
            <a:prstGeom prst="ellipse">
              <a:avLst/>
            </a:prstGeom>
            <a:solidFill>
              <a:srgbClr val="FF0000">
                <a:alpha val="30196"/>
              </a:srgbClr>
            </a:solid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42454" name="Text Box 14"/>
            <p:cNvSpPr txBox="1">
              <a:spLocks noChangeArrowheads="1"/>
            </p:cNvSpPr>
            <p:nvPr/>
          </p:nvSpPr>
          <p:spPr bwMode="auto">
            <a:xfrm>
              <a:off x="3944" y="2932"/>
              <a:ext cx="176" cy="231"/>
            </a:xfrm>
            <a:prstGeom prst="rect">
              <a:avLst/>
            </a:prstGeom>
            <a:noFill/>
            <a:ln w="12700">
              <a:noFill/>
              <a:miter lim="800000"/>
              <a:headEnd type="none" w="sm" len="sm"/>
              <a:tailEnd type="none" w="sm" len="sm"/>
            </a:ln>
          </p:spPr>
          <p:txBody>
            <a:bodyPr wrap="none">
              <a:prstTxWarp prst="textNoShape">
                <a:avLst/>
              </a:prstTxWarp>
              <a:spAutoFit/>
            </a:bodyPr>
            <a:lstStyle/>
            <a:p>
              <a:r>
                <a:rPr lang="en-GB" sz="1800"/>
                <a:t>?</a:t>
              </a:r>
              <a:endParaRPr lang="en-GB" sz="1800">
                <a:solidFill>
                  <a:srgbClr val="FF0000"/>
                </a:solidFill>
              </a:endParaRPr>
            </a:p>
          </p:txBody>
        </p:sp>
      </p:grpSp>
      <p:sp>
        <p:nvSpPr>
          <p:cNvPr id="442381" name="Line 15"/>
          <p:cNvSpPr>
            <a:spLocks noChangeShapeType="1"/>
          </p:cNvSpPr>
          <p:nvPr/>
        </p:nvSpPr>
        <p:spPr bwMode="auto">
          <a:xfrm rot="5400000" flipH="1">
            <a:off x="3208338" y="4114800"/>
            <a:ext cx="152400" cy="0"/>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grpSp>
        <p:nvGrpSpPr>
          <p:cNvPr id="442382" name="Group 16"/>
          <p:cNvGrpSpPr>
            <a:grpSpLocks/>
          </p:cNvGrpSpPr>
          <p:nvPr/>
        </p:nvGrpSpPr>
        <p:grpSpPr bwMode="auto">
          <a:xfrm>
            <a:off x="7162800" y="1295400"/>
            <a:ext cx="1219200" cy="1219200"/>
            <a:chOff x="912" y="1008"/>
            <a:chExt cx="768" cy="768"/>
          </a:xfrm>
        </p:grpSpPr>
        <p:sp>
          <p:nvSpPr>
            <p:cNvPr id="442451" name="Text Box 17"/>
            <p:cNvSpPr txBox="1">
              <a:spLocks noChangeArrowheads="1"/>
            </p:cNvSpPr>
            <p:nvPr/>
          </p:nvSpPr>
          <p:spPr bwMode="auto">
            <a:xfrm>
              <a:off x="960" y="1070"/>
              <a:ext cx="705" cy="674"/>
            </a:xfrm>
            <a:prstGeom prst="rect">
              <a:avLst/>
            </a:prstGeom>
            <a:noFill/>
            <a:ln w="12700">
              <a:noFill/>
              <a:miter lim="800000"/>
              <a:headEnd type="none" w="sm" len="sm"/>
              <a:tailEnd type="none" w="sm" len="sm"/>
            </a:ln>
          </p:spPr>
          <p:txBody>
            <a:bodyPr wrap="none">
              <a:prstTxWarp prst="textNoShape">
                <a:avLst/>
              </a:prstTxWarp>
              <a:spAutoFit/>
            </a:bodyPr>
            <a:lstStyle/>
            <a:p>
              <a:r>
                <a:rPr lang="en-GB" sz="1600"/>
                <a:t>CPU</a:t>
              </a:r>
            </a:p>
            <a:p>
              <a:r>
                <a:rPr lang="en-GB" sz="1600"/>
                <a:t>address</a:t>
              </a:r>
            </a:p>
            <a:p>
              <a:r>
                <a:rPr lang="en-GB" sz="1600"/>
                <a:t>Data  Data</a:t>
              </a:r>
            </a:p>
            <a:p>
              <a:r>
                <a:rPr lang="en-GB" sz="1600"/>
                <a:t>in       out</a:t>
              </a:r>
              <a:endParaRPr lang="en-GB" sz="1600">
                <a:solidFill>
                  <a:srgbClr val="FF0000"/>
                </a:solidFill>
              </a:endParaRPr>
            </a:p>
          </p:txBody>
        </p:sp>
        <p:sp>
          <p:nvSpPr>
            <p:cNvPr id="442452" name="Rectangle 18"/>
            <p:cNvSpPr>
              <a:spLocks noChangeArrowheads="1"/>
            </p:cNvSpPr>
            <p:nvPr/>
          </p:nvSpPr>
          <p:spPr bwMode="auto">
            <a:xfrm>
              <a:off x="912" y="1008"/>
              <a:ext cx="768" cy="768"/>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grpSp>
      <p:sp>
        <p:nvSpPr>
          <p:cNvPr id="442383" name="Rectangle 19"/>
          <p:cNvSpPr>
            <a:spLocks noChangeArrowheads="1"/>
          </p:cNvSpPr>
          <p:nvPr/>
        </p:nvSpPr>
        <p:spPr bwMode="auto">
          <a:xfrm>
            <a:off x="2674938" y="3048000"/>
            <a:ext cx="3810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2384" name="Text Box 20"/>
          <p:cNvSpPr txBox="1">
            <a:spLocks noChangeArrowheads="1"/>
          </p:cNvSpPr>
          <p:nvPr/>
        </p:nvSpPr>
        <p:spPr bwMode="auto">
          <a:xfrm>
            <a:off x="2522538" y="2514600"/>
            <a:ext cx="596900" cy="581025"/>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valid</a:t>
            </a:r>
          </a:p>
          <a:p>
            <a:pPr algn="ctr"/>
            <a:r>
              <a:rPr lang="en-GB" sz="1600"/>
              <a:t>&lt;1&gt;</a:t>
            </a:r>
            <a:endParaRPr lang="en-GB" sz="1600">
              <a:solidFill>
                <a:srgbClr val="FF0000"/>
              </a:solidFill>
            </a:endParaRPr>
          </a:p>
        </p:txBody>
      </p:sp>
      <p:sp>
        <p:nvSpPr>
          <p:cNvPr id="442385" name="Rectangle 21"/>
          <p:cNvSpPr>
            <a:spLocks noChangeArrowheads="1"/>
          </p:cNvSpPr>
          <p:nvPr/>
        </p:nvSpPr>
        <p:spPr bwMode="auto">
          <a:xfrm>
            <a:off x="4579938" y="3048000"/>
            <a:ext cx="16764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2386" name="Text Box 22"/>
          <p:cNvSpPr txBox="1">
            <a:spLocks noChangeArrowheads="1"/>
          </p:cNvSpPr>
          <p:nvPr/>
        </p:nvSpPr>
        <p:spPr bwMode="auto">
          <a:xfrm>
            <a:off x="4989513" y="2514600"/>
            <a:ext cx="725487" cy="581025"/>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data</a:t>
            </a:r>
          </a:p>
          <a:p>
            <a:pPr algn="ctr"/>
            <a:r>
              <a:rPr lang="en-GB" sz="1600"/>
              <a:t>&lt;512&gt;</a:t>
            </a:r>
            <a:endParaRPr lang="en-GB" sz="1600">
              <a:solidFill>
                <a:srgbClr val="FF0000"/>
              </a:solidFill>
            </a:endParaRPr>
          </a:p>
        </p:txBody>
      </p:sp>
      <p:sp>
        <p:nvSpPr>
          <p:cNvPr id="442387" name="Rectangle 23"/>
          <p:cNvSpPr>
            <a:spLocks noChangeArrowheads="1"/>
          </p:cNvSpPr>
          <p:nvPr/>
        </p:nvSpPr>
        <p:spPr bwMode="auto">
          <a:xfrm>
            <a:off x="3055938" y="3352800"/>
            <a:ext cx="838200" cy="304800"/>
          </a:xfrm>
          <a:prstGeom prst="rect">
            <a:avLst/>
          </a:prstGeom>
          <a:solidFill>
            <a:srgbClr val="FF0000">
              <a:alpha val="39999"/>
            </a:srgbClr>
          </a:solid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2388" name="Rectangle 24"/>
          <p:cNvSpPr>
            <a:spLocks noChangeArrowheads="1"/>
          </p:cNvSpPr>
          <p:nvPr/>
        </p:nvSpPr>
        <p:spPr bwMode="auto">
          <a:xfrm>
            <a:off x="2674938" y="3352800"/>
            <a:ext cx="381000" cy="304800"/>
          </a:xfrm>
          <a:prstGeom prst="rect">
            <a:avLst/>
          </a:prstGeom>
          <a:solidFill>
            <a:srgbClr val="FF0000">
              <a:alpha val="39999"/>
            </a:srgbClr>
          </a:solid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2389" name="Rectangle 25"/>
          <p:cNvSpPr>
            <a:spLocks noChangeArrowheads="1"/>
          </p:cNvSpPr>
          <p:nvPr/>
        </p:nvSpPr>
        <p:spPr bwMode="auto">
          <a:xfrm>
            <a:off x="4579938" y="3352800"/>
            <a:ext cx="1676400" cy="304800"/>
          </a:xfrm>
          <a:prstGeom prst="rect">
            <a:avLst/>
          </a:prstGeom>
          <a:solidFill>
            <a:srgbClr val="FF0000">
              <a:alpha val="39999"/>
            </a:srgbClr>
          </a:solid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2390" name="Rectangle 26"/>
          <p:cNvSpPr>
            <a:spLocks noChangeArrowheads="1"/>
          </p:cNvSpPr>
          <p:nvPr/>
        </p:nvSpPr>
        <p:spPr bwMode="auto">
          <a:xfrm>
            <a:off x="3055938" y="3657600"/>
            <a:ext cx="8382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2391" name="Rectangle 27"/>
          <p:cNvSpPr>
            <a:spLocks noChangeArrowheads="1"/>
          </p:cNvSpPr>
          <p:nvPr/>
        </p:nvSpPr>
        <p:spPr bwMode="auto">
          <a:xfrm>
            <a:off x="2674938" y="3657600"/>
            <a:ext cx="3810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2392" name="Rectangle 28"/>
          <p:cNvSpPr>
            <a:spLocks noChangeArrowheads="1"/>
          </p:cNvSpPr>
          <p:nvPr/>
        </p:nvSpPr>
        <p:spPr bwMode="auto">
          <a:xfrm>
            <a:off x="4579938" y="3657600"/>
            <a:ext cx="16764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2393" name="Rectangle 29"/>
          <p:cNvSpPr>
            <a:spLocks noChangeArrowheads="1"/>
          </p:cNvSpPr>
          <p:nvPr/>
        </p:nvSpPr>
        <p:spPr bwMode="auto">
          <a:xfrm>
            <a:off x="457200" y="2073275"/>
            <a:ext cx="8382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2394" name="Text Box 30"/>
          <p:cNvSpPr txBox="1">
            <a:spLocks noChangeArrowheads="1"/>
          </p:cNvSpPr>
          <p:nvPr/>
        </p:nvSpPr>
        <p:spPr bwMode="auto">
          <a:xfrm>
            <a:off x="609600" y="2057400"/>
            <a:ext cx="455613" cy="336550"/>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tag</a:t>
            </a:r>
            <a:endParaRPr lang="en-GB" sz="1600">
              <a:solidFill>
                <a:srgbClr val="FF0000"/>
              </a:solidFill>
            </a:endParaRPr>
          </a:p>
        </p:txBody>
      </p:sp>
      <p:sp>
        <p:nvSpPr>
          <p:cNvPr id="442395" name="Rectangle 31"/>
          <p:cNvSpPr>
            <a:spLocks noChangeArrowheads="1"/>
          </p:cNvSpPr>
          <p:nvPr/>
        </p:nvSpPr>
        <p:spPr bwMode="auto">
          <a:xfrm>
            <a:off x="1295400" y="2073275"/>
            <a:ext cx="8382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2396" name="Text Box 32"/>
          <p:cNvSpPr txBox="1">
            <a:spLocks noChangeArrowheads="1"/>
          </p:cNvSpPr>
          <p:nvPr/>
        </p:nvSpPr>
        <p:spPr bwMode="auto">
          <a:xfrm>
            <a:off x="4953000" y="5791200"/>
            <a:ext cx="944563" cy="336550"/>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2:1 MUX</a:t>
            </a:r>
            <a:endParaRPr lang="en-GB" sz="1600">
              <a:solidFill>
                <a:srgbClr val="FF0000"/>
              </a:solidFill>
            </a:endParaRPr>
          </a:p>
        </p:txBody>
      </p:sp>
      <p:sp>
        <p:nvSpPr>
          <p:cNvPr id="442397" name="Rectangle 33"/>
          <p:cNvSpPr>
            <a:spLocks noChangeArrowheads="1"/>
          </p:cNvSpPr>
          <p:nvPr/>
        </p:nvSpPr>
        <p:spPr bwMode="auto">
          <a:xfrm>
            <a:off x="2133600" y="2073275"/>
            <a:ext cx="3810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2398" name="Text Box 34"/>
          <p:cNvSpPr txBox="1">
            <a:spLocks noChangeArrowheads="1"/>
          </p:cNvSpPr>
          <p:nvPr/>
        </p:nvSpPr>
        <p:spPr bwMode="auto">
          <a:xfrm>
            <a:off x="609600" y="1524000"/>
            <a:ext cx="1390650" cy="336550"/>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Block address</a:t>
            </a:r>
            <a:endParaRPr lang="en-GB" sz="1600">
              <a:solidFill>
                <a:srgbClr val="FF0000"/>
              </a:solidFill>
            </a:endParaRPr>
          </a:p>
        </p:txBody>
      </p:sp>
      <p:sp>
        <p:nvSpPr>
          <p:cNvPr id="442399" name="Text Box 35"/>
          <p:cNvSpPr txBox="1">
            <a:spLocks noChangeArrowheads="1"/>
          </p:cNvSpPr>
          <p:nvPr/>
        </p:nvSpPr>
        <p:spPr bwMode="auto">
          <a:xfrm>
            <a:off x="525463" y="1752600"/>
            <a:ext cx="646112" cy="336550"/>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&lt;29&gt;</a:t>
            </a:r>
            <a:endParaRPr lang="en-GB" sz="1600">
              <a:solidFill>
                <a:srgbClr val="FF0000"/>
              </a:solidFill>
            </a:endParaRPr>
          </a:p>
        </p:txBody>
      </p:sp>
      <p:sp>
        <p:nvSpPr>
          <p:cNvPr id="442400" name="Text Box 36"/>
          <p:cNvSpPr txBox="1">
            <a:spLocks noChangeArrowheads="1"/>
          </p:cNvSpPr>
          <p:nvPr/>
        </p:nvSpPr>
        <p:spPr bwMode="auto">
          <a:xfrm>
            <a:off x="1447800" y="1752600"/>
            <a:ext cx="550863" cy="336550"/>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&lt;9&gt;</a:t>
            </a:r>
            <a:endParaRPr lang="en-GB" sz="1600">
              <a:solidFill>
                <a:srgbClr val="FF0000"/>
              </a:solidFill>
            </a:endParaRPr>
          </a:p>
        </p:txBody>
      </p:sp>
      <p:sp>
        <p:nvSpPr>
          <p:cNvPr id="442401" name="Text Box 37"/>
          <p:cNvSpPr txBox="1">
            <a:spLocks noChangeArrowheads="1"/>
          </p:cNvSpPr>
          <p:nvPr/>
        </p:nvSpPr>
        <p:spPr bwMode="auto">
          <a:xfrm>
            <a:off x="2057400" y="1752600"/>
            <a:ext cx="550863" cy="336550"/>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&lt;6&gt;</a:t>
            </a:r>
            <a:endParaRPr lang="en-GB" sz="1600">
              <a:solidFill>
                <a:srgbClr val="FF0000"/>
              </a:solidFill>
            </a:endParaRPr>
          </a:p>
        </p:txBody>
      </p:sp>
      <p:sp>
        <p:nvSpPr>
          <p:cNvPr id="442402" name="Text Box 38"/>
          <p:cNvSpPr txBox="1">
            <a:spLocks noChangeArrowheads="1"/>
          </p:cNvSpPr>
          <p:nvPr/>
        </p:nvSpPr>
        <p:spPr bwMode="auto">
          <a:xfrm>
            <a:off x="1981200" y="1295400"/>
            <a:ext cx="684213" cy="581025"/>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Block</a:t>
            </a:r>
          </a:p>
          <a:p>
            <a:pPr algn="ctr"/>
            <a:r>
              <a:rPr lang="en-GB" sz="1600"/>
              <a:t>offset</a:t>
            </a:r>
            <a:endParaRPr lang="en-GB" sz="1600">
              <a:solidFill>
                <a:srgbClr val="FF0000"/>
              </a:solidFill>
            </a:endParaRPr>
          </a:p>
        </p:txBody>
      </p:sp>
      <p:sp>
        <p:nvSpPr>
          <p:cNvPr id="442403" name="Rectangle 39"/>
          <p:cNvSpPr>
            <a:spLocks noChangeArrowheads="1"/>
          </p:cNvSpPr>
          <p:nvPr/>
        </p:nvSpPr>
        <p:spPr bwMode="auto">
          <a:xfrm>
            <a:off x="4800600" y="5791200"/>
            <a:ext cx="12192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2404" name="Line 40"/>
          <p:cNvSpPr>
            <a:spLocks noChangeShapeType="1"/>
          </p:cNvSpPr>
          <p:nvPr/>
        </p:nvSpPr>
        <p:spPr bwMode="auto">
          <a:xfrm rot="-5400000">
            <a:off x="4991100" y="5524500"/>
            <a:ext cx="533400" cy="0"/>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sp>
        <p:nvSpPr>
          <p:cNvPr id="442405" name="Line 41"/>
          <p:cNvSpPr>
            <a:spLocks noChangeShapeType="1"/>
          </p:cNvSpPr>
          <p:nvPr/>
        </p:nvSpPr>
        <p:spPr bwMode="auto">
          <a:xfrm rot="-5400000">
            <a:off x="4575969" y="4720431"/>
            <a:ext cx="2133600" cy="7938"/>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sp>
        <p:nvSpPr>
          <p:cNvPr id="442406" name="Line 42"/>
          <p:cNvSpPr>
            <a:spLocks noChangeShapeType="1"/>
          </p:cNvSpPr>
          <p:nvPr/>
        </p:nvSpPr>
        <p:spPr bwMode="auto">
          <a:xfrm flipH="1">
            <a:off x="2514600" y="2209800"/>
            <a:ext cx="1828800" cy="0"/>
          </a:xfrm>
          <a:prstGeom prst="line">
            <a:avLst/>
          </a:prstGeom>
          <a:noFill/>
          <a:ln w="12700">
            <a:solidFill>
              <a:schemeClr val="tx1"/>
            </a:solidFill>
            <a:round/>
            <a:headEnd/>
            <a:tailEnd type="none" w="sm" len="sm"/>
          </a:ln>
        </p:spPr>
        <p:txBody>
          <a:bodyPr>
            <a:prstTxWarp prst="textNoShape">
              <a:avLst/>
            </a:prstTxWarp>
          </a:bodyPr>
          <a:lstStyle/>
          <a:p>
            <a:endParaRPr lang="en-US"/>
          </a:p>
        </p:txBody>
      </p:sp>
      <p:sp>
        <p:nvSpPr>
          <p:cNvPr id="442407" name="Line 43"/>
          <p:cNvSpPr>
            <a:spLocks noChangeShapeType="1"/>
          </p:cNvSpPr>
          <p:nvPr/>
        </p:nvSpPr>
        <p:spPr bwMode="auto">
          <a:xfrm rot="5400000" flipH="1">
            <a:off x="2636838" y="3848100"/>
            <a:ext cx="381000" cy="0"/>
          </a:xfrm>
          <a:prstGeom prst="line">
            <a:avLst/>
          </a:prstGeom>
          <a:noFill/>
          <a:ln w="12700">
            <a:solidFill>
              <a:schemeClr val="tx1"/>
            </a:solidFill>
            <a:round/>
            <a:headEnd/>
            <a:tailEnd type="none" w="sm" len="sm"/>
          </a:ln>
        </p:spPr>
        <p:txBody>
          <a:bodyPr>
            <a:prstTxWarp prst="textNoShape">
              <a:avLst/>
            </a:prstTxWarp>
          </a:bodyPr>
          <a:lstStyle/>
          <a:p>
            <a:endParaRPr lang="en-US"/>
          </a:p>
        </p:txBody>
      </p:sp>
      <p:sp>
        <p:nvSpPr>
          <p:cNvPr id="442408" name="Line 44"/>
          <p:cNvSpPr>
            <a:spLocks noChangeShapeType="1"/>
          </p:cNvSpPr>
          <p:nvPr/>
        </p:nvSpPr>
        <p:spPr bwMode="auto">
          <a:xfrm rot="5400000" flipH="1">
            <a:off x="3170238" y="3924300"/>
            <a:ext cx="533400" cy="0"/>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sp>
        <p:nvSpPr>
          <p:cNvPr id="442409" name="Line 45"/>
          <p:cNvSpPr>
            <a:spLocks noChangeShapeType="1"/>
          </p:cNvSpPr>
          <p:nvPr/>
        </p:nvSpPr>
        <p:spPr bwMode="auto">
          <a:xfrm flipV="1">
            <a:off x="914400" y="2362200"/>
            <a:ext cx="0" cy="3657600"/>
          </a:xfrm>
          <a:prstGeom prst="line">
            <a:avLst/>
          </a:prstGeom>
          <a:noFill/>
          <a:ln w="12700">
            <a:solidFill>
              <a:schemeClr val="tx1"/>
            </a:solidFill>
            <a:round/>
            <a:headEnd type="none" w="sm" len="sm"/>
            <a:tailEnd type="none" w="sm" len="sm"/>
          </a:ln>
        </p:spPr>
        <p:txBody>
          <a:bodyPr>
            <a:prstTxWarp prst="textNoShape">
              <a:avLst/>
            </a:prstTxWarp>
          </a:bodyPr>
          <a:lstStyle/>
          <a:p>
            <a:endParaRPr lang="en-US"/>
          </a:p>
        </p:txBody>
      </p:sp>
      <p:sp>
        <p:nvSpPr>
          <p:cNvPr id="442410" name="Line 46"/>
          <p:cNvSpPr>
            <a:spLocks noChangeShapeType="1"/>
          </p:cNvSpPr>
          <p:nvPr/>
        </p:nvSpPr>
        <p:spPr bwMode="auto">
          <a:xfrm flipV="1">
            <a:off x="5334000" y="6096000"/>
            <a:ext cx="0" cy="152400"/>
          </a:xfrm>
          <a:prstGeom prst="line">
            <a:avLst/>
          </a:prstGeom>
          <a:noFill/>
          <a:ln w="12700">
            <a:solidFill>
              <a:schemeClr val="tx1"/>
            </a:solidFill>
            <a:round/>
            <a:headEnd type="none" w="sm" len="sm"/>
            <a:tailEnd type="none" w="sm" len="sm"/>
          </a:ln>
        </p:spPr>
        <p:txBody>
          <a:bodyPr>
            <a:prstTxWarp prst="textNoShape">
              <a:avLst/>
            </a:prstTxWarp>
          </a:bodyPr>
          <a:lstStyle/>
          <a:p>
            <a:endParaRPr lang="en-US"/>
          </a:p>
        </p:txBody>
      </p:sp>
      <p:sp>
        <p:nvSpPr>
          <p:cNvPr id="442411" name="Line 47"/>
          <p:cNvSpPr>
            <a:spLocks noChangeShapeType="1"/>
          </p:cNvSpPr>
          <p:nvPr/>
        </p:nvSpPr>
        <p:spPr bwMode="auto">
          <a:xfrm flipH="1">
            <a:off x="5334000" y="6248400"/>
            <a:ext cx="2514600" cy="0"/>
          </a:xfrm>
          <a:prstGeom prst="line">
            <a:avLst/>
          </a:prstGeom>
          <a:noFill/>
          <a:ln w="12700">
            <a:solidFill>
              <a:schemeClr val="tx1"/>
            </a:solidFill>
            <a:round/>
            <a:headEnd/>
            <a:tailEnd type="none" w="sm" len="sm"/>
          </a:ln>
        </p:spPr>
        <p:txBody>
          <a:bodyPr>
            <a:prstTxWarp prst="textNoShape">
              <a:avLst/>
            </a:prstTxWarp>
          </a:bodyPr>
          <a:lstStyle/>
          <a:p>
            <a:endParaRPr lang="en-US"/>
          </a:p>
        </p:txBody>
      </p:sp>
      <p:sp>
        <p:nvSpPr>
          <p:cNvPr id="442412" name="Line 48"/>
          <p:cNvSpPr>
            <a:spLocks noChangeShapeType="1"/>
          </p:cNvSpPr>
          <p:nvPr/>
        </p:nvSpPr>
        <p:spPr bwMode="auto">
          <a:xfrm flipV="1">
            <a:off x="6858000" y="2286000"/>
            <a:ext cx="0" cy="3962400"/>
          </a:xfrm>
          <a:prstGeom prst="line">
            <a:avLst/>
          </a:prstGeom>
          <a:noFill/>
          <a:ln w="12700">
            <a:solidFill>
              <a:schemeClr val="tx1"/>
            </a:solidFill>
            <a:round/>
            <a:headEnd type="none" w="sm" len="sm"/>
            <a:tailEnd type="none" w="sm" len="sm"/>
          </a:ln>
        </p:spPr>
        <p:txBody>
          <a:bodyPr>
            <a:prstTxWarp prst="textNoShape">
              <a:avLst/>
            </a:prstTxWarp>
          </a:bodyPr>
          <a:lstStyle/>
          <a:p>
            <a:endParaRPr lang="en-US"/>
          </a:p>
        </p:txBody>
      </p:sp>
      <p:sp>
        <p:nvSpPr>
          <p:cNvPr id="442413" name="Line 49"/>
          <p:cNvSpPr>
            <a:spLocks noChangeShapeType="1"/>
          </p:cNvSpPr>
          <p:nvPr/>
        </p:nvSpPr>
        <p:spPr bwMode="auto">
          <a:xfrm flipH="1">
            <a:off x="6858000" y="2286000"/>
            <a:ext cx="304800" cy="0"/>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sp>
        <p:nvSpPr>
          <p:cNvPr id="442414" name="Line 50"/>
          <p:cNvSpPr>
            <a:spLocks noChangeShapeType="1"/>
          </p:cNvSpPr>
          <p:nvPr/>
        </p:nvSpPr>
        <p:spPr bwMode="auto">
          <a:xfrm rot="5400000" flipH="1">
            <a:off x="5871369" y="2967831"/>
            <a:ext cx="152400" cy="7938"/>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sp>
        <p:nvSpPr>
          <p:cNvPr id="442415" name="Line 51"/>
          <p:cNvSpPr>
            <a:spLocks noChangeShapeType="1"/>
          </p:cNvSpPr>
          <p:nvPr/>
        </p:nvSpPr>
        <p:spPr bwMode="auto">
          <a:xfrm flipH="1">
            <a:off x="5943600" y="2895600"/>
            <a:ext cx="2133600" cy="0"/>
          </a:xfrm>
          <a:prstGeom prst="line">
            <a:avLst/>
          </a:prstGeom>
          <a:noFill/>
          <a:ln w="12700">
            <a:solidFill>
              <a:schemeClr val="tx1"/>
            </a:solidFill>
            <a:round/>
            <a:headEnd/>
            <a:tailEnd type="none" w="sm" len="sm"/>
          </a:ln>
        </p:spPr>
        <p:txBody>
          <a:bodyPr>
            <a:prstTxWarp prst="textNoShape">
              <a:avLst/>
            </a:prstTxWarp>
          </a:bodyPr>
          <a:lstStyle/>
          <a:p>
            <a:endParaRPr lang="en-US"/>
          </a:p>
        </p:txBody>
      </p:sp>
      <p:sp>
        <p:nvSpPr>
          <p:cNvPr id="442416" name="Line 52"/>
          <p:cNvSpPr>
            <a:spLocks noChangeShapeType="1"/>
          </p:cNvSpPr>
          <p:nvPr/>
        </p:nvSpPr>
        <p:spPr bwMode="auto">
          <a:xfrm rot="5400000" flipH="1">
            <a:off x="7086600" y="3505200"/>
            <a:ext cx="1981200" cy="0"/>
          </a:xfrm>
          <a:prstGeom prst="line">
            <a:avLst/>
          </a:prstGeom>
          <a:noFill/>
          <a:ln w="12700">
            <a:solidFill>
              <a:schemeClr val="tx1"/>
            </a:solidFill>
            <a:round/>
            <a:headEnd/>
            <a:tailEnd type="none" w="sm" len="sm"/>
          </a:ln>
        </p:spPr>
        <p:txBody>
          <a:bodyPr>
            <a:prstTxWarp prst="textNoShape">
              <a:avLst/>
            </a:prstTxWarp>
          </a:bodyPr>
          <a:lstStyle/>
          <a:p>
            <a:endParaRPr lang="en-US"/>
          </a:p>
        </p:txBody>
      </p:sp>
      <p:sp>
        <p:nvSpPr>
          <p:cNvPr id="442417" name="Text Box 53"/>
          <p:cNvSpPr txBox="1">
            <a:spLocks noChangeArrowheads="1"/>
          </p:cNvSpPr>
          <p:nvPr/>
        </p:nvSpPr>
        <p:spPr bwMode="auto">
          <a:xfrm>
            <a:off x="7239000" y="5257800"/>
            <a:ext cx="1168400" cy="581025"/>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Lower level</a:t>
            </a:r>
          </a:p>
          <a:p>
            <a:pPr algn="ctr"/>
            <a:r>
              <a:rPr lang="en-GB" sz="1600"/>
              <a:t>memory</a:t>
            </a:r>
            <a:endParaRPr lang="en-GB" sz="1600">
              <a:solidFill>
                <a:srgbClr val="FF0000"/>
              </a:solidFill>
            </a:endParaRPr>
          </a:p>
        </p:txBody>
      </p:sp>
      <p:sp>
        <p:nvSpPr>
          <p:cNvPr id="442418" name="Rectangle 54"/>
          <p:cNvSpPr>
            <a:spLocks noChangeArrowheads="1"/>
          </p:cNvSpPr>
          <p:nvPr/>
        </p:nvSpPr>
        <p:spPr bwMode="auto">
          <a:xfrm>
            <a:off x="7162800" y="5181600"/>
            <a:ext cx="1371600" cy="762000"/>
          </a:xfrm>
          <a:prstGeom prst="rect">
            <a:avLst/>
          </a:prstGeom>
          <a:noFill/>
          <a:ln w="1270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2419" name="Line 55"/>
          <p:cNvSpPr>
            <a:spLocks noChangeShapeType="1"/>
          </p:cNvSpPr>
          <p:nvPr/>
        </p:nvSpPr>
        <p:spPr bwMode="auto">
          <a:xfrm flipV="1">
            <a:off x="7772400" y="2895600"/>
            <a:ext cx="0" cy="2286000"/>
          </a:xfrm>
          <a:prstGeom prst="line">
            <a:avLst/>
          </a:prstGeom>
          <a:noFill/>
          <a:ln w="12700">
            <a:solidFill>
              <a:schemeClr val="tx1"/>
            </a:solidFill>
            <a:round/>
            <a:headEnd type="none" w="sm" len="sm"/>
            <a:tailEnd type="triangle" w="med" len="med"/>
          </a:ln>
        </p:spPr>
        <p:txBody>
          <a:bodyPr>
            <a:prstTxWarp prst="textNoShape">
              <a:avLst/>
            </a:prstTxWarp>
          </a:bodyPr>
          <a:lstStyle/>
          <a:p>
            <a:endParaRPr lang="en-US"/>
          </a:p>
        </p:txBody>
      </p:sp>
      <p:sp>
        <p:nvSpPr>
          <p:cNvPr id="442420" name="Text Box 56"/>
          <p:cNvSpPr txBox="1">
            <a:spLocks noChangeArrowheads="1"/>
          </p:cNvSpPr>
          <p:nvPr/>
        </p:nvSpPr>
        <p:spPr bwMode="auto">
          <a:xfrm>
            <a:off x="1346200" y="2057400"/>
            <a:ext cx="661988" cy="336550"/>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600"/>
              <a:t>index</a:t>
            </a:r>
            <a:endParaRPr lang="en-GB" sz="1600">
              <a:solidFill>
                <a:srgbClr val="FF0000"/>
              </a:solidFill>
            </a:endParaRPr>
          </a:p>
        </p:txBody>
      </p:sp>
      <p:sp>
        <p:nvSpPr>
          <p:cNvPr id="442421" name="Line 57"/>
          <p:cNvSpPr>
            <a:spLocks noChangeShapeType="1"/>
          </p:cNvSpPr>
          <p:nvPr/>
        </p:nvSpPr>
        <p:spPr bwMode="auto">
          <a:xfrm flipH="1">
            <a:off x="1676400" y="2514600"/>
            <a:ext cx="2438400" cy="0"/>
          </a:xfrm>
          <a:prstGeom prst="line">
            <a:avLst/>
          </a:prstGeom>
          <a:noFill/>
          <a:ln w="12700">
            <a:solidFill>
              <a:schemeClr val="tx1"/>
            </a:solidFill>
            <a:round/>
            <a:headEnd/>
            <a:tailEnd type="none" w="sm" len="sm"/>
          </a:ln>
        </p:spPr>
        <p:txBody>
          <a:bodyPr>
            <a:prstTxWarp prst="textNoShape">
              <a:avLst/>
            </a:prstTxWarp>
          </a:bodyPr>
          <a:lstStyle/>
          <a:p>
            <a:endParaRPr lang="en-US"/>
          </a:p>
        </p:txBody>
      </p:sp>
      <p:sp>
        <p:nvSpPr>
          <p:cNvPr id="442422" name="Line 58"/>
          <p:cNvSpPr>
            <a:spLocks noChangeShapeType="1"/>
          </p:cNvSpPr>
          <p:nvPr/>
        </p:nvSpPr>
        <p:spPr bwMode="auto">
          <a:xfrm flipH="1">
            <a:off x="4122738" y="3581400"/>
            <a:ext cx="457200" cy="0"/>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sp>
        <p:nvSpPr>
          <p:cNvPr id="442423" name="Line 59"/>
          <p:cNvSpPr>
            <a:spLocks noChangeShapeType="1"/>
          </p:cNvSpPr>
          <p:nvPr/>
        </p:nvSpPr>
        <p:spPr bwMode="auto">
          <a:xfrm flipH="1" flipV="1">
            <a:off x="4114800" y="2514600"/>
            <a:ext cx="0" cy="2667000"/>
          </a:xfrm>
          <a:prstGeom prst="line">
            <a:avLst/>
          </a:prstGeom>
          <a:noFill/>
          <a:ln w="12700">
            <a:solidFill>
              <a:schemeClr val="tx1"/>
            </a:solidFill>
            <a:round/>
            <a:headEnd type="none" w="sm" len="sm"/>
            <a:tailEnd type="none" w="sm" len="sm"/>
          </a:ln>
        </p:spPr>
        <p:txBody>
          <a:bodyPr>
            <a:prstTxWarp prst="textNoShape">
              <a:avLst/>
            </a:prstTxWarp>
          </a:bodyPr>
          <a:lstStyle/>
          <a:p>
            <a:endParaRPr lang="en-US"/>
          </a:p>
        </p:txBody>
      </p:sp>
      <p:sp>
        <p:nvSpPr>
          <p:cNvPr id="442424" name="Line 60"/>
          <p:cNvSpPr>
            <a:spLocks noChangeShapeType="1"/>
          </p:cNvSpPr>
          <p:nvPr/>
        </p:nvSpPr>
        <p:spPr bwMode="auto">
          <a:xfrm flipH="1">
            <a:off x="4351338" y="3429000"/>
            <a:ext cx="228600" cy="0"/>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sp>
        <p:nvSpPr>
          <p:cNvPr id="442425" name="Rectangle 61"/>
          <p:cNvSpPr>
            <a:spLocks noChangeArrowheads="1"/>
          </p:cNvSpPr>
          <p:nvPr/>
        </p:nvSpPr>
        <p:spPr bwMode="auto">
          <a:xfrm>
            <a:off x="3048000" y="4648200"/>
            <a:ext cx="8382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2426" name="Line 62"/>
          <p:cNvSpPr>
            <a:spLocks noChangeShapeType="1"/>
          </p:cNvSpPr>
          <p:nvPr/>
        </p:nvSpPr>
        <p:spPr bwMode="auto">
          <a:xfrm flipH="1">
            <a:off x="1676400" y="5105400"/>
            <a:ext cx="990600" cy="0"/>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sp>
        <p:nvSpPr>
          <p:cNvPr id="442427" name="Line 63"/>
          <p:cNvSpPr>
            <a:spLocks noChangeShapeType="1"/>
          </p:cNvSpPr>
          <p:nvPr/>
        </p:nvSpPr>
        <p:spPr bwMode="auto">
          <a:xfrm flipH="1">
            <a:off x="2819400" y="5638800"/>
            <a:ext cx="457200" cy="0"/>
          </a:xfrm>
          <a:prstGeom prst="line">
            <a:avLst/>
          </a:prstGeom>
          <a:noFill/>
          <a:ln w="12700">
            <a:solidFill>
              <a:schemeClr val="tx1"/>
            </a:solidFill>
            <a:round/>
            <a:headEnd/>
            <a:tailEnd type="none" w="sm" len="sm"/>
          </a:ln>
        </p:spPr>
        <p:txBody>
          <a:bodyPr>
            <a:prstTxWarp prst="textNoShape">
              <a:avLst/>
            </a:prstTxWarp>
          </a:bodyPr>
          <a:lstStyle/>
          <a:p>
            <a:endParaRPr lang="en-US"/>
          </a:p>
        </p:txBody>
      </p:sp>
      <p:grpSp>
        <p:nvGrpSpPr>
          <p:cNvPr id="442428" name="Group 64"/>
          <p:cNvGrpSpPr>
            <a:grpSpLocks/>
          </p:cNvGrpSpPr>
          <p:nvPr/>
        </p:nvGrpSpPr>
        <p:grpSpPr bwMode="auto">
          <a:xfrm>
            <a:off x="3200400" y="5791200"/>
            <a:ext cx="304800" cy="366713"/>
            <a:chOff x="3936" y="2932"/>
            <a:chExt cx="192" cy="231"/>
          </a:xfrm>
        </p:grpSpPr>
        <p:sp>
          <p:nvSpPr>
            <p:cNvPr id="442449" name="Oval 65"/>
            <p:cNvSpPr>
              <a:spLocks noChangeArrowheads="1"/>
            </p:cNvSpPr>
            <p:nvPr/>
          </p:nvSpPr>
          <p:spPr bwMode="auto">
            <a:xfrm>
              <a:off x="3936" y="2952"/>
              <a:ext cx="192" cy="192"/>
            </a:xfrm>
            <a:prstGeom prst="ellipse">
              <a:avLst/>
            </a:prstGeom>
            <a:solidFill>
              <a:srgbClr val="FF0000">
                <a:alpha val="30196"/>
              </a:srgbClr>
            </a:solidFill>
            <a:ln w="12700">
              <a:solidFill>
                <a:schemeClr val="tx1"/>
              </a:solidFill>
              <a:round/>
              <a:headEnd type="none" w="sm" len="sm"/>
              <a:tailEnd type="none" w="sm" len="sm"/>
            </a:ln>
          </p:spPr>
          <p:txBody>
            <a:bodyPr wrap="none" anchor="ctr">
              <a:prstTxWarp prst="textNoShape">
                <a:avLst/>
              </a:prstTxWarp>
            </a:bodyPr>
            <a:lstStyle/>
            <a:p>
              <a:endParaRPr lang="en-US"/>
            </a:p>
          </p:txBody>
        </p:sp>
        <p:sp>
          <p:nvSpPr>
            <p:cNvPr id="442450" name="Text Box 66"/>
            <p:cNvSpPr txBox="1">
              <a:spLocks noChangeArrowheads="1"/>
            </p:cNvSpPr>
            <p:nvPr/>
          </p:nvSpPr>
          <p:spPr bwMode="auto">
            <a:xfrm>
              <a:off x="3944" y="2932"/>
              <a:ext cx="176" cy="231"/>
            </a:xfrm>
            <a:prstGeom prst="rect">
              <a:avLst/>
            </a:prstGeom>
            <a:noFill/>
            <a:ln w="12700">
              <a:noFill/>
              <a:miter lim="800000"/>
              <a:headEnd type="none" w="sm" len="sm"/>
              <a:tailEnd type="none" w="sm" len="sm"/>
            </a:ln>
          </p:spPr>
          <p:txBody>
            <a:bodyPr wrap="none">
              <a:prstTxWarp prst="textNoShape">
                <a:avLst/>
              </a:prstTxWarp>
              <a:spAutoFit/>
            </a:bodyPr>
            <a:lstStyle/>
            <a:p>
              <a:r>
                <a:rPr lang="en-GB" sz="1800"/>
                <a:t>?</a:t>
              </a:r>
              <a:endParaRPr lang="en-GB" sz="1800">
                <a:solidFill>
                  <a:srgbClr val="FF0000"/>
                </a:solidFill>
              </a:endParaRPr>
            </a:p>
          </p:txBody>
        </p:sp>
      </p:grpSp>
      <p:sp>
        <p:nvSpPr>
          <p:cNvPr id="442429" name="Line 67"/>
          <p:cNvSpPr>
            <a:spLocks noChangeShapeType="1"/>
          </p:cNvSpPr>
          <p:nvPr/>
        </p:nvSpPr>
        <p:spPr bwMode="auto">
          <a:xfrm rot="5400000" flipH="1">
            <a:off x="3200400" y="5715000"/>
            <a:ext cx="152400" cy="0"/>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sp>
        <p:nvSpPr>
          <p:cNvPr id="442430" name="Rectangle 68"/>
          <p:cNvSpPr>
            <a:spLocks noChangeArrowheads="1"/>
          </p:cNvSpPr>
          <p:nvPr/>
        </p:nvSpPr>
        <p:spPr bwMode="auto">
          <a:xfrm>
            <a:off x="2667000" y="4648200"/>
            <a:ext cx="3810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2431" name="Rectangle 69"/>
          <p:cNvSpPr>
            <a:spLocks noChangeArrowheads="1"/>
          </p:cNvSpPr>
          <p:nvPr/>
        </p:nvSpPr>
        <p:spPr bwMode="auto">
          <a:xfrm>
            <a:off x="4572000" y="4648200"/>
            <a:ext cx="16764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2432" name="Rectangle 70"/>
          <p:cNvSpPr>
            <a:spLocks noChangeArrowheads="1"/>
          </p:cNvSpPr>
          <p:nvPr/>
        </p:nvSpPr>
        <p:spPr bwMode="auto">
          <a:xfrm>
            <a:off x="3048000" y="4953000"/>
            <a:ext cx="838200" cy="304800"/>
          </a:xfrm>
          <a:prstGeom prst="rect">
            <a:avLst/>
          </a:prstGeom>
          <a:solidFill>
            <a:srgbClr val="FF0000">
              <a:alpha val="39999"/>
            </a:srgbClr>
          </a:solid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2433" name="Rectangle 71"/>
          <p:cNvSpPr>
            <a:spLocks noChangeArrowheads="1"/>
          </p:cNvSpPr>
          <p:nvPr/>
        </p:nvSpPr>
        <p:spPr bwMode="auto">
          <a:xfrm>
            <a:off x="2667000" y="4953000"/>
            <a:ext cx="381000" cy="304800"/>
          </a:xfrm>
          <a:prstGeom prst="rect">
            <a:avLst/>
          </a:prstGeom>
          <a:solidFill>
            <a:srgbClr val="FF0000">
              <a:alpha val="39999"/>
            </a:srgbClr>
          </a:solid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2434" name="Rectangle 72"/>
          <p:cNvSpPr>
            <a:spLocks noChangeArrowheads="1"/>
          </p:cNvSpPr>
          <p:nvPr/>
        </p:nvSpPr>
        <p:spPr bwMode="auto">
          <a:xfrm>
            <a:off x="4572000" y="4953000"/>
            <a:ext cx="1676400" cy="304800"/>
          </a:xfrm>
          <a:prstGeom prst="rect">
            <a:avLst/>
          </a:prstGeom>
          <a:solidFill>
            <a:srgbClr val="FF0000">
              <a:alpha val="39999"/>
            </a:srgbClr>
          </a:solid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2435" name="Rectangle 73"/>
          <p:cNvSpPr>
            <a:spLocks noChangeArrowheads="1"/>
          </p:cNvSpPr>
          <p:nvPr/>
        </p:nvSpPr>
        <p:spPr bwMode="auto">
          <a:xfrm>
            <a:off x="3048000" y="5257800"/>
            <a:ext cx="8382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2436" name="Rectangle 74"/>
          <p:cNvSpPr>
            <a:spLocks noChangeArrowheads="1"/>
          </p:cNvSpPr>
          <p:nvPr/>
        </p:nvSpPr>
        <p:spPr bwMode="auto">
          <a:xfrm>
            <a:off x="2667000" y="5257800"/>
            <a:ext cx="3810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2437" name="Rectangle 75"/>
          <p:cNvSpPr>
            <a:spLocks noChangeArrowheads="1"/>
          </p:cNvSpPr>
          <p:nvPr/>
        </p:nvSpPr>
        <p:spPr bwMode="auto">
          <a:xfrm>
            <a:off x="4572000" y="5257800"/>
            <a:ext cx="1676400" cy="304800"/>
          </a:xfrm>
          <a:prstGeom prst="rect">
            <a:avLst/>
          </a:prstGeom>
          <a:noFill/>
          <a:ln w="19050">
            <a:solidFill>
              <a:schemeClr val="tx1"/>
            </a:solidFill>
            <a:miter lim="800000"/>
            <a:headEnd type="none" w="sm" len="sm"/>
            <a:tailEnd type="none" w="sm" len="sm"/>
          </a:ln>
        </p:spPr>
        <p:txBody>
          <a:bodyPr wrap="none" anchor="ctr">
            <a:prstTxWarp prst="textNoShape">
              <a:avLst/>
            </a:prstTxWarp>
          </a:bodyPr>
          <a:lstStyle/>
          <a:p>
            <a:endParaRPr lang="en-US"/>
          </a:p>
        </p:txBody>
      </p:sp>
      <p:sp>
        <p:nvSpPr>
          <p:cNvPr id="442438" name="Line 76"/>
          <p:cNvSpPr>
            <a:spLocks noChangeShapeType="1"/>
          </p:cNvSpPr>
          <p:nvPr/>
        </p:nvSpPr>
        <p:spPr bwMode="auto">
          <a:xfrm rot="5400000" flipH="1">
            <a:off x="2628900" y="5448300"/>
            <a:ext cx="381000" cy="0"/>
          </a:xfrm>
          <a:prstGeom prst="line">
            <a:avLst/>
          </a:prstGeom>
          <a:noFill/>
          <a:ln w="12700">
            <a:solidFill>
              <a:schemeClr val="tx1"/>
            </a:solidFill>
            <a:round/>
            <a:headEnd/>
            <a:tailEnd type="none" w="sm" len="sm"/>
          </a:ln>
        </p:spPr>
        <p:txBody>
          <a:bodyPr>
            <a:prstTxWarp prst="textNoShape">
              <a:avLst/>
            </a:prstTxWarp>
          </a:bodyPr>
          <a:lstStyle/>
          <a:p>
            <a:endParaRPr lang="en-US"/>
          </a:p>
        </p:txBody>
      </p:sp>
      <p:sp>
        <p:nvSpPr>
          <p:cNvPr id="442439" name="Line 77"/>
          <p:cNvSpPr>
            <a:spLocks noChangeShapeType="1"/>
          </p:cNvSpPr>
          <p:nvPr/>
        </p:nvSpPr>
        <p:spPr bwMode="auto">
          <a:xfrm rot="5400000" flipH="1">
            <a:off x="3162300" y="5524500"/>
            <a:ext cx="533400" cy="0"/>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sp>
        <p:nvSpPr>
          <p:cNvPr id="442440" name="Line 78"/>
          <p:cNvSpPr>
            <a:spLocks noChangeShapeType="1"/>
          </p:cNvSpPr>
          <p:nvPr/>
        </p:nvSpPr>
        <p:spPr bwMode="auto">
          <a:xfrm flipH="1">
            <a:off x="4114800" y="5181600"/>
            <a:ext cx="457200" cy="0"/>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sp>
        <p:nvSpPr>
          <p:cNvPr id="442441" name="Line 79"/>
          <p:cNvSpPr>
            <a:spLocks noChangeShapeType="1"/>
          </p:cNvSpPr>
          <p:nvPr/>
        </p:nvSpPr>
        <p:spPr bwMode="auto">
          <a:xfrm flipH="1">
            <a:off x="4343400" y="5029200"/>
            <a:ext cx="228600" cy="0"/>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sp>
        <p:nvSpPr>
          <p:cNvPr id="442442" name="Line 80"/>
          <p:cNvSpPr>
            <a:spLocks noChangeShapeType="1"/>
          </p:cNvSpPr>
          <p:nvPr/>
        </p:nvSpPr>
        <p:spPr bwMode="auto">
          <a:xfrm flipH="1">
            <a:off x="914400" y="4419600"/>
            <a:ext cx="2286000" cy="0"/>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sp>
        <p:nvSpPr>
          <p:cNvPr id="442443" name="Line 81"/>
          <p:cNvSpPr>
            <a:spLocks noChangeShapeType="1"/>
          </p:cNvSpPr>
          <p:nvPr/>
        </p:nvSpPr>
        <p:spPr bwMode="auto">
          <a:xfrm flipH="1">
            <a:off x="914400" y="6019800"/>
            <a:ext cx="2286000" cy="0"/>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sp>
        <p:nvSpPr>
          <p:cNvPr id="442444" name="Line 82"/>
          <p:cNvSpPr>
            <a:spLocks noChangeShapeType="1"/>
          </p:cNvSpPr>
          <p:nvPr/>
        </p:nvSpPr>
        <p:spPr bwMode="auto">
          <a:xfrm flipV="1">
            <a:off x="7848600" y="5943600"/>
            <a:ext cx="0" cy="304800"/>
          </a:xfrm>
          <a:prstGeom prst="line">
            <a:avLst/>
          </a:prstGeom>
          <a:noFill/>
          <a:ln w="12700">
            <a:solidFill>
              <a:schemeClr val="tx1"/>
            </a:solidFill>
            <a:round/>
            <a:headEnd type="none" w="sm" len="sm"/>
            <a:tailEnd type="triangle" w="med" len="med"/>
          </a:ln>
        </p:spPr>
        <p:txBody>
          <a:bodyPr>
            <a:prstTxWarp prst="textNoShape">
              <a:avLst/>
            </a:prstTxWarp>
          </a:bodyPr>
          <a:lstStyle/>
          <a:p>
            <a:endParaRPr lang="en-US"/>
          </a:p>
        </p:txBody>
      </p:sp>
      <p:sp>
        <p:nvSpPr>
          <p:cNvPr id="442445" name="Line 83"/>
          <p:cNvSpPr>
            <a:spLocks noChangeShapeType="1"/>
          </p:cNvSpPr>
          <p:nvPr/>
        </p:nvSpPr>
        <p:spPr bwMode="auto">
          <a:xfrm rot="5400000" flipH="1">
            <a:off x="5871369" y="4568031"/>
            <a:ext cx="152400" cy="7938"/>
          </a:xfrm>
          <a:prstGeom prst="line">
            <a:avLst/>
          </a:prstGeom>
          <a:noFill/>
          <a:ln w="12700">
            <a:solidFill>
              <a:schemeClr val="tx1"/>
            </a:solidFill>
            <a:round/>
            <a:headEnd type="triangle" w="med" len="med"/>
            <a:tailEnd type="none" w="sm" len="sm"/>
          </a:ln>
        </p:spPr>
        <p:txBody>
          <a:bodyPr>
            <a:prstTxWarp prst="textNoShape">
              <a:avLst/>
            </a:prstTxWarp>
          </a:bodyPr>
          <a:lstStyle/>
          <a:p>
            <a:endParaRPr lang="en-US"/>
          </a:p>
        </p:txBody>
      </p:sp>
      <p:sp>
        <p:nvSpPr>
          <p:cNvPr id="442446" name="Line 84"/>
          <p:cNvSpPr>
            <a:spLocks noChangeShapeType="1"/>
          </p:cNvSpPr>
          <p:nvPr/>
        </p:nvSpPr>
        <p:spPr bwMode="auto">
          <a:xfrm flipH="1">
            <a:off x="5943600" y="4495800"/>
            <a:ext cx="2133600" cy="0"/>
          </a:xfrm>
          <a:prstGeom prst="line">
            <a:avLst/>
          </a:prstGeom>
          <a:noFill/>
          <a:ln w="12700">
            <a:solidFill>
              <a:schemeClr val="tx1"/>
            </a:solidFill>
            <a:round/>
            <a:headEnd/>
            <a:tailEnd type="none" w="sm" len="sm"/>
          </a:ln>
        </p:spPr>
        <p:txBody>
          <a:bodyPr>
            <a:prstTxWarp prst="textNoShape">
              <a:avLst/>
            </a:prstTxWarp>
          </a:bodyPr>
          <a:lstStyle/>
          <a:p>
            <a:endParaRPr lang="en-US"/>
          </a:p>
        </p:txBody>
      </p:sp>
      <p:sp>
        <p:nvSpPr>
          <p:cNvPr id="442447" name="Line 85"/>
          <p:cNvSpPr>
            <a:spLocks noChangeShapeType="1"/>
          </p:cNvSpPr>
          <p:nvPr/>
        </p:nvSpPr>
        <p:spPr bwMode="auto">
          <a:xfrm flipV="1">
            <a:off x="7467600" y="4495800"/>
            <a:ext cx="0" cy="685800"/>
          </a:xfrm>
          <a:prstGeom prst="line">
            <a:avLst/>
          </a:prstGeom>
          <a:noFill/>
          <a:ln w="12700">
            <a:solidFill>
              <a:schemeClr val="tx1"/>
            </a:solidFill>
            <a:round/>
            <a:headEnd type="none" w="sm" len="sm"/>
            <a:tailEnd type="triangle" w="med" len="med"/>
          </a:ln>
        </p:spPr>
        <p:txBody>
          <a:bodyPr>
            <a:prstTxWarp prst="textNoShape">
              <a:avLst/>
            </a:prstTxWarp>
          </a:bodyPr>
          <a:lstStyle/>
          <a:p>
            <a:endParaRPr lang="en-US"/>
          </a:p>
        </p:txBody>
      </p:sp>
      <p:sp>
        <p:nvSpPr>
          <p:cNvPr id="442448" name="Text Box 86"/>
          <p:cNvSpPr txBox="1">
            <a:spLocks noChangeArrowheads="1"/>
          </p:cNvSpPr>
          <p:nvPr/>
        </p:nvSpPr>
        <p:spPr bwMode="auto">
          <a:xfrm>
            <a:off x="8221663" y="3200400"/>
            <a:ext cx="903287" cy="1190625"/>
          </a:xfrm>
          <a:prstGeom prst="rect">
            <a:avLst/>
          </a:prstGeom>
          <a:noFill/>
          <a:ln w="12700">
            <a:noFill/>
            <a:miter lim="800000"/>
            <a:headEnd type="none" w="sm" len="sm"/>
            <a:tailEnd type="none" w="sm" len="sm"/>
          </a:ln>
        </p:spPr>
        <p:txBody>
          <a:bodyPr wrap="none">
            <a:prstTxWarp prst="textNoShape">
              <a:avLst/>
            </a:prstTxWarp>
            <a:spAutoFit/>
          </a:bodyPr>
          <a:lstStyle/>
          <a:p>
            <a:pPr algn="ctr"/>
            <a:r>
              <a:rPr lang="en-GB" sz="1800"/>
              <a:t>H&amp;P</a:t>
            </a:r>
          </a:p>
          <a:p>
            <a:pPr algn="ctr"/>
            <a:r>
              <a:rPr lang="en-GB" sz="1800"/>
              <a:t>Fig. 5.7</a:t>
            </a:r>
          </a:p>
          <a:p>
            <a:pPr algn="ctr"/>
            <a:r>
              <a:rPr lang="en-GB" sz="1800"/>
              <a:t>(Alpha</a:t>
            </a:r>
          </a:p>
          <a:p>
            <a:pPr algn="ctr"/>
            <a:r>
              <a:rPr lang="en-GB" sz="1800"/>
              <a:t>21264)</a:t>
            </a:r>
          </a:p>
        </p:txBody>
      </p:sp>
    </p:spTree>
    <p:extLst>
      <p:ext uri="{BB962C8B-B14F-4D97-AF65-F5344CB8AC3E}">
        <p14:creationId xmlns:p14="http://schemas.microsoft.com/office/powerpoint/2010/main" val="134914660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dirty="0"/>
              <a:t>CS/ECE 6810: Computer Architecture</a:t>
            </a:r>
            <a:endParaRPr lang="en-US" sz="1400" dirty="0">
              <a:latin typeface="Garamond" pitchFamily="-112" charset="0"/>
            </a:endParaRPr>
          </a:p>
        </p:txBody>
      </p:sp>
      <p:sp>
        <p:nvSpPr>
          <p:cNvPr id="5" name="Slide Number Placeholder 4"/>
          <p:cNvSpPr>
            <a:spLocks noGrp="1"/>
          </p:cNvSpPr>
          <p:nvPr>
            <p:ph type="sldNum" sz="quarter" idx="11"/>
          </p:nvPr>
        </p:nvSpPr>
        <p:spPr/>
        <p:txBody>
          <a:bodyPr/>
          <a:lstStyle/>
          <a:p>
            <a:pPr>
              <a:defRPr/>
            </a:pPr>
            <a:fld id="{2414927F-1393-5348-AE8D-5F00BF2068EF}" type="slidenum">
              <a:rPr lang="en-US"/>
              <a:pPr>
                <a:defRPr/>
              </a:pPr>
              <a:t>16</a:t>
            </a:fld>
            <a:endParaRPr lang="en-US">
              <a:latin typeface="Garamond" pitchFamily="-112" charset="0"/>
            </a:endParaRPr>
          </a:p>
        </p:txBody>
      </p:sp>
      <p:sp>
        <p:nvSpPr>
          <p:cNvPr id="434180" name="Rectangle 2"/>
          <p:cNvSpPr>
            <a:spLocks noGrp="1" noChangeArrowheads="1"/>
          </p:cNvSpPr>
          <p:nvPr>
            <p:ph type="title"/>
          </p:nvPr>
        </p:nvSpPr>
        <p:spPr/>
        <p:txBody>
          <a:bodyPr/>
          <a:lstStyle/>
          <a:p>
            <a:r>
              <a:rPr lang="en-US" sz="1800"/>
              <a:t>Cache Block Replacement</a:t>
            </a:r>
            <a:endParaRPr lang="en-US" sz="1600"/>
          </a:p>
        </p:txBody>
      </p:sp>
      <p:sp>
        <p:nvSpPr>
          <p:cNvPr id="434181" name="Rectangle 3"/>
          <p:cNvSpPr>
            <a:spLocks noGrp="1" noChangeArrowheads="1"/>
          </p:cNvSpPr>
          <p:nvPr>
            <p:ph type="body" idx="1"/>
          </p:nvPr>
        </p:nvSpPr>
        <p:spPr>
          <a:xfrm>
            <a:off x="457200" y="1268760"/>
            <a:ext cx="8382000" cy="5256584"/>
          </a:xfrm>
        </p:spPr>
        <p:txBody>
          <a:bodyPr/>
          <a:lstStyle/>
          <a:p>
            <a:pPr>
              <a:lnSpc>
                <a:spcPct val="100000"/>
              </a:lnSpc>
            </a:pPr>
            <a:r>
              <a:rPr lang="en-US" sz="2000" dirty="0"/>
              <a:t>To bring a new block in the cache, another block must be evicted</a:t>
            </a:r>
          </a:p>
          <a:p>
            <a:pPr>
              <a:lnSpc>
                <a:spcPct val="100000"/>
              </a:lnSpc>
            </a:pPr>
            <a:r>
              <a:rPr lang="en-US" sz="2000" dirty="0"/>
              <a:t>Direct mapped caches: there is only one choice of block to evict</a:t>
            </a:r>
          </a:p>
          <a:p>
            <a:pPr>
              <a:lnSpc>
                <a:spcPct val="100000"/>
              </a:lnSpc>
            </a:pPr>
            <a:r>
              <a:rPr lang="en-US" sz="2000" dirty="0"/>
              <a:t>Associative caches: how to choose a “victim”?</a:t>
            </a:r>
          </a:p>
          <a:p>
            <a:pPr lvl="1">
              <a:spcBef>
                <a:spcPts val="600"/>
              </a:spcBef>
            </a:pPr>
            <a:r>
              <a:rPr lang="en-US" sz="1800" dirty="0">
                <a:sym typeface="Symbol" pitchFamily="-112" charset="2"/>
              </a:rPr>
              <a:t>Random: select a victim block in the set randomly</a:t>
            </a:r>
          </a:p>
          <a:p>
            <a:pPr lvl="1">
              <a:spcBef>
                <a:spcPts val="600"/>
              </a:spcBef>
            </a:pPr>
            <a:r>
              <a:rPr lang="en-US" sz="1800" dirty="0">
                <a:sym typeface="Symbol" pitchFamily="-112" charset="2"/>
              </a:rPr>
              <a:t>Least-recently-used (LRU): select the block that has not been used for the longest period of time</a:t>
            </a:r>
            <a:br>
              <a:rPr lang="en-US" sz="1800" dirty="0">
                <a:sym typeface="Symbol" pitchFamily="-112" charset="2"/>
              </a:rPr>
            </a:br>
            <a:r>
              <a:rPr lang="en-US" sz="1800" dirty="0">
                <a:sym typeface="Symbol" pitchFamily="-112" charset="2"/>
              </a:rPr>
              <a:t>   works well in practice because of the principle of locality</a:t>
            </a:r>
          </a:p>
          <a:p>
            <a:pPr lvl="1">
              <a:spcBef>
                <a:spcPts val="600"/>
              </a:spcBef>
            </a:pPr>
            <a:r>
              <a:rPr lang="en-US" sz="1800" dirty="0">
                <a:sym typeface="Symbol" pitchFamily="-112" charset="2"/>
              </a:rPr>
              <a:t>Not-recently-used (NRU): select a block other than the most-recently used block. </a:t>
            </a:r>
          </a:p>
          <a:p>
            <a:pPr lvl="2"/>
            <a:r>
              <a:rPr lang="en-US" sz="1600" dirty="0">
                <a:sym typeface="Symbol" pitchFamily="-112" charset="2"/>
              </a:rPr>
              <a:t>Need less storage than LRU and performs better than random</a:t>
            </a:r>
          </a:p>
          <a:p>
            <a:pPr lvl="1"/>
            <a:r>
              <a:rPr lang="en-US" sz="1800" dirty="0">
                <a:sym typeface="Symbol" pitchFamily="-112" charset="2"/>
              </a:rPr>
              <a:t>Ideal: select the block that will not be used for the longest period of time </a:t>
            </a:r>
            <a:br>
              <a:rPr lang="en-US" sz="1800" dirty="0">
                <a:sym typeface="Symbol" pitchFamily="-112" charset="2"/>
              </a:rPr>
            </a:br>
            <a:r>
              <a:rPr lang="en-US" sz="1800" dirty="0">
                <a:sym typeface="Symbol" pitchFamily="-112" charset="2"/>
              </a:rPr>
              <a:t>   requires knowledge of the future </a:t>
            </a:r>
            <a:r>
              <a:rPr lang="en-US" sz="1800" dirty="0">
                <a:sym typeface="Wingdings"/>
              </a:rPr>
              <a:t> unrealistic!</a:t>
            </a:r>
            <a:endParaRPr lang="en-US" sz="1800" dirty="0">
              <a:sym typeface="Symbol" pitchFamily="-112" charset="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dirty="0"/>
              <a:t>CS/ECE 6810: Computer Architecture</a:t>
            </a:r>
            <a:endParaRPr lang="en-US" sz="1400" dirty="0">
              <a:latin typeface="Garamond" pitchFamily="-112" charset="0"/>
            </a:endParaRPr>
          </a:p>
        </p:txBody>
      </p:sp>
      <p:sp>
        <p:nvSpPr>
          <p:cNvPr id="5" name="Slide Number Placeholder 4"/>
          <p:cNvSpPr>
            <a:spLocks noGrp="1"/>
          </p:cNvSpPr>
          <p:nvPr>
            <p:ph type="sldNum" sz="quarter" idx="11"/>
          </p:nvPr>
        </p:nvSpPr>
        <p:spPr/>
        <p:txBody>
          <a:bodyPr/>
          <a:lstStyle/>
          <a:p>
            <a:pPr>
              <a:defRPr/>
            </a:pPr>
            <a:fld id="{5D3FC5FD-F828-6C40-83F8-68D7F08C1487}" type="slidenum">
              <a:rPr lang="en-US"/>
              <a:pPr>
                <a:defRPr/>
              </a:pPr>
              <a:t>17</a:t>
            </a:fld>
            <a:endParaRPr lang="en-US">
              <a:latin typeface="Garamond" pitchFamily="-112" charset="0"/>
            </a:endParaRPr>
          </a:p>
        </p:txBody>
      </p:sp>
      <p:sp>
        <p:nvSpPr>
          <p:cNvPr id="436228" name="Rectangle 2"/>
          <p:cNvSpPr>
            <a:spLocks noGrp="1" noChangeArrowheads="1"/>
          </p:cNvSpPr>
          <p:nvPr>
            <p:ph type="title"/>
          </p:nvPr>
        </p:nvSpPr>
        <p:spPr/>
        <p:txBody>
          <a:bodyPr/>
          <a:lstStyle/>
          <a:p>
            <a:r>
              <a:rPr lang="en-US" sz="1800"/>
              <a:t>Cache Write Strategies</a:t>
            </a:r>
            <a:endParaRPr lang="en-US" sz="1600"/>
          </a:p>
        </p:txBody>
      </p:sp>
      <p:sp>
        <p:nvSpPr>
          <p:cNvPr id="436229" name="Rectangle 3"/>
          <p:cNvSpPr>
            <a:spLocks noGrp="1" noChangeArrowheads="1"/>
          </p:cNvSpPr>
          <p:nvPr>
            <p:ph type="body" idx="1"/>
          </p:nvPr>
        </p:nvSpPr>
        <p:spPr>
          <a:xfrm>
            <a:off x="457200" y="1143000"/>
            <a:ext cx="8507288" cy="5166320"/>
          </a:xfrm>
        </p:spPr>
        <p:txBody>
          <a:bodyPr/>
          <a:lstStyle/>
          <a:p>
            <a:pPr>
              <a:lnSpc>
                <a:spcPct val="110000"/>
              </a:lnSpc>
              <a:buFont typeface="Wingdings" pitchFamily="-112" charset="2"/>
              <a:buNone/>
            </a:pPr>
            <a:r>
              <a:rPr lang="en-US" sz="2000" dirty="0">
                <a:sym typeface="Symbol" pitchFamily="-112" charset="2"/>
              </a:rPr>
              <a:t>How are the writes handled (</a:t>
            </a:r>
            <a:r>
              <a:rPr lang="en-US" sz="2000" dirty="0" err="1">
                <a:sym typeface="Symbol" pitchFamily="-112" charset="2"/>
              </a:rPr>
              <a:t>i.e</a:t>
            </a:r>
            <a:r>
              <a:rPr lang="en-US" sz="2000" dirty="0">
                <a:sym typeface="Symbol" pitchFamily="-112" charset="2"/>
              </a:rPr>
              <a:t>, when do stores reach a lower level of the memory hierarchy)?</a:t>
            </a:r>
          </a:p>
          <a:p>
            <a:pPr>
              <a:lnSpc>
                <a:spcPct val="110000"/>
              </a:lnSpc>
            </a:pPr>
            <a:endParaRPr lang="en-US" sz="2000" dirty="0">
              <a:sym typeface="Symbol" pitchFamily="-112" charset="2"/>
            </a:endParaRPr>
          </a:p>
          <a:p>
            <a:pPr>
              <a:lnSpc>
                <a:spcPct val="110000"/>
              </a:lnSpc>
            </a:pPr>
            <a:r>
              <a:rPr lang="en-US" sz="2000" b="1" dirty="0">
                <a:solidFill>
                  <a:srgbClr val="FF0000"/>
                </a:solidFill>
                <a:sym typeface="Symbol" pitchFamily="-112" charset="2"/>
              </a:rPr>
              <a:t>Write through</a:t>
            </a:r>
            <a:r>
              <a:rPr lang="en-US" sz="2000" dirty="0">
                <a:sym typeface="Symbol" pitchFamily="-112" charset="2"/>
              </a:rPr>
              <a:t>: write to lower level as cache is modified</a:t>
            </a:r>
          </a:p>
          <a:p>
            <a:pPr lvl="1">
              <a:lnSpc>
                <a:spcPct val="95000"/>
              </a:lnSpc>
            </a:pPr>
            <a:r>
              <a:rPr lang="en-US" sz="1800" dirty="0">
                <a:sym typeface="Symbol" pitchFamily="-112" charset="2"/>
              </a:rPr>
              <a:t>Writes will perform at the speed of the lower level of memory hierarchy</a:t>
            </a:r>
          </a:p>
          <a:p>
            <a:pPr lvl="1">
              <a:lnSpc>
                <a:spcPct val="95000"/>
              </a:lnSpc>
            </a:pPr>
            <a:r>
              <a:rPr lang="en-US" sz="1800" dirty="0">
                <a:sym typeface="Symbol" pitchFamily="-112" charset="2"/>
              </a:rPr>
              <a:t>Generates more traffic</a:t>
            </a:r>
          </a:p>
          <a:p>
            <a:pPr lvl="1">
              <a:lnSpc>
                <a:spcPct val="95000"/>
              </a:lnSpc>
            </a:pPr>
            <a:r>
              <a:rPr lang="en-US" sz="1800" dirty="0">
                <a:sym typeface="Symbol" pitchFamily="-112" charset="2"/>
              </a:rPr>
              <a:t>Lower level is kept </a:t>
            </a:r>
            <a:r>
              <a:rPr lang="en-US" sz="1800" b="1" dirty="0">
                <a:solidFill>
                  <a:srgbClr val="FF0000"/>
                </a:solidFill>
                <a:sym typeface="Symbol" pitchFamily="-112" charset="2"/>
              </a:rPr>
              <a:t>coherent </a:t>
            </a:r>
            <a:r>
              <a:rPr lang="en-US" sz="1800" dirty="0">
                <a:sym typeface="Symbol" pitchFamily="-112" charset="2"/>
              </a:rPr>
              <a:t>with higher level </a:t>
            </a:r>
            <a:br>
              <a:rPr lang="en-US" sz="1800" dirty="0">
                <a:sym typeface="Symbol" pitchFamily="-112" charset="2"/>
              </a:rPr>
            </a:br>
            <a:r>
              <a:rPr lang="en-US" sz="1800" dirty="0">
                <a:sym typeface="Symbol" pitchFamily="-112" charset="2"/>
              </a:rPr>
              <a:t>(particularly important for multi-processors)</a:t>
            </a:r>
          </a:p>
          <a:p>
            <a:pPr marL="457200" lvl="1" indent="0">
              <a:lnSpc>
                <a:spcPct val="90000"/>
              </a:lnSpc>
              <a:buNone/>
            </a:pPr>
            <a:endParaRPr lang="en-US" sz="1800" dirty="0">
              <a:sym typeface="Symbol" pitchFamily="-112" charset="2"/>
            </a:endParaRPr>
          </a:p>
          <a:p>
            <a:pPr>
              <a:lnSpc>
                <a:spcPct val="110000"/>
              </a:lnSpc>
            </a:pPr>
            <a:r>
              <a:rPr lang="en-US" sz="2000" b="1" dirty="0">
                <a:solidFill>
                  <a:srgbClr val="FF0000"/>
                </a:solidFill>
                <a:sym typeface="Symbol" pitchFamily="-112" charset="2"/>
              </a:rPr>
              <a:t>Write back</a:t>
            </a:r>
            <a:r>
              <a:rPr lang="en-US" sz="2000" dirty="0">
                <a:sym typeface="Symbol" pitchFamily="-112" charset="2"/>
              </a:rPr>
              <a:t>: only write to lower level when the block is evicted</a:t>
            </a:r>
          </a:p>
          <a:p>
            <a:pPr lvl="1">
              <a:lnSpc>
                <a:spcPct val="95000"/>
              </a:lnSpc>
            </a:pPr>
            <a:r>
              <a:rPr lang="en-US" sz="1800" dirty="0">
                <a:sym typeface="Symbol" pitchFamily="-112" charset="2"/>
              </a:rPr>
              <a:t>Writes will perform at the speed of the higher level</a:t>
            </a:r>
          </a:p>
          <a:p>
            <a:pPr lvl="1">
              <a:lnSpc>
                <a:spcPct val="95000"/>
              </a:lnSpc>
            </a:pPr>
            <a:r>
              <a:rPr lang="en-US" sz="1800" dirty="0">
                <a:sym typeface="Symbol" pitchFamily="-112" charset="2"/>
              </a:rPr>
              <a:t>Generates less traffic</a:t>
            </a:r>
          </a:p>
          <a:p>
            <a:pPr lvl="1">
              <a:lnSpc>
                <a:spcPct val="95000"/>
              </a:lnSpc>
            </a:pPr>
            <a:r>
              <a:rPr lang="en-US" sz="1800" dirty="0">
                <a:sym typeface="Symbol" pitchFamily="-112" charset="2"/>
              </a:rPr>
              <a:t>Lower level can have stale data for some time </a:t>
            </a:r>
            <a:br>
              <a:rPr lang="en-US" sz="1800" dirty="0">
                <a:sym typeface="Symbol" pitchFamily="-112" charset="2"/>
              </a:rPr>
            </a:br>
            <a:r>
              <a:rPr lang="en-US" sz="1800" dirty="0">
                <a:sym typeface="Symbol" pitchFamily="-112" charset="2"/>
              </a:rPr>
              <a:t>(</a:t>
            </a:r>
            <a:r>
              <a:rPr lang="en-US" sz="1800" b="1" dirty="0">
                <a:solidFill>
                  <a:srgbClr val="FF0000"/>
                </a:solidFill>
                <a:sym typeface="Symbol" pitchFamily="-112" charset="2"/>
              </a:rPr>
              <a:t>cache-coherency</a:t>
            </a:r>
            <a:r>
              <a:rPr lang="en-US" sz="1800" b="1" dirty="0">
                <a:sym typeface="Symbol" pitchFamily="-112" charset="2"/>
              </a:rPr>
              <a:t> </a:t>
            </a:r>
            <a:r>
              <a:rPr lang="en-US" sz="1800" dirty="0">
                <a:sym typeface="Symbol" pitchFamily="-112" charset="2"/>
              </a:rPr>
              <a:t>problem)</a:t>
            </a:r>
          </a:p>
          <a:p>
            <a:pPr lvl="1">
              <a:lnSpc>
                <a:spcPct val="90000"/>
              </a:lnSpc>
            </a:pPr>
            <a:endParaRPr lang="en-US" sz="1800" dirty="0">
              <a:sym typeface="Symbol" pitchFamily="-112" charset="2"/>
            </a:endParaRPr>
          </a:p>
        </p:txBody>
      </p:sp>
      <p:pic>
        <p:nvPicPr>
          <p:cNvPr id="2" name="Picture 1" descr="happyfacesadface-640x303.png"/>
          <p:cNvPicPr>
            <a:picLocks noChangeAspect="1"/>
          </p:cNvPicPr>
          <p:nvPr/>
        </p:nvPicPr>
        <p:blipFill rotWithShape="1">
          <a:blip r:embed="rId3">
            <a:extLst>
              <a:ext uri="{28A0092B-C50C-407E-A947-70E740481C1C}">
                <a14:useLocalDpi xmlns:a14="http://schemas.microsoft.com/office/drawing/2010/main" val="0"/>
              </a:ext>
            </a:extLst>
          </a:blip>
          <a:srcRect l="49407" b="-4406"/>
          <a:stretch/>
        </p:blipFill>
        <p:spPr>
          <a:xfrm>
            <a:off x="8460432" y="2756270"/>
            <a:ext cx="390866" cy="381875"/>
          </a:xfrm>
          <a:prstGeom prst="rect">
            <a:avLst/>
          </a:prstGeom>
        </p:spPr>
      </p:pic>
      <p:pic>
        <p:nvPicPr>
          <p:cNvPr id="7" name="Picture 6" descr="happyfacesadface-640x303.png"/>
          <p:cNvPicPr>
            <a:picLocks noChangeAspect="1"/>
          </p:cNvPicPr>
          <p:nvPr/>
        </p:nvPicPr>
        <p:blipFill rotWithShape="1">
          <a:blip r:embed="rId3">
            <a:extLst>
              <a:ext uri="{28A0092B-C50C-407E-A947-70E740481C1C}">
                <a14:useLocalDpi xmlns:a14="http://schemas.microsoft.com/office/drawing/2010/main" val="0"/>
              </a:ext>
            </a:extLst>
          </a:blip>
          <a:srcRect r="47476" b="808"/>
          <a:stretch/>
        </p:blipFill>
        <p:spPr>
          <a:xfrm>
            <a:off x="8472412" y="3717032"/>
            <a:ext cx="405780" cy="362804"/>
          </a:xfrm>
          <a:prstGeom prst="rect">
            <a:avLst/>
          </a:prstGeom>
        </p:spPr>
      </p:pic>
      <p:pic>
        <p:nvPicPr>
          <p:cNvPr id="8" name="Picture 7" descr="happyfacesadface-640x303.png"/>
          <p:cNvPicPr>
            <a:picLocks noChangeAspect="1"/>
          </p:cNvPicPr>
          <p:nvPr/>
        </p:nvPicPr>
        <p:blipFill rotWithShape="1">
          <a:blip r:embed="rId3">
            <a:extLst>
              <a:ext uri="{28A0092B-C50C-407E-A947-70E740481C1C}">
                <a14:useLocalDpi xmlns:a14="http://schemas.microsoft.com/office/drawing/2010/main" val="0"/>
              </a:ext>
            </a:extLst>
          </a:blip>
          <a:srcRect l="49407" b="-4406"/>
          <a:stretch/>
        </p:blipFill>
        <p:spPr>
          <a:xfrm>
            <a:off x="8460432" y="3224958"/>
            <a:ext cx="390866" cy="381875"/>
          </a:xfrm>
          <a:prstGeom prst="rect">
            <a:avLst/>
          </a:prstGeom>
        </p:spPr>
      </p:pic>
      <p:pic>
        <p:nvPicPr>
          <p:cNvPr id="9" name="Picture 8" descr="happyfacesadface-640x303.png"/>
          <p:cNvPicPr>
            <a:picLocks noChangeAspect="1"/>
          </p:cNvPicPr>
          <p:nvPr/>
        </p:nvPicPr>
        <p:blipFill rotWithShape="1">
          <a:blip r:embed="rId3">
            <a:extLst>
              <a:ext uri="{28A0092B-C50C-407E-A947-70E740481C1C}">
                <a14:useLocalDpi xmlns:a14="http://schemas.microsoft.com/office/drawing/2010/main" val="0"/>
              </a:ext>
            </a:extLst>
          </a:blip>
          <a:srcRect r="47476" b="808"/>
          <a:stretch/>
        </p:blipFill>
        <p:spPr>
          <a:xfrm>
            <a:off x="8460432" y="4797152"/>
            <a:ext cx="405780" cy="362804"/>
          </a:xfrm>
          <a:prstGeom prst="rect">
            <a:avLst/>
          </a:prstGeom>
        </p:spPr>
      </p:pic>
      <p:pic>
        <p:nvPicPr>
          <p:cNvPr id="10" name="Picture 9" descr="happyfacesadface-640x303.png"/>
          <p:cNvPicPr>
            <a:picLocks noChangeAspect="1"/>
          </p:cNvPicPr>
          <p:nvPr/>
        </p:nvPicPr>
        <p:blipFill rotWithShape="1">
          <a:blip r:embed="rId3">
            <a:extLst>
              <a:ext uri="{28A0092B-C50C-407E-A947-70E740481C1C}">
                <a14:useLocalDpi xmlns:a14="http://schemas.microsoft.com/office/drawing/2010/main" val="0"/>
              </a:ext>
            </a:extLst>
          </a:blip>
          <a:srcRect r="47476" b="808"/>
          <a:stretch/>
        </p:blipFill>
        <p:spPr>
          <a:xfrm>
            <a:off x="8460432" y="5214454"/>
            <a:ext cx="405780" cy="362804"/>
          </a:xfrm>
          <a:prstGeom prst="rect">
            <a:avLst/>
          </a:prstGeom>
        </p:spPr>
      </p:pic>
      <p:pic>
        <p:nvPicPr>
          <p:cNvPr id="11" name="Picture 10" descr="happyfacesadface-640x303.png"/>
          <p:cNvPicPr>
            <a:picLocks noChangeAspect="1"/>
          </p:cNvPicPr>
          <p:nvPr/>
        </p:nvPicPr>
        <p:blipFill rotWithShape="1">
          <a:blip r:embed="rId3">
            <a:extLst>
              <a:ext uri="{28A0092B-C50C-407E-A947-70E740481C1C}">
                <a14:useLocalDpi xmlns:a14="http://schemas.microsoft.com/office/drawing/2010/main" val="0"/>
              </a:ext>
            </a:extLst>
          </a:blip>
          <a:srcRect l="49407" b="-4406"/>
          <a:stretch/>
        </p:blipFill>
        <p:spPr>
          <a:xfrm>
            <a:off x="8460432" y="5639413"/>
            <a:ext cx="390866" cy="38187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622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622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622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36229">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6229">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3622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36229">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dirty="0"/>
              <a:t>CS/ECE 6810: Computer Architecture</a:t>
            </a:r>
            <a:endParaRPr lang="en-US" sz="1400" dirty="0">
              <a:latin typeface="Garamond" pitchFamily="-112" charset="0"/>
            </a:endParaRPr>
          </a:p>
        </p:txBody>
      </p:sp>
      <p:sp>
        <p:nvSpPr>
          <p:cNvPr id="5" name="Slide Number Placeholder 4"/>
          <p:cNvSpPr>
            <a:spLocks noGrp="1"/>
          </p:cNvSpPr>
          <p:nvPr>
            <p:ph type="sldNum" sz="quarter" idx="11"/>
          </p:nvPr>
        </p:nvSpPr>
        <p:spPr/>
        <p:txBody>
          <a:bodyPr/>
          <a:lstStyle/>
          <a:p>
            <a:pPr>
              <a:defRPr/>
            </a:pPr>
            <a:fld id="{C47CA59F-D056-7A40-BE03-B5A6C5D616C3}" type="slidenum">
              <a:rPr lang="en-US"/>
              <a:pPr>
                <a:defRPr/>
              </a:pPr>
              <a:t>18</a:t>
            </a:fld>
            <a:endParaRPr lang="en-US">
              <a:latin typeface="Garamond" pitchFamily="-112" charset="0"/>
            </a:endParaRPr>
          </a:p>
        </p:txBody>
      </p:sp>
      <p:sp>
        <p:nvSpPr>
          <p:cNvPr id="438276" name="Rectangle 2"/>
          <p:cNvSpPr>
            <a:spLocks noGrp="1" noChangeArrowheads="1"/>
          </p:cNvSpPr>
          <p:nvPr>
            <p:ph type="title"/>
          </p:nvPr>
        </p:nvSpPr>
        <p:spPr/>
        <p:txBody>
          <a:bodyPr/>
          <a:lstStyle/>
          <a:p>
            <a:r>
              <a:rPr lang="en-US" sz="1800"/>
              <a:t>Cache Write Strategies</a:t>
            </a:r>
            <a:endParaRPr lang="en-US" sz="1600"/>
          </a:p>
        </p:txBody>
      </p:sp>
      <p:sp>
        <p:nvSpPr>
          <p:cNvPr id="438277" name="Rectangle 3"/>
          <p:cNvSpPr>
            <a:spLocks noGrp="1" noChangeArrowheads="1"/>
          </p:cNvSpPr>
          <p:nvPr>
            <p:ph type="body" idx="1"/>
          </p:nvPr>
        </p:nvSpPr>
        <p:spPr>
          <a:xfrm>
            <a:off x="457200" y="1143000"/>
            <a:ext cx="8382000" cy="4953000"/>
          </a:xfrm>
        </p:spPr>
        <p:txBody>
          <a:bodyPr/>
          <a:lstStyle/>
          <a:p>
            <a:pPr>
              <a:buFont typeface="Wingdings" pitchFamily="-112" charset="2"/>
              <a:buNone/>
            </a:pPr>
            <a:r>
              <a:rPr lang="en-US" sz="2000" dirty="0">
                <a:sym typeface="Symbol" pitchFamily="-112" charset="2"/>
              </a:rPr>
              <a:t>What happens if the block is not found in the cache?</a:t>
            </a:r>
          </a:p>
          <a:p>
            <a:endParaRPr lang="en-US" sz="2000" dirty="0">
              <a:sym typeface="Symbol" pitchFamily="-112" charset="2"/>
            </a:endParaRPr>
          </a:p>
          <a:p>
            <a:r>
              <a:rPr lang="en-US" sz="2000" b="1" dirty="0">
                <a:solidFill>
                  <a:srgbClr val="FF0000"/>
                </a:solidFill>
                <a:sym typeface="Symbol" pitchFamily="-112" charset="2"/>
              </a:rPr>
              <a:t>Write allocate</a:t>
            </a:r>
            <a:r>
              <a:rPr lang="en-US" sz="2000" dirty="0">
                <a:sym typeface="Symbol" pitchFamily="-112" charset="2"/>
              </a:rPr>
              <a:t>: bring the block into the cache and write to it</a:t>
            </a:r>
          </a:p>
          <a:p>
            <a:pPr lvl="1"/>
            <a:r>
              <a:rPr lang="en-US" sz="1800" dirty="0">
                <a:sym typeface="Symbol" pitchFamily="-112" charset="2"/>
              </a:rPr>
              <a:t>Good if block will soon be used by another memory access (locality)</a:t>
            </a:r>
          </a:p>
          <a:p>
            <a:pPr lvl="1"/>
            <a:r>
              <a:rPr lang="en-US" sz="1800" dirty="0">
                <a:sym typeface="Symbol" pitchFamily="-112" charset="2"/>
              </a:rPr>
              <a:t>Usually used with write back</a:t>
            </a:r>
          </a:p>
          <a:p>
            <a:endParaRPr lang="en-US" sz="2000" u="sng" dirty="0">
              <a:sym typeface="Symbol" pitchFamily="-112" charset="2"/>
            </a:endParaRPr>
          </a:p>
          <a:p>
            <a:r>
              <a:rPr lang="en-US" sz="2000" b="1" dirty="0">
                <a:solidFill>
                  <a:srgbClr val="FF0000"/>
                </a:solidFill>
                <a:sym typeface="Symbol" pitchFamily="-112" charset="2"/>
              </a:rPr>
              <a:t>Write no-allocate</a:t>
            </a:r>
            <a:r>
              <a:rPr lang="en-US" sz="2000" dirty="0">
                <a:sym typeface="Symbol" pitchFamily="-112" charset="2"/>
              </a:rPr>
              <a:t>: do not bring block into cache and modify data in the lower level</a:t>
            </a:r>
          </a:p>
          <a:p>
            <a:pPr lvl="1"/>
            <a:r>
              <a:rPr lang="en-US" sz="1800" dirty="0">
                <a:sym typeface="Symbol" pitchFamily="-112" charset="2"/>
              </a:rPr>
              <a:t>Good if no memory access to the same block occur in the near future</a:t>
            </a:r>
          </a:p>
          <a:p>
            <a:pPr lvl="1"/>
            <a:r>
              <a:rPr lang="en-US" sz="1800" dirty="0">
                <a:sym typeface="Symbol" pitchFamily="-112" charset="2"/>
              </a:rPr>
              <a:t>Usually used with write through</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827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8277">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38277">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827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Multi-Level Caches</a:t>
            </a:r>
          </a:p>
        </p:txBody>
      </p:sp>
      <p:sp>
        <p:nvSpPr>
          <p:cNvPr id="3" name="Content Placeholder 2"/>
          <p:cNvSpPr>
            <a:spLocks noGrp="1"/>
          </p:cNvSpPr>
          <p:nvPr>
            <p:ph idx="1"/>
          </p:nvPr>
        </p:nvSpPr>
        <p:spPr>
          <a:xfrm>
            <a:off x="685800" y="1196752"/>
            <a:ext cx="7772400" cy="5184576"/>
          </a:xfrm>
        </p:spPr>
        <p:txBody>
          <a:bodyPr/>
          <a:lstStyle/>
          <a:p>
            <a:pPr marL="0" indent="0">
              <a:buNone/>
            </a:pPr>
            <a:r>
              <a:rPr lang="en-US" sz="2200" dirty="0"/>
              <a:t>Do lower-level caches keep a copy of the block that’s brought into a higher-level cache?</a:t>
            </a:r>
          </a:p>
          <a:p>
            <a:pPr>
              <a:spcBef>
                <a:spcPts val="1080"/>
              </a:spcBef>
            </a:pPr>
            <a:r>
              <a:rPr lang="en-US" sz="2000" dirty="0"/>
              <a:t>Inclusive caches: </a:t>
            </a:r>
          </a:p>
          <a:p>
            <a:pPr lvl="1"/>
            <a:r>
              <a:rPr lang="en-US" sz="1800" dirty="0"/>
              <a:t>Lower-level cache has a copy of every block in higher-level caches</a:t>
            </a:r>
          </a:p>
          <a:p>
            <a:pPr lvl="1"/>
            <a:r>
              <a:rPr lang="en-US" sz="1800" dirty="0"/>
              <a:t>Wastes capacity of lower-level caches </a:t>
            </a:r>
            <a:r>
              <a:rPr lang="en-US" sz="1800" dirty="0">
                <a:sym typeface="Wingdings"/>
              </a:rPr>
              <a:t></a:t>
            </a:r>
            <a:endParaRPr lang="en-US" sz="1800" dirty="0"/>
          </a:p>
          <a:p>
            <a:pPr lvl="1"/>
            <a:r>
              <a:rPr lang="en-US" sz="1800" dirty="0"/>
              <a:t>Simplifies finding a cache block by another entity (e.g., by other processors)  </a:t>
            </a:r>
            <a:r>
              <a:rPr lang="en-US" sz="1800" dirty="0">
                <a:sym typeface="Wingdings"/>
              </a:rPr>
              <a:t></a:t>
            </a:r>
            <a:endParaRPr lang="en-US" sz="1800" dirty="0"/>
          </a:p>
          <a:p>
            <a:pPr>
              <a:spcBef>
                <a:spcPts val="1080"/>
              </a:spcBef>
            </a:pPr>
            <a:r>
              <a:rPr lang="en-US" sz="2000" dirty="0"/>
              <a:t>Exclusive caches:</a:t>
            </a:r>
          </a:p>
          <a:p>
            <a:pPr lvl="1"/>
            <a:r>
              <a:rPr lang="en-US" sz="1800" dirty="0"/>
              <a:t>A block may reside in only one level of the cache hierarchy</a:t>
            </a:r>
          </a:p>
          <a:p>
            <a:pPr lvl="1"/>
            <a:r>
              <a:rPr lang="en-US" sz="1800" dirty="0"/>
              <a:t>Maximizes aggregate capacity of the cache hierarchy </a:t>
            </a:r>
            <a:r>
              <a:rPr lang="en-US" sz="1800" dirty="0">
                <a:sym typeface="Wingdings"/>
              </a:rPr>
              <a:t></a:t>
            </a:r>
          </a:p>
          <a:p>
            <a:pPr lvl="1"/>
            <a:r>
              <a:rPr lang="en-US" sz="1800" dirty="0"/>
              <a:t>Requires a uniform block size for all cache levels </a:t>
            </a:r>
            <a:r>
              <a:rPr lang="en-US" sz="1800" dirty="0">
                <a:sym typeface="Wingdings"/>
              </a:rPr>
              <a:t></a:t>
            </a:r>
            <a:endParaRPr lang="en-US" sz="1800" dirty="0"/>
          </a:p>
        </p:txBody>
      </p:sp>
      <p:sp>
        <p:nvSpPr>
          <p:cNvPr id="4" name="Footer Placeholder 3"/>
          <p:cNvSpPr>
            <a:spLocks noGrp="1"/>
          </p:cNvSpPr>
          <p:nvPr>
            <p:ph type="ftr" sz="quarter" idx="10"/>
          </p:nvPr>
        </p:nvSpPr>
        <p:spPr/>
        <p:txBody>
          <a:bodyPr/>
          <a:lstStyle/>
          <a:p>
            <a:pPr>
              <a:defRPr/>
            </a:pPr>
            <a:r>
              <a:rPr lang="en-US" dirty="0"/>
              <a:t>CS/ECE 6810: Computer Architecture</a:t>
            </a:r>
            <a:endParaRPr lang="en-US" sz="1400" dirty="0">
              <a:latin typeface="Garamond" pitchFamily="-112" charset="0"/>
            </a:endParaRPr>
          </a:p>
        </p:txBody>
      </p:sp>
      <p:sp>
        <p:nvSpPr>
          <p:cNvPr id="5" name="Slide Number Placeholder 4"/>
          <p:cNvSpPr>
            <a:spLocks noGrp="1"/>
          </p:cNvSpPr>
          <p:nvPr>
            <p:ph type="sldNum" sz="quarter" idx="11"/>
          </p:nvPr>
        </p:nvSpPr>
        <p:spPr/>
        <p:txBody>
          <a:bodyPr/>
          <a:lstStyle/>
          <a:p>
            <a:pPr>
              <a:defRPr/>
            </a:pPr>
            <a:fld id="{FF10D8AA-72FC-054E-A724-04FB34D4ED2D}" type="slidenum">
              <a:rPr lang="en-US" smtClean="0"/>
              <a:pPr>
                <a:defRPr/>
              </a:pPr>
              <a:t>19</a:t>
            </a:fld>
            <a:endParaRPr lang="en-US">
              <a:latin typeface="Garamond" pitchFamily="-112" charset="0"/>
            </a:endParaRPr>
          </a:p>
        </p:txBody>
      </p:sp>
    </p:spTree>
    <p:extLst>
      <p:ext uri="{BB962C8B-B14F-4D97-AF65-F5344CB8AC3E}">
        <p14:creationId xmlns:p14="http://schemas.microsoft.com/office/powerpoint/2010/main" val="9168002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isca00_transp">
  <a:themeElements>
    <a:clrScheme name="isca00_transp 10">
      <a:dk1>
        <a:srgbClr val="000000"/>
      </a:dk1>
      <a:lt1>
        <a:srgbClr val="FFFFFF"/>
      </a:lt1>
      <a:dk2>
        <a:srgbClr val="000000"/>
      </a:dk2>
      <a:lt2>
        <a:srgbClr val="ABABAB"/>
      </a:lt2>
      <a:accent1>
        <a:srgbClr val="CC3300"/>
      </a:accent1>
      <a:accent2>
        <a:srgbClr val="D70000"/>
      </a:accent2>
      <a:accent3>
        <a:srgbClr val="FFFFFF"/>
      </a:accent3>
      <a:accent4>
        <a:srgbClr val="000000"/>
      </a:accent4>
      <a:accent5>
        <a:srgbClr val="E2ADAA"/>
      </a:accent5>
      <a:accent6>
        <a:srgbClr val="C30000"/>
      </a:accent6>
      <a:hlink>
        <a:srgbClr val="D70000"/>
      </a:hlink>
      <a:folHlink>
        <a:srgbClr val="D70000"/>
      </a:folHlink>
    </a:clrScheme>
    <a:fontScheme name="isca00_transp">
      <a:majorFont>
        <a:latin typeface="Geneva"/>
        <a:ea typeface=""/>
        <a:cs typeface=""/>
      </a:majorFont>
      <a:minorFont>
        <a:latin typeface="Genev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a:ln>
              <a:noFill/>
            </a:ln>
            <a:solidFill>
              <a:schemeClr val="tx1"/>
            </a:solidFill>
            <a:effectLst/>
            <a:latin typeface="Garamond" pitchFamily="-112"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a:ln>
              <a:noFill/>
            </a:ln>
            <a:solidFill>
              <a:schemeClr val="tx1"/>
            </a:solidFill>
            <a:effectLst/>
            <a:latin typeface="Garamond" pitchFamily="-112" charset="0"/>
          </a:defRPr>
        </a:defPPr>
      </a:lstStyle>
    </a:lnDef>
  </a:objectDefaults>
  <a:extraClrSchemeLst>
    <a:extraClrScheme>
      <a:clrScheme name="isca00_transp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sca00_transp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sca00_transp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sca00_transp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sca00_transp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sca00_transp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sca00_transp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isca00_transp 8">
        <a:dk1>
          <a:srgbClr val="ABABAB"/>
        </a:dk1>
        <a:lt1>
          <a:srgbClr val="FFFFFF"/>
        </a:lt1>
        <a:dk2>
          <a:srgbClr val="212142"/>
        </a:dk2>
        <a:lt2>
          <a:srgbClr val="FFFFFF"/>
        </a:lt2>
        <a:accent1>
          <a:srgbClr val="CC6600"/>
        </a:accent1>
        <a:accent2>
          <a:srgbClr val="FF6600"/>
        </a:accent2>
        <a:accent3>
          <a:srgbClr val="ABABB0"/>
        </a:accent3>
        <a:accent4>
          <a:srgbClr val="DADADA"/>
        </a:accent4>
        <a:accent5>
          <a:srgbClr val="E2B8AA"/>
        </a:accent5>
        <a:accent6>
          <a:srgbClr val="E75C00"/>
        </a:accent6>
        <a:hlink>
          <a:srgbClr val="FF6600"/>
        </a:hlink>
        <a:folHlink>
          <a:srgbClr val="FF6600"/>
        </a:folHlink>
      </a:clrScheme>
      <a:clrMap bg1="dk2" tx1="lt1" bg2="dk1" tx2="lt2" accent1="accent1" accent2="accent2" accent3="accent3" accent4="accent4" accent5="accent5" accent6="accent6" hlink="hlink" folHlink="folHlink"/>
    </a:extraClrScheme>
    <a:extraClrScheme>
      <a:clrScheme name="isca00_transp 9">
        <a:dk1>
          <a:srgbClr val="ABABAB"/>
        </a:dk1>
        <a:lt1>
          <a:srgbClr val="FFFFFF"/>
        </a:lt1>
        <a:dk2>
          <a:srgbClr val="333366"/>
        </a:dk2>
        <a:lt2>
          <a:srgbClr val="FFFFFF"/>
        </a:lt2>
        <a:accent1>
          <a:srgbClr val="CC6600"/>
        </a:accent1>
        <a:accent2>
          <a:srgbClr val="FF6600"/>
        </a:accent2>
        <a:accent3>
          <a:srgbClr val="ADADB8"/>
        </a:accent3>
        <a:accent4>
          <a:srgbClr val="DADADA"/>
        </a:accent4>
        <a:accent5>
          <a:srgbClr val="E2B8AA"/>
        </a:accent5>
        <a:accent6>
          <a:srgbClr val="E75C00"/>
        </a:accent6>
        <a:hlink>
          <a:srgbClr val="FF6600"/>
        </a:hlink>
        <a:folHlink>
          <a:srgbClr val="FF6600"/>
        </a:folHlink>
      </a:clrScheme>
      <a:clrMap bg1="dk2" tx1="lt1" bg2="dk1" tx2="lt2" accent1="accent1" accent2="accent2" accent3="accent3" accent4="accent4" accent5="accent5" accent6="accent6" hlink="hlink" folHlink="folHlink"/>
    </a:extraClrScheme>
    <a:extraClrScheme>
      <a:clrScheme name="isca00_transp 10">
        <a:dk1>
          <a:srgbClr val="000000"/>
        </a:dk1>
        <a:lt1>
          <a:srgbClr val="FFFFFF"/>
        </a:lt1>
        <a:dk2>
          <a:srgbClr val="000000"/>
        </a:dk2>
        <a:lt2>
          <a:srgbClr val="ABABAB"/>
        </a:lt2>
        <a:accent1>
          <a:srgbClr val="CC3300"/>
        </a:accent1>
        <a:accent2>
          <a:srgbClr val="D70000"/>
        </a:accent2>
        <a:accent3>
          <a:srgbClr val="FFFFFF"/>
        </a:accent3>
        <a:accent4>
          <a:srgbClr val="000000"/>
        </a:accent4>
        <a:accent5>
          <a:srgbClr val="E2ADAA"/>
        </a:accent5>
        <a:accent6>
          <a:srgbClr val="C30000"/>
        </a:accent6>
        <a:hlink>
          <a:srgbClr val="D70000"/>
        </a:hlink>
        <a:folHlink>
          <a:srgbClr val="D7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C:\users\cintra\isca00_transp.ppt</Template>
  <TotalTime>262486</TotalTime>
  <Words>2423</Words>
  <Application>Microsoft Macintosh PowerPoint</Application>
  <PresentationFormat>On-screen Show (4:3)</PresentationFormat>
  <Paragraphs>399</Paragraphs>
  <Slides>19</Slides>
  <Notes>16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19</vt:i4>
      </vt:variant>
    </vt:vector>
  </HeadingPairs>
  <TitlesOfParts>
    <vt:vector size="30" baseType="lpstr">
      <vt:lpstr>ＭＳ Ｐゴシック</vt:lpstr>
      <vt:lpstr>Arial</vt:lpstr>
      <vt:lpstr>ArialMT</vt:lpstr>
      <vt:lpstr>Garamond</vt:lpstr>
      <vt:lpstr>Geneva</vt:lpstr>
      <vt:lpstr>Geneva (body)</vt:lpstr>
      <vt:lpstr>Geneva (body)</vt:lpstr>
      <vt:lpstr>Symbol</vt:lpstr>
      <vt:lpstr>Times New Roman</vt:lpstr>
      <vt:lpstr>Wingdings</vt:lpstr>
      <vt:lpstr>isca00_transp</vt:lpstr>
      <vt:lpstr>Caches</vt:lpstr>
      <vt:lpstr>The Memory Gap</vt:lpstr>
      <vt:lpstr>Caches: Idea of a memory hierarchy</vt:lpstr>
      <vt:lpstr>Why is a memory hierarchy effective?</vt:lpstr>
      <vt:lpstr>Memory Hierarchy</vt:lpstr>
      <vt:lpstr>Memory technologies</vt:lpstr>
      <vt:lpstr>Memory Technologies</vt:lpstr>
      <vt:lpstr>Memory Hierarchy Issues</vt:lpstr>
      <vt:lpstr>Cache Block Placement</vt:lpstr>
      <vt:lpstr>Summary of Cache Associativity</vt:lpstr>
      <vt:lpstr>Cache Block Identification</vt:lpstr>
      <vt:lpstr>Address Mapping Example</vt:lpstr>
      <vt:lpstr>Address Mapping Example</vt:lpstr>
      <vt:lpstr>Cache Organization: Direct mapped</vt:lpstr>
      <vt:lpstr>Cache Organization: 2-way set associative</vt:lpstr>
      <vt:lpstr>Cache Block Replacement</vt:lpstr>
      <vt:lpstr>Cache Write Strategies</vt:lpstr>
      <vt:lpstr>Cache Write Strategies</vt:lpstr>
      <vt:lpstr>Multi-Level Caches</vt:lpstr>
    </vt:vector>
  </TitlesOfParts>
  <Manager/>
  <Company>Office 2004 Test Drive User</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Informatics 3  Computer Architecture</dc:title>
  <dc:subject/>
  <dc:creator>Office 2004 Test Drive User</dc:creator>
  <cp:keywords/>
  <dc:description/>
  <cp:lastModifiedBy>Vijay Nagarajan</cp:lastModifiedBy>
  <cp:revision>617</cp:revision>
  <cp:lastPrinted>2015-01-12T09:43:55Z</cp:lastPrinted>
  <dcterms:created xsi:type="dcterms:W3CDTF">2018-01-13T22:21:21Z</dcterms:created>
  <dcterms:modified xsi:type="dcterms:W3CDTF">2025-10-13T17:45:17Z</dcterms:modified>
  <cp:category/>
</cp:coreProperties>
</file>