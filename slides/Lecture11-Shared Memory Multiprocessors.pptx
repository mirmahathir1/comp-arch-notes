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handoutMasterIdLst>
    <p:handoutMasterId r:id="rId32"/>
  </p:handoutMasterIdLst>
  <p:sldIdLst>
    <p:sldId id="824" r:id="rId2"/>
    <p:sldId id="256" r:id="rId3"/>
    <p:sldId id="257" r:id="rId4"/>
    <p:sldId id="825"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80" r:id="rId27"/>
    <p:sldId id="281" r:id="rId28"/>
    <p:sldId id="282" r:id="rId29"/>
    <p:sldId id="279" r:id="rId30"/>
  </p:sldIdLst>
  <p:sldSz cx="9144000" cy="6858000" type="screen4x3"/>
  <p:notesSz cx="7315200" cy="9601200"/>
  <p:defaultTextStyle>
    <a:defPPr>
      <a:defRPr lang="en-US"/>
    </a:defPPr>
    <a:lvl1pPr algn="l" rtl="0" eaLnBrk="0" fontAlgn="base" hangingPunct="0">
      <a:spcBef>
        <a:spcPct val="0"/>
      </a:spcBef>
      <a:spcAft>
        <a:spcPct val="0"/>
      </a:spcAft>
      <a:defRPr sz="2400" b="1" kern="1200">
        <a:solidFill>
          <a:schemeClr val="tx1"/>
        </a:solidFill>
        <a:latin typeface="Garamond" pitchFamily="-112" charset="0"/>
        <a:ea typeface="+mn-ea"/>
        <a:cs typeface="+mn-cs"/>
      </a:defRPr>
    </a:lvl1pPr>
    <a:lvl2pPr marL="457200" algn="l" rtl="0" eaLnBrk="0" fontAlgn="base" hangingPunct="0">
      <a:spcBef>
        <a:spcPct val="0"/>
      </a:spcBef>
      <a:spcAft>
        <a:spcPct val="0"/>
      </a:spcAft>
      <a:defRPr sz="2400" b="1" kern="1200">
        <a:solidFill>
          <a:schemeClr val="tx1"/>
        </a:solidFill>
        <a:latin typeface="Garamond" pitchFamily="-112" charset="0"/>
        <a:ea typeface="+mn-ea"/>
        <a:cs typeface="+mn-cs"/>
      </a:defRPr>
    </a:lvl2pPr>
    <a:lvl3pPr marL="914400" algn="l" rtl="0" eaLnBrk="0" fontAlgn="base" hangingPunct="0">
      <a:spcBef>
        <a:spcPct val="0"/>
      </a:spcBef>
      <a:spcAft>
        <a:spcPct val="0"/>
      </a:spcAft>
      <a:defRPr sz="2400" b="1" kern="1200">
        <a:solidFill>
          <a:schemeClr val="tx1"/>
        </a:solidFill>
        <a:latin typeface="Garamond" pitchFamily="-112" charset="0"/>
        <a:ea typeface="+mn-ea"/>
        <a:cs typeface="+mn-cs"/>
      </a:defRPr>
    </a:lvl3pPr>
    <a:lvl4pPr marL="1371600" algn="l" rtl="0" eaLnBrk="0" fontAlgn="base" hangingPunct="0">
      <a:spcBef>
        <a:spcPct val="0"/>
      </a:spcBef>
      <a:spcAft>
        <a:spcPct val="0"/>
      </a:spcAft>
      <a:defRPr sz="2400" b="1" kern="1200">
        <a:solidFill>
          <a:schemeClr val="tx1"/>
        </a:solidFill>
        <a:latin typeface="Garamond" pitchFamily="-112" charset="0"/>
        <a:ea typeface="+mn-ea"/>
        <a:cs typeface="+mn-cs"/>
      </a:defRPr>
    </a:lvl4pPr>
    <a:lvl5pPr marL="1828800" algn="l" rtl="0" eaLnBrk="0" fontAlgn="base" hangingPunct="0">
      <a:spcBef>
        <a:spcPct val="0"/>
      </a:spcBef>
      <a:spcAft>
        <a:spcPct val="0"/>
      </a:spcAft>
      <a:defRPr sz="2400" b="1" kern="1200">
        <a:solidFill>
          <a:schemeClr val="tx1"/>
        </a:solidFill>
        <a:latin typeface="Garamond" pitchFamily="-112" charset="0"/>
        <a:ea typeface="+mn-ea"/>
        <a:cs typeface="+mn-cs"/>
      </a:defRPr>
    </a:lvl5pPr>
    <a:lvl6pPr marL="2286000" algn="l" defTabSz="457200" rtl="0" eaLnBrk="1" latinLnBrk="0" hangingPunct="1">
      <a:defRPr sz="2400" b="1" kern="1200">
        <a:solidFill>
          <a:schemeClr val="tx1"/>
        </a:solidFill>
        <a:latin typeface="Garamond" pitchFamily="-112" charset="0"/>
        <a:ea typeface="+mn-ea"/>
        <a:cs typeface="+mn-cs"/>
      </a:defRPr>
    </a:lvl6pPr>
    <a:lvl7pPr marL="2743200" algn="l" defTabSz="457200" rtl="0" eaLnBrk="1" latinLnBrk="0" hangingPunct="1">
      <a:defRPr sz="2400" b="1" kern="1200">
        <a:solidFill>
          <a:schemeClr val="tx1"/>
        </a:solidFill>
        <a:latin typeface="Garamond" pitchFamily="-112" charset="0"/>
        <a:ea typeface="+mn-ea"/>
        <a:cs typeface="+mn-cs"/>
      </a:defRPr>
    </a:lvl7pPr>
    <a:lvl8pPr marL="3200400" algn="l" defTabSz="457200" rtl="0" eaLnBrk="1" latinLnBrk="0" hangingPunct="1">
      <a:defRPr sz="2400" b="1" kern="1200">
        <a:solidFill>
          <a:schemeClr val="tx1"/>
        </a:solidFill>
        <a:latin typeface="Garamond" pitchFamily="-112" charset="0"/>
        <a:ea typeface="+mn-ea"/>
        <a:cs typeface="+mn-cs"/>
      </a:defRPr>
    </a:lvl8pPr>
    <a:lvl9pPr marL="3657600" algn="l" defTabSz="457200" rtl="0" eaLnBrk="1" latinLnBrk="0" hangingPunct="1">
      <a:defRPr sz="2400" b="1" kern="1200">
        <a:solidFill>
          <a:schemeClr val="tx1"/>
        </a:solidFill>
        <a:latin typeface="Garamond" pitchFamily="-112"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0000FF"/>
    <a:srgbClr val="606060"/>
    <a:srgbClr val="339933"/>
    <a:srgbClr val="FF00FF"/>
    <a:srgbClr val="00FFFF"/>
    <a:srgbClr val="00FF00"/>
    <a:srgbClr val="000000"/>
    <a:srgbClr val="A80500"/>
    <a:srgbClr val="7819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019" autoAdjust="0"/>
    <p:restoredTop sz="81027" autoAdjust="0"/>
  </p:normalViewPr>
  <p:slideViewPr>
    <p:cSldViewPr>
      <p:cViewPr varScale="1">
        <p:scale>
          <a:sx n="102" d="100"/>
          <a:sy n="102" d="100"/>
        </p:scale>
        <p:origin x="336"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93" d="100"/>
          <a:sy n="93" d="100"/>
        </p:scale>
        <p:origin x="4736" y="208"/>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5490"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12" charset="0"/>
              </a:defRPr>
            </a:lvl1pPr>
          </a:lstStyle>
          <a:p>
            <a:pPr>
              <a:defRPr/>
            </a:pPr>
            <a:endParaRPr lang="en-US"/>
          </a:p>
        </p:txBody>
      </p:sp>
      <p:sp>
        <p:nvSpPr>
          <p:cNvPr id="575491"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12" charset="0"/>
              </a:defRPr>
            </a:lvl1pPr>
          </a:lstStyle>
          <a:p>
            <a:r>
              <a:rPr lang="en-US"/>
              <a:t>2008-2009</a:t>
            </a:r>
          </a:p>
        </p:txBody>
      </p:sp>
      <p:sp>
        <p:nvSpPr>
          <p:cNvPr id="575492" name="Rectangle 4"/>
          <p:cNvSpPr>
            <a:spLocks noGrp="1" noChangeArrowheads="1"/>
          </p:cNvSpPr>
          <p:nvPr>
            <p:ph type="ftr" sz="quarter" idx="2"/>
          </p:nvPr>
        </p:nvSpPr>
        <p:spPr bwMode="auto">
          <a:xfrm>
            <a:off x="0" y="9118600"/>
            <a:ext cx="3170238" cy="4810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12" charset="0"/>
              </a:defRPr>
            </a:lvl1pPr>
          </a:lstStyle>
          <a:p>
            <a:r>
              <a:rPr lang="en-US"/>
              <a:t>Informatics 3   -   Computer Architecture</a:t>
            </a:r>
          </a:p>
        </p:txBody>
      </p:sp>
      <p:sp>
        <p:nvSpPr>
          <p:cNvPr id="575493" name="Rectangle 5"/>
          <p:cNvSpPr>
            <a:spLocks noGrp="1" noChangeArrowheads="1"/>
          </p:cNvSpPr>
          <p:nvPr>
            <p:ph type="sldNum" sz="quarter" idx="3"/>
          </p:nvPr>
        </p:nvSpPr>
        <p:spPr bwMode="auto">
          <a:xfrm>
            <a:off x="4143375" y="9118600"/>
            <a:ext cx="3170238" cy="4810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12" charset="0"/>
              </a:defRPr>
            </a:lvl1pPr>
          </a:lstStyle>
          <a:p>
            <a:pPr>
              <a:defRPr/>
            </a:pPr>
            <a:fld id="{BE1F0884-5E63-6845-9E6A-12C0C70E007E}" type="slidenum">
              <a:rPr lang="en-US"/>
              <a:pPr>
                <a:defRPr/>
              </a:pPr>
              <a:t>‹#›</a:t>
            </a:fld>
            <a:endParaRPr lang="en-US"/>
          </a:p>
        </p:txBody>
      </p:sp>
    </p:spTree>
    <p:extLst>
      <p:ext uri="{BB962C8B-B14F-4D97-AF65-F5344CB8AC3E}">
        <p14:creationId xmlns:p14="http://schemas.microsoft.com/office/powerpoint/2010/main" val="56468171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3170238" cy="479425"/>
          </a:xfrm>
          <a:prstGeom prst="rect">
            <a:avLst/>
          </a:prstGeom>
          <a:noFill/>
          <a:ln w="12700">
            <a:noFill/>
            <a:miter lim="800000"/>
            <a:headEnd type="none" w="sm" len="sm"/>
            <a:tailEnd type="none" w="sm" len="sm"/>
          </a:ln>
          <a:effectLst/>
        </p:spPr>
        <p:txBody>
          <a:bodyPr vert="horz" wrap="square" lIns="92226" tIns="46113" rIns="92226" bIns="46113" numCol="1" anchor="t" anchorCtr="0" compatLnSpc="1">
            <a:prstTxWarp prst="textNoShape">
              <a:avLst/>
            </a:prstTxWarp>
          </a:bodyPr>
          <a:lstStyle>
            <a:lvl1pPr defTabSz="922338">
              <a:defRPr sz="1200" b="0">
                <a:latin typeface="Times New Roman" pitchFamily="-112" charset="0"/>
              </a:defRPr>
            </a:lvl1pPr>
          </a:lstStyle>
          <a:p>
            <a:pPr>
              <a:defRPr/>
            </a:pPr>
            <a:endParaRPr lang="en-US"/>
          </a:p>
        </p:txBody>
      </p:sp>
      <p:sp>
        <p:nvSpPr>
          <p:cNvPr id="63491" name="Rectangle 3"/>
          <p:cNvSpPr>
            <a:spLocks noGrp="1" noChangeArrowheads="1"/>
          </p:cNvSpPr>
          <p:nvPr>
            <p:ph type="dt" idx="1"/>
          </p:nvPr>
        </p:nvSpPr>
        <p:spPr bwMode="auto">
          <a:xfrm>
            <a:off x="4144963" y="0"/>
            <a:ext cx="3170237" cy="479425"/>
          </a:xfrm>
          <a:prstGeom prst="rect">
            <a:avLst/>
          </a:prstGeom>
          <a:noFill/>
          <a:ln w="12700">
            <a:noFill/>
            <a:miter lim="800000"/>
            <a:headEnd type="none" w="sm" len="sm"/>
            <a:tailEnd type="none" w="sm" len="sm"/>
          </a:ln>
          <a:effectLst/>
        </p:spPr>
        <p:txBody>
          <a:bodyPr vert="horz" wrap="square" lIns="92226" tIns="46113" rIns="92226" bIns="46113" numCol="1" anchor="t" anchorCtr="0" compatLnSpc="1">
            <a:prstTxWarp prst="textNoShape">
              <a:avLst/>
            </a:prstTxWarp>
          </a:bodyPr>
          <a:lstStyle>
            <a:lvl1pPr algn="r" defTabSz="922338">
              <a:defRPr sz="1200" b="0">
                <a:latin typeface="Times New Roman" pitchFamily="-112" charset="0"/>
              </a:defRPr>
            </a:lvl1pPr>
          </a:lstStyle>
          <a:p>
            <a:r>
              <a:rPr lang="en-US"/>
              <a:t>2008-2009</a:t>
            </a:r>
          </a:p>
        </p:txBody>
      </p:sp>
      <p:sp>
        <p:nvSpPr>
          <p:cNvPr id="40964" name="Rectangle 4"/>
          <p:cNvSpPr>
            <a:spLocks noGrp="1" noRot="1" noChangeAspect="1" noChangeArrowheads="1" noTextEdit="1"/>
          </p:cNvSpPr>
          <p:nvPr>
            <p:ph type="sldImg" idx="2"/>
          </p:nvPr>
        </p:nvSpPr>
        <p:spPr bwMode="auto">
          <a:xfrm>
            <a:off x="685800" y="533400"/>
            <a:ext cx="6172200" cy="4343400"/>
          </a:xfrm>
          <a:prstGeom prst="rect">
            <a:avLst/>
          </a:prstGeom>
          <a:noFill/>
          <a:ln w="9525">
            <a:solidFill>
              <a:srgbClr val="000000"/>
            </a:solidFill>
            <a:miter lim="800000"/>
            <a:headEnd/>
            <a:tailEnd/>
          </a:ln>
        </p:spPr>
      </p:sp>
      <p:sp>
        <p:nvSpPr>
          <p:cNvPr id="63493" name="Rectangle 5"/>
          <p:cNvSpPr>
            <a:spLocks noGrp="1" noChangeArrowheads="1"/>
          </p:cNvSpPr>
          <p:nvPr>
            <p:ph type="body" sz="quarter" idx="3"/>
          </p:nvPr>
        </p:nvSpPr>
        <p:spPr bwMode="auto">
          <a:xfrm>
            <a:off x="685800" y="4953000"/>
            <a:ext cx="6172200" cy="1905000"/>
          </a:xfrm>
          <a:prstGeom prst="rect">
            <a:avLst/>
          </a:prstGeom>
          <a:noFill/>
          <a:ln w="12700">
            <a:noFill/>
            <a:miter lim="800000"/>
            <a:headEnd type="none" w="sm" len="sm"/>
            <a:tailEnd type="none" w="sm" len="sm"/>
          </a:ln>
          <a:effectLst/>
        </p:spPr>
        <p:txBody>
          <a:bodyPr vert="horz" wrap="square" lIns="92226" tIns="46113" rIns="92226" bIns="4611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3494" name="Rectangle 6"/>
          <p:cNvSpPr>
            <a:spLocks noGrp="1" noChangeArrowheads="1"/>
          </p:cNvSpPr>
          <p:nvPr>
            <p:ph type="ftr" sz="quarter" idx="4"/>
          </p:nvPr>
        </p:nvSpPr>
        <p:spPr bwMode="auto">
          <a:xfrm>
            <a:off x="0" y="9121775"/>
            <a:ext cx="3170238" cy="479425"/>
          </a:xfrm>
          <a:prstGeom prst="rect">
            <a:avLst/>
          </a:prstGeom>
          <a:noFill/>
          <a:ln w="12700">
            <a:noFill/>
            <a:miter lim="800000"/>
            <a:headEnd type="none" w="sm" len="sm"/>
            <a:tailEnd type="none" w="sm" len="sm"/>
          </a:ln>
          <a:effectLst/>
        </p:spPr>
        <p:txBody>
          <a:bodyPr vert="horz" wrap="square" lIns="92226" tIns="46113" rIns="92226" bIns="46113" numCol="1" anchor="b" anchorCtr="0" compatLnSpc="1">
            <a:prstTxWarp prst="textNoShape">
              <a:avLst/>
            </a:prstTxWarp>
          </a:bodyPr>
          <a:lstStyle>
            <a:lvl1pPr defTabSz="922338">
              <a:defRPr sz="1200" b="0">
                <a:latin typeface="Times New Roman" pitchFamily="-112" charset="0"/>
              </a:defRPr>
            </a:lvl1pPr>
          </a:lstStyle>
          <a:p>
            <a:r>
              <a:rPr lang="en-US"/>
              <a:t>Informatics 3   -   Computer Architecture</a:t>
            </a:r>
          </a:p>
        </p:txBody>
      </p:sp>
      <p:sp>
        <p:nvSpPr>
          <p:cNvPr id="63495" name="Rectangle 7"/>
          <p:cNvSpPr>
            <a:spLocks noGrp="1" noChangeArrowheads="1"/>
          </p:cNvSpPr>
          <p:nvPr>
            <p:ph type="sldNum" sz="quarter" idx="5"/>
          </p:nvPr>
        </p:nvSpPr>
        <p:spPr bwMode="auto">
          <a:xfrm>
            <a:off x="4144963" y="9121775"/>
            <a:ext cx="3170237" cy="479425"/>
          </a:xfrm>
          <a:prstGeom prst="rect">
            <a:avLst/>
          </a:prstGeom>
          <a:noFill/>
          <a:ln w="12700">
            <a:noFill/>
            <a:miter lim="800000"/>
            <a:headEnd type="none" w="sm" len="sm"/>
            <a:tailEnd type="none" w="sm" len="sm"/>
          </a:ln>
          <a:effectLst/>
        </p:spPr>
        <p:txBody>
          <a:bodyPr vert="horz" wrap="square" lIns="92226" tIns="46113" rIns="92226" bIns="46113" numCol="1" anchor="b" anchorCtr="0" compatLnSpc="1">
            <a:prstTxWarp prst="textNoShape">
              <a:avLst/>
            </a:prstTxWarp>
          </a:bodyPr>
          <a:lstStyle>
            <a:lvl1pPr algn="r" defTabSz="922338">
              <a:defRPr sz="1200" b="0">
                <a:latin typeface="Times New Roman" pitchFamily="-112" charset="0"/>
              </a:defRPr>
            </a:lvl1pPr>
          </a:lstStyle>
          <a:p>
            <a:pPr>
              <a:defRPr/>
            </a:pPr>
            <a:fld id="{3ACFF632-C89B-E148-8D44-977E94A39556}" type="slidenum">
              <a:rPr lang="en-US"/>
              <a:pPr>
                <a:defRPr/>
              </a:pPr>
              <a:t>‹#›</a:t>
            </a:fld>
            <a:endParaRPr lang="en-US"/>
          </a:p>
        </p:txBody>
      </p:sp>
      <p:grpSp>
        <p:nvGrpSpPr>
          <p:cNvPr id="40968" name="Group 17"/>
          <p:cNvGrpSpPr>
            <a:grpSpLocks/>
          </p:cNvGrpSpPr>
          <p:nvPr/>
        </p:nvGrpSpPr>
        <p:grpSpPr bwMode="auto">
          <a:xfrm>
            <a:off x="714375" y="7191375"/>
            <a:ext cx="6143625" cy="1981200"/>
            <a:chOff x="450" y="4530"/>
            <a:chExt cx="3389" cy="1248"/>
          </a:xfrm>
        </p:grpSpPr>
        <p:sp>
          <p:nvSpPr>
            <p:cNvPr id="63496" name="Line 8"/>
            <p:cNvSpPr>
              <a:spLocks noChangeShapeType="1"/>
            </p:cNvSpPr>
            <p:nvPr/>
          </p:nvSpPr>
          <p:spPr bwMode="auto">
            <a:xfrm>
              <a:off x="450" y="4530"/>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497" name="Line 9"/>
            <p:cNvSpPr>
              <a:spLocks noChangeShapeType="1"/>
            </p:cNvSpPr>
            <p:nvPr/>
          </p:nvSpPr>
          <p:spPr bwMode="auto">
            <a:xfrm>
              <a:off x="450" y="4709"/>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498" name="Line 10"/>
            <p:cNvSpPr>
              <a:spLocks noChangeShapeType="1"/>
            </p:cNvSpPr>
            <p:nvPr/>
          </p:nvSpPr>
          <p:spPr bwMode="auto">
            <a:xfrm>
              <a:off x="450" y="4886"/>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499" name="Line 11"/>
            <p:cNvSpPr>
              <a:spLocks noChangeShapeType="1"/>
            </p:cNvSpPr>
            <p:nvPr/>
          </p:nvSpPr>
          <p:spPr bwMode="auto">
            <a:xfrm>
              <a:off x="450" y="5065"/>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500" name="Line 12"/>
            <p:cNvSpPr>
              <a:spLocks noChangeShapeType="1"/>
            </p:cNvSpPr>
            <p:nvPr/>
          </p:nvSpPr>
          <p:spPr bwMode="auto">
            <a:xfrm>
              <a:off x="450" y="5243"/>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501" name="Line 13"/>
            <p:cNvSpPr>
              <a:spLocks noChangeShapeType="1"/>
            </p:cNvSpPr>
            <p:nvPr/>
          </p:nvSpPr>
          <p:spPr bwMode="auto">
            <a:xfrm>
              <a:off x="450" y="5421"/>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502" name="Line 14"/>
            <p:cNvSpPr>
              <a:spLocks noChangeShapeType="1"/>
            </p:cNvSpPr>
            <p:nvPr/>
          </p:nvSpPr>
          <p:spPr bwMode="auto">
            <a:xfrm>
              <a:off x="450" y="5600"/>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503" name="Line 15"/>
            <p:cNvSpPr>
              <a:spLocks noChangeShapeType="1"/>
            </p:cNvSpPr>
            <p:nvPr/>
          </p:nvSpPr>
          <p:spPr bwMode="auto">
            <a:xfrm>
              <a:off x="450" y="5778"/>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grpSp>
      <p:sp>
        <p:nvSpPr>
          <p:cNvPr id="63504" name="Text Box 16"/>
          <p:cNvSpPr txBox="1">
            <a:spLocks noChangeArrowheads="1"/>
          </p:cNvSpPr>
          <p:nvPr/>
        </p:nvSpPr>
        <p:spPr bwMode="auto">
          <a:xfrm>
            <a:off x="609600" y="6858000"/>
            <a:ext cx="1314450" cy="274638"/>
          </a:xfrm>
          <a:prstGeom prst="rect">
            <a:avLst/>
          </a:prstGeom>
          <a:noFill/>
          <a:ln w="9525">
            <a:noFill/>
            <a:miter lim="800000"/>
            <a:headEnd/>
            <a:tailEnd/>
          </a:ln>
          <a:effectLst/>
        </p:spPr>
        <p:txBody>
          <a:bodyPr wrap="none" lIns="92994" tIns="46497" rIns="92994" bIns="46497">
            <a:prstTxWarp prst="textNoShape">
              <a:avLst/>
            </a:prstTxWarp>
            <a:spAutoFit/>
          </a:bodyPr>
          <a:lstStyle/>
          <a:p>
            <a:pPr defTabSz="930275" eaLnBrk="1" hangingPunct="1">
              <a:defRPr/>
            </a:pPr>
            <a:r>
              <a:rPr lang="en-GB" sz="1200" b="0">
                <a:latin typeface="Arial" pitchFamily="-112" charset="0"/>
              </a:rPr>
              <a:t>Additional notes:</a:t>
            </a:r>
          </a:p>
        </p:txBody>
      </p:sp>
    </p:spTree>
    <p:extLst>
      <p:ext uri="{BB962C8B-B14F-4D97-AF65-F5344CB8AC3E}">
        <p14:creationId xmlns:p14="http://schemas.microsoft.com/office/powerpoint/2010/main" val="65477586"/>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kumimoji="1" sz="1200" kern="1200">
        <a:solidFill>
          <a:schemeClr val="tx1"/>
        </a:solidFill>
        <a:latin typeface="Times New Roman" pitchFamily="-112" charset="0"/>
        <a:ea typeface="ＭＳ Ｐゴシック" pitchFamily="-112" charset="-128"/>
        <a:cs typeface="ＭＳ Ｐゴシック" pitchFamily="-112" charset="-128"/>
      </a:defRPr>
    </a:lvl1pPr>
    <a:lvl2pPr marL="457200" algn="l" rtl="0" eaLnBrk="0" fontAlgn="base" hangingPunct="0">
      <a:spcBef>
        <a:spcPct val="30000"/>
      </a:spcBef>
      <a:spcAft>
        <a:spcPct val="0"/>
      </a:spcAft>
      <a:defRPr kumimoji="1" sz="1200" kern="1200">
        <a:solidFill>
          <a:schemeClr val="tx1"/>
        </a:solidFill>
        <a:latin typeface="Times New Roman" pitchFamily="-112" charset="0"/>
        <a:ea typeface="ＭＳ Ｐゴシック" pitchFamily="-112"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12" charset="0"/>
        <a:ea typeface="ＭＳ Ｐゴシック" pitchFamily="-112"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12" charset="0"/>
        <a:ea typeface="ＭＳ Ｐゴシック" pitchFamily="-112"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12" charset="0"/>
        <a:ea typeface="ＭＳ Ｐゴシック" pitchFamily="-112"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Shape 179"/>
          <p:cNvSpPr>
            <a:spLocks noGrp="1" noRot="1" noChangeAspect="1"/>
          </p:cNvSpPr>
          <p:nvPr>
            <p:ph type="sldImg"/>
          </p:nvPr>
        </p:nvSpPr>
        <p:spPr>
          <a:xfrm>
            <a:off x="876300" y="533400"/>
            <a:ext cx="5791200" cy="4343400"/>
          </a:xfrm>
          <a:prstGeom prst="rect">
            <a:avLst/>
          </a:prstGeom>
        </p:spPr>
        <p:txBody>
          <a:bodyPr/>
          <a:lstStyle/>
          <a:p>
            <a:endParaRPr/>
          </a:p>
        </p:txBody>
      </p:sp>
      <p:sp>
        <p:nvSpPr>
          <p:cNvPr id="180" name="Shape 180"/>
          <p:cNvSpPr>
            <a:spLocks noGrp="1"/>
          </p:cNvSpPr>
          <p:nvPr>
            <p:ph type="body" sz="quarter" idx="1"/>
          </p:nvPr>
        </p:nvSpPr>
        <p:spPr>
          <a:prstGeom prst="rect">
            <a:avLst/>
          </a:prstGeom>
        </p:spPr>
        <p:txBody>
          <a:bodyPr/>
          <a:lstStyle/>
          <a:p>
            <a:r>
              <a:rPr dirty="0"/>
              <a:t>Frequency has stopped scaling due to the breakdown of Dennard scaling. One of the important corollaries of Moore’s law was Dennard scaling which said that as the size of the transistor </a:t>
            </a:r>
            <a:r>
              <a:rPr dirty="0" err="1"/>
              <a:t>shr</a:t>
            </a:r>
            <a:r>
              <a:rPr lang="en-US" dirty="0" err="1"/>
              <a:t>inked</a:t>
            </a:r>
            <a:r>
              <a:rPr dirty="0"/>
              <a:t>, the clocked faster, and consumed approximately the same power in unit area. </a:t>
            </a:r>
          </a:p>
          <a:p>
            <a:endParaRPr dirty="0"/>
          </a:p>
          <a:p>
            <a:r>
              <a:rPr dirty="0"/>
              <a:t>But that broken in the mid 2000s because of power dissipation issues. So supply voltage had to be reduced which meant frequency stagnated. </a:t>
            </a:r>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533400"/>
            <a:ext cx="5791200" cy="4343400"/>
          </a:xfrm>
        </p:spPr>
      </p:sp>
      <p:sp>
        <p:nvSpPr>
          <p:cNvPr id="3" name="Notes Placeholder 2"/>
          <p:cNvSpPr>
            <a:spLocks noGrp="1"/>
          </p:cNvSpPr>
          <p:nvPr>
            <p:ph type="body" idx="1"/>
          </p:nvPr>
        </p:nvSpPr>
        <p:spPr/>
        <p:txBody>
          <a:bodyPr/>
          <a:lstStyle/>
          <a:p>
            <a:r>
              <a:rPr lang="en-US" dirty="0"/>
              <a:t>Modern multicore processors are complex entities and have aspects of “UMA” and “NUMA”. The picture above shows a dual-socket (chip) multiprocessor. With respect to the cores 0 through 4, accessing local memory is has roughly the same latency. But for these cores to access the other socket, latencies are </a:t>
            </a:r>
            <a:r>
              <a:rPr lang="en-US"/>
              <a:t>significantly higher. </a:t>
            </a:r>
          </a:p>
        </p:txBody>
      </p:sp>
      <p:sp>
        <p:nvSpPr>
          <p:cNvPr id="4" name="Date Placeholder 3"/>
          <p:cNvSpPr>
            <a:spLocks noGrp="1"/>
          </p:cNvSpPr>
          <p:nvPr>
            <p:ph type="dt" idx="1"/>
          </p:nvPr>
        </p:nvSpPr>
        <p:spPr/>
        <p:txBody>
          <a:bodyPr/>
          <a:lstStyle/>
          <a:p>
            <a:r>
              <a:rPr lang="en-US"/>
              <a:t>2008-2009</a:t>
            </a:r>
          </a:p>
        </p:txBody>
      </p:sp>
      <p:sp>
        <p:nvSpPr>
          <p:cNvPr id="5" name="Footer Placeholder 4"/>
          <p:cNvSpPr>
            <a:spLocks noGrp="1"/>
          </p:cNvSpPr>
          <p:nvPr>
            <p:ph type="ftr" sz="quarter" idx="4"/>
          </p:nvPr>
        </p:nvSpPr>
        <p:spPr/>
        <p:txBody>
          <a:bodyPr/>
          <a:lstStyle/>
          <a:p>
            <a:r>
              <a:rPr lang="en-US"/>
              <a:t>Informatics 3   -   Computer Architecture</a:t>
            </a:r>
          </a:p>
        </p:txBody>
      </p:sp>
      <p:sp>
        <p:nvSpPr>
          <p:cNvPr id="6" name="Slide Number Placeholder 5"/>
          <p:cNvSpPr>
            <a:spLocks noGrp="1"/>
          </p:cNvSpPr>
          <p:nvPr>
            <p:ph type="sldNum" sz="quarter" idx="5"/>
          </p:nvPr>
        </p:nvSpPr>
        <p:spPr/>
        <p:txBody>
          <a:bodyPr/>
          <a:lstStyle/>
          <a:p>
            <a:pPr>
              <a:defRPr/>
            </a:pPr>
            <a:fld id="{3ACFF632-C89B-E148-8D44-977E94A39556}" type="slidenum">
              <a:rPr lang="en-US" smtClean="0"/>
              <a:pPr>
                <a:defRPr/>
              </a:pPr>
              <a:t>4</a:t>
            </a:fld>
            <a:endParaRPr lang="en-US"/>
          </a:p>
        </p:txBody>
      </p:sp>
    </p:spTree>
    <p:extLst>
      <p:ext uri="{BB962C8B-B14F-4D97-AF65-F5344CB8AC3E}">
        <p14:creationId xmlns:p14="http://schemas.microsoft.com/office/powerpoint/2010/main" val="3408801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533400"/>
            <a:ext cx="5791200" cy="4343400"/>
          </a:xfrm>
        </p:spPr>
      </p:sp>
      <p:sp>
        <p:nvSpPr>
          <p:cNvPr id="3" name="Notes Placeholder 2"/>
          <p:cNvSpPr>
            <a:spLocks noGrp="1"/>
          </p:cNvSpPr>
          <p:nvPr>
            <p:ph type="body" idx="1"/>
          </p:nvPr>
        </p:nvSpPr>
        <p:spPr/>
        <p:txBody>
          <a:bodyPr/>
          <a:lstStyle/>
          <a:p>
            <a:r>
              <a:rPr lang="en-US" dirty="0"/>
              <a:t>Illusion of shared memory implies 3 things. </a:t>
            </a:r>
          </a:p>
          <a:p>
            <a:r>
              <a:rPr lang="en-US" dirty="0"/>
              <a:t>- cache coherence. Keep caches consistent. </a:t>
            </a:r>
          </a:p>
          <a:p>
            <a:r>
              <a:rPr lang="en-US" dirty="0"/>
              <a:t>- once caches kept consistent. In what order writes are propagated. Consistency. </a:t>
            </a:r>
          </a:p>
          <a:p>
            <a:r>
              <a:rPr lang="en-US" dirty="0"/>
              <a:t>- Primitive synchronization. </a:t>
            </a:r>
          </a:p>
        </p:txBody>
      </p:sp>
      <p:sp>
        <p:nvSpPr>
          <p:cNvPr id="4" name="Date Placeholder 3"/>
          <p:cNvSpPr>
            <a:spLocks noGrp="1"/>
          </p:cNvSpPr>
          <p:nvPr>
            <p:ph type="dt" idx="1"/>
          </p:nvPr>
        </p:nvSpPr>
        <p:spPr/>
        <p:txBody>
          <a:bodyPr/>
          <a:lstStyle/>
          <a:p>
            <a:r>
              <a:rPr lang="en-US"/>
              <a:t>2008-2009</a:t>
            </a:r>
          </a:p>
        </p:txBody>
      </p:sp>
      <p:sp>
        <p:nvSpPr>
          <p:cNvPr id="5" name="Footer Placeholder 4"/>
          <p:cNvSpPr>
            <a:spLocks noGrp="1"/>
          </p:cNvSpPr>
          <p:nvPr>
            <p:ph type="ftr" sz="quarter" idx="4"/>
          </p:nvPr>
        </p:nvSpPr>
        <p:spPr/>
        <p:txBody>
          <a:bodyPr/>
          <a:lstStyle/>
          <a:p>
            <a:r>
              <a:rPr lang="en-US"/>
              <a:t>Informatics 3   -   Computer Architecture</a:t>
            </a:r>
          </a:p>
        </p:txBody>
      </p:sp>
      <p:sp>
        <p:nvSpPr>
          <p:cNvPr id="6" name="Slide Number Placeholder 5"/>
          <p:cNvSpPr>
            <a:spLocks noGrp="1"/>
          </p:cNvSpPr>
          <p:nvPr>
            <p:ph type="sldNum" sz="quarter" idx="5"/>
          </p:nvPr>
        </p:nvSpPr>
        <p:spPr/>
        <p:txBody>
          <a:bodyPr/>
          <a:lstStyle/>
          <a:p>
            <a:pPr>
              <a:defRPr/>
            </a:pPr>
            <a:fld id="{3ACFF632-C89B-E148-8D44-977E94A39556}" type="slidenum">
              <a:rPr lang="en-US" smtClean="0"/>
              <a:pPr>
                <a:defRPr/>
              </a:pPr>
              <a:t>7</a:t>
            </a:fld>
            <a:endParaRPr lang="en-US"/>
          </a:p>
        </p:txBody>
      </p:sp>
    </p:spTree>
    <p:extLst>
      <p:ext uri="{BB962C8B-B14F-4D97-AF65-F5344CB8AC3E}">
        <p14:creationId xmlns:p14="http://schemas.microsoft.com/office/powerpoint/2010/main" val="4215813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533400"/>
            <a:ext cx="5791200" cy="4343400"/>
          </a:xfrm>
        </p:spPr>
      </p:sp>
      <p:sp>
        <p:nvSpPr>
          <p:cNvPr id="3" name="Notes Placeholder 2"/>
          <p:cNvSpPr>
            <a:spLocks noGrp="1"/>
          </p:cNvSpPr>
          <p:nvPr>
            <p:ph type="body" idx="1"/>
          </p:nvPr>
        </p:nvSpPr>
        <p:spPr/>
        <p:txBody>
          <a:bodyPr/>
          <a:lstStyle/>
          <a:p>
            <a:r>
              <a:rPr lang="en-US" dirty="0"/>
              <a:t>These are two necessary (but not sufficient) conditions for cache coherence. Intuitively, the system must behave as if caches are invisible. </a:t>
            </a:r>
          </a:p>
          <a:p>
            <a:endParaRPr lang="en-US" dirty="0"/>
          </a:p>
          <a:p>
            <a:r>
              <a:rPr lang="en-US" dirty="0"/>
              <a:t>Write propagation. A store performed by one processor must be eventually visible to a load reading from the same address at another processor. Note that without caches, write propagation happens though memory. </a:t>
            </a:r>
          </a:p>
          <a:p>
            <a:endParaRPr lang="en-US" dirty="0"/>
          </a:p>
          <a:p>
            <a:r>
              <a:rPr lang="en-US" dirty="0"/>
              <a:t>The second condition is called write serialization. Basically all processors should agree on the order of the writes to the same address. This again is true when there are no caches. The order in which the writes are serialized is the order in which writes reach memory, and this is the order in which they are observed by all processors. But in the presence of caches, and if we are not careful about the order in which writes are propagated, this can be violated. For example, in the example shown it is possible for the write from P1 to reach P2 before P3, and vice versa for the write from P4. </a:t>
            </a:r>
          </a:p>
          <a:p>
            <a:endParaRPr lang="en-US" dirty="0"/>
          </a:p>
        </p:txBody>
      </p:sp>
      <p:sp>
        <p:nvSpPr>
          <p:cNvPr id="4" name="Date Placeholder 3"/>
          <p:cNvSpPr>
            <a:spLocks noGrp="1"/>
          </p:cNvSpPr>
          <p:nvPr>
            <p:ph type="dt" idx="1"/>
          </p:nvPr>
        </p:nvSpPr>
        <p:spPr/>
        <p:txBody>
          <a:bodyPr/>
          <a:lstStyle/>
          <a:p>
            <a:r>
              <a:rPr lang="en-US"/>
              <a:t>2008-2009</a:t>
            </a:r>
          </a:p>
        </p:txBody>
      </p:sp>
      <p:sp>
        <p:nvSpPr>
          <p:cNvPr id="5" name="Footer Placeholder 4"/>
          <p:cNvSpPr>
            <a:spLocks noGrp="1"/>
          </p:cNvSpPr>
          <p:nvPr>
            <p:ph type="ftr" sz="quarter" idx="4"/>
          </p:nvPr>
        </p:nvSpPr>
        <p:spPr/>
        <p:txBody>
          <a:bodyPr/>
          <a:lstStyle/>
          <a:p>
            <a:r>
              <a:rPr lang="en-US"/>
              <a:t>Informatics 3   -   Computer Architecture</a:t>
            </a:r>
          </a:p>
        </p:txBody>
      </p:sp>
      <p:sp>
        <p:nvSpPr>
          <p:cNvPr id="6" name="Slide Number Placeholder 5"/>
          <p:cNvSpPr>
            <a:spLocks noGrp="1"/>
          </p:cNvSpPr>
          <p:nvPr>
            <p:ph type="sldNum" sz="quarter" idx="5"/>
          </p:nvPr>
        </p:nvSpPr>
        <p:spPr/>
        <p:txBody>
          <a:bodyPr/>
          <a:lstStyle/>
          <a:p>
            <a:pPr>
              <a:defRPr/>
            </a:pPr>
            <a:fld id="{3ACFF632-C89B-E148-8D44-977E94A39556}" type="slidenum">
              <a:rPr lang="en-US" smtClean="0"/>
              <a:pPr>
                <a:defRPr/>
              </a:pPr>
              <a:t>13</a:t>
            </a:fld>
            <a:endParaRPr lang="en-US"/>
          </a:p>
        </p:txBody>
      </p:sp>
    </p:spTree>
    <p:extLst>
      <p:ext uri="{BB962C8B-B14F-4D97-AF65-F5344CB8AC3E}">
        <p14:creationId xmlns:p14="http://schemas.microsoft.com/office/powerpoint/2010/main" val="4108356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533400"/>
            <a:ext cx="5791200" cy="4343400"/>
          </a:xfrm>
        </p:spPr>
      </p:sp>
      <p:sp>
        <p:nvSpPr>
          <p:cNvPr id="3" name="Notes Placeholder 2"/>
          <p:cNvSpPr>
            <a:spLocks noGrp="1"/>
          </p:cNvSpPr>
          <p:nvPr>
            <p:ph type="body" idx="1"/>
          </p:nvPr>
        </p:nvSpPr>
        <p:spPr/>
        <p:txBody>
          <a:bodyPr/>
          <a:lstStyle/>
          <a:p>
            <a:r>
              <a:rPr lang="en-US" dirty="0"/>
              <a:t>Key insight: ok to have multiple cached copies as long as the values are all the same. </a:t>
            </a:r>
          </a:p>
          <a:p>
            <a:endParaRPr lang="en-US" dirty="0"/>
          </a:p>
          <a:p>
            <a:r>
              <a:rPr lang="en-US" dirty="0"/>
              <a:t>Whenever a store, that is a write, happens in a cache – it needs to communicate with the other cached copies by either invalidating the other cache copies are updating the values of the other cached copies. </a:t>
            </a:r>
          </a:p>
        </p:txBody>
      </p:sp>
      <p:sp>
        <p:nvSpPr>
          <p:cNvPr id="4" name="Date Placeholder 3"/>
          <p:cNvSpPr>
            <a:spLocks noGrp="1"/>
          </p:cNvSpPr>
          <p:nvPr>
            <p:ph type="dt" idx="1"/>
          </p:nvPr>
        </p:nvSpPr>
        <p:spPr/>
        <p:txBody>
          <a:bodyPr/>
          <a:lstStyle/>
          <a:p>
            <a:r>
              <a:rPr lang="en-US"/>
              <a:t>2008-2009</a:t>
            </a:r>
          </a:p>
        </p:txBody>
      </p:sp>
      <p:sp>
        <p:nvSpPr>
          <p:cNvPr id="5" name="Footer Placeholder 4"/>
          <p:cNvSpPr>
            <a:spLocks noGrp="1"/>
          </p:cNvSpPr>
          <p:nvPr>
            <p:ph type="ftr" sz="quarter" idx="4"/>
          </p:nvPr>
        </p:nvSpPr>
        <p:spPr/>
        <p:txBody>
          <a:bodyPr/>
          <a:lstStyle/>
          <a:p>
            <a:r>
              <a:rPr lang="en-US"/>
              <a:t>Informatics 3   -   Computer Architecture</a:t>
            </a:r>
          </a:p>
        </p:txBody>
      </p:sp>
      <p:sp>
        <p:nvSpPr>
          <p:cNvPr id="6" name="Slide Number Placeholder 5"/>
          <p:cNvSpPr>
            <a:spLocks noGrp="1"/>
          </p:cNvSpPr>
          <p:nvPr>
            <p:ph type="sldNum" sz="quarter" idx="5"/>
          </p:nvPr>
        </p:nvSpPr>
        <p:spPr/>
        <p:txBody>
          <a:bodyPr/>
          <a:lstStyle/>
          <a:p>
            <a:pPr>
              <a:defRPr/>
            </a:pPr>
            <a:fld id="{3ACFF632-C89B-E148-8D44-977E94A39556}" type="slidenum">
              <a:rPr lang="en-US" smtClean="0"/>
              <a:pPr>
                <a:defRPr/>
              </a:pPr>
              <a:t>14</a:t>
            </a:fld>
            <a:endParaRPr lang="en-US"/>
          </a:p>
        </p:txBody>
      </p:sp>
    </p:spTree>
    <p:extLst>
      <p:ext uri="{BB962C8B-B14F-4D97-AF65-F5344CB8AC3E}">
        <p14:creationId xmlns:p14="http://schemas.microsoft.com/office/powerpoint/2010/main" val="3120885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533400"/>
            <a:ext cx="5791200" cy="4343400"/>
          </a:xfrm>
        </p:spPr>
      </p:sp>
      <p:sp>
        <p:nvSpPr>
          <p:cNvPr id="3" name="Notes Placeholder 2"/>
          <p:cNvSpPr>
            <a:spLocks noGrp="1"/>
          </p:cNvSpPr>
          <p:nvPr>
            <p:ph type="body" idx="1"/>
          </p:nvPr>
        </p:nvSpPr>
        <p:spPr/>
        <p:txBody>
          <a:bodyPr/>
          <a:lstStyle/>
          <a:p>
            <a:r>
              <a:rPr lang="en-US" dirty="0"/>
              <a:t>The goal is to enforce SWMR by exchanging as few messages as possible. </a:t>
            </a:r>
          </a:p>
        </p:txBody>
      </p:sp>
      <p:sp>
        <p:nvSpPr>
          <p:cNvPr id="4" name="Date Placeholder 3"/>
          <p:cNvSpPr>
            <a:spLocks noGrp="1"/>
          </p:cNvSpPr>
          <p:nvPr>
            <p:ph type="dt" idx="1"/>
          </p:nvPr>
        </p:nvSpPr>
        <p:spPr/>
        <p:txBody>
          <a:bodyPr/>
          <a:lstStyle/>
          <a:p>
            <a:r>
              <a:rPr lang="en-US"/>
              <a:t>2008-2009</a:t>
            </a:r>
          </a:p>
        </p:txBody>
      </p:sp>
      <p:sp>
        <p:nvSpPr>
          <p:cNvPr id="5" name="Footer Placeholder 4"/>
          <p:cNvSpPr>
            <a:spLocks noGrp="1"/>
          </p:cNvSpPr>
          <p:nvPr>
            <p:ph type="ftr" sz="quarter" idx="4"/>
          </p:nvPr>
        </p:nvSpPr>
        <p:spPr/>
        <p:txBody>
          <a:bodyPr/>
          <a:lstStyle/>
          <a:p>
            <a:r>
              <a:rPr lang="en-US"/>
              <a:t>Informatics 3   -   Computer Architecture</a:t>
            </a:r>
          </a:p>
        </p:txBody>
      </p:sp>
      <p:sp>
        <p:nvSpPr>
          <p:cNvPr id="6" name="Slide Number Placeholder 5"/>
          <p:cNvSpPr>
            <a:spLocks noGrp="1"/>
          </p:cNvSpPr>
          <p:nvPr>
            <p:ph type="sldNum" sz="quarter" idx="5"/>
          </p:nvPr>
        </p:nvSpPr>
        <p:spPr/>
        <p:txBody>
          <a:bodyPr/>
          <a:lstStyle/>
          <a:p>
            <a:pPr>
              <a:defRPr/>
            </a:pPr>
            <a:fld id="{3ACFF632-C89B-E148-8D44-977E94A39556}" type="slidenum">
              <a:rPr lang="en-US" smtClean="0"/>
              <a:pPr>
                <a:defRPr/>
              </a:pPr>
              <a:t>19</a:t>
            </a:fld>
            <a:endParaRPr lang="en-US"/>
          </a:p>
        </p:txBody>
      </p:sp>
    </p:spTree>
    <p:extLst>
      <p:ext uri="{BB962C8B-B14F-4D97-AF65-F5344CB8AC3E}">
        <p14:creationId xmlns:p14="http://schemas.microsoft.com/office/powerpoint/2010/main" val="38211609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4"/>
          <p:cNvSpPr>
            <a:spLocks noChangeShapeType="1"/>
          </p:cNvSpPr>
          <p:nvPr/>
        </p:nvSpPr>
        <p:spPr bwMode="auto">
          <a:xfrm>
            <a:off x="685800" y="3657600"/>
            <a:ext cx="7772400" cy="0"/>
          </a:xfrm>
          <a:prstGeom prst="line">
            <a:avLst/>
          </a:prstGeom>
          <a:noFill/>
          <a:ln w="76200">
            <a:solidFill>
              <a:schemeClr val="accent2"/>
            </a:solidFill>
            <a:round/>
            <a:headEnd/>
            <a:tailEnd/>
          </a:ln>
          <a:effectLst/>
        </p:spPr>
        <p:txBody>
          <a:bodyPr wrap="none" anchor="ctr">
            <a:prstTxWarp prst="textNoShape">
              <a:avLst/>
            </a:prstTxWarp>
          </a:bodyPr>
          <a:lstStyle/>
          <a:p>
            <a:pPr>
              <a:defRPr/>
            </a:pPr>
            <a:endParaRPr lang="en-US" dirty="0"/>
          </a:p>
        </p:txBody>
      </p:sp>
      <p:sp>
        <p:nvSpPr>
          <p:cNvPr id="5" name="Rectangle 7"/>
          <p:cNvSpPr>
            <a:spLocks noChangeArrowheads="1"/>
          </p:cNvSpPr>
          <p:nvPr/>
        </p:nvSpPr>
        <p:spPr bwMode="auto">
          <a:xfrm>
            <a:off x="685800" y="4038600"/>
            <a:ext cx="7772400" cy="1981200"/>
          </a:xfrm>
          <a:prstGeom prst="rect">
            <a:avLst/>
          </a:prstGeom>
          <a:noFill/>
          <a:ln w="9525">
            <a:noFill/>
            <a:miter lim="800000"/>
            <a:headEnd/>
            <a:tailEnd/>
          </a:ln>
          <a:effectLst/>
        </p:spPr>
        <p:txBody>
          <a:bodyPr>
            <a:prstTxWarp prst="textNoShape">
              <a:avLst/>
            </a:prstTxWarp>
          </a:bodyPr>
          <a:lstStyle/>
          <a:p>
            <a:pPr algn="ctr">
              <a:lnSpc>
                <a:spcPct val="120000"/>
              </a:lnSpc>
              <a:spcBef>
                <a:spcPct val="20000"/>
              </a:spcBef>
              <a:buClr>
                <a:schemeClr val="accent2"/>
              </a:buClr>
              <a:buFont typeface="Wingdings" pitchFamily="-112" charset="2"/>
              <a:buNone/>
              <a:defRPr/>
            </a:pPr>
            <a:r>
              <a:rPr lang="en-GB" sz="2000" b="0" baseline="0" dirty="0">
                <a:latin typeface="Geneva" pitchFamily="-112" charset="0"/>
              </a:rPr>
              <a:t>Prof. Vijay Nagarajan</a:t>
            </a:r>
            <a:endParaRPr lang="en-GB" sz="2000" b="0" dirty="0">
              <a:latin typeface="Geneva" pitchFamily="-112" charset="0"/>
            </a:endParaRPr>
          </a:p>
          <a:p>
            <a:pPr algn="ctr">
              <a:lnSpc>
                <a:spcPct val="120000"/>
              </a:lnSpc>
              <a:spcBef>
                <a:spcPct val="20000"/>
              </a:spcBef>
              <a:buClr>
                <a:schemeClr val="accent2"/>
              </a:buClr>
              <a:buFont typeface="Wingdings" pitchFamily="-112" charset="2"/>
              <a:buNone/>
              <a:defRPr/>
            </a:pPr>
            <a:endParaRPr lang="en-GB" sz="1600" b="0" dirty="0">
              <a:latin typeface="Geneva" pitchFamily="-112" charset="0"/>
            </a:endParaRPr>
          </a:p>
        </p:txBody>
      </p:sp>
      <p:sp>
        <p:nvSpPr>
          <p:cNvPr id="234498" name="Rectangle 2"/>
          <p:cNvSpPr>
            <a:spLocks noGrp="1" noChangeArrowheads="1"/>
          </p:cNvSpPr>
          <p:nvPr>
            <p:ph type="ctrTitle"/>
          </p:nvPr>
        </p:nvSpPr>
        <p:spPr>
          <a:xfrm>
            <a:off x="685800" y="1752600"/>
            <a:ext cx="7772400" cy="1676400"/>
          </a:xfrm>
        </p:spPr>
        <p:txBody>
          <a:bodyPr/>
          <a:lstStyle>
            <a:lvl1pPr algn="ctr">
              <a:defRPr sz="2000"/>
            </a:lvl1pPr>
          </a:lstStyle>
          <a:p>
            <a:r>
              <a:rPr lang="en-US"/>
              <a:t>Click to edit Master title style</a:t>
            </a:r>
          </a:p>
        </p:txBody>
      </p:sp>
      <p:pic>
        <p:nvPicPr>
          <p:cNvPr id="6" name="Picture 5" descr="A red and white logo&#10;&#10;Description automatically generated">
            <a:extLst>
              <a:ext uri="{FF2B5EF4-FFF2-40B4-BE49-F238E27FC236}">
                <a16:creationId xmlns:a16="http://schemas.microsoft.com/office/drawing/2014/main" id="{D59D87F7-4D95-717A-4D8A-3EFA7D55EE35}"/>
              </a:ext>
            </a:extLst>
          </p:cNvPr>
          <p:cNvPicPr>
            <a:picLocks noChangeAspect="1"/>
          </p:cNvPicPr>
          <p:nvPr userDrawn="1"/>
        </p:nvPicPr>
        <p:blipFill>
          <a:blip r:embed="rId2"/>
          <a:stretch>
            <a:fillRect/>
          </a:stretch>
        </p:blipFill>
        <p:spPr>
          <a:xfrm>
            <a:off x="8229600" y="173383"/>
            <a:ext cx="685800" cy="635000"/>
          </a:xfrm>
          <a:prstGeom prst="rect">
            <a:avLst/>
          </a:prstGeom>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Footer Placeholder 3"/>
          <p:cNvSpPr>
            <a:spLocks noGrp="1"/>
          </p:cNvSpPr>
          <p:nvPr>
            <p:ph type="ftr" sz="quarter" idx="10"/>
          </p:nvPr>
        </p:nvSpPr>
        <p:spPr/>
        <p:txBody>
          <a:bodyPr/>
          <a:lstStyle>
            <a:lvl1pPr>
              <a:defRPr smtClean="0"/>
            </a:lvl1pPr>
          </a:lstStyle>
          <a:p>
            <a:pPr>
              <a:defRPr/>
            </a:pPr>
            <a:r>
              <a:rPr lang="en-US" dirty="0"/>
              <a:t>CS/ECE  Computer Architecture – Fall’23</a:t>
            </a:r>
            <a:endParaRPr lang="en-US" sz="1400" dirty="0">
              <a:latin typeface="Garamond" pitchFamily="-112" charset="0"/>
            </a:endParaRPr>
          </a:p>
        </p:txBody>
      </p:sp>
      <p:sp>
        <p:nvSpPr>
          <p:cNvPr id="5" name="Slide Number Placeholder 4"/>
          <p:cNvSpPr>
            <a:spLocks noGrp="1"/>
          </p:cNvSpPr>
          <p:nvPr>
            <p:ph type="sldNum" sz="quarter" idx="11"/>
          </p:nvPr>
        </p:nvSpPr>
        <p:spPr/>
        <p:txBody>
          <a:bodyPr/>
          <a:lstStyle>
            <a:lvl1pPr>
              <a:defRPr smtClean="0"/>
            </a:lvl1pPr>
          </a:lstStyle>
          <a:p>
            <a:pPr>
              <a:defRPr/>
            </a:pPr>
            <a:fld id="{FF10D8AA-72FC-054E-A724-04FB34D4ED2D}" type="slidenum">
              <a:rPr lang="en-US"/>
              <a:pPr>
                <a:defRPr/>
              </a:pPr>
              <a:t>‹#›</a:t>
            </a:fld>
            <a:endParaRPr lang="en-US">
              <a:latin typeface="Garamond" pitchFamily="-112" charset="0"/>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t>Click to edit Master text styles</a:t>
            </a:r>
          </a:p>
        </p:txBody>
      </p:sp>
      <p:sp>
        <p:nvSpPr>
          <p:cNvPr id="4" name="Footer Placeholder 3"/>
          <p:cNvSpPr>
            <a:spLocks noGrp="1"/>
          </p:cNvSpPr>
          <p:nvPr>
            <p:ph type="ftr" sz="quarter" idx="10"/>
          </p:nvPr>
        </p:nvSpPr>
        <p:spPr/>
        <p:txBody>
          <a:bodyPr/>
          <a:lstStyle>
            <a:lvl1pPr>
              <a:defRPr smtClean="0"/>
            </a:lvl1pPr>
          </a:lstStyle>
          <a:p>
            <a:pPr>
              <a:defRPr/>
            </a:pPr>
            <a:r>
              <a:rPr lang="en-US" dirty="0"/>
              <a:t>CS/ECE  Computer Architecture – Fall’23</a:t>
            </a:r>
            <a:endParaRPr lang="en-US" sz="1400" dirty="0">
              <a:latin typeface="Garamond" pitchFamily="-112" charset="0"/>
            </a:endParaRPr>
          </a:p>
        </p:txBody>
      </p:sp>
      <p:sp>
        <p:nvSpPr>
          <p:cNvPr id="5" name="Slide Number Placeholder 4"/>
          <p:cNvSpPr>
            <a:spLocks noGrp="1"/>
          </p:cNvSpPr>
          <p:nvPr>
            <p:ph type="sldNum" sz="quarter" idx="11"/>
          </p:nvPr>
        </p:nvSpPr>
        <p:spPr/>
        <p:txBody>
          <a:bodyPr/>
          <a:lstStyle>
            <a:lvl1pPr>
              <a:defRPr smtClean="0"/>
            </a:lvl1pPr>
          </a:lstStyle>
          <a:p>
            <a:pPr>
              <a:defRPr/>
            </a:pPr>
            <a:fld id="{439F0767-F541-5C44-BC09-F876CE08E507}" type="slidenum">
              <a:rPr lang="en-US"/>
              <a:pPr>
                <a:defRPr/>
              </a:pPr>
              <a:t>‹#›</a:t>
            </a:fld>
            <a:endParaRPr lang="en-US">
              <a:latin typeface="Garamond" pitchFamily="-112" charset="0"/>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85800" y="1524000"/>
            <a:ext cx="38100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524000"/>
            <a:ext cx="38100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p:cNvSpPr>
            <a:spLocks noGrp="1"/>
          </p:cNvSpPr>
          <p:nvPr>
            <p:ph type="ftr" sz="quarter" idx="10"/>
          </p:nvPr>
        </p:nvSpPr>
        <p:spPr>
          <a:xfrm>
            <a:off x="2438400" y="6553200"/>
            <a:ext cx="3810000" cy="304800"/>
          </a:xfrm>
        </p:spPr>
        <p:txBody>
          <a:bodyPr/>
          <a:lstStyle>
            <a:lvl1pPr>
              <a:defRPr sz="1400" baseline="0" smtClean="0">
                <a:latin typeface="+mn-lt"/>
              </a:defRPr>
            </a:lvl1pPr>
          </a:lstStyle>
          <a:p>
            <a:pPr>
              <a:defRPr/>
            </a:pPr>
            <a:r>
              <a:rPr lang="en-US" dirty="0">
                <a:latin typeface="Garamond" pitchFamily="-112" charset="0"/>
              </a:rPr>
              <a:t>CS/ECE  Computer Architecture – Fall’23</a:t>
            </a:r>
          </a:p>
          <a:p>
            <a:pPr>
              <a:defRPr/>
            </a:pPr>
            <a:endParaRPr lang="en-US" dirty="0">
              <a:latin typeface="Garamond" pitchFamily="-112" charset="0"/>
            </a:endParaRPr>
          </a:p>
          <a:p>
            <a:pPr>
              <a:defRPr/>
            </a:pPr>
            <a:endParaRPr lang="en-US" dirty="0">
              <a:latin typeface="Garamond" pitchFamily="-112" charset="0"/>
            </a:endParaRPr>
          </a:p>
        </p:txBody>
      </p:sp>
      <p:sp>
        <p:nvSpPr>
          <p:cNvPr id="6" name="Slide Number Placeholder 5"/>
          <p:cNvSpPr>
            <a:spLocks noGrp="1"/>
          </p:cNvSpPr>
          <p:nvPr>
            <p:ph type="sldNum" sz="quarter" idx="11"/>
          </p:nvPr>
        </p:nvSpPr>
        <p:spPr/>
        <p:txBody>
          <a:bodyPr/>
          <a:lstStyle>
            <a:lvl1pPr>
              <a:defRPr smtClean="0"/>
            </a:lvl1pPr>
          </a:lstStyle>
          <a:p>
            <a:pPr>
              <a:defRPr/>
            </a:pPr>
            <a:fld id="{32A40ACE-8BC5-0B40-BBA1-EF9CE833121F}" type="slidenum">
              <a:rPr lang="en-US"/>
              <a:pPr>
                <a:defRPr/>
              </a:pPr>
              <a:t>‹#›</a:t>
            </a:fld>
            <a:endParaRPr lang="en-US">
              <a:latin typeface="Garamond" pitchFamily="-112" charset="0"/>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Footer Placeholder 6"/>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8" name="Slide Number Placeholder 7"/>
          <p:cNvSpPr>
            <a:spLocks noGrp="1"/>
          </p:cNvSpPr>
          <p:nvPr>
            <p:ph type="sldNum" sz="quarter" idx="11"/>
          </p:nvPr>
        </p:nvSpPr>
        <p:spPr/>
        <p:txBody>
          <a:bodyPr/>
          <a:lstStyle>
            <a:lvl1pPr>
              <a:defRPr smtClean="0"/>
            </a:lvl1pPr>
          </a:lstStyle>
          <a:p>
            <a:pPr>
              <a:defRPr/>
            </a:pPr>
            <a:fld id="{0F59B5E2-87DD-EB43-872A-3E0EACCB644F}" type="slidenum">
              <a:rPr lang="en-US"/>
              <a:pPr>
                <a:defRPr/>
              </a:pPr>
              <a:t>‹#›</a:t>
            </a:fld>
            <a:endParaRPr lang="en-US">
              <a:latin typeface="Garamond" pitchFamily="-112" charset="0"/>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Footer Placeholder 2"/>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4" name="Slide Number Placeholder 3"/>
          <p:cNvSpPr>
            <a:spLocks noGrp="1"/>
          </p:cNvSpPr>
          <p:nvPr>
            <p:ph type="sldNum" sz="quarter" idx="11"/>
          </p:nvPr>
        </p:nvSpPr>
        <p:spPr/>
        <p:txBody>
          <a:bodyPr/>
          <a:lstStyle>
            <a:lvl1pPr>
              <a:defRPr smtClean="0"/>
            </a:lvl1pPr>
          </a:lstStyle>
          <a:p>
            <a:pPr>
              <a:defRPr/>
            </a:pPr>
            <a:fld id="{ED26977E-680E-ED4B-94F0-141655F29872}" type="slidenum">
              <a:rPr lang="en-US"/>
              <a:pPr>
                <a:defRPr/>
              </a:pPr>
              <a:t>‹#›</a:t>
            </a:fld>
            <a:endParaRPr lang="en-US">
              <a:latin typeface="Garamond" pitchFamily="-112" charset="0"/>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3" name="Slide Number Placeholder 2"/>
          <p:cNvSpPr>
            <a:spLocks noGrp="1"/>
          </p:cNvSpPr>
          <p:nvPr>
            <p:ph type="sldNum" sz="quarter" idx="11"/>
          </p:nvPr>
        </p:nvSpPr>
        <p:spPr/>
        <p:txBody>
          <a:bodyPr/>
          <a:lstStyle>
            <a:lvl1pPr>
              <a:defRPr smtClean="0"/>
            </a:lvl1pPr>
          </a:lstStyle>
          <a:p>
            <a:pPr>
              <a:defRPr/>
            </a:pPr>
            <a:fld id="{7D1CA570-A426-4944-B7E4-1239F68B4EC3}" type="slidenum">
              <a:rPr lang="en-US"/>
              <a:pPr>
                <a:defRPr/>
              </a:pPr>
              <a:t>‹#›</a:t>
            </a:fld>
            <a:endParaRPr lang="en-US">
              <a:latin typeface="Garamond" pitchFamily="-112" charset="0"/>
            </a:endParaRPr>
          </a:p>
        </p:txBody>
      </p:sp>
      <p:sp>
        <p:nvSpPr>
          <p:cNvPr id="4" name="Rectangle 3"/>
          <p:cNvSpPr/>
          <p:nvPr userDrawn="1"/>
        </p:nvSpPr>
        <p:spPr bwMode="auto">
          <a:xfrm>
            <a:off x="467544" y="836712"/>
            <a:ext cx="8136904" cy="360040"/>
          </a:xfrm>
          <a:prstGeom prst="rect">
            <a:avLst/>
          </a:prstGeom>
          <a:solidFill>
            <a:schemeClr val="bg1"/>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Garamond" pitchFamily="-112" charset="0"/>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Footer Placeholder 4"/>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6" name="Slide Number Placeholder 5"/>
          <p:cNvSpPr>
            <a:spLocks noGrp="1"/>
          </p:cNvSpPr>
          <p:nvPr>
            <p:ph type="sldNum" sz="quarter" idx="11"/>
          </p:nvPr>
        </p:nvSpPr>
        <p:spPr/>
        <p:txBody>
          <a:bodyPr/>
          <a:lstStyle>
            <a:lvl1pPr>
              <a:defRPr smtClean="0"/>
            </a:lvl1pPr>
          </a:lstStyle>
          <a:p>
            <a:pPr>
              <a:defRPr/>
            </a:pPr>
            <a:fld id="{39E4FD61-08EC-3449-AF81-7DDFB2B32A47}" type="slidenum">
              <a:rPr lang="en-US"/>
              <a:pPr>
                <a:defRPr/>
              </a:pPr>
              <a:t>‹#›</a:t>
            </a:fld>
            <a:endParaRPr lang="en-US">
              <a:latin typeface="Garamond" pitchFamily="-112" charset="0"/>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Footer Placeholder 4"/>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6" name="Slide Number Placeholder 5"/>
          <p:cNvSpPr>
            <a:spLocks noGrp="1"/>
          </p:cNvSpPr>
          <p:nvPr>
            <p:ph type="sldNum" sz="quarter" idx="11"/>
          </p:nvPr>
        </p:nvSpPr>
        <p:spPr/>
        <p:txBody>
          <a:bodyPr/>
          <a:lstStyle>
            <a:lvl1pPr>
              <a:defRPr smtClean="0"/>
            </a:lvl1pPr>
          </a:lstStyle>
          <a:p>
            <a:pPr>
              <a:defRPr/>
            </a:pPr>
            <a:fld id="{454976B5-A97D-9348-B219-18176D30763E}" type="slidenum">
              <a:rPr lang="en-US"/>
              <a:pPr>
                <a:defRPr/>
              </a:pPr>
              <a:t>‹#›</a:t>
            </a:fld>
            <a:endParaRPr lang="en-US">
              <a:latin typeface="Garamond" pitchFamily="-112" charset="0"/>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Footer Placeholder 3"/>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5" name="Slide Number Placeholder 4"/>
          <p:cNvSpPr>
            <a:spLocks noGrp="1"/>
          </p:cNvSpPr>
          <p:nvPr>
            <p:ph type="sldNum" sz="quarter" idx="11"/>
          </p:nvPr>
        </p:nvSpPr>
        <p:spPr/>
        <p:txBody>
          <a:bodyPr/>
          <a:lstStyle>
            <a:lvl1pPr>
              <a:defRPr smtClean="0"/>
            </a:lvl1pPr>
          </a:lstStyle>
          <a:p>
            <a:pPr>
              <a:defRPr/>
            </a:pPr>
            <a:fld id="{B6EB67F5-B818-A947-B3C0-F7774BB8DB12}" type="slidenum">
              <a:rPr lang="en-US"/>
              <a:pPr>
                <a:defRPr/>
              </a:pPr>
              <a:t>‹#›</a:t>
            </a:fld>
            <a:endParaRPr lang="en-US">
              <a:latin typeface="Garamond" pitchFamily="-112" charset="0"/>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152400"/>
            <a:ext cx="1943100" cy="6248400"/>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85800" y="152400"/>
            <a:ext cx="5676900" cy="62484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Footer Placeholder 3"/>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5" name="Slide Number Placeholder 4"/>
          <p:cNvSpPr>
            <a:spLocks noGrp="1"/>
          </p:cNvSpPr>
          <p:nvPr>
            <p:ph type="sldNum" sz="quarter" idx="11"/>
          </p:nvPr>
        </p:nvSpPr>
        <p:spPr/>
        <p:txBody>
          <a:bodyPr/>
          <a:lstStyle>
            <a:lvl1pPr>
              <a:defRPr smtClean="0"/>
            </a:lvl1pPr>
          </a:lstStyle>
          <a:p>
            <a:pPr>
              <a:defRPr/>
            </a:pPr>
            <a:fld id="{576F58A6-734F-3F40-8ACC-F1E1F9649C4A}" type="slidenum">
              <a:rPr lang="en-US"/>
              <a:pPr>
                <a:defRPr/>
              </a:pPr>
              <a:t>‹#›</a:t>
            </a:fld>
            <a:endParaRPr lang="en-US">
              <a:latin typeface="Garamond" pitchFamily="-112" charset="0"/>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620000" cy="8382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685800" y="1524000"/>
            <a:ext cx="3810000" cy="4876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524000"/>
            <a:ext cx="3810000" cy="4876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6" name="Slide Number Placeholder 5"/>
          <p:cNvSpPr>
            <a:spLocks noGrp="1"/>
          </p:cNvSpPr>
          <p:nvPr>
            <p:ph type="sldNum" sz="quarter" idx="11"/>
          </p:nvPr>
        </p:nvSpPr>
        <p:spPr/>
        <p:txBody>
          <a:bodyPr/>
          <a:lstStyle>
            <a:lvl1pPr>
              <a:defRPr smtClean="0"/>
            </a:lvl1pPr>
          </a:lstStyle>
          <a:p>
            <a:pPr>
              <a:defRPr/>
            </a:pPr>
            <a:fld id="{977F90CF-3290-294A-AFFA-BABFD9F61AFD}" type="slidenum">
              <a:rPr lang="en-US"/>
              <a:pPr>
                <a:defRPr/>
              </a:pPr>
              <a:t>‹#›</a:t>
            </a:fld>
            <a:endParaRPr lang="en-US">
              <a:latin typeface="Garamond" pitchFamily="-112" charset="0"/>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620000" cy="838200"/>
          </a:xfrm>
        </p:spPr>
        <p:txBody>
          <a:bodyPr/>
          <a:lstStyle/>
          <a:p>
            <a:r>
              <a:rPr lang="en-GB"/>
              <a:t>Click to edit Master title style</a:t>
            </a:r>
            <a:endParaRPr lang="en-US"/>
          </a:p>
        </p:txBody>
      </p:sp>
      <p:sp>
        <p:nvSpPr>
          <p:cNvPr id="3" name="Table Placeholder 2"/>
          <p:cNvSpPr>
            <a:spLocks noGrp="1"/>
          </p:cNvSpPr>
          <p:nvPr>
            <p:ph type="tbl" idx="1"/>
          </p:nvPr>
        </p:nvSpPr>
        <p:spPr>
          <a:xfrm>
            <a:off x="685800" y="1524000"/>
            <a:ext cx="7772400" cy="4876800"/>
          </a:xfrm>
        </p:spPr>
        <p:txBody>
          <a:bodyPr/>
          <a:lstStyle/>
          <a:p>
            <a:pPr lvl="0"/>
            <a:endParaRPr lang="en-US" noProof="0"/>
          </a:p>
        </p:txBody>
      </p:sp>
      <p:sp>
        <p:nvSpPr>
          <p:cNvPr id="4" name="Footer Placeholder 3"/>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5" name="Slide Number Placeholder 4"/>
          <p:cNvSpPr>
            <a:spLocks noGrp="1"/>
          </p:cNvSpPr>
          <p:nvPr>
            <p:ph type="sldNum" sz="quarter" idx="11"/>
          </p:nvPr>
        </p:nvSpPr>
        <p:spPr/>
        <p:txBody>
          <a:bodyPr/>
          <a:lstStyle>
            <a:lvl1pPr>
              <a:defRPr smtClean="0"/>
            </a:lvl1pPr>
          </a:lstStyle>
          <a:p>
            <a:pPr>
              <a:defRPr/>
            </a:pPr>
            <a:fld id="{F5C3F736-FD0F-AA45-8F37-A57BE49B46B7}" type="slidenum">
              <a:rPr lang="en-US"/>
              <a:pPr>
                <a:defRPr/>
              </a:pPr>
              <a:t>‹#›</a:t>
            </a:fld>
            <a:endParaRPr lang="en-US">
              <a:latin typeface="Garamond" pitchFamily="-112" charset="0"/>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27647927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52400"/>
            <a:ext cx="7620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524000"/>
            <a:ext cx="77724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3476" name="Rectangle 4"/>
          <p:cNvSpPr>
            <a:spLocks noGrp="1" noChangeArrowheads="1"/>
          </p:cNvSpPr>
          <p:nvPr>
            <p:ph type="ftr" sz="quarter" idx="3"/>
          </p:nvPr>
        </p:nvSpPr>
        <p:spPr bwMode="auto">
          <a:xfrm>
            <a:off x="2895600" y="6553200"/>
            <a:ext cx="33528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b="0" smtClean="0">
                <a:latin typeface="+mn-lt"/>
              </a:defRPr>
            </a:lvl1pPr>
          </a:lstStyle>
          <a:p>
            <a:pPr>
              <a:defRPr/>
            </a:pPr>
            <a:r>
              <a:rPr lang="en-US" dirty="0"/>
              <a:t>CS/ECE Computer Architecture – Fall’23</a:t>
            </a:r>
            <a:endParaRPr lang="en-US" sz="1400" dirty="0"/>
          </a:p>
        </p:txBody>
      </p:sp>
      <p:sp>
        <p:nvSpPr>
          <p:cNvPr id="233477" name="Line 5"/>
          <p:cNvSpPr>
            <a:spLocks noChangeShapeType="1"/>
          </p:cNvSpPr>
          <p:nvPr/>
        </p:nvSpPr>
        <p:spPr bwMode="auto">
          <a:xfrm>
            <a:off x="685800" y="990600"/>
            <a:ext cx="7772400" cy="0"/>
          </a:xfrm>
          <a:prstGeom prst="line">
            <a:avLst/>
          </a:prstGeom>
          <a:noFill/>
          <a:ln w="38100">
            <a:solidFill>
              <a:schemeClr val="accent2">
                <a:alpha val="89000"/>
              </a:schemeClr>
            </a:solidFill>
            <a:round/>
            <a:headEnd/>
            <a:tailEnd/>
          </a:ln>
          <a:effectLst/>
        </p:spPr>
        <p:txBody>
          <a:bodyPr wrap="none" anchor="ctr">
            <a:prstTxWarp prst="textNoShape">
              <a:avLst/>
            </a:prstTxWarp>
          </a:bodyPr>
          <a:lstStyle/>
          <a:p>
            <a:pPr>
              <a:defRPr/>
            </a:pPr>
            <a:endParaRPr lang="en-US"/>
          </a:p>
        </p:txBody>
      </p:sp>
      <p:sp>
        <p:nvSpPr>
          <p:cNvPr id="233479" name="Rectangle 7"/>
          <p:cNvSpPr>
            <a:spLocks noGrp="1" noChangeArrowheads="1"/>
          </p:cNvSpPr>
          <p:nvPr>
            <p:ph type="sldNum" sz="quarter" idx="4"/>
          </p:nvPr>
        </p:nvSpPr>
        <p:spPr bwMode="auto">
          <a:xfrm>
            <a:off x="7086600" y="6553200"/>
            <a:ext cx="1905000" cy="3048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sz="1200">
                <a:latin typeface="+mn-lt"/>
              </a:defRPr>
            </a:lvl1pPr>
          </a:lstStyle>
          <a:p>
            <a:pPr>
              <a:defRPr/>
            </a:pPr>
            <a:fld id="{153BAC1E-BB0B-A049-B56D-74AA82B13E1A}" type="slidenum">
              <a:rPr lang="en-US"/>
              <a:pPr>
                <a:defRPr/>
              </a:pPr>
              <a:t>‹#›</a:t>
            </a:fld>
            <a:endParaRPr lang="en-US"/>
          </a:p>
        </p:txBody>
      </p:sp>
      <p:pic>
        <p:nvPicPr>
          <p:cNvPr id="3" name="Picture 2" descr="A red and white logo&#10;&#10;Description automatically generated">
            <a:extLst>
              <a:ext uri="{FF2B5EF4-FFF2-40B4-BE49-F238E27FC236}">
                <a16:creationId xmlns:a16="http://schemas.microsoft.com/office/drawing/2014/main" id="{7BA18FEC-871B-E19F-0632-FE1098BEDAA5}"/>
              </a:ext>
            </a:extLst>
          </p:cNvPr>
          <p:cNvPicPr>
            <a:picLocks noChangeAspect="1"/>
          </p:cNvPicPr>
          <p:nvPr userDrawn="1"/>
        </p:nvPicPr>
        <p:blipFill>
          <a:blip r:embed="rId16"/>
          <a:stretch>
            <a:fillRect/>
          </a:stretch>
        </p:blipFill>
        <p:spPr>
          <a:xfrm>
            <a:off x="8305800" y="139700"/>
            <a:ext cx="685800" cy="635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hf hdr="0" dt="0"/>
  <p:txStyles>
    <p:titleStyle>
      <a:lvl1pPr algn="l" rtl="0" eaLnBrk="0" fontAlgn="base" hangingPunct="0">
        <a:spcBef>
          <a:spcPct val="0"/>
        </a:spcBef>
        <a:spcAft>
          <a:spcPct val="0"/>
        </a:spcAft>
        <a:defRPr sz="2400">
          <a:solidFill>
            <a:schemeClr val="tx2"/>
          </a:solidFill>
          <a:latin typeface="+mj-lt"/>
          <a:ea typeface="ＭＳ Ｐゴシック" pitchFamily="-112" charset="-128"/>
          <a:cs typeface="ＭＳ Ｐゴシック" pitchFamily="-112" charset="-128"/>
        </a:defRPr>
      </a:lvl1pPr>
      <a:lvl2pPr algn="l" rtl="0" eaLnBrk="0" fontAlgn="base" hangingPunct="0">
        <a:spcBef>
          <a:spcPct val="0"/>
        </a:spcBef>
        <a:spcAft>
          <a:spcPct val="0"/>
        </a:spcAft>
        <a:defRPr sz="2400">
          <a:solidFill>
            <a:schemeClr val="tx2"/>
          </a:solidFill>
          <a:latin typeface="Geneva" pitchFamily="-112" charset="0"/>
          <a:ea typeface="ＭＳ Ｐゴシック" pitchFamily="-112" charset="-128"/>
          <a:cs typeface="ＭＳ Ｐゴシック" pitchFamily="-112" charset="-128"/>
        </a:defRPr>
      </a:lvl2pPr>
      <a:lvl3pPr algn="l" rtl="0" eaLnBrk="0" fontAlgn="base" hangingPunct="0">
        <a:spcBef>
          <a:spcPct val="0"/>
        </a:spcBef>
        <a:spcAft>
          <a:spcPct val="0"/>
        </a:spcAft>
        <a:defRPr sz="2400">
          <a:solidFill>
            <a:schemeClr val="tx2"/>
          </a:solidFill>
          <a:latin typeface="Geneva" pitchFamily="-112" charset="0"/>
          <a:ea typeface="ＭＳ Ｐゴシック" pitchFamily="-112" charset="-128"/>
          <a:cs typeface="ＭＳ Ｐゴシック" pitchFamily="-112" charset="-128"/>
        </a:defRPr>
      </a:lvl3pPr>
      <a:lvl4pPr algn="l" rtl="0" eaLnBrk="0" fontAlgn="base" hangingPunct="0">
        <a:spcBef>
          <a:spcPct val="0"/>
        </a:spcBef>
        <a:spcAft>
          <a:spcPct val="0"/>
        </a:spcAft>
        <a:defRPr sz="2400">
          <a:solidFill>
            <a:schemeClr val="tx2"/>
          </a:solidFill>
          <a:latin typeface="Geneva" pitchFamily="-112" charset="0"/>
          <a:ea typeface="ＭＳ Ｐゴシック" pitchFamily="-112" charset="-128"/>
          <a:cs typeface="ＭＳ Ｐゴシック" pitchFamily="-112" charset="-128"/>
        </a:defRPr>
      </a:lvl4pPr>
      <a:lvl5pPr algn="l" rtl="0" eaLnBrk="0" fontAlgn="base" hangingPunct="0">
        <a:spcBef>
          <a:spcPct val="0"/>
        </a:spcBef>
        <a:spcAft>
          <a:spcPct val="0"/>
        </a:spcAft>
        <a:defRPr sz="2400">
          <a:solidFill>
            <a:schemeClr val="tx2"/>
          </a:solidFill>
          <a:latin typeface="Geneva" pitchFamily="-112" charset="0"/>
          <a:ea typeface="ＭＳ Ｐゴシック" pitchFamily="-112" charset="-128"/>
          <a:cs typeface="ＭＳ Ｐゴシック" pitchFamily="-112" charset="-128"/>
        </a:defRPr>
      </a:lvl5pPr>
      <a:lvl6pPr marL="457200" algn="l" rtl="0" eaLnBrk="0" fontAlgn="base" hangingPunct="0">
        <a:spcBef>
          <a:spcPct val="0"/>
        </a:spcBef>
        <a:spcAft>
          <a:spcPct val="0"/>
        </a:spcAft>
        <a:defRPr sz="2400">
          <a:solidFill>
            <a:schemeClr val="tx2"/>
          </a:solidFill>
          <a:latin typeface="Geneva" pitchFamily="-112" charset="0"/>
        </a:defRPr>
      </a:lvl6pPr>
      <a:lvl7pPr marL="914400" algn="l" rtl="0" eaLnBrk="0" fontAlgn="base" hangingPunct="0">
        <a:spcBef>
          <a:spcPct val="0"/>
        </a:spcBef>
        <a:spcAft>
          <a:spcPct val="0"/>
        </a:spcAft>
        <a:defRPr sz="2400">
          <a:solidFill>
            <a:schemeClr val="tx2"/>
          </a:solidFill>
          <a:latin typeface="Geneva" pitchFamily="-112" charset="0"/>
        </a:defRPr>
      </a:lvl7pPr>
      <a:lvl8pPr marL="1371600" algn="l" rtl="0" eaLnBrk="0" fontAlgn="base" hangingPunct="0">
        <a:spcBef>
          <a:spcPct val="0"/>
        </a:spcBef>
        <a:spcAft>
          <a:spcPct val="0"/>
        </a:spcAft>
        <a:defRPr sz="2400">
          <a:solidFill>
            <a:schemeClr val="tx2"/>
          </a:solidFill>
          <a:latin typeface="Geneva" pitchFamily="-112" charset="0"/>
        </a:defRPr>
      </a:lvl8pPr>
      <a:lvl9pPr marL="1828800" algn="l" rtl="0" eaLnBrk="0" fontAlgn="base" hangingPunct="0">
        <a:spcBef>
          <a:spcPct val="0"/>
        </a:spcBef>
        <a:spcAft>
          <a:spcPct val="0"/>
        </a:spcAft>
        <a:defRPr sz="2400">
          <a:solidFill>
            <a:schemeClr val="tx2"/>
          </a:solidFill>
          <a:latin typeface="Geneva" pitchFamily="-112" charset="0"/>
        </a:defRPr>
      </a:lvl9pPr>
    </p:titleStyle>
    <p:bodyStyle>
      <a:lvl1pPr marL="342900" indent="-342900" algn="l" rtl="0" eaLnBrk="0" fontAlgn="base" hangingPunct="0">
        <a:lnSpc>
          <a:spcPct val="120000"/>
        </a:lnSpc>
        <a:spcBef>
          <a:spcPct val="20000"/>
        </a:spcBef>
        <a:spcAft>
          <a:spcPct val="0"/>
        </a:spcAft>
        <a:buClr>
          <a:schemeClr val="accent2"/>
        </a:buClr>
        <a:buFont typeface="Wingdings" pitchFamily="-112" charset="2"/>
        <a:buChar char="§"/>
        <a:defRPr sz="2400">
          <a:solidFill>
            <a:schemeClr val="tx1"/>
          </a:solidFill>
          <a:latin typeface="+mn-lt"/>
          <a:ea typeface="ＭＳ Ｐゴシック" pitchFamily="-112" charset="-128"/>
          <a:cs typeface="ＭＳ Ｐゴシック" pitchFamily="-112" charset="-128"/>
        </a:defRPr>
      </a:lvl1pPr>
      <a:lvl2pPr marL="742950" indent="-285750" algn="l" rtl="0" eaLnBrk="0" fontAlgn="base" hangingPunct="0">
        <a:spcBef>
          <a:spcPct val="20000"/>
        </a:spcBef>
        <a:spcAft>
          <a:spcPct val="0"/>
        </a:spcAft>
        <a:buChar char="–"/>
        <a:defRPr sz="2000">
          <a:solidFill>
            <a:schemeClr val="tx1"/>
          </a:solidFill>
          <a:latin typeface="+mn-lt"/>
          <a:ea typeface="ＭＳ Ｐゴシック" pitchFamily="-112" charset="-128"/>
        </a:defRPr>
      </a:lvl2pPr>
      <a:lvl3pPr marL="1143000" indent="-228600" algn="l" rtl="0" eaLnBrk="0" fontAlgn="base" hangingPunct="0">
        <a:spcBef>
          <a:spcPct val="20000"/>
        </a:spcBef>
        <a:spcAft>
          <a:spcPct val="0"/>
        </a:spcAft>
        <a:buFont typeface="Wingdings" pitchFamily="-112" charset="2"/>
        <a:buChar char="§"/>
        <a:defRPr>
          <a:solidFill>
            <a:schemeClr val="tx1"/>
          </a:solidFill>
          <a:latin typeface="+mn-lt"/>
          <a:ea typeface="ＭＳ Ｐゴシック" pitchFamily="-112" charset="-128"/>
        </a:defRPr>
      </a:lvl3pPr>
      <a:lvl4pPr marL="1600200" indent="-228600" algn="l" rtl="0" eaLnBrk="0" fontAlgn="base" hangingPunct="0">
        <a:spcBef>
          <a:spcPct val="20000"/>
        </a:spcBef>
        <a:spcAft>
          <a:spcPct val="0"/>
        </a:spcAft>
        <a:buChar char="–"/>
        <a:defRPr sz="1600">
          <a:solidFill>
            <a:schemeClr val="tx1"/>
          </a:solidFill>
          <a:latin typeface="+mn-lt"/>
          <a:ea typeface="ＭＳ Ｐゴシック" pitchFamily="-112" charset="-128"/>
        </a:defRPr>
      </a:lvl4pPr>
      <a:lvl5pPr marL="20574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5pPr>
      <a:lvl6pPr marL="25146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6pPr>
      <a:lvl7pPr marL="29718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7pPr>
      <a:lvl8pPr marL="34290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8pPr>
      <a:lvl9pPr marL="38862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End of the Uniprocessor?"/>
          <p:cNvSpPr txBox="1">
            <a:spLocks noGrp="1"/>
          </p:cNvSpPr>
          <p:nvPr>
            <p:ph type="title" idx="4294967295"/>
          </p:nvPr>
        </p:nvSpPr>
        <p:spPr>
          <a:xfrm>
            <a:off x="685800" y="228600"/>
            <a:ext cx="7772400" cy="609600"/>
          </a:xfrm>
          <a:prstGeom prst="rect">
            <a:avLst/>
          </a:prstGeom>
        </p:spPr>
        <p:txBody>
          <a:bodyPr>
            <a:normAutofit fontScale="90000"/>
          </a:bodyPr>
          <a:lstStyle>
            <a:lvl1pPr defTabSz="694944">
              <a:defRPr sz="3648"/>
            </a:lvl1pPr>
          </a:lstStyle>
          <a:p>
            <a:r>
              <a:t>End of the Uniprocessor?</a:t>
            </a:r>
          </a:p>
        </p:txBody>
      </p:sp>
      <p:sp>
        <p:nvSpPr>
          <p:cNvPr id="175" name="Frequency has stopped scaling : Power Wall…"/>
          <p:cNvSpPr txBox="1">
            <a:spLocks noGrp="1"/>
          </p:cNvSpPr>
          <p:nvPr>
            <p:ph type="body" idx="4294967295"/>
          </p:nvPr>
        </p:nvSpPr>
        <p:spPr>
          <a:xfrm>
            <a:off x="685800" y="1524000"/>
            <a:ext cx="7772400" cy="3581400"/>
          </a:xfrm>
          <a:prstGeom prst="rect">
            <a:avLst/>
          </a:prstGeom>
        </p:spPr>
        <p:txBody>
          <a:bodyPr>
            <a:normAutofit/>
          </a:bodyPr>
          <a:lstStyle/>
          <a:p>
            <a:pPr>
              <a:lnSpc>
                <a:spcPct val="80000"/>
              </a:lnSpc>
              <a:spcBef>
                <a:spcPts val="600"/>
              </a:spcBef>
              <a:buChar char="▪"/>
              <a:defRPr sz="2700"/>
            </a:pPr>
            <a:r>
              <a:t>Frequency has stopped scaling : Power Wall</a:t>
            </a:r>
          </a:p>
          <a:p>
            <a:pPr marL="778668" lvl="1" indent="-321468">
              <a:lnSpc>
                <a:spcPct val="80000"/>
              </a:lnSpc>
              <a:spcBef>
                <a:spcPts val="0"/>
              </a:spcBef>
              <a:buClrTx/>
              <a:defRPr sz="2400"/>
            </a:pPr>
            <a:r>
              <a:rPr sz="2700"/>
              <a:t>End of Dennard scaling</a:t>
            </a:r>
          </a:p>
          <a:p>
            <a:pPr>
              <a:lnSpc>
                <a:spcPct val="80000"/>
              </a:lnSpc>
              <a:spcBef>
                <a:spcPts val="600"/>
              </a:spcBef>
              <a:buChar char="▪"/>
              <a:defRPr sz="2700"/>
            </a:pPr>
            <a:endParaRPr sz="2700"/>
          </a:p>
          <a:p>
            <a:pPr>
              <a:lnSpc>
                <a:spcPct val="80000"/>
              </a:lnSpc>
              <a:spcBef>
                <a:spcPts val="600"/>
              </a:spcBef>
              <a:buChar char="▪"/>
              <a:defRPr sz="2700"/>
            </a:pPr>
            <a:r>
              <a:t>Memory wall</a:t>
            </a:r>
          </a:p>
          <a:p>
            <a:pPr marL="742950" lvl="1" indent="-285750">
              <a:lnSpc>
                <a:spcPct val="80000"/>
              </a:lnSpc>
              <a:spcBef>
                <a:spcPts val="0"/>
              </a:spcBef>
              <a:buClrTx/>
              <a:defRPr sz="2400"/>
            </a:pPr>
            <a:r>
              <a:t>Instructions and data must be fetched </a:t>
            </a:r>
          </a:p>
          <a:p>
            <a:pPr marL="742950" lvl="1" indent="-285750">
              <a:lnSpc>
                <a:spcPct val="80000"/>
              </a:lnSpc>
              <a:spcBef>
                <a:spcPts val="0"/>
              </a:spcBef>
              <a:buClrTx/>
              <a:defRPr sz="2400"/>
            </a:pPr>
            <a:r>
              <a:t>Memory becomes the bottleneck</a:t>
            </a:r>
          </a:p>
          <a:p>
            <a:pPr>
              <a:lnSpc>
                <a:spcPct val="80000"/>
              </a:lnSpc>
              <a:buChar char="▪"/>
              <a:defRPr sz="2700"/>
            </a:pPr>
            <a:endParaRPr/>
          </a:p>
          <a:p>
            <a:pPr>
              <a:lnSpc>
                <a:spcPct val="80000"/>
              </a:lnSpc>
              <a:spcBef>
                <a:spcPts val="600"/>
              </a:spcBef>
              <a:buChar char="▪"/>
              <a:defRPr sz="2700"/>
            </a:pPr>
            <a:r>
              <a:t>ILP Wall</a:t>
            </a:r>
          </a:p>
          <a:p>
            <a:pPr marL="742950" lvl="1" indent="-285750">
              <a:lnSpc>
                <a:spcPct val="80000"/>
              </a:lnSpc>
              <a:spcBef>
                <a:spcPts val="0"/>
              </a:spcBef>
              <a:buClrTx/>
              <a:defRPr sz="2400"/>
            </a:pPr>
            <a:r>
              <a:t>Dependencies between instruction limit ILP</a:t>
            </a:r>
          </a:p>
        </p:txBody>
      </p:sp>
      <p:sp>
        <p:nvSpPr>
          <p:cNvPr id="176"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dirty="0"/>
              <a:t> </a:t>
            </a:r>
            <a:r>
              <a:rPr lang="en-US" dirty="0"/>
              <a:t>CS/ECE 6810 Computer Architecture</a:t>
            </a:r>
            <a:endParaRPr dirty="0"/>
          </a:p>
        </p:txBody>
      </p:sp>
      <p:sp>
        <p:nvSpPr>
          <p:cNvPr id="177" name="End of performance scaling for uniprocessors has forced industry to turn to chip-multiprocessors (Multicores)"/>
          <p:cNvSpPr txBox="1"/>
          <p:nvPr/>
        </p:nvSpPr>
        <p:spPr>
          <a:xfrm>
            <a:off x="457200" y="5105400"/>
            <a:ext cx="8178800" cy="7086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marL="342900" indent="-342900">
              <a:lnSpc>
                <a:spcPct val="80000"/>
              </a:lnSpc>
              <a:spcBef>
                <a:spcPts val="500"/>
              </a:spcBef>
              <a:defRPr sz="2400" b="0">
                <a:solidFill>
                  <a:srgbClr val="FF0000"/>
                </a:solidFill>
              </a:defRPr>
            </a:lvl1pPr>
          </a:lstStyle>
          <a:p>
            <a:r>
              <a:t>   End of performance scaling for uniprocessors has forced industry to turn to chip-multiprocessors (Multicores)  </a:t>
            </a:r>
          </a:p>
        </p:txBody>
      </p:sp>
      <p:sp>
        <p:nvSpPr>
          <p:cNvPr id="178" name="Slide Number"/>
          <p:cNvSpPr txBox="1">
            <a:spLocks noGrp="1"/>
          </p:cNvSpPr>
          <p:nvPr>
            <p:ph type="sldNum" sz="quarter" idx="2"/>
          </p:nvPr>
        </p:nvSpPr>
        <p:spPr>
          <a:xfrm>
            <a:off x="8720772" y="6400800"/>
            <a:ext cx="270829" cy="29464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52" name="Lect. 3:  Shared Memory Multiprocessors"/>
          <p:cNvSpPr txBox="1">
            <a:spLocks noGrp="1"/>
          </p:cNvSpPr>
          <p:nvPr>
            <p:ph type="title" idx="4294967295"/>
          </p:nvPr>
        </p:nvSpPr>
        <p:spPr>
          <a:xfrm>
            <a:off x="152400" y="228600"/>
            <a:ext cx="8534400" cy="838200"/>
          </a:xfrm>
          <a:prstGeom prst="rect">
            <a:avLst/>
          </a:prstGeom>
        </p:spPr>
        <p:txBody>
          <a:bodyPr>
            <a:normAutofit/>
          </a:bodyPr>
          <a:lstStyle>
            <a:lvl1pPr>
              <a:defRPr sz="3600">
                <a:solidFill>
                  <a:srgbClr val="FF0000"/>
                </a:solidFill>
              </a:defRPr>
            </a:lvl1pPr>
          </a:lstStyle>
          <a:p>
            <a:r>
              <a:rPr dirty="0"/>
              <a:t>Shared Memory Multiprocessors </a:t>
            </a:r>
          </a:p>
        </p:txBody>
      </p:sp>
      <p:sp>
        <p:nvSpPr>
          <p:cNvPr id="53" name="Obtained by connecting full processors together…"/>
          <p:cNvSpPr txBox="1">
            <a:spLocks noGrp="1"/>
          </p:cNvSpPr>
          <p:nvPr>
            <p:ph type="body" idx="4294967295"/>
          </p:nvPr>
        </p:nvSpPr>
        <p:spPr>
          <a:xfrm>
            <a:off x="457200" y="1143000"/>
            <a:ext cx="8534400" cy="4648200"/>
          </a:xfrm>
          <a:prstGeom prst="rect">
            <a:avLst/>
          </a:prstGeom>
        </p:spPr>
        <p:txBody>
          <a:bodyPr>
            <a:normAutofit lnSpcReduction="10000"/>
          </a:bodyPr>
          <a:lstStyle/>
          <a:p>
            <a:pPr>
              <a:spcBef>
                <a:spcPts val="500"/>
              </a:spcBef>
              <a:buChar char="▪"/>
              <a:defRPr sz="2400"/>
            </a:pPr>
            <a:r>
              <a:rPr dirty="0"/>
              <a:t>Obtained by connecting full processors together</a:t>
            </a:r>
          </a:p>
          <a:p>
            <a:pPr marL="742950" lvl="1" indent="-285750">
              <a:spcBef>
                <a:spcPts val="0"/>
              </a:spcBef>
              <a:buClrTx/>
              <a:defRPr sz="2000"/>
            </a:pPr>
            <a:r>
              <a:rPr dirty="0"/>
              <a:t>Processors have their own connection to memory</a:t>
            </a:r>
          </a:p>
          <a:p>
            <a:pPr marL="742950" lvl="1" indent="-285750">
              <a:spcBef>
                <a:spcPts val="0"/>
              </a:spcBef>
              <a:buClrTx/>
              <a:defRPr sz="2000"/>
            </a:pPr>
            <a:r>
              <a:rPr dirty="0"/>
              <a:t>Processors are capable of independent execution and control</a:t>
            </a:r>
          </a:p>
          <a:p>
            <a:pPr>
              <a:spcBef>
                <a:spcPts val="500"/>
              </a:spcBef>
              <a:buChar char="▪"/>
              <a:defRPr sz="2400"/>
            </a:pPr>
            <a:r>
              <a:rPr dirty="0"/>
              <a:t>Have a single OS for the whole system, support both processes and threads, and appear as a common </a:t>
            </a:r>
            <a:r>
              <a:rPr dirty="0" err="1"/>
              <a:t>multiprogrammed</a:t>
            </a:r>
            <a:r>
              <a:rPr dirty="0"/>
              <a:t> system</a:t>
            </a:r>
          </a:p>
          <a:p>
            <a:pPr marL="285750" lvl="1" indent="171450">
              <a:spcBef>
                <a:spcPts val="0"/>
              </a:spcBef>
              <a:buSzTx/>
              <a:buFont typeface="Wingdings"/>
              <a:buNone/>
              <a:defRPr sz="2000"/>
            </a:pPr>
            <a:r>
              <a:rPr dirty="0"/>
              <a:t>(Thus, by this definition, Beowulf clusters are not multiprocessors)</a:t>
            </a:r>
          </a:p>
          <a:p>
            <a:pPr>
              <a:spcBef>
                <a:spcPts val="500"/>
              </a:spcBef>
              <a:buChar char="▪"/>
              <a:defRPr sz="2400"/>
            </a:pPr>
            <a:r>
              <a:rPr dirty="0"/>
              <a:t>Can be used to run multiple sequential programs concurrently or parallel programs</a:t>
            </a:r>
          </a:p>
          <a:p>
            <a:pPr>
              <a:spcBef>
                <a:spcPts val="500"/>
              </a:spcBef>
              <a:buChar char="▪"/>
              <a:defRPr sz="2400"/>
            </a:pPr>
            <a:r>
              <a:rPr dirty="0"/>
              <a:t>Suitable for parallel programs where threads can follow different code (task-level-parallelism)</a:t>
            </a:r>
          </a:p>
        </p:txBody>
      </p:sp>
      <p:sp>
        <p:nvSpPr>
          <p:cNvPr id="54" name="Slide Number"/>
          <p:cNvSpPr txBox="1">
            <a:spLocks noGrp="1"/>
          </p:cNvSpPr>
          <p:nvPr>
            <p:ph type="sldNum" sz="quarter" idx="2"/>
          </p:nvPr>
        </p:nvSpPr>
        <p:spPr>
          <a:xfrm>
            <a:off x="8804116" y="6400800"/>
            <a:ext cx="187484" cy="29464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57" name="Shared Memory Multiprocessors"/>
          <p:cNvSpPr txBox="1">
            <a:spLocks noGrp="1"/>
          </p:cNvSpPr>
          <p:nvPr>
            <p:ph type="title" idx="4294967295"/>
          </p:nvPr>
        </p:nvSpPr>
        <p:spPr>
          <a:xfrm>
            <a:off x="685800" y="152400"/>
            <a:ext cx="7772400" cy="838200"/>
          </a:xfrm>
          <a:prstGeom prst="rect">
            <a:avLst/>
          </a:prstGeom>
        </p:spPr>
        <p:txBody>
          <a:bodyPr>
            <a:normAutofit fontScale="90000"/>
          </a:bodyPr>
          <a:lstStyle>
            <a:lvl1pPr>
              <a:defRPr sz="4000"/>
            </a:lvl1pPr>
          </a:lstStyle>
          <a:p>
            <a:r>
              <a:t>Shared Memory Multiprocessors</a:t>
            </a:r>
          </a:p>
        </p:txBody>
      </p:sp>
      <p:sp>
        <p:nvSpPr>
          <p:cNvPr id="58" name="Recall the two common organizations:…"/>
          <p:cNvSpPr txBox="1">
            <a:spLocks noGrp="1"/>
          </p:cNvSpPr>
          <p:nvPr>
            <p:ph type="body" idx="4294967295"/>
          </p:nvPr>
        </p:nvSpPr>
        <p:spPr>
          <a:xfrm>
            <a:off x="558800" y="1390650"/>
            <a:ext cx="8534400" cy="4343400"/>
          </a:xfrm>
          <a:prstGeom prst="rect">
            <a:avLst/>
          </a:prstGeom>
        </p:spPr>
        <p:txBody>
          <a:bodyPr>
            <a:normAutofit fontScale="92500"/>
          </a:bodyPr>
          <a:lstStyle/>
          <a:p>
            <a:pPr marL="305180" indent="-305180" defTabSz="813816">
              <a:spcBef>
                <a:spcPts val="500"/>
              </a:spcBef>
              <a:buChar char="▪"/>
              <a:defRPr sz="2136"/>
            </a:pPr>
            <a:r>
              <a:rPr lang="en-US" dirty="0"/>
              <a:t>T</a:t>
            </a:r>
            <a:r>
              <a:rPr dirty="0"/>
              <a:t>wo common organizations:</a:t>
            </a:r>
          </a:p>
          <a:p>
            <a:pPr marL="661225" lvl="1" indent="-254317" defTabSz="813816">
              <a:spcBef>
                <a:spcPts val="0"/>
              </a:spcBef>
              <a:buClrTx/>
              <a:defRPr sz="1779"/>
            </a:pPr>
            <a:r>
              <a:rPr dirty="0"/>
              <a:t>Physically centralized memory, </a:t>
            </a:r>
            <a:r>
              <a:rPr u="sng" dirty="0">
                <a:solidFill>
                  <a:srgbClr val="FF0000"/>
                </a:solidFill>
              </a:rPr>
              <a:t>uniform memory access (UMA) (a.k.a. SMP)</a:t>
            </a:r>
          </a:p>
          <a:p>
            <a:pPr marL="661225" lvl="1" indent="-254317" defTabSz="813816">
              <a:spcBef>
                <a:spcPts val="0"/>
              </a:spcBef>
              <a:buClrTx/>
              <a:defRPr sz="1779"/>
            </a:pPr>
            <a:r>
              <a:rPr dirty="0"/>
              <a:t>Physically distributed memory, </a:t>
            </a:r>
            <a:r>
              <a:rPr u="sng" dirty="0">
                <a:solidFill>
                  <a:srgbClr val="FF0000"/>
                </a:solidFill>
              </a:rPr>
              <a:t>non-uniform memory access (NUMA)</a:t>
            </a:r>
          </a:p>
          <a:p>
            <a:pPr marL="661225" lvl="1" indent="-254317" defTabSz="813816">
              <a:spcBef>
                <a:spcPts val="0"/>
              </a:spcBef>
              <a:buClrTx/>
              <a:defRPr sz="1779"/>
            </a:pPr>
            <a:endParaRPr u="sng" dirty="0">
              <a:solidFill>
                <a:srgbClr val="FF0000"/>
              </a:solidFill>
            </a:endParaRPr>
          </a:p>
          <a:p>
            <a:pPr marL="661225" lvl="1" indent="-254317" defTabSz="813816">
              <a:spcBef>
                <a:spcPts val="0"/>
              </a:spcBef>
              <a:buClrTx/>
              <a:defRPr sz="1779"/>
            </a:pPr>
            <a:endParaRPr u="sng" dirty="0">
              <a:solidFill>
                <a:srgbClr val="FF0000"/>
              </a:solidFill>
            </a:endParaRPr>
          </a:p>
          <a:p>
            <a:pPr marL="661225" lvl="1" indent="-254317" defTabSz="813816">
              <a:spcBef>
                <a:spcPts val="0"/>
              </a:spcBef>
              <a:buClrTx/>
              <a:defRPr sz="1779"/>
            </a:pPr>
            <a:endParaRPr u="sng" dirty="0">
              <a:solidFill>
                <a:srgbClr val="FF0000"/>
              </a:solidFill>
            </a:endParaRPr>
          </a:p>
          <a:p>
            <a:pPr marL="661225" lvl="1" indent="-254317" defTabSz="813816">
              <a:spcBef>
                <a:spcPts val="0"/>
              </a:spcBef>
              <a:buClrTx/>
              <a:defRPr sz="1779"/>
            </a:pPr>
            <a:endParaRPr u="sng" dirty="0">
              <a:solidFill>
                <a:srgbClr val="FF0000"/>
              </a:solidFill>
            </a:endParaRPr>
          </a:p>
          <a:p>
            <a:pPr marL="661225" lvl="1" indent="-254317" defTabSz="813816">
              <a:spcBef>
                <a:spcPts val="0"/>
              </a:spcBef>
              <a:buClrTx/>
              <a:defRPr sz="1779"/>
            </a:pPr>
            <a:endParaRPr u="sng" dirty="0">
              <a:solidFill>
                <a:srgbClr val="FF0000"/>
              </a:solidFill>
            </a:endParaRPr>
          </a:p>
          <a:p>
            <a:pPr marL="661225" lvl="1" indent="-254317" defTabSz="813816">
              <a:spcBef>
                <a:spcPts val="0"/>
              </a:spcBef>
              <a:buClrTx/>
              <a:defRPr sz="1779"/>
            </a:pPr>
            <a:endParaRPr u="sng" dirty="0">
              <a:solidFill>
                <a:srgbClr val="FF0000"/>
              </a:solidFill>
            </a:endParaRPr>
          </a:p>
          <a:p>
            <a:pPr marL="661225" lvl="1" indent="-254317" defTabSz="813816">
              <a:spcBef>
                <a:spcPts val="0"/>
              </a:spcBef>
              <a:buClrTx/>
              <a:defRPr sz="1779"/>
            </a:pPr>
            <a:endParaRPr u="sng" dirty="0">
              <a:solidFill>
                <a:srgbClr val="FF0000"/>
              </a:solidFill>
            </a:endParaRPr>
          </a:p>
          <a:p>
            <a:pPr marL="661225" lvl="1" indent="-254317" defTabSz="813816">
              <a:spcBef>
                <a:spcPts val="0"/>
              </a:spcBef>
              <a:buClrTx/>
              <a:defRPr sz="1779"/>
            </a:pPr>
            <a:endParaRPr u="sng" dirty="0">
              <a:solidFill>
                <a:srgbClr val="FF0000"/>
              </a:solidFill>
            </a:endParaRPr>
          </a:p>
          <a:p>
            <a:pPr marL="661225" lvl="1" indent="-254317" defTabSz="813816">
              <a:spcBef>
                <a:spcPts val="0"/>
              </a:spcBef>
              <a:buClrTx/>
              <a:defRPr sz="1779"/>
            </a:pPr>
            <a:endParaRPr u="sng" dirty="0">
              <a:solidFill>
                <a:srgbClr val="FF0000"/>
              </a:solidFill>
            </a:endParaRPr>
          </a:p>
          <a:p>
            <a:pPr marL="661225" lvl="1" indent="-254317" defTabSz="813816">
              <a:spcBef>
                <a:spcPts val="0"/>
              </a:spcBef>
              <a:buClrTx/>
              <a:defRPr sz="1779"/>
            </a:pPr>
            <a:endParaRPr u="sng" dirty="0">
              <a:solidFill>
                <a:srgbClr val="FF0000"/>
              </a:solidFill>
            </a:endParaRPr>
          </a:p>
          <a:p>
            <a:pPr marL="661225" lvl="1" indent="-254317" defTabSz="813816">
              <a:spcBef>
                <a:spcPts val="0"/>
              </a:spcBef>
              <a:buClrTx/>
              <a:defRPr sz="1779"/>
            </a:pPr>
            <a:endParaRPr u="sng" dirty="0">
              <a:solidFill>
                <a:srgbClr val="FF0000"/>
              </a:solidFill>
            </a:endParaRPr>
          </a:p>
          <a:p>
            <a:pPr marL="254317" lvl="1" indent="152590" defTabSz="813816">
              <a:spcBef>
                <a:spcPts val="0"/>
              </a:spcBef>
              <a:buSzTx/>
              <a:buFont typeface="Wingdings"/>
              <a:buNone/>
              <a:defRPr sz="2136" u="sng">
                <a:solidFill>
                  <a:srgbClr val="FF0000"/>
                </a:solidFill>
              </a:defRPr>
            </a:pPr>
            <a:endParaRPr u="sng" dirty="0">
              <a:solidFill>
                <a:srgbClr val="FF0000"/>
              </a:solidFill>
            </a:endParaRPr>
          </a:p>
          <a:p>
            <a:pPr marL="254317" lvl="1" indent="152590" defTabSz="813816">
              <a:spcBef>
                <a:spcPts val="0"/>
              </a:spcBef>
              <a:buSzTx/>
              <a:buFont typeface="Wingdings"/>
              <a:buNone/>
              <a:defRPr sz="2136"/>
            </a:pPr>
            <a:r>
              <a:rPr dirty="0"/>
              <a:t>(Note: both organizations have local caches)</a:t>
            </a:r>
          </a:p>
        </p:txBody>
      </p:sp>
      <p:grpSp>
        <p:nvGrpSpPr>
          <p:cNvPr id="87" name="Group"/>
          <p:cNvGrpSpPr/>
          <p:nvPr/>
        </p:nvGrpSpPr>
        <p:grpSpPr>
          <a:xfrm>
            <a:off x="457200" y="2743200"/>
            <a:ext cx="3581400" cy="2279650"/>
            <a:chOff x="0" y="0"/>
            <a:chExt cx="3581400" cy="2279650"/>
          </a:xfrm>
        </p:grpSpPr>
        <p:sp>
          <p:nvSpPr>
            <p:cNvPr id="59" name="CPU"/>
            <p:cNvSpPr txBox="1"/>
            <p:nvPr/>
          </p:nvSpPr>
          <p:spPr>
            <a:xfrm>
              <a:off x="281701" y="69850"/>
              <a:ext cx="443073"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400" b="0"/>
              </a:lvl1pPr>
            </a:lstStyle>
            <a:p>
              <a:r>
                <a:t>CPU</a:t>
              </a:r>
            </a:p>
          </p:txBody>
        </p:sp>
        <p:sp>
          <p:nvSpPr>
            <p:cNvPr id="60" name="Oval"/>
            <p:cNvSpPr/>
            <p:nvPr/>
          </p:nvSpPr>
          <p:spPr>
            <a:xfrm>
              <a:off x="179387" y="0"/>
              <a:ext cx="630239" cy="414338"/>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61" name="Line"/>
            <p:cNvSpPr/>
            <p:nvPr/>
          </p:nvSpPr>
          <p:spPr>
            <a:xfrm>
              <a:off x="503237" y="414337"/>
              <a:ext cx="1" cy="207963"/>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62" name="Rectangle"/>
            <p:cNvSpPr/>
            <p:nvPr/>
          </p:nvSpPr>
          <p:spPr>
            <a:xfrm>
              <a:off x="0" y="1365250"/>
              <a:ext cx="3581400" cy="228600"/>
            </a:xfrm>
            <a:prstGeom prst="rect">
              <a:avLst/>
            </a:prstGeom>
            <a:solidFill>
              <a:srgbClr val="FF0000">
                <a:alpha val="50195"/>
              </a:srgbClr>
            </a:solid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63" name="Line"/>
            <p:cNvSpPr/>
            <p:nvPr/>
          </p:nvSpPr>
          <p:spPr>
            <a:xfrm>
              <a:off x="1784350" y="1568450"/>
              <a:ext cx="0" cy="206375"/>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64" name="Rectangle"/>
            <p:cNvSpPr/>
            <p:nvPr/>
          </p:nvSpPr>
          <p:spPr>
            <a:xfrm>
              <a:off x="228600" y="1774825"/>
              <a:ext cx="3124200" cy="504825"/>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65" name="Main memory"/>
            <p:cNvSpPr txBox="1"/>
            <p:nvPr/>
          </p:nvSpPr>
          <p:spPr>
            <a:xfrm>
              <a:off x="1089640" y="1822450"/>
              <a:ext cx="1356083" cy="3581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800" b="0"/>
              </a:lvl1pPr>
            </a:lstStyle>
            <a:p>
              <a:r>
                <a:t>Main memory</a:t>
              </a:r>
            </a:p>
          </p:txBody>
        </p:sp>
        <p:sp>
          <p:nvSpPr>
            <p:cNvPr id="66" name="CPU"/>
            <p:cNvSpPr txBox="1"/>
            <p:nvPr/>
          </p:nvSpPr>
          <p:spPr>
            <a:xfrm>
              <a:off x="1119901" y="69850"/>
              <a:ext cx="443073"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400" b="0"/>
              </a:lvl1pPr>
            </a:lstStyle>
            <a:p>
              <a:r>
                <a:t>CPU</a:t>
              </a:r>
            </a:p>
          </p:txBody>
        </p:sp>
        <p:sp>
          <p:nvSpPr>
            <p:cNvPr id="67" name="Oval"/>
            <p:cNvSpPr/>
            <p:nvPr/>
          </p:nvSpPr>
          <p:spPr>
            <a:xfrm>
              <a:off x="1017587" y="0"/>
              <a:ext cx="630239" cy="414338"/>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68" name="Line"/>
            <p:cNvSpPr/>
            <p:nvPr/>
          </p:nvSpPr>
          <p:spPr>
            <a:xfrm>
              <a:off x="1341437" y="414337"/>
              <a:ext cx="1" cy="207963"/>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69" name="CPU"/>
            <p:cNvSpPr txBox="1"/>
            <p:nvPr/>
          </p:nvSpPr>
          <p:spPr>
            <a:xfrm>
              <a:off x="1958101" y="69850"/>
              <a:ext cx="443073"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400" b="0"/>
              </a:lvl1pPr>
            </a:lstStyle>
            <a:p>
              <a:r>
                <a:t>CPU</a:t>
              </a:r>
            </a:p>
          </p:txBody>
        </p:sp>
        <p:sp>
          <p:nvSpPr>
            <p:cNvPr id="70" name="Oval"/>
            <p:cNvSpPr/>
            <p:nvPr/>
          </p:nvSpPr>
          <p:spPr>
            <a:xfrm>
              <a:off x="1855787" y="0"/>
              <a:ext cx="630239" cy="414338"/>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71" name="Line"/>
            <p:cNvSpPr/>
            <p:nvPr/>
          </p:nvSpPr>
          <p:spPr>
            <a:xfrm>
              <a:off x="2179637" y="414337"/>
              <a:ext cx="1" cy="207963"/>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72" name="CPU"/>
            <p:cNvSpPr txBox="1"/>
            <p:nvPr/>
          </p:nvSpPr>
          <p:spPr>
            <a:xfrm>
              <a:off x="2796301" y="69850"/>
              <a:ext cx="443073"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400" b="0"/>
              </a:lvl1pPr>
            </a:lstStyle>
            <a:p>
              <a:r>
                <a:t>CPU</a:t>
              </a:r>
            </a:p>
          </p:txBody>
        </p:sp>
        <p:sp>
          <p:nvSpPr>
            <p:cNvPr id="73" name="Oval"/>
            <p:cNvSpPr/>
            <p:nvPr/>
          </p:nvSpPr>
          <p:spPr>
            <a:xfrm>
              <a:off x="2693987" y="0"/>
              <a:ext cx="630239" cy="414338"/>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74" name="Line"/>
            <p:cNvSpPr/>
            <p:nvPr/>
          </p:nvSpPr>
          <p:spPr>
            <a:xfrm>
              <a:off x="3017837" y="414337"/>
              <a:ext cx="1" cy="207963"/>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75" name="Cache"/>
            <p:cNvSpPr txBox="1"/>
            <p:nvPr/>
          </p:nvSpPr>
          <p:spPr>
            <a:xfrm>
              <a:off x="218108" y="755650"/>
              <a:ext cx="525809"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400" b="0"/>
              </a:lvl1pPr>
            </a:lstStyle>
            <a:p>
              <a:r>
                <a:t>Cache</a:t>
              </a:r>
            </a:p>
          </p:txBody>
        </p:sp>
        <p:sp>
          <p:nvSpPr>
            <p:cNvPr id="76" name="Line"/>
            <p:cNvSpPr/>
            <p:nvPr/>
          </p:nvSpPr>
          <p:spPr>
            <a:xfrm>
              <a:off x="503237" y="1176337"/>
              <a:ext cx="1" cy="207963"/>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77" name="Cache"/>
            <p:cNvSpPr txBox="1"/>
            <p:nvPr/>
          </p:nvSpPr>
          <p:spPr>
            <a:xfrm>
              <a:off x="1056308" y="755650"/>
              <a:ext cx="525809"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400" b="0"/>
              </a:lvl1pPr>
            </a:lstStyle>
            <a:p>
              <a:r>
                <a:t>Cache</a:t>
              </a:r>
            </a:p>
          </p:txBody>
        </p:sp>
        <p:sp>
          <p:nvSpPr>
            <p:cNvPr id="78" name="Line"/>
            <p:cNvSpPr/>
            <p:nvPr/>
          </p:nvSpPr>
          <p:spPr>
            <a:xfrm>
              <a:off x="1341437" y="1176337"/>
              <a:ext cx="1" cy="207963"/>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79" name="Cache"/>
            <p:cNvSpPr txBox="1"/>
            <p:nvPr/>
          </p:nvSpPr>
          <p:spPr>
            <a:xfrm>
              <a:off x="1894508" y="755650"/>
              <a:ext cx="525809"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400" b="0"/>
              </a:lvl1pPr>
            </a:lstStyle>
            <a:p>
              <a:r>
                <a:t>Cache</a:t>
              </a:r>
            </a:p>
          </p:txBody>
        </p:sp>
        <p:sp>
          <p:nvSpPr>
            <p:cNvPr id="80" name="Line"/>
            <p:cNvSpPr/>
            <p:nvPr/>
          </p:nvSpPr>
          <p:spPr>
            <a:xfrm>
              <a:off x="2179637" y="1176337"/>
              <a:ext cx="1" cy="207963"/>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81" name="Cache"/>
            <p:cNvSpPr txBox="1"/>
            <p:nvPr/>
          </p:nvSpPr>
          <p:spPr>
            <a:xfrm>
              <a:off x="2732708" y="755650"/>
              <a:ext cx="525809"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400" b="0"/>
              </a:lvl1pPr>
            </a:lstStyle>
            <a:p>
              <a:r>
                <a:t>Cache</a:t>
              </a:r>
            </a:p>
          </p:txBody>
        </p:sp>
        <p:sp>
          <p:nvSpPr>
            <p:cNvPr id="82" name="Line"/>
            <p:cNvSpPr/>
            <p:nvPr/>
          </p:nvSpPr>
          <p:spPr>
            <a:xfrm>
              <a:off x="3017837" y="1176337"/>
              <a:ext cx="1" cy="207963"/>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83" name="Rectangle"/>
            <p:cNvSpPr/>
            <p:nvPr/>
          </p:nvSpPr>
          <p:spPr>
            <a:xfrm>
              <a:off x="128587" y="679450"/>
              <a:ext cx="762001" cy="457200"/>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84" name="Rectangle"/>
            <p:cNvSpPr/>
            <p:nvPr/>
          </p:nvSpPr>
          <p:spPr>
            <a:xfrm>
              <a:off x="966787" y="679450"/>
              <a:ext cx="762001" cy="457200"/>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85" name="Rectangle"/>
            <p:cNvSpPr/>
            <p:nvPr/>
          </p:nvSpPr>
          <p:spPr>
            <a:xfrm>
              <a:off x="1804987" y="679450"/>
              <a:ext cx="762001" cy="457200"/>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86" name="Rectangle"/>
            <p:cNvSpPr/>
            <p:nvPr/>
          </p:nvSpPr>
          <p:spPr>
            <a:xfrm>
              <a:off x="2643187" y="679450"/>
              <a:ext cx="762001" cy="457200"/>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grpSp>
      <p:grpSp>
        <p:nvGrpSpPr>
          <p:cNvPr id="126" name="Group"/>
          <p:cNvGrpSpPr/>
          <p:nvPr/>
        </p:nvGrpSpPr>
        <p:grpSpPr>
          <a:xfrm>
            <a:off x="4876800" y="2514599"/>
            <a:ext cx="3581400" cy="2590801"/>
            <a:chOff x="0" y="0"/>
            <a:chExt cx="3581400" cy="2590800"/>
          </a:xfrm>
        </p:grpSpPr>
        <p:sp>
          <p:nvSpPr>
            <p:cNvPr id="88" name="CPU"/>
            <p:cNvSpPr txBox="1"/>
            <p:nvPr/>
          </p:nvSpPr>
          <p:spPr>
            <a:xfrm>
              <a:off x="281701" y="304800"/>
              <a:ext cx="443073"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400" b="0"/>
              </a:lvl1pPr>
            </a:lstStyle>
            <a:p>
              <a:r>
                <a:t>CPU</a:t>
              </a:r>
            </a:p>
          </p:txBody>
        </p:sp>
        <p:sp>
          <p:nvSpPr>
            <p:cNvPr id="89" name="Oval"/>
            <p:cNvSpPr/>
            <p:nvPr/>
          </p:nvSpPr>
          <p:spPr>
            <a:xfrm>
              <a:off x="179387" y="234950"/>
              <a:ext cx="630239" cy="414338"/>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90" name="Line"/>
            <p:cNvSpPr/>
            <p:nvPr/>
          </p:nvSpPr>
          <p:spPr>
            <a:xfrm>
              <a:off x="503237" y="649287"/>
              <a:ext cx="1" cy="207963"/>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91" name="Rectangle"/>
            <p:cNvSpPr/>
            <p:nvPr/>
          </p:nvSpPr>
          <p:spPr>
            <a:xfrm>
              <a:off x="0" y="2362200"/>
              <a:ext cx="3581400" cy="228600"/>
            </a:xfrm>
            <a:prstGeom prst="rect">
              <a:avLst/>
            </a:prstGeom>
            <a:solidFill>
              <a:srgbClr val="FF0000">
                <a:alpha val="50195"/>
              </a:srgbClr>
            </a:solid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92" name="Line"/>
            <p:cNvSpPr/>
            <p:nvPr/>
          </p:nvSpPr>
          <p:spPr>
            <a:xfrm>
              <a:off x="533400" y="1371600"/>
              <a:ext cx="0" cy="206375"/>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93" name="Rectangle"/>
            <p:cNvSpPr/>
            <p:nvPr/>
          </p:nvSpPr>
          <p:spPr>
            <a:xfrm>
              <a:off x="152400" y="1628775"/>
              <a:ext cx="762000" cy="504825"/>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94" name="Mem."/>
            <p:cNvSpPr txBox="1"/>
            <p:nvPr/>
          </p:nvSpPr>
          <p:spPr>
            <a:xfrm>
              <a:off x="221358" y="1676400"/>
              <a:ext cx="616147" cy="3581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800" b="0"/>
              </a:lvl1pPr>
            </a:lstStyle>
            <a:p>
              <a:r>
                <a:t>Mem.</a:t>
              </a:r>
            </a:p>
          </p:txBody>
        </p:sp>
        <p:sp>
          <p:nvSpPr>
            <p:cNvPr id="95" name="CPU"/>
            <p:cNvSpPr txBox="1"/>
            <p:nvPr/>
          </p:nvSpPr>
          <p:spPr>
            <a:xfrm>
              <a:off x="1119901" y="304800"/>
              <a:ext cx="443073"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400" b="0"/>
              </a:lvl1pPr>
            </a:lstStyle>
            <a:p>
              <a:r>
                <a:t>CPU</a:t>
              </a:r>
            </a:p>
          </p:txBody>
        </p:sp>
        <p:sp>
          <p:nvSpPr>
            <p:cNvPr id="96" name="Oval"/>
            <p:cNvSpPr/>
            <p:nvPr/>
          </p:nvSpPr>
          <p:spPr>
            <a:xfrm>
              <a:off x="1017587" y="234950"/>
              <a:ext cx="630239" cy="414338"/>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97" name="Line"/>
            <p:cNvSpPr/>
            <p:nvPr/>
          </p:nvSpPr>
          <p:spPr>
            <a:xfrm>
              <a:off x="1341437" y="649287"/>
              <a:ext cx="1" cy="207963"/>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98" name="CPU"/>
            <p:cNvSpPr txBox="1"/>
            <p:nvPr/>
          </p:nvSpPr>
          <p:spPr>
            <a:xfrm>
              <a:off x="1958101" y="304800"/>
              <a:ext cx="443073"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400" b="0"/>
              </a:lvl1pPr>
            </a:lstStyle>
            <a:p>
              <a:r>
                <a:t>CPU</a:t>
              </a:r>
            </a:p>
          </p:txBody>
        </p:sp>
        <p:sp>
          <p:nvSpPr>
            <p:cNvPr id="99" name="Oval"/>
            <p:cNvSpPr/>
            <p:nvPr/>
          </p:nvSpPr>
          <p:spPr>
            <a:xfrm>
              <a:off x="1855787" y="234950"/>
              <a:ext cx="630239" cy="414338"/>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00" name="Line"/>
            <p:cNvSpPr/>
            <p:nvPr/>
          </p:nvSpPr>
          <p:spPr>
            <a:xfrm>
              <a:off x="2179637" y="649287"/>
              <a:ext cx="1" cy="207963"/>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01" name="CPU"/>
            <p:cNvSpPr txBox="1"/>
            <p:nvPr/>
          </p:nvSpPr>
          <p:spPr>
            <a:xfrm>
              <a:off x="2796301" y="304800"/>
              <a:ext cx="443073"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400" b="0"/>
              </a:lvl1pPr>
            </a:lstStyle>
            <a:p>
              <a:r>
                <a:t>CPU</a:t>
              </a:r>
            </a:p>
          </p:txBody>
        </p:sp>
        <p:sp>
          <p:nvSpPr>
            <p:cNvPr id="102" name="Oval"/>
            <p:cNvSpPr/>
            <p:nvPr/>
          </p:nvSpPr>
          <p:spPr>
            <a:xfrm>
              <a:off x="2693987" y="234950"/>
              <a:ext cx="630239" cy="414338"/>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03" name="Line"/>
            <p:cNvSpPr/>
            <p:nvPr/>
          </p:nvSpPr>
          <p:spPr>
            <a:xfrm>
              <a:off x="3017837" y="649287"/>
              <a:ext cx="1" cy="207963"/>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04" name="Cache"/>
            <p:cNvSpPr txBox="1"/>
            <p:nvPr/>
          </p:nvSpPr>
          <p:spPr>
            <a:xfrm>
              <a:off x="218108" y="990600"/>
              <a:ext cx="525809"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400" b="0"/>
              </a:lvl1pPr>
            </a:lstStyle>
            <a:p>
              <a:r>
                <a:t>Cache</a:t>
              </a:r>
            </a:p>
          </p:txBody>
        </p:sp>
        <p:sp>
          <p:nvSpPr>
            <p:cNvPr id="105" name="Line"/>
            <p:cNvSpPr/>
            <p:nvPr/>
          </p:nvSpPr>
          <p:spPr>
            <a:xfrm>
              <a:off x="503237" y="2173287"/>
              <a:ext cx="1" cy="207963"/>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06" name="Cache"/>
            <p:cNvSpPr txBox="1"/>
            <p:nvPr/>
          </p:nvSpPr>
          <p:spPr>
            <a:xfrm>
              <a:off x="1056308" y="990600"/>
              <a:ext cx="525809"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400" b="0"/>
              </a:lvl1pPr>
            </a:lstStyle>
            <a:p>
              <a:r>
                <a:t>Cache</a:t>
              </a:r>
            </a:p>
          </p:txBody>
        </p:sp>
        <p:sp>
          <p:nvSpPr>
            <p:cNvPr id="107" name="Line"/>
            <p:cNvSpPr/>
            <p:nvPr/>
          </p:nvSpPr>
          <p:spPr>
            <a:xfrm>
              <a:off x="1341437" y="2173287"/>
              <a:ext cx="1" cy="207963"/>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08" name="Cache"/>
            <p:cNvSpPr txBox="1"/>
            <p:nvPr/>
          </p:nvSpPr>
          <p:spPr>
            <a:xfrm>
              <a:off x="1894508" y="990600"/>
              <a:ext cx="525809"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400" b="0"/>
              </a:lvl1pPr>
            </a:lstStyle>
            <a:p>
              <a:r>
                <a:t>Cache</a:t>
              </a:r>
            </a:p>
          </p:txBody>
        </p:sp>
        <p:sp>
          <p:nvSpPr>
            <p:cNvPr id="109" name="Line"/>
            <p:cNvSpPr/>
            <p:nvPr/>
          </p:nvSpPr>
          <p:spPr>
            <a:xfrm>
              <a:off x="2179637" y="2173287"/>
              <a:ext cx="1" cy="207963"/>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10" name="Cache"/>
            <p:cNvSpPr txBox="1"/>
            <p:nvPr/>
          </p:nvSpPr>
          <p:spPr>
            <a:xfrm>
              <a:off x="2732708" y="990600"/>
              <a:ext cx="525809" cy="294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400" b="0"/>
              </a:lvl1pPr>
            </a:lstStyle>
            <a:p>
              <a:r>
                <a:t>Cache</a:t>
              </a:r>
            </a:p>
          </p:txBody>
        </p:sp>
        <p:sp>
          <p:nvSpPr>
            <p:cNvPr id="111" name="Line"/>
            <p:cNvSpPr/>
            <p:nvPr/>
          </p:nvSpPr>
          <p:spPr>
            <a:xfrm>
              <a:off x="3017837" y="2173287"/>
              <a:ext cx="1" cy="207963"/>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12" name="Rectangle"/>
            <p:cNvSpPr/>
            <p:nvPr/>
          </p:nvSpPr>
          <p:spPr>
            <a:xfrm>
              <a:off x="128587" y="914400"/>
              <a:ext cx="762001" cy="457200"/>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13" name="Rectangle"/>
            <p:cNvSpPr/>
            <p:nvPr/>
          </p:nvSpPr>
          <p:spPr>
            <a:xfrm>
              <a:off x="966787" y="914400"/>
              <a:ext cx="762001" cy="457200"/>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14" name="Rectangle"/>
            <p:cNvSpPr/>
            <p:nvPr/>
          </p:nvSpPr>
          <p:spPr>
            <a:xfrm>
              <a:off x="1804987" y="914400"/>
              <a:ext cx="762001" cy="457200"/>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15" name="Rectangle"/>
            <p:cNvSpPr/>
            <p:nvPr/>
          </p:nvSpPr>
          <p:spPr>
            <a:xfrm>
              <a:off x="2643187" y="914400"/>
              <a:ext cx="762001" cy="457200"/>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16" name="Line"/>
            <p:cNvSpPr/>
            <p:nvPr/>
          </p:nvSpPr>
          <p:spPr>
            <a:xfrm>
              <a:off x="1371600" y="1371600"/>
              <a:ext cx="0" cy="206375"/>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17" name="Rectangle"/>
            <p:cNvSpPr/>
            <p:nvPr/>
          </p:nvSpPr>
          <p:spPr>
            <a:xfrm>
              <a:off x="990600" y="1628775"/>
              <a:ext cx="762000" cy="504825"/>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18" name="Mem."/>
            <p:cNvSpPr txBox="1"/>
            <p:nvPr/>
          </p:nvSpPr>
          <p:spPr>
            <a:xfrm>
              <a:off x="1059558" y="1676400"/>
              <a:ext cx="616147" cy="3581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800" b="0"/>
              </a:lvl1pPr>
            </a:lstStyle>
            <a:p>
              <a:r>
                <a:t>Mem.</a:t>
              </a:r>
            </a:p>
          </p:txBody>
        </p:sp>
        <p:sp>
          <p:nvSpPr>
            <p:cNvPr id="119" name="Line"/>
            <p:cNvSpPr/>
            <p:nvPr/>
          </p:nvSpPr>
          <p:spPr>
            <a:xfrm>
              <a:off x="2209800" y="1371600"/>
              <a:ext cx="0" cy="206375"/>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20" name="Rectangle"/>
            <p:cNvSpPr/>
            <p:nvPr/>
          </p:nvSpPr>
          <p:spPr>
            <a:xfrm>
              <a:off x="1828800" y="1628775"/>
              <a:ext cx="762000" cy="504825"/>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21" name="Mem."/>
            <p:cNvSpPr txBox="1"/>
            <p:nvPr/>
          </p:nvSpPr>
          <p:spPr>
            <a:xfrm>
              <a:off x="1897758" y="1676400"/>
              <a:ext cx="616147" cy="3581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800" b="0"/>
              </a:lvl1pPr>
            </a:lstStyle>
            <a:p>
              <a:r>
                <a:t>Mem.</a:t>
              </a:r>
            </a:p>
          </p:txBody>
        </p:sp>
        <p:sp>
          <p:nvSpPr>
            <p:cNvPr id="122" name="Line"/>
            <p:cNvSpPr/>
            <p:nvPr/>
          </p:nvSpPr>
          <p:spPr>
            <a:xfrm>
              <a:off x="3048000" y="1371600"/>
              <a:ext cx="0" cy="206375"/>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23" name="Rectangle"/>
            <p:cNvSpPr/>
            <p:nvPr/>
          </p:nvSpPr>
          <p:spPr>
            <a:xfrm>
              <a:off x="2667000" y="1628775"/>
              <a:ext cx="762000" cy="504825"/>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24" name="Mem."/>
            <p:cNvSpPr txBox="1"/>
            <p:nvPr/>
          </p:nvSpPr>
          <p:spPr>
            <a:xfrm>
              <a:off x="2735958" y="1676400"/>
              <a:ext cx="616147" cy="3581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800" b="0"/>
              </a:lvl1pPr>
            </a:lstStyle>
            <a:p>
              <a:r>
                <a:t>Mem.</a:t>
              </a:r>
            </a:p>
          </p:txBody>
        </p:sp>
        <p:sp>
          <p:nvSpPr>
            <p:cNvPr id="125" name="Rectangle"/>
            <p:cNvSpPr/>
            <p:nvPr/>
          </p:nvSpPr>
          <p:spPr>
            <a:xfrm>
              <a:off x="2590800" y="-1"/>
              <a:ext cx="914400" cy="2286002"/>
            </a:xfrm>
            <a:prstGeom prst="rect">
              <a:avLst/>
            </a:prstGeom>
            <a:noFill/>
            <a:ln w="12700" cap="flat">
              <a:solidFill>
                <a:srgbClr val="0000FF"/>
              </a:solidFill>
              <a:prstDash val="dash"/>
              <a:round/>
            </a:ln>
            <a:effectLst/>
          </p:spPr>
          <p:txBody>
            <a:bodyPr wrap="square" lIns="45719" tIns="45719" rIns="45719" bIns="45719" numCol="1" anchor="ctr">
              <a:noAutofit/>
            </a:bodyPr>
            <a:lstStyle/>
            <a:p>
              <a:pPr>
                <a:defRPr sz="1800" b="0"/>
              </a:pPr>
              <a:endParaRPr/>
            </a:p>
          </p:txBody>
        </p:sp>
      </p:grpSp>
      <p:sp>
        <p:nvSpPr>
          <p:cNvPr id="127" name="Slide Number"/>
          <p:cNvSpPr txBox="1">
            <a:spLocks noGrp="1"/>
          </p:cNvSpPr>
          <p:nvPr>
            <p:ph type="sldNum" sz="quarter" idx="2"/>
          </p:nvPr>
        </p:nvSpPr>
        <p:spPr>
          <a:xfrm>
            <a:off x="8804116" y="6400800"/>
            <a:ext cx="187484" cy="29464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57" name="Shared Memory Multiprocessors"/>
          <p:cNvSpPr txBox="1">
            <a:spLocks noGrp="1"/>
          </p:cNvSpPr>
          <p:nvPr>
            <p:ph type="title" idx="4294967295"/>
          </p:nvPr>
        </p:nvSpPr>
        <p:spPr>
          <a:xfrm>
            <a:off x="685800" y="152400"/>
            <a:ext cx="7772400" cy="838200"/>
          </a:xfrm>
          <a:prstGeom prst="rect">
            <a:avLst/>
          </a:prstGeom>
        </p:spPr>
        <p:txBody>
          <a:bodyPr>
            <a:normAutofit/>
          </a:bodyPr>
          <a:lstStyle>
            <a:lvl1pPr>
              <a:defRPr sz="4000"/>
            </a:lvl1pPr>
          </a:lstStyle>
          <a:p>
            <a:r>
              <a:rPr lang="en-US" dirty="0"/>
              <a:t>Modern Multicore Processor</a:t>
            </a:r>
            <a:endParaRPr dirty="0"/>
          </a:p>
        </p:txBody>
      </p:sp>
      <p:sp>
        <p:nvSpPr>
          <p:cNvPr id="127" name="Slide Number"/>
          <p:cNvSpPr txBox="1">
            <a:spLocks noGrp="1"/>
          </p:cNvSpPr>
          <p:nvPr>
            <p:ph type="sldNum" sz="quarter" idx="2"/>
          </p:nvPr>
        </p:nvSpPr>
        <p:spPr>
          <a:xfrm>
            <a:off x="8804116" y="6400800"/>
            <a:ext cx="187484" cy="29464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pic>
        <p:nvPicPr>
          <p:cNvPr id="2" name="Image" descr="Image">
            <a:extLst>
              <a:ext uri="{FF2B5EF4-FFF2-40B4-BE49-F238E27FC236}">
                <a16:creationId xmlns:a16="http://schemas.microsoft.com/office/drawing/2014/main" id="{8F0F32DE-3990-ACE0-7FF6-6A6A4385E767}"/>
              </a:ext>
            </a:extLst>
          </p:cNvPr>
          <p:cNvPicPr>
            <a:picLocks noChangeAspect="1"/>
          </p:cNvPicPr>
          <p:nvPr/>
        </p:nvPicPr>
        <p:blipFill>
          <a:blip r:embed="rId3"/>
          <a:stretch>
            <a:fillRect/>
          </a:stretch>
        </p:blipFill>
        <p:spPr>
          <a:xfrm>
            <a:off x="1676399" y="1905000"/>
            <a:ext cx="6061615" cy="3276600"/>
          </a:xfrm>
          <a:prstGeom prst="rect">
            <a:avLst/>
          </a:prstGeom>
          <a:ln w="12700">
            <a:miter lim="400000"/>
          </a:ln>
        </p:spPr>
      </p:pic>
    </p:spTree>
    <p:extLst>
      <p:ext uri="{BB962C8B-B14F-4D97-AF65-F5344CB8AC3E}">
        <p14:creationId xmlns:p14="http://schemas.microsoft.com/office/powerpoint/2010/main" val="405150664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130" name="Recall the communication model:…"/>
          <p:cNvSpPr txBox="1">
            <a:spLocks noGrp="1"/>
          </p:cNvSpPr>
          <p:nvPr>
            <p:ph type="body" sz="half" idx="4294967295"/>
          </p:nvPr>
        </p:nvSpPr>
        <p:spPr>
          <a:xfrm>
            <a:off x="457200" y="1143000"/>
            <a:ext cx="8686800" cy="1905000"/>
          </a:xfrm>
          <a:prstGeom prst="rect">
            <a:avLst/>
          </a:prstGeom>
        </p:spPr>
        <p:txBody>
          <a:bodyPr>
            <a:normAutofit/>
          </a:bodyPr>
          <a:lstStyle/>
          <a:p>
            <a:pPr>
              <a:spcBef>
                <a:spcPts val="500"/>
              </a:spcBef>
              <a:buChar char="▪"/>
              <a:defRPr sz="2400"/>
            </a:pPr>
            <a:r>
              <a:rPr lang="en-US" dirty="0"/>
              <a:t>T</a:t>
            </a:r>
            <a:r>
              <a:rPr dirty="0"/>
              <a:t>he communication model:</a:t>
            </a:r>
            <a:endParaRPr u="sng" dirty="0">
              <a:solidFill>
                <a:srgbClr val="FF0000"/>
              </a:solidFill>
            </a:endParaRPr>
          </a:p>
          <a:p>
            <a:pPr marL="742950" lvl="1" indent="-285750">
              <a:spcBef>
                <a:spcPts val="0"/>
              </a:spcBef>
              <a:buClrTx/>
              <a:defRPr sz="2000"/>
            </a:pPr>
            <a:r>
              <a:rPr dirty="0"/>
              <a:t>Threads in different processors can use the same virtual address space</a:t>
            </a:r>
          </a:p>
          <a:p>
            <a:pPr marL="742950" lvl="1" indent="-285750">
              <a:spcBef>
                <a:spcPts val="0"/>
              </a:spcBef>
              <a:buClrTx/>
              <a:defRPr sz="2000"/>
            </a:pPr>
            <a:r>
              <a:rPr dirty="0"/>
              <a:t>Communication is done through shared memory variables</a:t>
            </a:r>
          </a:p>
        </p:txBody>
      </p:sp>
      <p:sp>
        <p:nvSpPr>
          <p:cNvPr id="131" name="data = 10;"/>
          <p:cNvSpPr txBox="1"/>
          <p:nvPr/>
        </p:nvSpPr>
        <p:spPr>
          <a:xfrm>
            <a:off x="1676400" y="3657600"/>
            <a:ext cx="1127371" cy="6502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data = 10;</a:t>
            </a:r>
          </a:p>
        </p:txBody>
      </p:sp>
      <p:sp>
        <p:nvSpPr>
          <p:cNvPr id="132" name="x = data * y;"/>
          <p:cNvSpPr txBox="1"/>
          <p:nvPr/>
        </p:nvSpPr>
        <p:spPr>
          <a:xfrm>
            <a:off x="4724400" y="3657600"/>
            <a:ext cx="1317685" cy="1209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x = data * y;</a:t>
            </a:r>
          </a:p>
        </p:txBody>
      </p:sp>
      <p:sp>
        <p:nvSpPr>
          <p:cNvPr id="133" name="Producer (p1)"/>
          <p:cNvSpPr txBox="1"/>
          <p:nvPr/>
        </p:nvSpPr>
        <p:spPr>
          <a:xfrm>
            <a:off x="1764879" y="3124200"/>
            <a:ext cx="1332754"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Producer (p1)</a:t>
            </a:r>
          </a:p>
        </p:txBody>
      </p:sp>
      <p:sp>
        <p:nvSpPr>
          <p:cNvPr id="134" name="Consumer (p2)"/>
          <p:cNvSpPr txBox="1"/>
          <p:nvPr/>
        </p:nvSpPr>
        <p:spPr>
          <a:xfrm>
            <a:off x="5216501" y="3124200"/>
            <a:ext cx="143991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Consumer (p2)</a:t>
            </a:r>
          </a:p>
        </p:txBody>
      </p:sp>
      <p:sp>
        <p:nvSpPr>
          <p:cNvPr id="135" name="Line"/>
          <p:cNvSpPr/>
          <p:nvPr/>
        </p:nvSpPr>
        <p:spPr>
          <a:xfrm>
            <a:off x="2807733" y="4176668"/>
            <a:ext cx="1929963" cy="510674"/>
          </a:xfrm>
          <a:prstGeom prst="line">
            <a:avLst/>
          </a:prstGeom>
          <a:ln w="25400">
            <a:solidFill>
              <a:srgbClr val="FF0000"/>
            </a:solidFill>
            <a:tailEnd type="triangle"/>
          </a:ln>
        </p:spPr>
        <p:txBody>
          <a:bodyPr lIns="45719" rIns="45719"/>
          <a:lstStyle/>
          <a:p>
            <a:endParaRPr/>
          </a:p>
        </p:txBody>
      </p:sp>
      <p:sp>
        <p:nvSpPr>
          <p:cNvPr id="136" name="Shared Memory Multiprocessors"/>
          <p:cNvSpPr txBox="1">
            <a:spLocks noGrp="1"/>
          </p:cNvSpPr>
          <p:nvPr>
            <p:ph type="title" idx="4294967295"/>
          </p:nvPr>
        </p:nvSpPr>
        <p:spPr>
          <a:xfrm>
            <a:off x="685800" y="152400"/>
            <a:ext cx="7772400" cy="838200"/>
          </a:xfrm>
          <a:prstGeom prst="rect">
            <a:avLst/>
          </a:prstGeom>
        </p:spPr>
        <p:txBody>
          <a:bodyPr>
            <a:normAutofit fontScale="90000"/>
          </a:bodyPr>
          <a:lstStyle>
            <a:lvl1pPr>
              <a:defRPr sz="4000"/>
            </a:lvl1pPr>
          </a:lstStyle>
          <a:p>
            <a:r>
              <a:t>Shared Memory Multiprocessors</a:t>
            </a:r>
          </a:p>
        </p:txBody>
      </p:sp>
      <p:sp>
        <p:nvSpPr>
          <p:cNvPr id="137" name="Slide Number"/>
          <p:cNvSpPr txBox="1">
            <a:spLocks noGrp="1"/>
          </p:cNvSpPr>
          <p:nvPr>
            <p:ph type="sldNum" sz="quarter" idx="2"/>
          </p:nvPr>
        </p:nvSpPr>
        <p:spPr>
          <a:xfrm>
            <a:off x="8804116" y="6400800"/>
            <a:ext cx="187484" cy="29464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140" name="Recall the communication model:…"/>
          <p:cNvSpPr txBox="1">
            <a:spLocks noGrp="1"/>
          </p:cNvSpPr>
          <p:nvPr>
            <p:ph type="body" sz="half" idx="4294967295"/>
          </p:nvPr>
        </p:nvSpPr>
        <p:spPr>
          <a:xfrm>
            <a:off x="457200" y="1143000"/>
            <a:ext cx="8686800" cy="1905000"/>
          </a:xfrm>
          <a:prstGeom prst="rect">
            <a:avLst/>
          </a:prstGeom>
        </p:spPr>
        <p:txBody>
          <a:bodyPr>
            <a:normAutofit/>
          </a:bodyPr>
          <a:lstStyle/>
          <a:p>
            <a:pPr>
              <a:spcBef>
                <a:spcPts val="500"/>
              </a:spcBef>
              <a:buChar char="▪"/>
              <a:defRPr sz="2400"/>
            </a:pPr>
            <a:r>
              <a:t>Recall the communication model:</a:t>
            </a:r>
            <a:endParaRPr u="sng">
              <a:solidFill>
                <a:srgbClr val="FF0000"/>
              </a:solidFill>
            </a:endParaRPr>
          </a:p>
          <a:p>
            <a:pPr marL="742950" lvl="1" indent="-285750">
              <a:spcBef>
                <a:spcPts val="0"/>
              </a:spcBef>
              <a:buClrTx/>
              <a:defRPr sz="2000"/>
            </a:pPr>
            <a:r>
              <a:t>Threads in different processors can use the same virtual address space</a:t>
            </a:r>
          </a:p>
          <a:p>
            <a:pPr marL="742950" lvl="1" indent="-285750">
              <a:spcBef>
                <a:spcPts val="0"/>
              </a:spcBef>
              <a:buClrTx/>
              <a:defRPr sz="2000"/>
            </a:pPr>
            <a:r>
              <a:t>Communication is done through shared memory variables</a:t>
            </a:r>
          </a:p>
          <a:p>
            <a:pPr marL="742950" lvl="1" indent="-285750">
              <a:spcBef>
                <a:spcPts val="0"/>
              </a:spcBef>
              <a:buClrTx/>
              <a:defRPr sz="2000"/>
            </a:pPr>
            <a:r>
              <a:t>Explicit synchronization (e.g., variable flag below)</a:t>
            </a:r>
          </a:p>
        </p:txBody>
      </p:sp>
      <p:sp>
        <p:nvSpPr>
          <p:cNvPr id="141" name="flag = 0;…"/>
          <p:cNvSpPr txBox="1"/>
          <p:nvPr/>
        </p:nvSpPr>
        <p:spPr>
          <a:xfrm>
            <a:off x="1676400" y="3657600"/>
            <a:ext cx="1127371" cy="1209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r>
              <a:t>flag = 0;</a:t>
            </a:r>
          </a:p>
          <a:p>
            <a:pPr>
              <a:defRPr sz="1800" b="0">
                <a:solidFill>
                  <a:srgbClr val="0000FF"/>
                </a:solidFill>
                <a:latin typeface="Lucida Console"/>
                <a:ea typeface="Lucida Console"/>
                <a:cs typeface="Lucida Console"/>
                <a:sym typeface="Lucida Console"/>
              </a:defRPr>
            </a:pPr>
            <a:r>
              <a:t>…</a:t>
            </a:r>
          </a:p>
          <a:p>
            <a:pPr>
              <a:defRPr sz="1800" b="0">
                <a:solidFill>
                  <a:srgbClr val="0000FF"/>
                </a:solidFill>
                <a:latin typeface="Lucida Console"/>
                <a:ea typeface="Lucida Console"/>
                <a:cs typeface="Lucida Console"/>
                <a:sym typeface="Lucida Console"/>
              </a:defRPr>
            </a:pPr>
            <a:r>
              <a:t>data = 10;</a:t>
            </a:r>
          </a:p>
          <a:p>
            <a:pPr>
              <a:defRPr sz="1800" b="0">
                <a:solidFill>
                  <a:srgbClr val="FF0000"/>
                </a:solidFill>
                <a:latin typeface="Lucida Console"/>
                <a:ea typeface="Lucida Console"/>
                <a:cs typeface="Lucida Console"/>
                <a:sym typeface="Lucida Console"/>
              </a:defRPr>
            </a:pPr>
            <a:r>
              <a:t>flag = 1;</a:t>
            </a:r>
          </a:p>
        </p:txBody>
      </p:sp>
      <p:sp>
        <p:nvSpPr>
          <p:cNvPr id="142" name="flag = 0;…"/>
          <p:cNvSpPr txBox="1"/>
          <p:nvPr/>
        </p:nvSpPr>
        <p:spPr>
          <a:xfrm>
            <a:off x="4724400" y="3657600"/>
            <a:ext cx="1336437" cy="17678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r>
              <a:t>flag = 0;</a:t>
            </a:r>
          </a:p>
          <a:p>
            <a:pPr>
              <a:defRPr sz="1800" b="0">
                <a:solidFill>
                  <a:srgbClr val="0000FF"/>
                </a:solidFill>
                <a:latin typeface="Lucida Console"/>
                <a:ea typeface="Lucida Console"/>
                <a:cs typeface="Lucida Console"/>
                <a:sym typeface="Lucida Console"/>
              </a:defRPr>
            </a:pPr>
            <a:r>
              <a:t>…</a:t>
            </a:r>
          </a:p>
          <a:p>
            <a:pPr>
              <a:defRPr sz="1800" b="0">
                <a:solidFill>
                  <a:srgbClr val="0000FF"/>
                </a:solidFill>
                <a:latin typeface="Lucida Console"/>
                <a:ea typeface="Lucida Console"/>
                <a:cs typeface="Lucida Console"/>
                <a:sym typeface="Lucida Console"/>
              </a:defRPr>
            </a:pPr>
            <a:endParaRPr/>
          </a:p>
          <a:p>
            <a:pPr>
              <a:defRPr sz="1800" b="0">
                <a:solidFill>
                  <a:srgbClr val="FF0000"/>
                </a:solidFill>
                <a:latin typeface="Lucida Console"/>
                <a:ea typeface="Lucida Console"/>
                <a:cs typeface="Lucida Console"/>
                <a:sym typeface="Lucida Console"/>
              </a:defRPr>
            </a:pPr>
            <a:endParaRPr/>
          </a:p>
          <a:p>
            <a:pPr>
              <a:defRPr sz="1800" b="0">
                <a:solidFill>
                  <a:srgbClr val="FF0000"/>
                </a:solidFill>
                <a:latin typeface="Lucida Console"/>
                <a:ea typeface="Lucida Console"/>
                <a:cs typeface="Lucida Console"/>
                <a:sym typeface="Lucida Console"/>
              </a:defRPr>
            </a:pPr>
            <a:r>
              <a:t>while (!flag);</a:t>
            </a:r>
          </a:p>
          <a:p>
            <a:pPr>
              <a:defRPr sz="1800" b="0">
                <a:solidFill>
                  <a:srgbClr val="0000FF"/>
                </a:solidFill>
                <a:latin typeface="Lucida Console"/>
                <a:ea typeface="Lucida Console"/>
                <a:cs typeface="Lucida Console"/>
                <a:sym typeface="Lucida Console"/>
              </a:defRPr>
            </a:pPr>
            <a:r>
              <a:t>x = data * y;</a:t>
            </a:r>
          </a:p>
        </p:txBody>
      </p:sp>
      <p:sp>
        <p:nvSpPr>
          <p:cNvPr id="143" name="Producer (p1)"/>
          <p:cNvSpPr txBox="1"/>
          <p:nvPr/>
        </p:nvSpPr>
        <p:spPr>
          <a:xfrm>
            <a:off x="1764879" y="3124200"/>
            <a:ext cx="1332754"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Producer (p1)</a:t>
            </a:r>
          </a:p>
        </p:txBody>
      </p:sp>
      <p:sp>
        <p:nvSpPr>
          <p:cNvPr id="144" name="Consumer (p2)"/>
          <p:cNvSpPr txBox="1"/>
          <p:nvPr/>
        </p:nvSpPr>
        <p:spPr>
          <a:xfrm>
            <a:off x="5216501" y="3124200"/>
            <a:ext cx="143991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Consumer (p2)</a:t>
            </a:r>
          </a:p>
        </p:txBody>
      </p:sp>
      <p:sp>
        <p:nvSpPr>
          <p:cNvPr id="145" name="Line"/>
          <p:cNvSpPr/>
          <p:nvPr/>
        </p:nvSpPr>
        <p:spPr>
          <a:xfrm>
            <a:off x="2865040" y="4484114"/>
            <a:ext cx="1859361" cy="820297"/>
          </a:xfrm>
          <a:prstGeom prst="line">
            <a:avLst/>
          </a:prstGeom>
          <a:ln w="25400">
            <a:solidFill>
              <a:srgbClr val="FF0000"/>
            </a:solidFill>
            <a:tailEnd type="triangle"/>
          </a:ln>
        </p:spPr>
        <p:txBody>
          <a:bodyPr lIns="45719" rIns="45719"/>
          <a:lstStyle/>
          <a:p>
            <a:endParaRPr/>
          </a:p>
        </p:txBody>
      </p:sp>
      <p:sp>
        <p:nvSpPr>
          <p:cNvPr id="146" name="Shared Memory Multiprocessors"/>
          <p:cNvSpPr txBox="1">
            <a:spLocks noGrp="1"/>
          </p:cNvSpPr>
          <p:nvPr>
            <p:ph type="title" idx="4294967295"/>
          </p:nvPr>
        </p:nvSpPr>
        <p:spPr>
          <a:xfrm>
            <a:off x="685800" y="152400"/>
            <a:ext cx="7772400" cy="838200"/>
          </a:xfrm>
          <a:prstGeom prst="rect">
            <a:avLst/>
          </a:prstGeom>
        </p:spPr>
        <p:txBody>
          <a:bodyPr>
            <a:normAutofit fontScale="90000"/>
          </a:bodyPr>
          <a:lstStyle>
            <a:lvl1pPr>
              <a:defRPr sz="4000"/>
            </a:lvl1pPr>
          </a:lstStyle>
          <a:p>
            <a:r>
              <a:t>Shared Memory Multiprocessors</a:t>
            </a:r>
          </a:p>
        </p:txBody>
      </p:sp>
      <p:sp>
        <p:nvSpPr>
          <p:cNvPr id="147" name="Slide Number"/>
          <p:cNvSpPr txBox="1">
            <a:spLocks noGrp="1"/>
          </p:cNvSpPr>
          <p:nvPr>
            <p:ph type="sldNum" sz="quarter" idx="2"/>
          </p:nvPr>
        </p:nvSpPr>
        <p:spPr>
          <a:xfrm>
            <a:off x="8804116" y="6400800"/>
            <a:ext cx="187484" cy="29464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HW Support for Shared Memory"/>
          <p:cNvSpPr txBox="1">
            <a:spLocks noGrp="1"/>
          </p:cNvSpPr>
          <p:nvPr>
            <p:ph type="title" idx="4294967295"/>
          </p:nvPr>
        </p:nvSpPr>
        <p:spPr>
          <a:xfrm>
            <a:off x="685800" y="152400"/>
            <a:ext cx="7772400" cy="838200"/>
          </a:xfrm>
          <a:prstGeom prst="rect">
            <a:avLst/>
          </a:prstGeom>
        </p:spPr>
        <p:txBody>
          <a:bodyPr>
            <a:normAutofit fontScale="90000"/>
          </a:bodyPr>
          <a:lstStyle>
            <a:lvl1pPr>
              <a:defRPr sz="4300"/>
            </a:lvl1pPr>
          </a:lstStyle>
          <a:p>
            <a:r>
              <a:t>HW Support for Shared Memory</a:t>
            </a:r>
          </a:p>
        </p:txBody>
      </p:sp>
      <p:sp>
        <p:nvSpPr>
          <p:cNvPr id="150" name="Cache Coherence…"/>
          <p:cNvSpPr txBox="1">
            <a:spLocks noGrp="1"/>
          </p:cNvSpPr>
          <p:nvPr>
            <p:ph type="body" idx="4294967295"/>
          </p:nvPr>
        </p:nvSpPr>
        <p:spPr>
          <a:xfrm>
            <a:off x="685800" y="1295400"/>
            <a:ext cx="7772400" cy="5029200"/>
          </a:xfrm>
          <a:prstGeom prst="rect">
            <a:avLst/>
          </a:prstGeom>
        </p:spPr>
        <p:txBody>
          <a:bodyPr>
            <a:normAutofit lnSpcReduction="10000"/>
          </a:bodyPr>
          <a:lstStyle/>
          <a:p>
            <a:pPr>
              <a:lnSpc>
                <a:spcPct val="80000"/>
              </a:lnSpc>
              <a:spcBef>
                <a:spcPts val="500"/>
              </a:spcBef>
              <a:buChar char="▪"/>
              <a:defRPr sz="2200"/>
            </a:pPr>
            <a:r>
              <a:rPr dirty="0"/>
              <a:t>Cache Coherence</a:t>
            </a:r>
          </a:p>
          <a:p>
            <a:pPr marL="742950" lvl="1" indent="-285750">
              <a:lnSpc>
                <a:spcPct val="80000"/>
              </a:lnSpc>
              <a:spcBef>
                <a:spcPts val="0"/>
              </a:spcBef>
              <a:buClrTx/>
              <a:defRPr sz="2000"/>
            </a:pPr>
            <a:r>
              <a:rPr dirty="0"/>
              <a:t>Caches + </a:t>
            </a:r>
            <a:r>
              <a:rPr dirty="0" err="1"/>
              <a:t>multiprocessers</a:t>
            </a:r>
            <a:r>
              <a:rPr dirty="0"/>
              <a:t> </a:t>
            </a:r>
            <a:r>
              <a:rPr dirty="0">
                <a:latin typeface="Wingdings"/>
                <a:ea typeface="Wingdings"/>
                <a:cs typeface="Wingdings"/>
                <a:sym typeface="Wingdings"/>
              </a:rPr>
              <a:t> </a:t>
            </a:r>
            <a:r>
              <a:rPr dirty="0"/>
              <a:t>stale values</a:t>
            </a:r>
          </a:p>
          <a:p>
            <a:pPr marL="742950" lvl="1" indent="-285750">
              <a:lnSpc>
                <a:spcPct val="80000"/>
              </a:lnSpc>
              <a:spcBef>
                <a:spcPts val="0"/>
              </a:spcBef>
              <a:buClrTx/>
              <a:defRPr sz="2000"/>
            </a:pPr>
            <a:r>
              <a:rPr dirty="0"/>
              <a:t>System must behave as if caches are not present</a:t>
            </a:r>
          </a:p>
          <a:p>
            <a:pPr marL="742950" lvl="1" indent="-285750">
              <a:lnSpc>
                <a:spcPct val="80000"/>
              </a:lnSpc>
              <a:spcBef>
                <a:spcPts val="0"/>
              </a:spcBef>
              <a:buClrTx/>
              <a:defRPr sz="2000"/>
            </a:pPr>
            <a:r>
              <a:rPr dirty="0"/>
              <a:t>Cache coherence is </a:t>
            </a:r>
            <a:r>
              <a:rPr i="1" dirty="0"/>
              <a:t>implementation</a:t>
            </a:r>
            <a:r>
              <a:rPr dirty="0"/>
              <a:t> that ensures this via:</a:t>
            </a:r>
          </a:p>
          <a:p>
            <a:pPr marL="1143000" lvl="2" indent="-228600">
              <a:lnSpc>
                <a:spcPct val="80000"/>
              </a:lnSpc>
              <a:spcBef>
                <a:spcPts val="0"/>
              </a:spcBef>
              <a:buClrTx/>
              <a:defRPr sz="1700"/>
            </a:pPr>
            <a:r>
              <a:rPr dirty="0"/>
              <a:t>Write propagation</a:t>
            </a:r>
          </a:p>
          <a:p>
            <a:pPr marL="1143000" lvl="2" indent="-228600">
              <a:lnSpc>
                <a:spcPct val="80000"/>
              </a:lnSpc>
              <a:spcBef>
                <a:spcPts val="0"/>
              </a:spcBef>
              <a:buClrTx/>
              <a:defRPr sz="1700"/>
            </a:pPr>
            <a:r>
              <a:rPr dirty="0"/>
              <a:t>Write serialization</a:t>
            </a:r>
          </a:p>
          <a:p>
            <a:pPr marL="1143000" lvl="2" indent="-228600">
              <a:lnSpc>
                <a:spcPct val="80000"/>
              </a:lnSpc>
              <a:spcBef>
                <a:spcPts val="0"/>
              </a:spcBef>
              <a:buClrTx/>
              <a:defRPr sz="1700"/>
            </a:pPr>
            <a:endParaRPr dirty="0"/>
          </a:p>
          <a:p>
            <a:pPr>
              <a:lnSpc>
                <a:spcPct val="80000"/>
              </a:lnSpc>
              <a:spcBef>
                <a:spcPts val="500"/>
              </a:spcBef>
              <a:buChar char="▪"/>
              <a:defRPr sz="2200"/>
            </a:pPr>
            <a:r>
              <a:rPr dirty="0"/>
              <a:t>Memory Consistency</a:t>
            </a:r>
          </a:p>
          <a:p>
            <a:pPr marL="742950" lvl="1" indent="-285750">
              <a:lnSpc>
                <a:spcPct val="80000"/>
              </a:lnSpc>
              <a:spcBef>
                <a:spcPts val="0"/>
              </a:spcBef>
              <a:buClrTx/>
              <a:defRPr sz="2000"/>
            </a:pPr>
            <a:r>
              <a:rPr dirty="0"/>
              <a:t>When (in what order) should writes propagate?</a:t>
            </a:r>
          </a:p>
          <a:p>
            <a:pPr marL="742950" lvl="1" indent="-285750">
              <a:lnSpc>
                <a:spcPct val="80000"/>
              </a:lnSpc>
              <a:spcBef>
                <a:spcPts val="0"/>
              </a:spcBef>
              <a:buClrTx/>
              <a:defRPr sz="2000"/>
            </a:pPr>
            <a:r>
              <a:rPr dirty="0"/>
              <a:t>What value should a read return?</a:t>
            </a:r>
          </a:p>
          <a:p>
            <a:pPr marL="742950" lvl="1" indent="-285750">
              <a:lnSpc>
                <a:spcPct val="80000"/>
              </a:lnSpc>
              <a:spcBef>
                <a:spcPts val="0"/>
              </a:spcBef>
              <a:buClrTx/>
              <a:defRPr sz="2000"/>
            </a:pPr>
            <a:r>
              <a:rPr dirty="0"/>
              <a:t>Memory consistency is a </a:t>
            </a:r>
            <a:r>
              <a:rPr i="1" dirty="0"/>
              <a:t>specification</a:t>
            </a:r>
            <a:r>
              <a:rPr dirty="0"/>
              <a:t>. </a:t>
            </a:r>
          </a:p>
          <a:p>
            <a:pPr marL="742950" lvl="1" indent="-285750">
              <a:lnSpc>
                <a:spcPct val="80000"/>
              </a:lnSpc>
              <a:spcBef>
                <a:spcPts val="0"/>
              </a:spcBef>
              <a:buClrTx/>
              <a:defRPr sz="2000"/>
            </a:pPr>
            <a:endParaRPr dirty="0"/>
          </a:p>
          <a:p>
            <a:pPr marL="742950" lvl="1" indent="-285750">
              <a:lnSpc>
                <a:spcPct val="80000"/>
              </a:lnSpc>
              <a:spcBef>
                <a:spcPts val="0"/>
              </a:spcBef>
              <a:buClrTx/>
              <a:defRPr sz="2000"/>
            </a:pPr>
            <a:endParaRPr dirty="0"/>
          </a:p>
          <a:p>
            <a:pPr>
              <a:lnSpc>
                <a:spcPct val="80000"/>
              </a:lnSpc>
              <a:spcBef>
                <a:spcPts val="500"/>
              </a:spcBef>
              <a:buChar char="▪"/>
              <a:defRPr sz="2200"/>
            </a:pPr>
            <a:r>
              <a:rPr dirty="0"/>
              <a:t>Primitive synchronization instructions</a:t>
            </a:r>
          </a:p>
          <a:p>
            <a:pPr marL="742950" lvl="1" indent="-285750">
              <a:lnSpc>
                <a:spcPct val="80000"/>
              </a:lnSpc>
              <a:spcBef>
                <a:spcPts val="0"/>
              </a:spcBef>
              <a:buClrTx/>
              <a:defRPr sz="2000"/>
            </a:pPr>
            <a:r>
              <a:rPr dirty="0"/>
              <a:t>Certain hardware instructions are extremely useful/required for achieving </a:t>
            </a:r>
            <a:r>
              <a:rPr dirty="0" err="1"/>
              <a:t>synchronisation</a:t>
            </a:r>
            <a:endParaRPr dirty="0"/>
          </a:p>
          <a:p>
            <a:pPr marL="742950" lvl="1" indent="-285750">
              <a:lnSpc>
                <a:spcPct val="80000"/>
              </a:lnSpc>
              <a:spcBef>
                <a:spcPts val="0"/>
              </a:spcBef>
              <a:buClrTx/>
              <a:defRPr sz="2000"/>
            </a:pPr>
            <a:r>
              <a:rPr dirty="0"/>
              <a:t>Memory fences: memory ordering on demand</a:t>
            </a:r>
          </a:p>
          <a:p>
            <a:pPr marL="742950" lvl="1" indent="-285750">
              <a:lnSpc>
                <a:spcPct val="80000"/>
              </a:lnSpc>
              <a:spcBef>
                <a:spcPts val="0"/>
              </a:spcBef>
              <a:buClrTx/>
              <a:defRPr sz="2000"/>
            </a:pPr>
            <a:r>
              <a:rPr dirty="0"/>
              <a:t>Read-Modify-writes: support for locks (critical sections) </a:t>
            </a:r>
          </a:p>
          <a:p>
            <a:pPr marL="742950" lvl="1" indent="-285750">
              <a:lnSpc>
                <a:spcPct val="80000"/>
              </a:lnSpc>
              <a:spcBef>
                <a:spcPts val="0"/>
              </a:spcBef>
              <a:buClrTx/>
              <a:defRPr sz="2000"/>
            </a:pPr>
            <a:r>
              <a:rPr dirty="0"/>
              <a:t>Transactional memory extensions</a:t>
            </a:r>
          </a:p>
        </p:txBody>
      </p:sp>
      <p:sp>
        <p:nvSpPr>
          <p:cNvPr id="151"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152" name="Slide Number"/>
          <p:cNvSpPr txBox="1">
            <a:spLocks noGrp="1"/>
          </p:cNvSpPr>
          <p:nvPr>
            <p:ph type="sldNum" sz="quarter" idx="2"/>
          </p:nvPr>
        </p:nvSpPr>
        <p:spPr>
          <a:xfrm>
            <a:off x="8804116" y="6400800"/>
            <a:ext cx="187484" cy="29464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Cache Coherence"/>
          <p:cNvSpPr txBox="1">
            <a:spLocks noGrp="1"/>
          </p:cNvSpPr>
          <p:nvPr>
            <p:ph type="title" idx="4294967295"/>
          </p:nvPr>
        </p:nvSpPr>
        <p:spPr>
          <a:xfrm>
            <a:off x="685800" y="152400"/>
            <a:ext cx="7772400" cy="838200"/>
          </a:xfrm>
          <a:prstGeom prst="rect">
            <a:avLst/>
          </a:prstGeom>
        </p:spPr>
        <p:txBody>
          <a:bodyPr>
            <a:normAutofit/>
          </a:bodyPr>
          <a:lstStyle/>
          <a:p>
            <a:r>
              <a:t>Cache Coherence</a:t>
            </a:r>
          </a:p>
        </p:txBody>
      </p:sp>
      <p:sp>
        <p:nvSpPr>
          <p:cNvPr id="155"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156" name="flag = 0;…"/>
          <p:cNvSpPr txBox="1"/>
          <p:nvPr/>
        </p:nvSpPr>
        <p:spPr>
          <a:xfrm>
            <a:off x="1676400" y="1965325"/>
            <a:ext cx="1127371" cy="14884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r>
              <a:t>flag = 0;</a:t>
            </a:r>
          </a:p>
          <a:p>
            <a:pPr>
              <a:defRPr sz="1800" b="0">
                <a:solidFill>
                  <a:srgbClr val="0000FF"/>
                </a:solidFill>
                <a:latin typeface="Lucida Console"/>
                <a:ea typeface="Lucida Console"/>
                <a:cs typeface="Lucida Console"/>
                <a:sym typeface="Lucida Console"/>
              </a:defRPr>
            </a:pPr>
            <a:r>
              <a:t>…</a:t>
            </a:r>
          </a:p>
          <a:p>
            <a:pPr>
              <a:defRPr sz="1800" b="0">
                <a:solidFill>
                  <a:srgbClr val="0000FF"/>
                </a:solidFill>
                <a:latin typeface="Lucida Console"/>
                <a:ea typeface="Lucida Console"/>
                <a:cs typeface="Lucida Console"/>
                <a:sym typeface="Lucida Console"/>
              </a:defRPr>
            </a:pPr>
            <a:r>
              <a:t>data = 10;</a:t>
            </a: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flag = 1;</a:t>
            </a:r>
          </a:p>
        </p:txBody>
      </p:sp>
      <p:sp>
        <p:nvSpPr>
          <p:cNvPr id="157" name="flag = 0;…"/>
          <p:cNvSpPr txBox="1"/>
          <p:nvPr/>
        </p:nvSpPr>
        <p:spPr>
          <a:xfrm>
            <a:off x="4724400" y="1965325"/>
            <a:ext cx="1336437" cy="2606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r>
              <a:t>flag = 0;</a:t>
            </a:r>
          </a:p>
          <a:p>
            <a:pPr>
              <a:defRPr sz="1800" b="0">
                <a:solidFill>
                  <a:srgbClr val="0000FF"/>
                </a:solidFill>
                <a:latin typeface="Lucida Console"/>
                <a:ea typeface="Lucida Console"/>
                <a:cs typeface="Lucida Console"/>
                <a:sym typeface="Lucida Console"/>
              </a:defRPr>
            </a:pPr>
            <a:r>
              <a:t>…</a:t>
            </a: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while (!flag);</a:t>
            </a: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x = data * y;</a:t>
            </a:r>
          </a:p>
        </p:txBody>
      </p:sp>
      <p:sp>
        <p:nvSpPr>
          <p:cNvPr id="158" name="Line"/>
          <p:cNvSpPr/>
          <p:nvPr/>
        </p:nvSpPr>
        <p:spPr>
          <a:xfrm>
            <a:off x="2668984" y="3395774"/>
            <a:ext cx="2089647" cy="318573"/>
          </a:xfrm>
          <a:prstGeom prst="line">
            <a:avLst/>
          </a:prstGeom>
          <a:ln w="25400">
            <a:solidFill>
              <a:srgbClr val="FF0000"/>
            </a:solidFill>
            <a:tailEnd type="triangle"/>
          </a:ln>
        </p:spPr>
        <p:txBody>
          <a:bodyPr lIns="45719" rIns="45719"/>
          <a:lstStyle/>
          <a:p>
            <a:endParaRPr/>
          </a:p>
        </p:txBody>
      </p:sp>
      <p:sp>
        <p:nvSpPr>
          <p:cNvPr id="159" name="Producer (p1)"/>
          <p:cNvSpPr txBox="1"/>
          <p:nvPr/>
        </p:nvSpPr>
        <p:spPr>
          <a:xfrm>
            <a:off x="1536279" y="1371600"/>
            <a:ext cx="1332754"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Producer (p1)</a:t>
            </a:r>
          </a:p>
        </p:txBody>
      </p:sp>
      <p:sp>
        <p:nvSpPr>
          <p:cNvPr id="160" name="Consumer (p2)"/>
          <p:cNvSpPr txBox="1"/>
          <p:nvPr/>
        </p:nvSpPr>
        <p:spPr>
          <a:xfrm>
            <a:off x="4987901" y="1371600"/>
            <a:ext cx="143991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Consumer (p2)</a:t>
            </a:r>
          </a:p>
        </p:txBody>
      </p:sp>
      <p:sp>
        <p:nvSpPr>
          <p:cNvPr id="161" name="The update to flag (and data)  should be (eventually) visible to  p2"/>
          <p:cNvSpPr txBox="1"/>
          <p:nvPr/>
        </p:nvSpPr>
        <p:spPr>
          <a:xfrm>
            <a:off x="609600" y="5314950"/>
            <a:ext cx="5921497"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solidFill>
                  <a:srgbClr val="FF0000"/>
                </a:solidFill>
              </a:defRPr>
            </a:lvl1pPr>
          </a:lstStyle>
          <a:p>
            <a:r>
              <a:t>The update to flag (and data)  should be (eventually) visible to  p2</a:t>
            </a:r>
          </a:p>
        </p:txBody>
      </p:sp>
      <p:sp>
        <p:nvSpPr>
          <p:cNvPr id="162" name="Slide Number"/>
          <p:cNvSpPr txBox="1">
            <a:spLocks noGrp="1"/>
          </p:cNvSpPr>
          <p:nvPr>
            <p:ph type="sldNum" sz="quarter" idx="2"/>
          </p:nvPr>
        </p:nvSpPr>
        <p:spPr>
          <a:xfrm>
            <a:off x="8804116" y="6400800"/>
            <a:ext cx="187484" cy="29464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Cache Coherence"/>
          <p:cNvSpPr txBox="1">
            <a:spLocks noGrp="1"/>
          </p:cNvSpPr>
          <p:nvPr>
            <p:ph type="title" idx="4294967295"/>
          </p:nvPr>
        </p:nvSpPr>
        <p:spPr>
          <a:xfrm>
            <a:off x="685800" y="152400"/>
            <a:ext cx="7772400" cy="838200"/>
          </a:xfrm>
          <a:prstGeom prst="rect">
            <a:avLst/>
          </a:prstGeom>
        </p:spPr>
        <p:txBody>
          <a:bodyPr>
            <a:normAutofit/>
          </a:bodyPr>
          <a:lstStyle>
            <a:lvl1pPr>
              <a:defRPr sz="4300"/>
            </a:lvl1pPr>
          </a:lstStyle>
          <a:p>
            <a:r>
              <a:t>Cache Coherence</a:t>
            </a:r>
          </a:p>
        </p:txBody>
      </p:sp>
      <p:sp>
        <p:nvSpPr>
          <p:cNvPr id="165"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grpSp>
        <p:nvGrpSpPr>
          <p:cNvPr id="194" name="Group"/>
          <p:cNvGrpSpPr/>
          <p:nvPr/>
        </p:nvGrpSpPr>
        <p:grpSpPr>
          <a:xfrm>
            <a:off x="241300" y="2422524"/>
            <a:ext cx="3704779" cy="2134220"/>
            <a:chOff x="0" y="0"/>
            <a:chExt cx="3704778" cy="2134218"/>
          </a:xfrm>
        </p:grpSpPr>
        <p:sp>
          <p:nvSpPr>
            <p:cNvPr id="166" name="CPU"/>
            <p:cNvSpPr txBox="1"/>
            <p:nvPr/>
          </p:nvSpPr>
          <p:spPr>
            <a:xfrm>
              <a:off x="291406" y="65393"/>
              <a:ext cx="458336" cy="27584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167" name="Oval"/>
            <p:cNvSpPr/>
            <p:nvPr/>
          </p:nvSpPr>
          <p:spPr>
            <a:xfrm>
              <a:off x="185567" y="-1"/>
              <a:ext cx="651950" cy="387906"/>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68" name="Line"/>
            <p:cNvSpPr/>
            <p:nvPr/>
          </p:nvSpPr>
          <p:spPr>
            <a:xfrm flipH="1">
              <a:off x="520573" y="387904"/>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69" name="Rectangle"/>
            <p:cNvSpPr/>
            <p:nvPr/>
          </p:nvSpPr>
          <p:spPr>
            <a:xfrm>
              <a:off x="0" y="1278153"/>
              <a:ext cx="3704779" cy="214017"/>
            </a:xfrm>
            <a:prstGeom prst="rect">
              <a:avLst/>
            </a:prstGeom>
            <a:solidFill>
              <a:srgbClr val="FF0000">
                <a:alpha val="50195"/>
              </a:srgbClr>
            </a:solid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70" name="Line"/>
            <p:cNvSpPr/>
            <p:nvPr/>
          </p:nvSpPr>
          <p:spPr>
            <a:xfrm>
              <a:off x="1845820" y="1468390"/>
              <a:ext cx="1" cy="193210"/>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71" name="Rectangle"/>
            <p:cNvSpPr/>
            <p:nvPr/>
          </p:nvSpPr>
          <p:spPr>
            <a:xfrm>
              <a:off x="236475" y="1661599"/>
              <a:ext cx="3231829" cy="472620"/>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72" name="Main memory"/>
            <p:cNvSpPr txBox="1"/>
            <p:nvPr/>
          </p:nvSpPr>
          <p:spPr>
            <a:xfrm>
              <a:off x="1127178" y="1706186"/>
              <a:ext cx="1402799" cy="33529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800" b="0"/>
              </a:lvl1pPr>
            </a:lstStyle>
            <a:p>
              <a:r>
                <a:t>Main memory</a:t>
              </a:r>
            </a:p>
          </p:txBody>
        </p:sp>
        <p:sp>
          <p:nvSpPr>
            <p:cNvPr id="173" name="CPU"/>
            <p:cNvSpPr txBox="1"/>
            <p:nvPr/>
          </p:nvSpPr>
          <p:spPr>
            <a:xfrm>
              <a:off x="1158482" y="65393"/>
              <a:ext cx="458336" cy="27584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174" name="Oval"/>
            <p:cNvSpPr/>
            <p:nvPr/>
          </p:nvSpPr>
          <p:spPr>
            <a:xfrm>
              <a:off x="1052643" y="-1"/>
              <a:ext cx="651950" cy="387906"/>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75" name="Line"/>
            <p:cNvSpPr/>
            <p:nvPr/>
          </p:nvSpPr>
          <p:spPr>
            <a:xfrm>
              <a:off x="1387649" y="387904"/>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76" name="CPU"/>
            <p:cNvSpPr txBox="1"/>
            <p:nvPr/>
          </p:nvSpPr>
          <p:spPr>
            <a:xfrm>
              <a:off x="2025558" y="65393"/>
              <a:ext cx="458336" cy="27584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177" name="Oval"/>
            <p:cNvSpPr/>
            <p:nvPr/>
          </p:nvSpPr>
          <p:spPr>
            <a:xfrm>
              <a:off x="1919719" y="-1"/>
              <a:ext cx="651950" cy="387906"/>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78" name="Line"/>
            <p:cNvSpPr/>
            <p:nvPr/>
          </p:nvSpPr>
          <p:spPr>
            <a:xfrm>
              <a:off x="2254725" y="387904"/>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79" name="CPU"/>
            <p:cNvSpPr txBox="1"/>
            <p:nvPr/>
          </p:nvSpPr>
          <p:spPr>
            <a:xfrm>
              <a:off x="2892633" y="65393"/>
              <a:ext cx="458336" cy="27584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180" name="Oval"/>
            <p:cNvSpPr/>
            <p:nvPr/>
          </p:nvSpPr>
          <p:spPr>
            <a:xfrm>
              <a:off x="2786794" y="-1"/>
              <a:ext cx="651950" cy="387906"/>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81" name="Line"/>
            <p:cNvSpPr/>
            <p:nvPr/>
          </p:nvSpPr>
          <p:spPr>
            <a:xfrm>
              <a:off x="3121801" y="387904"/>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82" name="Cache"/>
            <p:cNvSpPr txBox="1"/>
            <p:nvPr/>
          </p:nvSpPr>
          <p:spPr>
            <a:xfrm>
              <a:off x="225622" y="707443"/>
              <a:ext cx="543922" cy="27584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Cache</a:t>
              </a:r>
            </a:p>
          </p:txBody>
        </p:sp>
        <p:sp>
          <p:nvSpPr>
            <p:cNvPr id="183" name="Line"/>
            <p:cNvSpPr/>
            <p:nvPr/>
          </p:nvSpPr>
          <p:spPr>
            <a:xfrm flipH="1">
              <a:off x="520573" y="1101292"/>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84" name="Cache"/>
            <p:cNvSpPr txBox="1"/>
            <p:nvPr/>
          </p:nvSpPr>
          <p:spPr>
            <a:xfrm>
              <a:off x="1092698" y="707443"/>
              <a:ext cx="543922" cy="27584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Cache</a:t>
              </a:r>
            </a:p>
          </p:txBody>
        </p:sp>
        <p:sp>
          <p:nvSpPr>
            <p:cNvPr id="185" name="Line"/>
            <p:cNvSpPr/>
            <p:nvPr/>
          </p:nvSpPr>
          <p:spPr>
            <a:xfrm>
              <a:off x="1387649" y="1101292"/>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86" name="Cache"/>
            <p:cNvSpPr txBox="1"/>
            <p:nvPr/>
          </p:nvSpPr>
          <p:spPr>
            <a:xfrm>
              <a:off x="1959774" y="707443"/>
              <a:ext cx="543922" cy="27584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Cache</a:t>
              </a:r>
            </a:p>
          </p:txBody>
        </p:sp>
        <p:sp>
          <p:nvSpPr>
            <p:cNvPr id="187" name="Line"/>
            <p:cNvSpPr/>
            <p:nvPr/>
          </p:nvSpPr>
          <p:spPr>
            <a:xfrm>
              <a:off x="2254725" y="1101292"/>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88" name="Cache"/>
            <p:cNvSpPr txBox="1"/>
            <p:nvPr/>
          </p:nvSpPr>
          <p:spPr>
            <a:xfrm>
              <a:off x="2826850" y="707443"/>
              <a:ext cx="543922" cy="27584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Cache</a:t>
              </a:r>
            </a:p>
          </p:txBody>
        </p:sp>
        <p:sp>
          <p:nvSpPr>
            <p:cNvPr id="189" name="Line"/>
            <p:cNvSpPr/>
            <p:nvPr/>
          </p:nvSpPr>
          <p:spPr>
            <a:xfrm>
              <a:off x="3121801" y="1101292"/>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90" name="Rectangle"/>
            <p:cNvSpPr/>
            <p:nvPr/>
          </p:nvSpPr>
          <p:spPr>
            <a:xfrm>
              <a:off x="133017" y="636104"/>
              <a:ext cx="788252" cy="428034"/>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91" name="Rectangle"/>
            <p:cNvSpPr/>
            <p:nvPr/>
          </p:nvSpPr>
          <p:spPr>
            <a:xfrm>
              <a:off x="1000093" y="636104"/>
              <a:ext cx="788251" cy="428034"/>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92" name="Rectangle"/>
            <p:cNvSpPr/>
            <p:nvPr/>
          </p:nvSpPr>
          <p:spPr>
            <a:xfrm>
              <a:off x="1867168" y="636104"/>
              <a:ext cx="788252" cy="428034"/>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93" name="Rectangle"/>
            <p:cNvSpPr/>
            <p:nvPr/>
          </p:nvSpPr>
          <p:spPr>
            <a:xfrm>
              <a:off x="2734244" y="636104"/>
              <a:ext cx="788252" cy="428034"/>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grpSp>
      <p:grpSp>
        <p:nvGrpSpPr>
          <p:cNvPr id="215" name="Group"/>
          <p:cNvGrpSpPr/>
          <p:nvPr/>
        </p:nvGrpSpPr>
        <p:grpSpPr>
          <a:xfrm>
            <a:off x="4800600" y="2527300"/>
            <a:ext cx="3610968" cy="1924669"/>
            <a:chOff x="0" y="0"/>
            <a:chExt cx="3610967" cy="1924668"/>
          </a:xfrm>
        </p:grpSpPr>
        <p:sp>
          <p:nvSpPr>
            <p:cNvPr id="195" name="CPU"/>
            <p:cNvSpPr txBox="1"/>
            <p:nvPr/>
          </p:nvSpPr>
          <p:spPr>
            <a:xfrm>
              <a:off x="284027" y="77655"/>
              <a:ext cx="446730" cy="32756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196" name="Oval"/>
            <p:cNvSpPr/>
            <p:nvPr/>
          </p:nvSpPr>
          <p:spPr>
            <a:xfrm>
              <a:off x="180868" y="0"/>
              <a:ext cx="635442" cy="460641"/>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97" name="Line"/>
            <p:cNvSpPr/>
            <p:nvPr/>
          </p:nvSpPr>
          <p:spPr>
            <a:xfrm>
              <a:off x="507391" y="460640"/>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198" name="Rectangle"/>
            <p:cNvSpPr/>
            <p:nvPr/>
          </p:nvSpPr>
          <p:spPr>
            <a:xfrm>
              <a:off x="0" y="908083"/>
              <a:ext cx="3610968" cy="254148"/>
            </a:xfrm>
            <a:prstGeom prst="rect">
              <a:avLst/>
            </a:prstGeom>
            <a:solidFill>
              <a:srgbClr val="FF0000">
                <a:alpha val="50195"/>
              </a:srgbClr>
            </a:solid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199" name="Line"/>
            <p:cNvSpPr/>
            <p:nvPr/>
          </p:nvSpPr>
          <p:spPr>
            <a:xfrm>
              <a:off x="1799081" y="1133991"/>
              <a:ext cx="1" cy="229438"/>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200" name="Rectangle"/>
            <p:cNvSpPr/>
            <p:nvPr/>
          </p:nvSpPr>
          <p:spPr>
            <a:xfrm>
              <a:off x="230487" y="1363429"/>
              <a:ext cx="3149993" cy="561240"/>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201" name="Main memory"/>
            <p:cNvSpPr txBox="1"/>
            <p:nvPr/>
          </p:nvSpPr>
          <p:spPr>
            <a:xfrm>
              <a:off x="1098635" y="1416376"/>
              <a:ext cx="1367279" cy="3981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800" b="0"/>
              </a:lvl1pPr>
            </a:lstStyle>
            <a:p>
              <a:r>
                <a:t>Main memory</a:t>
              </a:r>
            </a:p>
          </p:txBody>
        </p:sp>
        <p:sp>
          <p:nvSpPr>
            <p:cNvPr id="202" name="CPU"/>
            <p:cNvSpPr txBox="1"/>
            <p:nvPr/>
          </p:nvSpPr>
          <p:spPr>
            <a:xfrm>
              <a:off x="1129147" y="77655"/>
              <a:ext cx="446730" cy="32756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203" name="Oval"/>
            <p:cNvSpPr/>
            <p:nvPr/>
          </p:nvSpPr>
          <p:spPr>
            <a:xfrm>
              <a:off x="1025988" y="0"/>
              <a:ext cx="635442" cy="460641"/>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204" name="Line"/>
            <p:cNvSpPr/>
            <p:nvPr/>
          </p:nvSpPr>
          <p:spPr>
            <a:xfrm>
              <a:off x="1352511" y="460640"/>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205" name="CPU"/>
            <p:cNvSpPr txBox="1"/>
            <p:nvPr/>
          </p:nvSpPr>
          <p:spPr>
            <a:xfrm>
              <a:off x="1974267" y="77655"/>
              <a:ext cx="446730" cy="32756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206" name="Oval"/>
            <p:cNvSpPr/>
            <p:nvPr/>
          </p:nvSpPr>
          <p:spPr>
            <a:xfrm>
              <a:off x="1871108" y="0"/>
              <a:ext cx="635441" cy="460641"/>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207" name="Line"/>
            <p:cNvSpPr/>
            <p:nvPr/>
          </p:nvSpPr>
          <p:spPr>
            <a:xfrm>
              <a:off x="2197631" y="460640"/>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208" name="CPU"/>
            <p:cNvSpPr txBox="1"/>
            <p:nvPr/>
          </p:nvSpPr>
          <p:spPr>
            <a:xfrm>
              <a:off x="2819387" y="77655"/>
              <a:ext cx="446730" cy="32756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209" name="Oval"/>
            <p:cNvSpPr/>
            <p:nvPr/>
          </p:nvSpPr>
          <p:spPr>
            <a:xfrm>
              <a:off x="2716228" y="0"/>
              <a:ext cx="635442" cy="460641"/>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210" name="Line"/>
            <p:cNvSpPr/>
            <p:nvPr/>
          </p:nvSpPr>
          <p:spPr>
            <a:xfrm>
              <a:off x="3042752" y="460640"/>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211" name="Line"/>
            <p:cNvSpPr/>
            <p:nvPr/>
          </p:nvSpPr>
          <p:spPr>
            <a:xfrm>
              <a:off x="507391" y="698059"/>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212" name="Line"/>
            <p:cNvSpPr/>
            <p:nvPr/>
          </p:nvSpPr>
          <p:spPr>
            <a:xfrm>
              <a:off x="1352511" y="698059"/>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213" name="Line"/>
            <p:cNvSpPr/>
            <p:nvPr/>
          </p:nvSpPr>
          <p:spPr>
            <a:xfrm>
              <a:off x="2197631" y="698059"/>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214" name="Line"/>
            <p:cNvSpPr/>
            <p:nvPr/>
          </p:nvSpPr>
          <p:spPr>
            <a:xfrm>
              <a:off x="3042752" y="698059"/>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grpSp>
      <p:sp>
        <p:nvSpPr>
          <p:cNvPr id="216" name="Line"/>
          <p:cNvSpPr/>
          <p:nvPr/>
        </p:nvSpPr>
        <p:spPr>
          <a:xfrm>
            <a:off x="3670300" y="3592785"/>
            <a:ext cx="1157926" cy="1"/>
          </a:xfrm>
          <a:prstGeom prst="line">
            <a:avLst/>
          </a:prstGeom>
          <a:ln w="25400">
            <a:solidFill>
              <a:schemeClr val="accent1"/>
            </a:solidFill>
            <a:tailEnd type="triangle"/>
          </a:ln>
          <a:effectLst>
            <a:outerShdw blurRad="38100" dist="20000" dir="5400000" rotWithShape="0">
              <a:srgbClr val="000000">
                <a:alpha val="38000"/>
              </a:srgbClr>
            </a:outerShdw>
          </a:effectLst>
        </p:spPr>
        <p:txBody>
          <a:bodyPr lIns="45719" rIns="45719"/>
          <a:lstStyle/>
          <a:p>
            <a:endParaRPr/>
          </a:p>
        </p:txBody>
      </p:sp>
      <p:sp>
        <p:nvSpPr>
          <p:cNvPr id="217" name="Make Caches Invisible!"/>
          <p:cNvSpPr txBox="1"/>
          <p:nvPr/>
        </p:nvSpPr>
        <p:spPr>
          <a:xfrm>
            <a:off x="3276600" y="5299702"/>
            <a:ext cx="2130733" cy="3581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solidFill>
                  <a:srgbClr val="FF0000"/>
                </a:solidFill>
              </a:defRPr>
            </a:lvl1pPr>
          </a:lstStyle>
          <a:p>
            <a:r>
              <a:t>Make Caches Invisible!</a:t>
            </a:r>
          </a:p>
        </p:txBody>
      </p:sp>
      <p:sp>
        <p:nvSpPr>
          <p:cNvPr id="218" name="Slide Number"/>
          <p:cNvSpPr txBox="1">
            <a:spLocks noGrp="1"/>
          </p:cNvSpPr>
          <p:nvPr>
            <p:ph type="sldNum" sz="quarter" idx="2"/>
          </p:nvPr>
        </p:nvSpPr>
        <p:spPr>
          <a:xfrm>
            <a:off x="8804116" y="6400800"/>
            <a:ext cx="187484" cy="29464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Memory Consistency"/>
          <p:cNvSpPr txBox="1">
            <a:spLocks noGrp="1"/>
          </p:cNvSpPr>
          <p:nvPr>
            <p:ph type="title" idx="4294967295"/>
          </p:nvPr>
        </p:nvSpPr>
        <p:spPr>
          <a:xfrm>
            <a:off x="685800" y="152400"/>
            <a:ext cx="7772400" cy="838200"/>
          </a:xfrm>
          <a:prstGeom prst="rect">
            <a:avLst/>
          </a:prstGeom>
        </p:spPr>
        <p:txBody>
          <a:bodyPr>
            <a:normAutofit/>
          </a:bodyPr>
          <a:lstStyle/>
          <a:p>
            <a:r>
              <a:t>Memory Consistency</a:t>
            </a:r>
          </a:p>
        </p:txBody>
      </p:sp>
      <p:sp>
        <p:nvSpPr>
          <p:cNvPr id="221"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222" name="flag = 0;…"/>
          <p:cNvSpPr txBox="1"/>
          <p:nvPr/>
        </p:nvSpPr>
        <p:spPr>
          <a:xfrm>
            <a:off x="1676400" y="1965325"/>
            <a:ext cx="1127371" cy="14884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r>
              <a:t>flag = 0;</a:t>
            </a:r>
          </a:p>
          <a:p>
            <a:pPr>
              <a:defRPr sz="1800" b="0">
                <a:solidFill>
                  <a:srgbClr val="0000FF"/>
                </a:solidFill>
                <a:latin typeface="Lucida Console"/>
                <a:ea typeface="Lucida Console"/>
                <a:cs typeface="Lucida Console"/>
                <a:sym typeface="Lucida Console"/>
              </a:defRPr>
            </a:pPr>
            <a:r>
              <a:t>…</a:t>
            </a:r>
          </a:p>
          <a:p>
            <a:pPr>
              <a:defRPr sz="1800" b="0">
                <a:solidFill>
                  <a:srgbClr val="0000FF"/>
                </a:solidFill>
                <a:latin typeface="Lucida Console"/>
                <a:ea typeface="Lucida Console"/>
                <a:cs typeface="Lucida Console"/>
                <a:sym typeface="Lucida Console"/>
              </a:defRPr>
            </a:pPr>
            <a:r>
              <a:t>data = 10;</a:t>
            </a: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flag = 1;</a:t>
            </a:r>
          </a:p>
        </p:txBody>
      </p:sp>
      <p:sp>
        <p:nvSpPr>
          <p:cNvPr id="223" name="flag = 0;…"/>
          <p:cNvSpPr txBox="1"/>
          <p:nvPr/>
        </p:nvSpPr>
        <p:spPr>
          <a:xfrm>
            <a:off x="4724400" y="1965325"/>
            <a:ext cx="1489135" cy="2606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r>
              <a:t>flag = 0;</a:t>
            </a:r>
          </a:p>
          <a:p>
            <a:pPr>
              <a:defRPr sz="1800" b="0">
                <a:solidFill>
                  <a:srgbClr val="0000FF"/>
                </a:solidFill>
                <a:latin typeface="Lucida Console"/>
                <a:ea typeface="Lucida Console"/>
                <a:cs typeface="Lucida Console"/>
                <a:sym typeface="Lucida Console"/>
              </a:defRPr>
            </a:pPr>
            <a:r>
              <a:t>…</a:t>
            </a: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while (!flag) {}</a:t>
            </a: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x = data * y;</a:t>
            </a:r>
          </a:p>
        </p:txBody>
      </p:sp>
      <p:sp>
        <p:nvSpPr>
          <p:cNvPr id="224" name="Line"/>
          <p:cNvSpPr/>
          <p:nvPr/>
        </p:nvSpPr>
        <p:spPr>
          <a:xfrm>
            <a:off x="2643584" y="3351653"/>
            <a:ext cx="2080817" cy="489750"/>
          </a:xfrm>
          <a:prstGeom prst="line">
            <a:avLst/>
          </a:prstGeom>
          <a:ln w="25400">
            <a:solidFill>
              <a:srgbClr val="0000FF"/>
            </a:solidFill>
            <a:tailEnd type="triangle"/>
          </a:ln>
        </p:spPr>
        <p:txBody>
          <a:bodyPr lIns="45719" rIns="45719"/>
          <a:lstStyle/>
          <a:p>
            <a:endParaRPr/>
          </a:p>
        </p:txBody>
      </p:sp>
      <p:sp>
        <p:nvSpPr>
          <p:cNvPr id="225" name="Producer (p1)"/>
          <p:cNvSpPr txBox="1"/>
          <p:nvPr/>
        </p:nvSpPr>
        <p:spPr>
          <a:xfrm>
            <a:off x="1536279" y="1371600"/>
            <a:ext cx="1332754"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Producer (p1)</a:t>
            </a:r>
          </a:p>
        </p:txBody>
      </p:sp>
      <p:sp>
        <p:nvSpPr>
          <p:cNvPr id="226" name="Consumer (p2)"/>
          <p:cNvSpPr txBox="1"/>
          <p:nvPr/>
        </p:nvSpPr>
        <p:spPr>
          <a:xfrm>
            <a:off x="4987901" y="1371600"/>
            <a:ext cx="143991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Consumer (p2)</a:t>
            </a:r>
          </a:p>
        </p:txBody>
      </p:sp>
      <p:sp>
        <p:nvSpPr>
          <p:cNvPr id="227" name="If p2 sees the update to flag, will p2 see the update to data?"/>
          <p:cNvSpPr txBox="1"/>
          <p:nvPr/>
        </p:nvSpPr>
        <p:spPr>
          <a:xfrm>
            <a:off x="1119187" y="5257800"/>
            <a:ext cx="5364285"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solidFill>
                  <a:srgbClr val="FF0000"/>
                </a:solidFill>
              </a:defRPr>
            </a:lvl1pPr>
          </a:lstStyle>
          <a:p>
            <a:r>
              <a:t>If p2 sees the update to flag, will p2 see the update to data?</a:t>
            </a:r>
          </a:p>
        </p:txBody>
      </p:sp>
      <p:sp>
        <p:nvSpPr>
          <p:cNvPr id="228" name="Line"/>
          <p:cNvSpPr/>
          <p:nvPr/>
        </p:nvSpPr>
        <p:spPr>
          <a:xfrm rot="10800000" flipH="1" flipV="1">
            <a:off x="1447800" y="2781300"/>
            <a:ext cx="3276600" cy="1866900"/>
          </a:xfrm>
          <a:custGeom>
            <a:avLst/>
            <a:gdLst/>
            <a:ahLst/>
            <a:cxnLst>
              <a:cxn ang="0">
                <a:pos x="wd2" y="hd2"/>
              </a:cxn>
              <a:cxn ang="5400000">
                <a:pos x="wd2" y="hd2"/>
              </a:cxn>
              <a:cxn ang="10800000">
                <a:pos x="wd2" y="hd2"/>
              </a:cxn>
              <a:cxn ang="16200000">
                <a:pos x="wd2" y="hd2"/>
              </a:cxn>
            </a:cxnLst>
            <a:rect l="0" t="0" r="r" b="b"/>
            <a:pathLst>
              <a:path w="21600" h="21600" extrusionOk="0">
                <a:moveTo>
                  <a:pt x="1507" y="0"/>
                </a:moveTo>
                <a:cubicBezTo>
                  <a:pt x="753" y="0"/>
                  <a:pt x="0" y="5400"/>
                  <a:pt x="0" y="10800"/>
                </a:cubicBezTo>
                <a:cubicBezTo>
                  <a:pt x="0" y="16200"/>
                  <a:pt x="10800" y="21600"/>
                  <a:pt x="21600" y="21600"/>
                </a:cubicBezTo>
              </a:path>
            </a:pathLst>
          </a:custGeom>
          <a:ln w="12700">
            <a:solidFill>
              <a:srgbClr val="FF0000"/>
            </a:solidFill>
            <a:tailEnd type="triangle"/>
          </a:ln>
        </p:spPr>
        <p:txBody>
          <a:bodyPr lIns="45719" rIns="45719"/>
          <a:lstStyle/>
          <a:p>
            <a:endParaRPr/>
          </a:p>
        </p:txBody>
      </p:sp>
      <p:sp>
        <p:nvSpPr>
          <p:cNvPr id="229" name="Line"/>
          <p:cNvSpPr/>
          <p:nvPr/>
        </p:nvSpPr>
        <p:spPr>
          <a:xfrm>
            <a:off x="2013098" y="2832456"/>
            <a:ext cx="9229" cy="385051"/>
          </a:xfrm>
          <a:prstGeom prst="line">
            <a:avLst/>
          </a:prstGeom>
          <a:ln w="25400">
            <a:solidFill>
              <a:srgbClr val="FF0000"/>
            </a:solidFill>
            <a:tailEnd type="triangle"/>
          </a:ln>
        </p:spPr>
        <p:txBody>
          <a:bodyPr lIns="45719" rIns="45719"/>
          <a:lstStyle/>
          <a:p>
            <a:endParaRPr/>
          </a:p>
        </p:txBody>
      </p:sp>
      <p:sp>
        <p:nvSpPr>
          <p:cNvPr id="230" name="Line"/>
          <p:cNvSpPr/>
          <p:nvPr/>
        </p:nvSpPr>
        <p:spPr>
          <a:xfrm>
            <a:off x="5238898" y="3962756"/>
            <a:ext cx="9229" cy="385051"/>
          </a:xfrm>
          <a:prstGeom prst="line">
            <a:avLst/>
          </a:prstGeom>
          <a:ln w="25400">
            <a:solidFill>
              <a:srgbClr val="FF0000"/>
            </a:solidFill>
            <a:tailEnd type="triangle"/>
          </a:ln>
        </p:spPr>
        <p:txBody>
          <a:bodyPr lIns="45719" rIns="45719"/>
          <a:lstStyle/>
          <a:p>
            <a:endParaRPr/>
          </a:p>
        </p:txBody>
      </p:sp>
      <p:sp>
        <p:nvSpPr>
          <p:cNvPr id="231" name="Slide Number"/>
          <p:cNvSpPr txBox="1">
            <a:spLocks noGrp="1"/>
          </p:cNvSpPr>
          <p:nvPr>
            <p:ph type="sldNum" sz="quarter" idx="2"/>
          </p:nvPr>
        </p:nvSpPr>
        <p:spPr>
          <a:xfrm>
            <a:off x="8804116" y="6400800"/>
            <a:ext cx="187484" cy="29464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10</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Primitive Synchronization"/>
          <p:cNvSpPr txBox="1">
            <a:spLocks noGrp="1"/>
          </p:cNvSpPr>
          <p:nvPr>
            <p:ph type="title" idx="4294967295"/>
          </p:nvPr>
        </p:nvSpPr>
        <p:spPr>
          <a:xfrm>
            <a:off x="685800" y="152400"/>
            <a:ext cx="7772400" cy="838200"/>
          </a:xfrm>
          <a:prstGeom prst="rect">
            <a:avLst/>
          </a:prstGeom>
        </p:spPr>
        <p:txBody>
          <a:bodyPr>
            <a:normAutofit/>
          </a:bodyPr>
          <a:lstStyle/>
          <a:p>
            <a:r>
              <a:t>Primitive Synchronization </a:t>
            </a:r>
          </a:p>
        </p:txBody>
      </p:sp>
      <p:sp>
        <p:nvSpPr>
          <p:cNvPr id="234"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235" name="flag = 0;…"/>
          <p:cNvSpPr txBox="1"/>
          <p:nvPr/>
        </p:nvSpPr>
        <p:spPr>
          <a:xfrm>
            <a:off x="1676400" y="1965325"/>
            <a:ext cx="1127371" cy="14884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r>
              <a:t>flag = 0;</a:t>
            </a:r>
          </a:p>
          <a:p>
            <a:pPr>
              <a:defRPr sz="1800" b="0">
                <a:solidFill>
                  <a:srgbClr val="0000FF"/>
                </a:solidFill>
                <a:latin typeface="Lucida Console"/>
                <a:ea typeface="Lucida Console"/>
                <a:cs typeface="Lucida Console"/>
                <a:sym typeface="Lucida Console"/>
              </a:defRPr>
            </a:pPr>
            <a:r>
              <a:t>…</a:t>
            </a:r>
          </a:p>
          <a:p>
            <a:pPr>
              <a:defRPr sz="1800" b="0">
                <a:solidFill>
                  <a:srgbClr val="0000FF"/>
                </a:solidFill>
                <a:latin typeface="Lucida Console"/>
                <a:ea typeface="Lucida Console"/>
                <a:cs typeface="Lucida Console"/>
                <a:sym typeface="Lucida Console"/>
              </a:defRPr>
            </a:pPr>
            <a:r>
              <a:t>data = 10;</a:t>
            </a: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flag = 1;</a:t>
            </a:r>
          </a:p>
        </p:txBody>
      </p:sp>
      <p:sp>
        <p:nvSpPr>
          <p:cNvPr id="236" name="flag = 0;…"/>
          <p:cNvSpPr txBox="1"/>
          <p:nvPr/>
        </p:nvSpPr>
        <p:spPr>
          <a:xfrm>
            <a:off x="4724400" y="1965325"/>
            <a:ext cx="1489135" cy="2606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r>
              <a:t>flag = 0;</a:t>
            </a:r>
          </a:p>
          <a:p>
            <a:pPr>
              <a:defRPr sz="1800" b="0">
                <a:solidFill>
                  <a:srgbClr val="0000FF"/>
                </a:solidFill>
                <a:latin typeface="Lucida Console"/>
                <a:ea typeface="Lucida Console"/>
                <a:cs typeface="Lucida Console"/>
                <a:sym typeface="Lucida Console"/>
              </a:defRPr>
            </a:pPr>
            <a:r>
              <a:t>…</a:t>
            </a: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while (!flag) {}</a:t>
            </a: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x = data * y;</a:t>
            </a:r>
          </a:p>
        </p:txBody>
      </p:sp>
      <p:sp>
        <p:nvSpPr>
          <p:cNvPr id="237" name="Line"/>
          <p:cNvSpPr/>
          <p:nvPr/>
        </p:nvSpPr>
        <p:spPr>
          <a:xfrm>
            <a:off x="3047999" y="3505200"/>
            <a:ext cx="1676402" cy="533400"/>
          </a:xfrm>
          <a:prstGeom prst="line">
            <a:avLst/>
          </a:prstGeom>
          <a:ln w="25400">
            <a:solidFill>
              <a:srgbClr val="0000FF"/>
            </a:solidFill>
            <a:tailEnd type="triangle"/>
          </a:ln>
        </p:spPr>
        <p:txBody>
          <a:bodyPr lIns="45719" rIns="45719"/>
          <a:lstStyle/>
          <a:p>
            <a:endParaRPr/>
          </a:p>
        </p:txBody>
      </p:sp>
      <p:sp>
        <p:nvSpPr>
          <p:cNvPr id="238" name="Producer (p1)"/>
          <p:cNvSpPr txBox="1"/>
          <p:nvPr/>
        </p:nvSpPr>
        <p:spPr>
          <a:xfrm>
            <a:off x="1536279" y="1371600"/>
            <a:ext cx="1332754"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Producer (p1)</a:t>
            </a:r>
          </a:p>
        </p:txBody>
      </p:sp>
      <p:sp>
        <p:nvSpPr>
          <p:cNvPr id="239" name="Consumer (p2)"/>
          <p:cNvSpPr txBox="1"/>
          <p:nvPr/>
        </p:nvSpPr>
        <p:spPr>
          <a:xfrm>
            <a:off x="4987901" y="1371600"/>
            <a:ext cx="143991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Consumer (p2)</a:t>
            </a:r>
          </a:p>
        </p:txBody>
      </p:sp>
      <p:sp>
        <p:nvSpPr>
          <p:cNvPr id="240" name="If p2 sees the update to flag, will it see the update to data?"/>
          <p:cNvSpPr txBox="1"/>
          <p:nvPr/>
        </p:nvSpPr>
        <p:spPr>
          <a:xfrm>
            <a:off x="914400" y="5257800"/>
            <a:ext cx="5259472"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solidFill>
                  <a:srgbClr val="FF0000"/>
                </a:solidFill>
              </a:defRPr>
            </a:lvl1pPr>
          </a:lstStyle>
          <a:p>
            <a:r>
              <a:t>If p2 sees the update to flag, will it see the update to data?</a:t>
            </a:r>
          </a:p>
        </p:txBody>
      </p:sp>
      <p:sp>
        <p:nvSpPr>
          <p:cNvPr id="241" name="Line"/>
          <p:cNvSpPr/>
          <p:nvPr/>
        </p:nvSpPr>
        <p:spPr>
          <a:xfrm rot="10800000" flipH="1" flipV="1">
            <a:off x="1447800" y="2781300"/>
            <a:ext cx="3276600" cy="1866900"/>
          </a:xfrm>
          <a:custGeom>
            <a:avLst/>
            <a:gdLst/>
            <a:ahLst/>
            <a:cxnLst>
              <a:cxn ang="0">
                <a:pos x="wd2" y="hd2"/>
              </a:cxn>
              <a:cxn ang="5400000">
                <a:pos x="wd2" y="hd2"/>
              </a:cxn>
              <a:cxn ang="10800000">
                <a:pos x="wd2" y="hd2"/>
              </a:cxn>
              <a:cxn ang="16200000">
                <a:pos x="wd2" y="hd2"/>
              </a:cxn>
            </a:cxnLst>
            <a:rect l="0" t="0" r="r" b="b"/>
            <a:pathLst>
              <a:path w="21600" h="21600" extrusionOk="0">
                <a:moveTo>
                  <a:pt x="1507" y="0"/>
                </a:moveTo>
                <a:cubicBezTo>
                  <a:pt x="753" y="0"/>
                  <a:pt x="0" y="5400"/>
                  <a:pt x="0" y="10800"/>
                </a:cubicBezTo>
                <a:cubicBezTo>
                  <a:pt x="0" y="16200"/>
                  <a:pt x="10800" y="21600"/>
                  <a:pt x="21600" y="21600"/>
                </a:cubicBezTo>
              </a:path>
            </a:pathLst>
          </a:custGeom>
          <a:ln w="12700">
            <a:solidFill>
              <a:srgbClr val="FF0000"/>
            </a:solidFill>
            <a:tailEnd type="triangle"/>
          </a:ln>
        </p:spPr>
        <p:txBody>
          <a:bodyPr lIns="45719" rIns="45719"/>
          <a:lstStyle/>
          <a:p>
            <a:endParaRPr/>
          </a:p>
        </p:txBody>
      </p:sp>
      <p:sp>
        <p:nvSpPr>
          <p:cNvPr id="242" name="Line"/>
          <p:cNvSpPr/>
          <p:nvPr/>
        </p:nvSpPr>
        <p:spPr>
          <a:xfrm>
            <a:off x="1319341" y="3054826"/>
            <a:ext cx="1905001" cy="1589"/>
          </a:xfrm>
          <a:prstGeom prst="line">
            <a:avLst/>
          </a:prstGeom>
          <a:ln w="12700">
            <a:solidFill>
              <a:srgbClr val="FF0000"/>
            </a:solidFill>
          </a:ln>
        </p:spPr>
        <p:txBody>
          <a:bodyPr lIns="45719" rIns="45719"/>
          <a:lstStyle/>
          <a:p>
            <a:endParaRPr/>
          </a:p>
        </p:txBody>
      </p:sp>
      <p:sp>
        <p:nvSpPr>
          <p:cNvPr id="243" name="Line"/>
          <p:cNvSpPr/>
          <p:nvPr/>
        </p:nvSpPr>
        <p:spPr>
          <a:xfrm>
            <a:off x="4548223" y="4121201"/>
            <a:ext cx="1905001" cy="1589"/>
          </a:xfrm>
          <a:prstGeom prst="line">
            <a:avLst/>
          </a:prstGeom>
          <a:ln w="12700">
            <a:solidFill>
              <a:srgbClr val="FF0000"/>
            </a:solidFill>
          </a:ln>
        </p:spPr>
        <p:txBody>
          <a:bodyPr lIns="45719" rIns="45719"/>
          <a:lstStyle/>
          <a:p>
            <a:endParaRPr/>
          </a:p>
        </p:txBody>
      </p:sp>
      <p:sp>
        <p:nvSpPr>
          <p:cNvPr id="244" name="fence"/>
          <p:cNvSpPr txBox="1"/>
          <p:nvPr/>
        </p:nvSpPr>
        <p:spPr>
          <a:xfrm>
            <a:off x="457200" y="2876550"/>
            <a:ext cx="580204"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lvl1pPr>
          </a:lstStyle>
          <a:p>
            <a:r>
              <a:t>fence</a:t>
            </a:r>
          </a:p>
        </p:txBody>
      </p:sp>
      <p:sp>
        <p:nvSpPr>
          <p:cNvPr id="245" name="fence"/>
          <p:cNvSpPr txBox="1"/>
          <p:nvPr/>
        </p:nvSpPr>
        <p:spPr>
          <a:xfrm>
            <a:off x="6486525" y="3942925"/>
            <a:ext cx="580204" cy="3581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lvl1pPr>
          </a:lstStyle>
          <a:p>
            <a:r>
              <a:t>fence</a:t>
            </a:r>
          </a:p>
        </p:txBody>
      </p:sp>
      <p:sp>
        <p:nvSpPr>
          <p:cNvPr id="246" name="Line"/>
          <p:cNvSpPr/>
          <p:nvPr/>
        </p:nvSpPr>
        <p:spPr>
          <a:xfrm>
            <a:off x="2025798" y="2895956"/>
            <a:ext cx="9229" cy="385051"/>
          </a:xfrm>
          <a:prstGeom prst="line">
            <a:avLst/>
          </a:prstGeom>
          <a:ln w="25400">
            <a:solidFill>
              <a:srgbClr val="FF0000"/>
            </a:solidFill>
            <a:tailEnd type="triangle"/>
          </a:ln>
        </p:spPr>
        <p:txBody>
          <a:bodyPr lIns="45719" rIns="45719"/>
          <a:lstStyle/>
          <a:p>
            <a:endParaRPr/>
          </a:p>
        </p:txBody>
      </p:sp>
      <p:sp>
        <p:nvSpPr>
          <p:cNvPr id="247" name="Line"/>
          <p:cNvSpPr/>
          <p:nvPr/>
        </p:nvSpPr>
        <p:spPr>
          <a:xfrm>
            <a:off x="5353198" y="3929622"/>
            <a:ext cx="9229" cy="385051"/>
          </a:xfrm>
          <a:prstGeom prst="line">
            <a:avLst/>
          </a:prstGeom>
          <a:ln w="25400">
            <a:solidFill>
              <a:srgbClr val="FF0000"/>
            </a:solidFill>
            <a:tailEnd type="triangle"/>
          </a:ln>
        </p:spPr>
        <p:txBody>
          <a:bodyPr lIns="45719" rIns="45719"/>
          <a:lstStyle/>
          <a:p>
            <a:endParaRPr/>
          </a:p>
        </p:txBody>
      </p:sp>
      <p:sp>
        <p:nvSpPr>
          <p:cNvPr id="248" name="Slide Number"/>
          <p:cNvSpPr txBox="1">
            <a:spLocks noGrp="1"/>
          </p:cNvSpPr>
          <p:nvPr>
            <p:ph type="sldNum" sz="quarter" idx="2"/>
          </p:nvPr>
        </p:nvSpPr>
        <p:spPr>
          <a:xfrm>
            <a:off x="8804116" y="6400800"/>
            <a:ext cx="187484" cy="29464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11</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251" name="The Cache Coherence Problem"/>
          <p:cNvSpPr txBox="1">
            <a:spLocks noGrp="1"/>
          </p:cNvSpPr>
          <p:nvPr>
            <p:ph type="title" idx="4294967295"/>
          </p:nvPr>
        </p:nvSpPr>
        <p:spPr>
          <a:xfrm>
            <a:off x="685800" y="152400"/>
            <a:ext cx="7772400" cy="838200"/>
          </a:xfrm>
          <a:prstGeom prst="rect">
            <a:avLst/>
          </a:prstGeom>
        </p:spPr>
        <p:txBody>
          <a:bodyPr>
            <a:normAutofit/>
          </a:bodyPr>
          <a:lstStyle>
            <a:lvl1pPr>
              <a:defRPr sz="4000"/>
            </a:lvl1pPr>
          </a:lstStyle>
          <a:p>
            <a:r>
              <a:t>The Cache Coherence Problem</a:t>
            </a:r>
          </a:p>
        </p:txBody>
      </p:sp>
      <p:sp>
        <p:nvSpPr>
          <p:cNvPr id="252" name="CPU"/>
          <p:cNvSpPr txBox="1"/>
          <p:nvPr/>
        </p:nvSpPr>
        <p:spPr>
          <a:xfrm>
            <a:off x="1829514" y="1371600"/>
            <a:ext cx="443072"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CPU</a:t>
            </a:r>
          </a:p>
        </p:txBody>
      </p:sp>
      <p:sp>
        <p:nvSpPr>
          <p:cNvPr id="253" name="Oval"/>
          <p:cNvSpPr/>
          <p:nvPr/>
        </p:nvSpPr>
        <p:spPr>
          <a:xfrm>
            <a:off x="1727200" y="1301750"/>
            <a:ext cx="630238" cy="414338"/>
          </a:xfrm>
          <a:prstGeom prst="ellipse">
            <a:avLst/>
          </a:prstGeom>
          <a:ln w="12700">
            <a:solidFill>
              <a:srgbClr val="000000"/>
            </a:solidFill>
          </a:ln>
        </p:spPr>
        <p:txBody>
          <a:bodyPr lIns="45719" rIns="45719" anchor="ctr"/>
          <a:lstStyle/>
          <a:p>
            <a:pPr>
              <a:defRPr sz="1800" b="0"/>
            </a:pPr>
            <a:endParaRPr/>
          </a:p>
        </p:txBody>
      </p:sp>
      <p:sp>
        <p:nvSpPr>
          <p:cNvPr id="254" name="Line"/>
          <p:cNvSpPr/>
          <p:nvPr/>
        </p:nvSpPr>
        <p:spPr>
          <a:xfrm>
            <a:off x="2051050" y="1716087"/>
            <a:ext cx="0" cy="207963"/>
          </a:xfrm>
          <a:prstGeom prst="line">
            <a:avLst/>
          </a:prstGeom>
          <a:ln w="12700">
            <a:solidFill>
              <a:srgbClr val="000000"/>
            </a:solidFill>
          </a:ln>
        </p:spPr>
        <p:txBody>
          <a:bodyPr lIns="45719" rIns="45719"/>
          <a:lstStyle/>
          <a:p>
            <a:endParaRPr/>
          </a:p>
        </p:txBody>
      </p:sp>
      <p:sp>
        <p:nvSpPr>
          <p:cNvPr id="255" name="Rectangle"/>
          <p:cNvSpPr/>
          <p:nvPr/>
        </p:nvSpPr>
        <p:spPr>
          <a:xfrm>
            <a:off x="3048000" y="5362575"/>
            <a:ext cx="3124200" cy="504825"/>
          </a:xfrm>
          <a:prstGeom prst="rect">
            <a:avLst/>
          </a:prstGeom>
          <a:ln w="12700">
            <a:solidFill>
              <a:srgbClr val="000000"/>
            </a:solidFill>
          </a:ln>
        </p:spPr>
        <p:txBody>
          <a:bodyPr lIns="45719" rIns="45719" anchor="ctr"/>
          <a:lstStyle/>
          <a:p>
            <a:pPr>
              <a:defRPr sz="1800" b="0"/>
            </a:pPr>
            <a:endParaRPr/>
          </a:p>
        </p:txBody>
      </p:sp>
      <p:sp>
        <p:nvSpPr>
          <p:cNvPr id="256" name="Main memory"/>
          <p:cNvSpPr txBox="1"/>
          <p:nvPr/>
        </p:nvSpPr>
        <p:spPr>
          <a:xfrm>
            <a:off x="3909040" y="5410200"/>
            <a:ext cx="1356083"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Main memory</a:t>
            </a:r>
          </a:p>
        </p:txBody>
      </p:sp>
      <p:sp>
        <p:nvSpPr>
          <p:cNvPr id="257" name="CPU"/>
          <p:cNvSpPr txBox="1"/>
          <p:nvPr/>
        </p:nvSpPr>
        <p:spPr>
          <a:xfrm>
            <a:off x="4344114" y="1371600"/>
            <a:ext cx="443072"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CPU</a:t>
            </a:r>
          </a:p>
        </p:txBody>
      </p:sp>
      <p:sp>
        <p:nvSpPr>
          <p:cNvPr id="258" name="Oval"/>
          <p:cNvSpPr/>
          <p:nvPr/>
        </p:nvSpPr>
        <p:spPr>
          <a:xfrm>
            <a:off x="4241800" y="1301750"/>
            <a:ext cx="630238" cy="414338"/>
          </a:xfrm>
          <a:prstGeom prst="ellipse">
            <a:avLst/>
          </a:prstGeom>
          <a:ln w="12700">
            <a:solidFill>
              <a:srgbClr val="000000"/>
            </a:solidFill>
          </a:ln>
        </p:spPr>
        <p:txBody>
          <a:bodyPr lIns="45719" rIns="45719" anchor="ctr"/>
          <a:lstStyle/>
          <a:p>
            <a:pPr>
              <a:defRPr sz="1800" b="0"/>
            </a:pPr>
            <a:endParaRPr/>
          </a:p>
        </p:txBody>
      </p:sp>
      <p:sp>
        <p:nvSpPr>
          <p:cNvPr id="259" name="Line"/>
          <p:cNvSpPr/>
          <p:nvPr/>
        </p:nvSpPr>
        <p:spPr>
          <a:xfrm>
            <a:off x="4565650" y="1716087"/>
            <a:ext cx="0" cy="207963"/>
          </a:xfrm>
          <a:prstGeom prst="line">
            <a:avLst/>
          </a:prstGeom>
          <a:ln w="12700">
            <a:solidFill>
              <a:srgbClr val="000000"/>
            </a:solidFill>
          </a:ln>
        </p:spPr>
        <p:txBody>
          <a:bodyPr lIns="45719" rIns="45719"/>
          <a:lstStyle/>
          <a:p>
            <a:endParaRPr/>
          </a:p>
        </p:txBody>
      </p:sp>
      <p:sp>
        <p:nvSpPr>
          <p:cNvPr id="260" name="CPU"/>
          <p:cNvSpPr txBox="1"/>
          <p:nvPr/>
        </p:nvSpPr>
        <p:spPr>
          <a:xfrm>
            <a:off x="6882526" y="1371600"/>
            <a:ext cx="443073"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CPU</a:t>
            </a:r>
          </a:p>
        </p:txBody>
      </p:sp>
      <p:sp>
        <p:nvSpPr>
          <p:cNvPr id="261" name="Oval"/>
          <p:cNvSpPr/>
          <p:nvPr/>
        </p:nvSpPr>
        <p:spPr>
          <a:xfrm>
            <a:off x="6780212" y="1301750"/>
            <a:ext cx="630239" cy="414338"/>
          </a:xfrm>
          <a:prstGeom prst="ellipse">
            <a:avLst/>
          </a:prstGeom>
          <a:ln w="12700">
            <a:solidFill>
              <a:srgbClr val="000000"/>
            </a:solidFill>
          </a:ln>
        </p:spPr>
        <p:txBody>
          <a:bodyPr lIns="45719" rIns="45719" anchor="ctr"/>
          <a:lstStyle/>
          <a:p>
            <a:pPr>
              <a:defRPr sz="1800" b="0"/>
            </a:pPr>
            <a:endParaRPr/>
          </a:p>
        </p:txBody>
      </p:sp>
      <p:sp>
        <p:nvSpPr>
          <p:cNvPr id="262" name="Line"/>
          <p:cNvSpPr/>
          <p:nvPr/>
        </p:nvSpPr>
        <p:spPr>
          <a:xfrm>
            <a:off x="7104062" y="1716087"/>
            <a:ext cx="1" cy="207963"/>
          </a:xfrm>
          <a:prstGeom prst="line">
            <a:avLst/>
          </a:prstGeom>
          <a:ln w="12700">
            <a:solidFill>
              <a:srgbClr val="000000"/>
            </a:solidFill>
          </a:ln>
        </p:spPr>
        <p:txBody>
          <a:bodyPr lIns="45719" rIns="45719"/>
          <a:lstStyle/>
          <a:p>
            <a:endParaRPr/>
          </a:p>
        </p:txBody>
      </p:sp>
      <p:sp>
        <p:nvSpPr>
          <p:cNvPr id="263" name="Cache"/>
          <p:cNvSpPr txBox="1"/>
          <p:nvPr/>
        </p:nvSpPr>
        <p:spPr>
          <a:xfrm>
            <a:off x="1765921" y="2057400"/>
            <a:ext cx="525808"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Cache</a:t>
            </a:r>
          </a:p>
        </p:txBody>
      </p:sp>
      <p:sp>
        <p:nvSpPr>
          <p:cNvPr id="264" name="Cache"/>
          <p:cNvSpPr txBox="1"/>
          <p:nvPr/>
        </p:nvSpPr>
        <p:spPr>
          <a:xfrm>
            <a:off x="4280521" y="2057400"/>
            <a:ext cx="525808"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Cache</a:t>
            </a:r>
          </a:p>
        </p:txBody>
      </p:sp>
      <p:sp>
        <p:nvSpPr>
          <p:cNvPr id="265" name="Cache"/>
          <p:cNvSpPr txBox="1"/>
          <p:nvPr/>
        </p:nvSpPr>
        <p:spPr>
          <a:xfrm>
            <a:off x="6818933" y="2057400"/>
            <a:ext cx="525809"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Cache</a:t>
            </a:r>
          </a:p>
        </p:txBody>
      </p:sp>
      <p:sp>
        <p:nvSpPr>
          <p:cNvPr id="266" name="Rectangle"/>
          <p:cNvSpPr/>
          <p:nvPr/>
        </p:nvSpPr>
        <p:spPr>
          <a:xfrm>
            <a:off x="1676400" y="1981200"/>
            <a:ext cx="762000" cy="457200"/>
          </a:xfrm>
          <a:prstGeom prst="rect">
            <a:avLst/>
          </a:prstGeom>
          <a:ln w="12700">
            <a:solidFill>
              <a:srgbClr val="000000"/>
            </a:solidFill>
          </a:ln>
        </p:spPr>
        <p:txBody>
          <a:bodyPr lIns="45719" rIns="45719" anchor="ctr"/>
          <a:lstStyle/>
          <a:p>
            <a:pPr>
              <a:defRPr sz="1800" b="0"/>
            </a:pPr>
            <a:endParaRPr/>
          </a:p>
        </p:txBody>
      </p:sp>
      <p:sp>
        <p:nvSpPr>
          <p:cNvPr id="267" name="Rectangle"/>
          <p:cNvSpPr/>
          <p:nvPr/>
        </p:nvSpPr>
        <p:spPr>
          <a:xfrm>
            <a:off x="4191000" y="1981200"/>
            <a:ext cx="762000" cy="457200"/>
          </a:xfrm>
          <a:prstGeom prst="rect">
            <a:avLst/>
          </a:prstGeom>
          <a:ln w="12700">
            <a:solidFill>
              <a:srgbClr val="000000"/>
            </a:solidFill>
          </a:ln>
        </p:spPr>
        <p:txBody>
          <a:bodyPr lIns="45719" rIns="45719" anchor="ctr"/>
          <a:lstStyle/>
          <a:p>
            <a:pPr>
              <a:defRPr sz="1800" b="0"/>
            </a:pPr>
            <a:endParaRPr/>
          </a:p>
        </p:txBody>
      </p:sp>
      <p:sp>
        <p:nvSpPr>
          <p:cNvPr id="268" name="Rectangle"/>
          <p:cNvSpPr/>
          <p:nvPr/>
        </p:nvSpPr>
        <p:spPr>
          <a:xfrm>
            <a:off x="6729412" y="1981200"/>
            <a:ext cx="762001" cy="457200"/>
          </a:xfrm>
          <a:prstGeom prst="rect">
            <a:avLst/>
          </a:prstGeom>
          <a:ln w="12700">
            <a:solidFill>
              <a:srgbClr val="000000"/>
            </a:solidFill>
          </a:ln>
        </p:spPr>
        <p:txBody>
          <a:bodyPr lIns="45719" rIns="45719" anchor="ctr"/>
          <a:lstStyle/>
          <a:p>
            <a:pPr>
              <a:defRPr sz="1800" b="0"/>
            </a:pPr>
            <a:endParaRPr/>
          </a:p>
        </p:txBody>
      </p:sp>
      <p:sp>
        <p:nvSpPr>
          <p:cNvPr id="269" name="T0: A=1"/>
          <p:cNvSpPr txBox="1"/>
          <p:nvPr/>
        </p:nvSpPr>
        <p:spPr>
          <a:xfrm>
            <a:off x="6340475" y="48006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0</a:t>
            </a:r>
            <a:r>
              <a:t>: A=1</a:t>
            </a:r>
          </a:p>
        </p:txBody>
      </p:sp>
      <p:sp>
        <p:nvSpPr>
          <p:cNvPr id="270" name="T0: A not cached"/>
          <p:cNvSpPr txBox="1"/>
          <p:nvPr/>
        </p:nvSpPr>
        <p:spPr>
          <a:xfrm>
            <a:off x="1143000" y="25146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0</a:t>
            </a:r>
            <a:r>
              <a:t>: A not cached</a:t>
            </a:r>
          </a:p>
        </p:txBody>
      </p:sp>
      <p:sp>
        <p:nvSpPr>
          <p:cNvPr id="271" name="T0: A not cached"/>
          <p:cNvSpPr txBox="1"/>
          <p:nvPr/>
        </p:nvSpPr>
        <p:spPr>
          <a:xfrm>
            <a:off x="3657600" y="25146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0</a:t>
            </a:r>
            <a:r>
              <a:t>: A not cached</a:t>
            </a:r>
          </a:p>
        </p:txBody>
      </p:sp>
      <p:sp>
        <p:nvSpPr>
          <p:cNvPr id="272" name="T0: A not cached"/>
          <p:cNvSpPr txBox="1"/>
          <p:nvPr/>
        </p:nvSpPr>
        <p:spPr>
          <a:xfrm>
            <a:off x="6172200" y="25146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0</a:t>
            </a:r>
            <a:r>
              <a:t>: A not cached</a:t>
            </a:r>
          </a:p>
        </p:txBody>
      </p:sp>
      <p:sp>
        <p:nvSpPr>
          <p:cNvPr id="273" name="T1: load A (A=1)"/>
          <p:cNvSpPr txBox="1"/>
          <p:nvPr/>
        </p:nvSpPr>
        <p:spPr>
          <a:xfrm>
            <a:off x="1143000" y="2819400"/>
            <a:ext cx="1616160"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1</a:t>
            </a:r>
            <a:r>
              <a:t>: load A (A=1)</a:t>
            </a:r>
          </a:p>
        </p:txBody>
      </p:sp>
      <p:sp>
        <p:nvSpPr>
          <p:cNvPr id="274" name="T1: A=1"/>
          <p:cNvSpPr txBox="1"/>
          <p:nvPr/>
        </p:nvSpPr>
        <p:spPr>
          <a:xfrm>
            <a:off x="6340475" y="51054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1</a:t>
            </a:r>
            <a:r>
              <a:t>: A=1</a:t>
            </a:r>
          </a:p>
        </p:txBody>
      </p:sp>
      <p:sp>
        <p:nvSpPr>
          <p:cNvPr id="275" name="T1: A not cached"/>
          <p:cNvSpPr txBox="1"/>
          <p:nvPr/>
        </p:nvSpPr>
        <p:spPr>
          <a:xfrm>
            <a:off x="3657600" y="28194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1</a:t>
            </a:r>
            <a:r>
              <a:t>: A not cached</a:t>
            </a:r>
          </a:p>
        </p:txBody>
      </p:sp>
      <p:sp>
        <p:nvSpPr>
          <p:cNvPr id="276" name="T1: A not cached"/>
          <p:cNvSpPr txBox="1"/>
          <p:nvPr/>
        </p:nvSpPr>
        <p:spPr>
          <a:xfrm>
            <a:off x="6172200" y="28194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1</a:t>
            </a:r>
            <a:r>
              <a:t>: A not cached</a:t>
            </a:r>
          </a:p>
        </p:txBody>
      </p:sp>
      <p:sp>
        <p:nvSpPr>
          <p:cNvPr id="277" name="T2: load A (A=1)"/>
          <p:cNvSpPr txBox="1"/>
          <p:nvPr/>
        </p:nvSpPr>
        <p:spPr>
          <a:xfrm>
            <a:off x="6172200" y="3124200"/>
            <a:ext cx="1616160"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2</a:t>
            </a:r>
            <a:r>
              <a:t>: load A (A=1)</a:t>
            </a:r>
          </a:p>
        </p:txBody>
      </p:sp>
      <p:sp>
        <p:nvSpPr>
          <p:cNvPr id="278" name="T2: A not cached"/>
          <p:cNvSpPr txBox="1"/>
          <p:nvPr/>
        </p:nvSpPr>
        <p:spPr>
          <a:xfrm>
            <a:off x="3657600" y="31242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2</a:t>
            </a:r>
            <a:r>
              <a:t>: A not cached</a:t>
            </a:r>
          </a:p>
        </p:txBody>
      </p:sp>
      <p:sp>
        <p:nvSpPr>
          <p:cNvPr id="279" name="T2: A=1"/>
          <p:cNvSpPr txBox="1"/>
          <p:nvPr/>
        </p:nvSpPr>
        <p:spPr>
          <a:xfrm>
            <a:off x="1143000" y="31242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2</a:t>
            </a:r>
            <a:r>
              <a:t>: A=1</a:t>
            </a:r>
          </a:p>
        </p:txBody>
      </p:sp>
      <p:sp>
        <p:nvSpPr>
          <p:cNvPr id="280" name="T2: A=1"/>
          <p:cNvSpPr txBox="1"/>
          <p:nvPr/>
        </p:nvSpPr>
        <p:spPr>
          <a:xfrm>
            <a:off x="6340475" y="54102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2</a:t>
            </a:r>
            <a:r>
              <a:t>: A=1</a:t>
            </a:r>
          </a:p>
        </p:txBody>
      </p:sp>
      <p:sp>
        <p:nvSpPr>
          <p:cNvPr id="281" name="T3: store A (A=2)"/>
          <p:cNvSpPr txBox="1"/>
          <p:nvPr/>
        </p:nvSpPr>
        <p:spPr>
          <a:xfrm>
            <a:off x="6172200" y="3429000"/>
            <a:ext cx="1678110"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FF0000"/>
                </a:solidFill>
              </a:defRPr>
            </a:pPr>
            <a:r>
              <a:t>T</a:t>
            </a:r>
            <a:r>
              <a:rPr baseline="-25000"/>
              <a:t>3</a:t>
            </a:r>
            <a:r>
              <a:t>: store A (A=2)</a:t>
            </a:r>
          </a:p>
        </p:txBody>
      </p:sp>
      <p:sp>
        <p:nvSpPr>
          <p:cNvPr id="282" name="T3: A not cached"/>
          <p:cNvSpPr txBox="1"/>
          <p:nvPr/>
        </p:nvSpPr>
        <p:spPr>
          <a:xfrm>
            <a:off x="3657600" y="34290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3</a:t>
            </a:r>
            <a:r>
              <a:t>: A not cached</a:t>
            </a:r>
          </a:p>
        </p:txBody>
      </p:sp>
      <p:sp>
        <p:nvSpPr>
          <p:cNvPr id="283" name="T3: A=1"/>
          <p:cNvSpPr txBox="1"/>
          <p:nvPr/>
        </p:nvSpPr>
        <p:spPr>
          <a:xfrm>
            <a:off x="1143000" y="34290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3</a:t>
            </a:r>
            <a:r>
              <a:t>: A=1</a:t>
            </a:r>
          </a:p>
        </p:txBody>
      </p:sp>
      <p:sp>
        <p:nvSpPr>
          <p:cNvPr id="284" name="T3: A=1"/>
          <p:cNvSpPr txBox="1"/>
          <p:nvPr/>
        </p:nvSpPr>
        <p:spPr>
          <a:xfrm>
            <a:off x="6340475" y="57150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3</a:t>
            </a:r>
            <a:r>
              <a:t>: A=1</a:t>
            </a:r>
          </a:p>
        </p:txBody>
      </p:sp>
      <p:sp>
        <p:nvSpPr>
          <p:cNvPr id="285" name="stale"/>
          <p:cNvSpPr txBox="1"/>
          <p:nvPr/>
        </p:nvSpPr>
        <p:spPr>
          <a:xfrm>
            <a:off x="152400" y="3733800"/>
            <a:ext cx="49459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lvl1pPr>
          </a:lstStyle>
          <a:p>
            <a:r>
              <a:t>stale</a:t>
            </a:r>
          </a:p>
        </p:txBody>
      </p:sp>
      <p:sp>
        <p:nvSpPr>
          <p:cNvPr id="286" name="Line"/>
          <p:cNvSpPr/>
          <p:nvPr/>
        </p:nvSpPr>
        <p:spPr>
          <a:xfrm flipV="1">
            <a:off x="761999" y="3657599"/>
            <a:ext cx="381002" cy="304802"/>
          </a:xfrm>
          <a:prstGeom prst="line">
            <a:avLst/>
          </a:prstGeom>
          <a:ln w="12700">
            <a:solidFill>
              <a:srgbClr val="000000"/>
            </a:solidFill>
            <a:tailEnd type="triangle"/>
          </a:ln>
        </p:spPr>
        <p:txBody>
          <a:bodyPr lIns="45719" rIns="45719"/>
          <a:lstStyle/>
          <a:p>
            <a:endParaRPr/>
          </a:p>
        </p:txBody>
      </p:sp>
      <p:sp>
        <p:nvSpPr>
          <p:cNvPr id="287" name="stale"/>
          <p:cNvSpPr txBox="1"/>
          <p:nvPr/>
        </p:nvSpPr>
        <p:spPr>
          <a:xfrm>
            <a:off x="7712075" y="5334000"/>
            <a:ext cx="49459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lvl1pPr>
          </a:lstStyle>
          <a:p>
            <a:r>
              <a:t>stale</a:t>
            </a:r>
          </a:p>
        </p:txBody>
      </p:sp>
      <p:sp>
        <p:nvSpPr>
          <p:cNvPr id="288" name="Line"/>
          <p:cNvSpPr/>
          <p:nvPr/>
        </p:nvSpPr>
        <p:spPr>
          <a:xfrm flipH="1">
            <a:off x="7254875" y="5562600"/>
            <a:ext cx="457201" cy="304800"/>
          </a:xfrm>
          <a:prstGeom prst="line">
            <a:avLst/>
          </a:prstGeom>
          <a:ln w="12700">
            <a:solidFill>
              <a:srgbClr val="000000"/>
            </a:solidFill>
            <a:tailEnd type="triangle"/>
          </a:ln>
        </p:spPr>
        <p:txBody>
          <a:bodyPr lIns="45719" rIns="45719"/>
          <a:lstStyle/>
          <a:p>
            <a:endParaRPr/>
          </a:p>
        </p:txBody>
      </p:sp>
      <p:sp>
        <p:nvSpPr>
          <p:cNvPr id="289" name="T4: load A (A=1)"/>
          <p:cNvSpPr txBox="1"/>
          <p:nvPr/>
        </p:nvSpPr>
        <p:spPr>
          <a:xfrm>
            <a:off x="3657600" y="3733800"/>
            <a:ext cx="1616160"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0000FF"/>
                </a:solidFill>
              </a:defRPr>
            </a:pPr>
            <a:r>
              <a:t>T</a:t>
            </a:r>
            <a:r>
              <a:rPr baseline="-25000"/>
              <a:t>4</a:t>
            </a:r>
            <a:r>
              <a:t>: load A (A=1)</a:t>
            </a:r>
          </a:p>
        </p:txBody>
      </p:sp>
      <p:sp>
        <p:nvSpPr>
          <p:cNvPr id="290" name="T4: A=1"/>
          <p:cNvSpPr txBox="1"/>
          <p:nvPr/>
        </p:nvSpPr>
        <p:spPr>
          <a:xfrm>
            <a:off x="1143000" y="37338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4</a:t>
            </a:r>
            <a:r>
              <a:t>: A=1</a:t>
            </a:r>
          </a:p>
        </p:txBody>
      </p:sp>
      <p:sp>
        <p:nvSpPr>
          <p:cNvPr id="291" name="T4: A=2"/>
          <p:cNvSpPr txBox="1"/>
          <p:nvPr/>
        </p:nvSpPr>
        <p:spPr>
          <a:xfrm>
            <a:off x="6172200" y="37338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4</a:t>
            </a:r>
            <a:r>
              <a:t>: A=2</a:t>
            </a:r>
          </a:p>
        </p:txBody>
      </p:sp>
      <p:sp>
        <p:nvSpPr>
          <p:cNvPr id="292" name="T4: A=1"/>
          <p:cNvSpPr txBox="1"/>
          <p:nvPr/>
        </p:nvSpPr>
        <p:spPr>
          <a:xfrm>
            <a:off x="6340475" y="60198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4</a:t>
            </a:r>
            <a:r>
              <a:t>: A=1</a:t>
            </a:r>
          </a:p>
        </p:txBody>
      </p:sp>
      <p:sp>
        <p:nvSpPr>
          <p:cNvPr id="293" name="use old value"/>
          <p:cNvSpPr txBox="1"/>
          <p:nvPr/>
        </p:nvSpPr>
        <p:spPr>
          <a:xfrm>
            <a:off x="3505200" y="4495800"/>
            <a:ext cx="1247475"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solidFill>
                  <a:srgbClr val="0000FF"/>
                </a:solidFill>
              </a:defRPr>
            </a:lvl1pPr>
          </a:lstStyle>
          <a:p>
            <a:r>
              <a:t>use old value</a:t>
            </a:r>
          </a:p>
        </p:txBody>
      </p:sp>
      <p:sp>
        <p:nvSpPr>
          <p:cNvPr id="294" name="Line"/>
          <p:cNvSpPr/>
          <p:nvPr/>
        </p:nvSpPr>
        <p:spPr>
          <a:xfrm flipH="1" flipV="1">
            <a:off x="3886200" y="4114799"/>
            <a:ext cx="152401" cy="381002"/>
          </a:xfrm>
          <a:prstGeom prst="line">
            <a:avLst/>
          </a:prstGeom>
          <a:ln w="12700">
            <a:solidFill>
              <a:srgbClr val="0000FF"/>
            </a:solidFill>
            <a:tailEnd type="triangle"/>
          </a:ln>
        </p:spPr>
        <p:txBody>
          <a:bodyPr lIns="45719" rIns="45719"/>
          <a:lstStyle/>
          <a:p>
            <a:endParaRPr/>
          </a:p>
        </p:txBody>
      </p:sp>
      <p:sp>
        <p:nvSpPr>
          <p:cNvPr id="295" name="T5: load A (A=1)"/>
          <p:cNvSpPr txBox="1"/>
          <p:nvPr/>
        </p:nvSpPr>
        <p:spPr>
          <a:xfrm>
            <a:off x="1143000" y="4114800"/>
            <a:ext cx="1616160"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FF0000"/>
                </a:solidFill>
              </a:defRPr>
            </a:pPr>
            <a:r>
              <a:t>T</a:t>
            </a:r>
            <a:r>
              <a:rPr baseline="-25000"/>
              <a:t>5</a:t>
            </a:r>
            <a:r>
              <a:t>: load A (A=1)</a:t>
            </a:r>
          </a:p>
        </p:txBody>
      </p:sp>
      <p:sp>
        <p:nvSpPr>
          <p:cNvPr id="296" name="use stale value!"/>
          <p:cNvSpPr txBox="1"/>
          <p:nvPr/>
        </p:nvSpPr>
        <p:spPr>
          <a:xfrm>
            <a:off x="457200" y="4724400"/>
            <a:ext cx="1404638"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solidFill>
                  <a:srgbClr val="FF0000"/>
                </a:solidFill>
              </a:defRPr>
            </a:lvl1pPr>
          </a:lstStyle>
          <a:p>
            <a:r>
              <a:t>use stale value!</a:t>
            </a:r>
          </a:p>
        </p:txBody>
      </p:sp>
      <p:sp>
        <p:nvSpPr>
          <p:cNvPr id="297" name="Line"/>
          <p:cNvSpPr/>
          <p:nvPr/>
        </p:nvSpPr>
        <p:spPr>
          <a:xfrm flipV="1">
            <a:off x="914399" y="4495799"/>
            <a:ext cx="381002" cy="304802"/>
          </a:xfrm>
          <a:prstGeom prst="line">
            <a:avLst/>
          </a:prstGeom>
          <a:ln w="12700">
            <a:solidFill>
              <a:srgbClr val="FF0000"/>
            </a:solidFill>
            <a:tailEnd type="triangle"/>
          </a:ln>
        </p:spPr>
        <p:txBody>
          <a:bodyPr lIns="45719" rIns="45719"/>
          <a:lstStyle/>
          <a:p>
            <a:endParaRPr/>
          </a:p>
        </p:txBody>
      </p:sp>
      <p:sp>
        <p:nvSpPr>
          <p:cNvPr id="29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Cache Coherence"/>
          <p:cNvSpPr txBox="1">
            <a:spLocks noGrp="1"/>
          </p:cNvSpPr>
          <p:nvPr>
            <p:ph type="title" idx="4294967295"/>
          </p:nvPr>
        </p:nvSpPr>
        <p:spPr>
          <a:xfrm>
            <a:off x="685800" y="152400"/>
            <a:ext cx="7772400" cy="838200"/>
          </a:xfrm>
          <a:prstGeom prst="rect">
            <a:avLst/>
          </a:prstGeom>
        </p:spPr>
        <p:txBody>
          <a:bodyPr>
            <a:normAutofit/>
          </a:bodyPr>
          <a:lstStyle/>
          <a:p>
            <a:r>
              <a:t>Cache Coherence</a:t>
            </a:r>
          </a:p>
        </p:txBody>
      </p:sp>
      <p:sp>
        <p:nvSpPr>
          <p:cNvPr id="301" name="Write Propagation…"/>
          <p:cNvSpPr txBox="1">
            <a:spLocks noGrp="1"/>
          </p:cNvSpPr>
          <p:nvPr>
            <p:ph type="body" idx="4294967295"/>
          </p:nvPr>
        </p:nvSpPr>
        <p:spPr>
          <a:xfrm>
            <a:off x="685800" y="1524000"/>
            <a:ext cx="7772400" cy="4343400"/>
          </a:xfrm>
          <a:prstGeom prst="rect">
            <a:avLst/>
          </a:prstGeom>
        </p:spPr>
        <p:txBody>
          <a:bodyPr>
            <a:normAutofit/>
          </a:bodyPr>
          <a:lstStyle/>
          <a:p>
            <a:pPr>
              <a:buChar char="▪"/>
            </a:pPr>
            <a:r>
              <a:t>Write Propagation</a:t>
            </a:r>
          </a:p>
          <a:p>
            <a:pPr marL="742950" lvl="1" indent="-285750">
              <a:spcBef>
                <a:spcPts val="0"/>
              </a:spcBef>
              <a:buClrTx/>
              <a:defRPr sz="2800"/>
            </a:pPr>
            <a:r>
              <a:t>writes are (eventually) visible in all processors</a:t>
            </a:r>
          </a:p>
          <a:p>
            <a:pPr marL="742950" lvl="1" indent="-285750">
              <a:spcBef>
                <a:spcPts val="0"/>
              </a:spcBef>
              <a:buClrTx/>
              <a:defRPr sz="2800"/>
            </a:pPr>
            <a:endParaRPr/>
          </a:p>
          <a:p>
            <a:pPr>
              <a:buChar char="▪"/>
            </a:pPr>
            <a:r>
              <a:t>Write Serialization</a:t>
            </a:r>
          </a:p>
          <a:p>
            <a:pPr marL="742950" lvl="1" indent="-285750">
              <a:spcBef>
                <a:spcPts val="0"/>
              </a:spcBef>
              <a:buClrTx/>
              <a:defRPr sz="2800"/>
            </a:pPr>
            <a:r>
              <a:t>Writes are observable in the same order from all processors</a:t>
            </a:r>
          </a:p>
        </p:txBody>
      </p:sp>
      <p:sp>
        <p:nvSpPr>
          <p:cNvPr id="302"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303" name="// Initially all values are 0.…"/>
          <p:cNvSpPr txBox="1"/>
          <p:nvPr/>
        </p:nvSpPr>
        <p:spPr>
          <a:xfrm>
            <a:off x="1828800" y="4627765"/>
            <a:ext cx="6011565" cy="2209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marL="229743" indent="-229743" defTabSz="612648">
              <a:spcBef>
                <a:spcPts val="300"/>
              </a:spcBef>
              <a:buClr>
                <a:schemeClr val="accent2"/>
              </a:buClr>
              <a:buFont typeface="Wingdings"/>
              <a:defRPr sz="1608" b="0"/>
            </a:pPr>
            <a:r>
              <a:rPr dirty="0"/>
              <a:t>// Initially all values are 0.</a:t>
            </a:r>
            <a:endParaRPr sz="2010" dirty="0"/>
          </a:p>
          <a:p>
            <a:pPr marL="229743" indent="-229743" defTabSz="612648">
              <a:spcBef>
                <a:spcPts val="300"/>
              </a:spcBef>
              <a:buClr>
                <a:schemeClr val="accent2"/>
              </a:buClr>
              <a:buFont typeface="Wingdings"/>
              <a:defRPr sz="2010" b="0">
                <a:solidFill>
                  <a:srgbClr val="FF0000"/>
                </a:solidFill>
              </a:defRPr>
            </a:pPr>
            <a:r>
              <a:rPr dirty="0"/>
              <a:t>P1             P2                  P3              P4</a:t>
            </a:r>
          </a:p>
          <a:p>
            <a:pPr marL="229743" indent="-229743" defTabSz="612648">
              <a:spcBef>
                <a:spcPts val="300"/>
              </a:spcBef>
              <a:buClr>
                <a:schemeClr val="accent2"/>
              </a:buClr>
              <a:buFont typeface="Wingdings"/>
              <a:defRPr sz="2010" b="0">
                <a:solidFill>
                  <a:srgbClr val="0000FF"/>
                </a:solidFill>
              </a:defRPr>
            </a:pPr>
            <a:r>
              <a:rPr dirty="0"/>
              <a:t>X= 1                                                  X=2</a:t>
            </a:r>
          </a:p>
          <a:p>
            <a:pPr marL="229743" indent="-229743" defTabSz="612648">
              <a:spcBef>
                <a:spcPts val="300"/>
              </a:spcBef>
              <a:buClr>
                <a:schemeClr val="accent2"/>
              </a:buClr>
              <a:buFont typeface="Wingdings"/>
              <a:defRPr sz="2010" b="0">
                <a:solidFill>
                  <a:srgbClr val="0000FF"/>
                </a:solidFill>
              </a:defRPr>
            </a:pPr>
            <a:r>
              <a:rPr dirty="0"/>
              <a:t>                  =X(1)             =X(2)</a:t>
            </a:r>
          </a:p>
          <a:p>
            <a:pPr marL="229743" indent="-229743" defTabSz="612648">
              <a:spcBef>
                <a:spcPts val="300"/>
              </a:spcBef>
              <a:buClr>
                <a:schemeClr val="accent2"/>
              </a:buClr>
              <a:buFont typeface="Wingdings"/>
              <a:defRPr sz="2010" b="0">
                <a:solidFill>
                  <a:srgbClr val="0000FF"/>
                </a:solidFill>
              </a:defRPr>
            </a:pPr>
            <a:r>
              <a:rPr dirty="0"/>
              <a:t>                  =X(2)             =X(1)</a:t>
            </a:r>
          </a:p>
          <a:p>
            <a:pPr marL="229743" indent="-229743" defTabSz="612648">
              <a:spcBef>
                <a:spcPts val="500"/>
              </a:spcBef>
              <a:buClr>
                <a:schemeClr val="accent2"/>
              </a:buClr>
              <a:buFont typeface="Wingdings"/>
              <a:defRPr sz="1608" b="0"/>
            </a:pPr>
            <a:endParaRPr dirty="0"/>
          </a:p>
        </p:txBody>
      </p:sp>
      <p:sp>
        <p:nvSpPr>
          <p:cNvPr id="30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13</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307" name="Cache Coherence Protocols"/>
          <p:cNvSpPr txBox="1">
            <a:spLocks noGrp="1"/>
          </p:cNvSpPr>
          <p:nvPr>
            <p:ph type="title" idx="4294967295"/>
          </p:nvPr>
        </p:nvSpPr>
        <p:spPr>
          <a:xfrm>
            <a:off x="685800" y="152400"/>
            <a:ext cx="8077200" cy="838200"/>
          </a:xfrm>
          <a:prstGeom prst="rect">
            <a:avLst/>
          </a:prstGeom>
        </p:spPr>
        <p:txBody>
          <a:bodyPr>
            <a:normAutofit/>
          </a:bodyPr>
          <a:lstStyle>
            <a:lvl1pPr>
              <a:defRPr sz="4000"/>
            </a:lvl1pPr>
          </a:lstStyle>
          <a:p>
            <a:r>
              <a:t>Cache Coherence Protocols</a:t>
            </a:r>
          </a:p>
        </p:txBody>
      </p:sp>
      <p:sp>
        <p:nvSpPr>
          <p:cNvPr id="308" name="Idea of most protocols:…"/>
          <p:cNvSpPr txBox="1">
            <a:spLocks noGrp="1"/>
          </p:cNvSpPr>
          <p:nvPr>
            <p:ph type="body" idx="4294967295"/>
          </p:nvPr>
        </p:nvSpPr>
        <p:spPr>
          <a:xfrm>
            <a:off x="457200" y="1143000"/>
            <a:ext cx="8534400" cy="5353249"/>
          </a:xfrm>
          <a:prstGeom prst="rect">
            <a:avLst/>
          </a:prstGeom>
        </p:spPr>
        <p:txBody>
          <a:bodyPr>
            <a:normAutofit lnSpcReduction="10000"/>
          </a:bodyPr>
          <a:lstStyle/>
          <a:p>
            <a:pPr>
              <a:lnSpc>
                <a:spcPct val="90000"/>
              </a:lnSpc>
              <a:spcBef>
                <a:spcPts val="500"/>
              </a:spcBef>
              <a:buChar char="▪"/>
              <a:defRPr sz="2400"/>
            </a:pPr>
            <a:r>
              <a:rPr dirty="0"/>
              <a:t>Idea of most protocols:</a:t>
            </a:r>
          </a:p>
          <a:p>
            <a:pPr marL="742950" lvl="1" indent="-285750">
              <a:lnSpc>
                <a:spcPct val="90000"/>
              </a:lnSpc>
              <a:spcBef>
                <a:spcPts val="0"/>
              </a:spcBef>
              <a:buClrTx/>
              <a:defRPr sz="2000"/>
            </a:pPr>
            <a:r>
              <a:rPr dirty="0"/>
              <a:t>Keep track of what processors have copies of what data</a:t>
            </a:r>
          </a:p>
          <a:p>
            <a:pPr marL="742950" lvl="1" indent="-285750">
              <a:lnSpc>
                <a:spcPct val="90000"/>
              </a:lnSpc>
              <a:spcBef>
                <a:spcPts val="0"/>
              </a:spcBef>
              <a:buClrTx/>
              <a:defRPr sz="2000"/>
            </a:pPr>
            <a:r>
              <a:rPr dirty="0"/>
              <a:t>Enforce at any given time a single </a:t>
            </a:r>
            <a:r>
              <a:rPr u="sng" dirty="0"/>
              <a:t>value</a:t>
            </a:r>
            <a:r>
              <a:rPr dirty="0"/>
              <a:t> of every data exists:</a:t>
            </a:r>
          </a:p>
          <a:p>
            <a:pPr marL="1143000" lvl="2" indent="-228600">
              <a:lnSpc>
                <a:spcPct val="90000"/>
              </a:lnSpc>
              <a:spcBef>
                <a:spcPts val="0"/>
              </a:spcBef>
              <a:buClrTx/>
              <a:defRPr sz="1800"/>
            </a:pPr>
            <a:r>
              <a:rPr dirty="0"/>
              <a:t>By getting rid of  data with old values → </a:t>
            </a:r>
            <a:r>
              <a:rPr u="sng" dirty="0">
                <a:solidFill>
                  <a:srgbClr val="FF0000"/>
                </a:solidFill>
              </a:rPr>
              <a:t>invalidate protocols</a:t>
            </a:r>
          </a:p>
          <a:p>
            <a:pPr marL="1143000" lvl="2" indent="-228600">
              <a:lnSpc>
                <a:spcPct val="90000"/>
              </a:lnSpc>
              <a:spcBef>
                <a:spcPts val="0"/>
              </a:spcBef>
              <a:buClrTx/>
              <a:defRPr sz="1800"/>
            </a:pPr>
            <a:r>
              <a:rPr dirty="0"/>
              <a:t>By updating everyone’s copy of the data → </a:t>
            </a:r>
            <a:r>
              <a:rPr u="sng" dirty="0">
                <a:solidFill>
                  <a:srgbClr val="FF0000"/>
                </a:solidFill>
              </a:rPr>
              <a:t>update protocols</a:t>
            </a:r>
          </a:p>
          <a:p>
            <a:pPr marL="742950" lvl="1" indent="-285750">
              <a:lnSpc>
                <a:spcPct val="90000"/>
              </a:lnSpc>
              <a:spcBef>
                <a:spcPts val="0"/>
              </a:spcBef>
              <a:buClrTx/>
              <a:defRPr sz="2000"/>
            </a:pPr>
            <a:r>
              <a:rPr dirty="0"/>
              <a:t>They enforce the Single-Writer-Multiple-Reader Invariant (or SWMR). </a:t>
            </a:r>
          </a:p>
          <a:p>
            <a:pPr marL="742950" lvl="1" indent="-285750">
              <a:lnSpc>
                <a:spcPct val="90000"/>
              </a:lnSpc>
              <a:spcBef>
                <a:spcPts val="0"/>
              </a:spcBef>
              <a:buClrTx/>
              <a:defRPr sz="2000"/>
            </a:pPr>
            <a:endParaRPr dirty="0"/>
          </a:p>
          <a:p>
            <a:pPr marL="742950" lvl="1" indent="-285750">
              <a:lnSpc>
                <a:spcPct val="90000"/>
              </a:lnSpc>
              <a:spcBef>
                <a:spcPts val="0"/>
              </a:spcBef>
              <a:buClrTx/>
              <a:defRPr sz="2000"/>
            </a:pPr>
            <a:endParaRPr dirty="0"/>
          </a:p>
          <a:p>
            <a:pPr marL="742950" lvl="1" indent="-285750">
              <a:lnSpc>
                <a:spcPct val="90000"/>
              </a:lnSpc>
              <a:spcBef>
                <a:spcPts val="0"/>
              </a:spcBef>
              <a:buClrTx/>
              <a:defRPr sz="2000"/>
            </a:pPr>
            <a:endParaRPr dirty="0"/>
          </a:p>
          <a:p>
            <a:pPr marL="742950" lvl="1" indent="-285750">
              <a:lnSpc>
                <a:spcPct val="90000"/>
              </a:lnSpc>
              <a:spcBef>
                <a:spcPts val="0"/>
              </a:spcBef>
              <a:buClrTx/>
              <a:defRPr sz="2000"/>
            </a:pPr>
            <a:endParaRPr dirty="0"/>
          </a:p>
          <a:p>
            <a:pPr marL="742950" lvl="1" indent="-285750">
              <a:lnSpc>
                <a:spcPct val="90000"/>
              </a:lnSpc>
              <a:spcBef>
                <a:spcPts val="0"/>
              </a:spcBef>
              <a:buClrTx/>
              <a:defRPr sz="2000"/>
            </a:pPr>
            <a:endParaRPr dirty="0"/>
          </a:p>
          <a:p>
            <a:pPr marL="742950" lvl="1" indent="-285750">
              <a:lnSpc>
                <a:spcPct val="90000"/>
              </a:lnSpc>
              <a:spcBef>
                <a:spcPts val="0"/>
              </a:spcBef>
              <a:buClrTx/>
              <a:defRPr sz="2000"/>
            </a:pPr>
            <a:endParaRPr dirty="0"/>
          </a:p>
          <a:p>
            <a:pPr marL="742950" lvl="1" indent="-285750">
              <a:lnSpc>
                <a:spcPct val="90000"/>
              </a:lnSpc>
              <a:spcBef>
                <a:spcPts val="0"/>
              </a:spcBef>
              <a:buClrTx/>
              <a:defRPr sz="2000"/>
            </a:pPr>
            <a:endParaRPr sz="1800" u="sng" dirty="0">
              <a:solidFill>
                <a:srgbClr val="FF0000"/>
              </a:solidFill>
            </a:endParaRPr>
          </a:p>
          <a:p>
            <a:pPr>
              <a:lnSpc>
                <a:spcPct val="90000"/>
              </a:lnSpc>
              <a:spcBef>
                <a:spcPts val="500"/>
              </a:spcBef>
              <a:buChar char="▪"/>
              <a:defRPr sz="2400"/>
            </a:pPr>
            <a:endParaRPr sz="1800" u="sng" dirty="0">
              <a:solidFill>
                <a:srgbClr val="FF0000"/>
              </a:solidFill>
            </a:endParaRPr>
          </a:p>
          <a:p>
            <a:pPr>
              <a:lnSpc>
                <a:spcPct val="90000"/>
              </a:lnSpc>
              <a:spcBef>
                <a:spcPts val="500"/>
              </a:spcBef>
              <a:buChar char="▪"/>
              <a:defRPr sz="2400"/>
            </a:pPr>
            <a:endParaRPr sz="1800" u="sng" dirty="0">
              <a:solidFill>
                <a:srgbClr val="FF0000"/>
              </a:solidFill>
            </a:endParaRPr>
          </a:p>
          <a:p>
            <a:pPr marL="257175" indent="-257175">
              <a:lnSpc>
                <a:spcPct val="90000"/>
              </a:lnSpc>
              <a:spcBef>
                <a:spcPts val="500"/>
              </a:spcBef>
              <a:buChar char="▪"/>
              <a:defRPr sz="2400"/>
            </a:pPr>
            <a:r>
              <a:rPr sz="1800" dirty="0"/>
              <a:t>There are two alternating epochs: A single writer epoch, a multiple reader epoch</a:t>
            </a:r>
          </a:p>
          <a:p>
            <a:pPr marL="257175" indent="-257175">
              <a:lnSpc>
                <a:spcPct val="90000"/>
              </a:lnSpc>
              <a:spcBef>
                <a:spcPts val="500"/>
              </a:spcBef>
              <a:buChar char="▪"/>
              <a:defRPr sz="2400"/>
            </a:pPr>
            <a:r>
              <a:rPr sz="1800" dirty="0"/>
              <a:t>Before a write happens, it must communicate with all other actors to obtain exclusive access. </a:t>
            </a:r>
          </a:p>
        </p:txBody>
      </p:sp>
      <p:grpSp>
        <p:nvGrpSpPr>
          <p:cNvPr id="337" name="Group"/>
          <p:cNvGrpSpPr/>
          <p:nvPr/>
        </p:nvGrpSpPr>
        <p:grpSpPr>
          <a:xfrm>
            <a:off x="241300" y="2867024"/>
            <a:ext cx="3704779" cy="2134220"/>
            <a:chOff x="0" y="0"/>
            <a:chExt cx="3704778" cy="2134218"/>
          </a:xfrm>
        </p:grpSpPr>
        <p:sp>
          <p:nvSpPr>
            <p:cNvPr id="309" name="CPU"/>
            <p:cNvSpPr txBox="1"/>
            <p:nvPr/>
          </p:nvSpPr>
          <p:spPr>
            <a:xfrm>
              <a:off x="291406" y="65393"/>
              <a:ext cx="458336" cy="27584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310" name="Oval"/>
            <p:cNvSpPr/>
            <p:nvPr/>
          </p:nvSpPr>
          <p:spPr>
            <a:xfrm>
              <a:off x="185567" y="-1"/>
              <a:ext cx="651950" cy="387906"/>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11" name="Line"/>
            <p:cNvSpPr/>
            <p:nvPr/>
          </p:nvSpPr>
          <p:spPr>
            <a:xfrm flipH="1">
              <a:off x="520573" y="387904"/>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12" name="Rectangle"/>
            <p:cNvSpPr/>
            <p:nvPr/>
          </p:nvSpPr>
          <p:spPr>
            <a:xfrm>
              <a:off x="0" y="1278153"/>
              <a:ext cx="3704779" cy="214017"/>
            </a:xfrm>
            <a:prstGeom prst="rect">
              <a:avLst/>
            </a:prstGeom>
            <a:solidFill>
              <a:srgbClr val="FF0000">
                <a:alpha val="50195"/>
              </a:srgbClr>
            </a:solid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13" name="Line"/>
            <p:cNvSpPr/>
            <p:nvPr/>
          </p:nvSpPr>
          <p:spPr>
            <a:xfrm>
              <a:off x="1845820" y="1468390"/>
              <a:ext cx="1" cy="193210"/>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14" name="Rectangle"/>
            <p:cNvSpPr/>
            <p:nvPr/>
          </p:nvSpPr>
          <p:spPr>
            <a:xfrm>
              <a:off x="236475" y="1661599"/>
              <a:ext cx="3231829" cy="472620"/>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15" name="Main memory"/>
            <p:cNvSpPr txBox="1"/>
            <p:nvPr/>
          </p:nvSpPr>
          <p:spPr>
            <a:xfrm>
              <a:off x="1127178" y="1706186"/>
              <a:ext cx="1402799" cy="33529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800" b="0"/>
              </a:lvl1pPr>
            </a:lstStyle>
            <a:p>
              <a:r>
                <a:t>Main memory</a:t>
              </a:r>
            </a:p>
          </p:txBody>
        </p:sp>
        <p:sp>
          <p:nvSpPr>
            <p:cNvPr id="316" name="CPU"/>
            <p:cNvSpPr txBox="1"/>
            <p:nvPr/>
          </p:nvSpPr>
          <p:spPr>
            <a:xfrm>
              <a:off x="1158482" y="65393"/>
              <a:ext cx="458336" cy="27584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317" name="Oval"/>
            <p:cNvSpPr/>
            <p:nvPr/>
          </p:nvSpPr>
          <p:spPr>
            <a:xfrm>
              <a:off x="1052643" y="-1"/>
              <a:ext cx="651950" cy="387906"/>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18" name="Line"/>
            <p:cNvSpPr/>
            <p:nvPr/>
          </p:nvSpPr>
          <p:spPr>
            <a:xfrm>
              <a:off x="1387649" y="387904"/>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19" name="CPU"/>
            <p:cNvSpPr txBox="1"/>
            <p:nvPr/>
          </p:nvSpPr>
          <p:spPr>
            <a:xfrm>
              <a:off x="2025558" y="65393"/>
              <a:ext cx="458336" cy="27584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320" name="Oval"/>
            <p:cNvSpPr/>
            <p:nvPr/>
          </p:nvSpPr>
          <p:spPr>
            <a:xfrm>
              <a:off x="1919719" y="-1"/>
              <a:ext cx="651950" cy="387906"/>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21" name="Line"/>
            <p:cNvSpPr/>
            <p:nvPr/>
          </p:nvSpPr>
          <p:spPr>
            <a:xfrm>
              <a:off x="2254725" y="387904"/>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22" name="CPU"/>
            <p:cNvSpPr txBox="1"/>
            <p:nvPr/>
          </p:nvSpPr>
          <p:spPr>
            <a:xfrm>
              <a:off x="2892633" y="65393"/>
              <a:ext cx="458336" cy="27584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323" name="Oval"/>
            <p:cNvSpPr/>
            <p:nvPr/>
          </p:nvSpPr>
          <p:spPr>
            <a:xfrm>
              <a:off x="2786794" y="-1"/>
              <a:ext cx="651950" cy="387906"/>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24" name="Line"/>
            <p:cNvSpPr/>
            <p:nvPr/>
          </p:nvSpPr>
          <p:spPr>
            <a:xfrm>
              <a:off x="3121801" y="387904"/>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25" name="Cache"/>
            <p:cNvSpPr txBox="1"/>
            <p:nvPr/>
          </p:nvSpPr>
          <p:spPr>
            <a:xfrm>
              <a:off x="225622" y="707443"/>
              <a:ext cx="543922" cy="27584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Cache</a:t>
              </a:r>
            </a:p>
          </p:txBody>
        </p:sp>
        <p:sp>
          <p:nvSpPr>
            <p:cNvPr id="326" name="Line"/>
            <p:cNvSpPr/>
            <p:nvPr/>
          </p:nvSpPr>
          <p:spPr>
            <a:xfrm flipH="1">
              <a:off x="520573" y="1101292"/>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27" name="Cache"/>
            <p:cNvSpPr txBox="1"/>
            <p:nvPr/>
          </p:nvSpPr>
          <p:spPr>
            <a:xfrm>
              <a:off x="1092698" y="707443"/>
              <a:ext cx="543922" cy="27584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Cache</a:t>
              </a:r>
            </a:p>
          </p:txBody>
        </p:sp>
        <p:sp>
          <p:nvSpPr>
            <p:cNvPr id="328" name="Line"/>
            <p:cNvSpPr/>
            <p:nvPr/>
          </p:nvSpPr>
          <p:spPr>
            <a:xfrm>
              <a:off x="1387649" y="1101292"/>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29" name="Cache"/>
            <p:cNvSpPr txBox="1"/>
            <p:nvPr/>
          </p:nvSpPr>
          <p:spPr>
            <a:xfrm>
              <a:off x="1959774" y="707443"/>
              <a:ext cx="543922" cy="27584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Cache</a:t>
              </a:r>
            </a:p>
          </p:txBody>
        </p:sp>
        <p:sp>
          <p:nvSpPr>
            <p:cNvPr id="330" name="Line"/>
            <p:cNvSpPr/>
            <p:nvPr/>
          </p:nvSpPr>
          <p:spPr>
            <a:xfrm>
              <a:off x="2254725" y="1101292"/>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31" name="Cache"/>
            <p:cNvSpPr txBox="1"/>
            <p:nvPr/>
          </p:nvSpPr>
          <p:spPr>
            <a:xfrm>
              <a:off x="2826850" y="707443"/>
              <a:ext cx="543922" cy="27584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Cache</a:t>
              </a:r>
            </a:p>
          </p:txBody>
        </p:sp>
        <p:sp>
          <p:nvSpPr>
            <p:cNvPr id="332" name="Line"/>
            <p:cNvSpPr/>
            <p:nvPr/>
          </p:nvSpPr>
          <p:spPr>
            <a:xfrm>
              <a:off x="3121801" y="1101292"/>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33" name="Rectangle"/>
            <p:cNvSpPr/>
            <p:nvPr/>
          </p:nvSpPr>
          <p:spPr>
            <a:xfrm>
              <a:off x="133017" y="636104"/>
              <a:ext cx="788252" cy="428034"/>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34" name="Rectangle"/>
            <p:cNvSpPr/>
            <p:nvPr/>
          </p:nvSpPr>
          <p:spPr>
            <a:xfrm>
              <a:off x="1000093" y="636104"/>
              <a:ext cx="788251" cy="428034"/>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35" name="Rectangle"/>
            <p:cNvSpPr/>
            <p:nvPr/>
          </p:nvSpPr>
          <p:spPr>
            <a:xfrm>
              <a:off x="1867168" y="636104"/>
              <a:ext cx="788252" cy="428034"/>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36" name="Rectangle"/>
            <p:cNvSpPr/>
            <p:nvPr/>
          </p:nvSpPr>
          <p:spPr>
            <a:xfrm>
              <a:off x="2734244" y="636104"/>
              <a:ext cx="788252" cy="428034"/>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grpSp>
      <p:grpSp>
        <p:nvGrpSpPr>
          <p:cNvPr id="358" name="Group"/>
          <p:cNvGrpSpPr/>
          <p:nvPr/>
        </p:nvGrpSpPr>
        <p:grpSpPr>
          <a:xfrm>
            <a:off x="4800600" y="2971800"/>
            <a:ext cx="3610968" cy="1924669"/>
            <a:chOff x="0" y="0"/>
            <a:chExt cx="3610967" cy="1924668"/>
          </a:xfrm>
        </p:grpSpPr>
        <p:sp>
          <p:nvSpPr>
            <p:cNvPr id="338" name="CPU"/>
            <p:cNvSpPr txBox="1"/>
            <p:nvPr/>
          </p:nvSpPr>
          <p:spPr>
            <a:xfrm>
              <a:off x="284027" y="77655"/>
              <a:ext cx="446730" cy="32756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339" name="Oval"/>
            <p:cNvSpPr/>
            <p:nvPr/>
          </p:nvSpPr>
          <p:spPr>
            <a:xfrm>
              <a:off x="180868" y="0"/>
              <a:ext cx="635442" cy="460641"/>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40" name="Line"/>
            <p:cNvSpPr/>
            <p:nvPr/>
          </p:nvSpPr>
          <p:spPr>
            <a:xfrm>
              <a:off x="507391" y="460640"/>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41" name="Rectangle"/>
            <p:cNvSpPr/>
            <p:nvPr/>
          </p:nvSpPr>
          <p:spPr>
            <a:xfrm>
              <a:off x="0" y="908083"/>
              <a:ext cx="3610968" cy="254148"/>
            </a:xfrm>
            <a:prstGeom prst="rect">
              <a:avLst/>
            </a:prstGeom>
            <a:solidFill>
              <a:srgbClr val="FF0000">
                <a:alpha val="50195"/>
              </a:srgbClr>
            </a:solid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42" name="Line"/>
            <p:cNvSpPr/>
            <p:nvPr/>
          </p:nvSpPr>
          <p:spPr>
            <a:xfrm>
              <a:off x="1799081" y="1133991"/>
              <a:ext cx="1" cy="229438"/>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43" name="Rectangle"/>
            <p:cNvSpPr/>
            <p:nvPr/>
          </p:nvSpPr>
          <p:spPr>
            <a:xfrm>
              <a:off x="230487" y="1363429"/>
              <a:ext cx="3149993" cy="561240"/>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44" name="Main memory"/>
            <p:cNvSpPr txBox="1"/>
            <p:nvPr/>
          </p:nvSpPr>
          <p:spPr>
            <a:xfrm>
              <a:off x="1098635" y="1416376"/>
              <a:ext cx="1367279" cy="3981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800" b="0"/>
              </a:lvl1pPr>
            </a:lstStyle>
            <a:p>
              <a:r>
                <a:t>Main memory</a:t>
              </a:r>
            </a:p>
          </p:txBody>
        </p:sp>
        <p:sp>
          <p:nvSpPr>
            <p:cNvPr id="345" name="CPU"/>
            <p:cNvSpPr txBox="1"/>
            <p:nvPr/>
          </p:nvSpPr>
          <p:spPr>
            <a:xfrm>
              <a:off x="1129147" y="77655"/>
              <a:ext cx="446730" cy="32756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346" name="Oval"/>
            <p:cNvSpPr/>
            <p:nvPr/>
          </p:nvSpPr>
          <p:spPr>
            <a:xfrm>
              <a:off x="1025988" y="0"/>
              <a:ext cx="635442" cy="460641"/>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47" name="Line"/>
            <p:cNvSpPr/>
            <p:nvPr/>
          </p:nvSpPr>
          <p:spPr>
            <a:xfrm>
              <a:off x="1352511" y="460640"/>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48" name="CPU"/>
            <p:cNvSpPr txBox="1"/>
            <p:nvPr/>
          </p:nvSpPr>
          <p:spPr>
            <a:xfrm>
              <a:off x="1974267" y="77655"/>
              <a:ext cx="446730" cy="32756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349" name="Oval"/>
            <p:cNvSpPr/>
            <p:nvPr/>
          </p:nvSpPr>
          <p:spPr>
            <a:xfrm>
              <a:off x="1871108" y="0"/>
              <a:ext cx="635441" cy="460641"/>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50" name="Line"/>
            <p:cNvSpPr/>
            <p:nvPr/>
          </p:nvSpPr>
          <p:spPr>
            <a:xfrm>
              <a:off x="2197631" y="460640"/>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51" name="CPU"/>
            <p:cNvSpPr txBox="1"/>
            <p:nvPr/>
          </p:nvSpPr>
          <p:spPr>
            <a:xfrm>
              <a:off x="2819387" y="77655"/>
              <a:ext cx="446730" cy="32756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352" name="Oval"/>
            <p:cNvSpPr/>
            <p:nvPr/>
          </p:nvSpPr>
          <p:spPr>
            <a:xfrm>
              <a:off x="2716228" y="0"/>
              <a:ext cx="635442" cy="460641"/>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53" name="Line"/>
            <p:cNvSpPr/>
            <p:nvPr/>
          </p:nvSpPr>
          <p:spPr>
            <a:xfrm>
              <a:off x="3042752" y="460640"/>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54" name="Line"/>
            <p:cNvSpPr/>
            <p:nvPr/>
          </p:nvSpPr>
          <p:spPr>
            <a:xfrm>
              <a:off x="507391" y="698059"/>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55" name="Line"/>
            <p:cNvSpPr/>
            <p:nvPr/>
          </p:nvSpPr>
          <p:spPr>
            <a:xfrm>
              <a:off x="1352511" y="698059"/>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56" name="Line"/>
            <p:cNvSpPr/>
            <p:nvPr/>
          </p:nvSpPr>
          <p:spPr>
            <a:xfrm>
              <a:off x="2197631" y="698059"/>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57" name="Line"/>
            <p:cNvSpPr/>
            <p:nvPr/>
          </p:nvSpPr>
          <p:spPr>
            <a:xfrm>
              <a:off x="3042752" y="698059"/>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grpSp>
      <p:sp>
        <p:nvSpPr>
          <p:cNvPr id="359" name="Line"/>
          <p:cNvSpPr/>
          <p:nvPr/>
        </p:nvSpPr>
        <p:spPr>
          <a:xfrm>
            <a:off x="3670300" y="4037285"/>
            <a:ext cx="1157926" cy="1"/>
          </a:xfrm>
          <a:prstGeom prst="line">
            <a:avLst/>
          </a:prstGeom>
          <a:ln w="25400">
            <a:solidFill>
              <a:schemeClr val="accent1"/>
            </a:solidFill>
            <a:tailEnd type="triangle"/>
          </a:ln>
          <a:effectLst>
            <a:outerShdw blurRad="38100" dist="20000" dir="5400000" rotWithShape="0">
              <a:srgbClr val="000000">
                <a:alpha val="38000"/>
              </a:srgbClr>
            </a:outerShdw>
          </a:effectLst>
        </p:spPr>
        <p:txBody>
          <a:bodyPr lIns="45719" rIns="45719"/>
          <a:lstStyle/>
          <a:p>
            <a:endParaRPr/>
          </a:p>
        </p:txBody>
      </p:sp>
      <p:sp>
        <p:nvSpPr>
          <p:cNvPr id="36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14</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363" name="Cache Coherence Protocols"/>
          <p:cNvSpPr txBox="1">
            <a:spLocks noGrp="1"/>
          </p:cNvSpPr>
          <p:nvPr>
            <p:ph type="title" idx="4294967295"/>
          </p:nvPr>
        </p:nvSpPr>
        <p:spPr>
          <a:xfrm>
            <a:off x="685800" y="152400"/>
            <a:ext cx="8077200" cy="838200"/>
          </a:xfrm>
          <a:prstGeom prst="rect">
            <a:avLst/>
          </a:prstGeom>
        </p:spPr>
        <p:txBody>
          <a:bodyPr>
            <a:normAutofit/>
          </a:bodyPr>
          <a:lstStyle>
            <a:lvl1pPr>
              <a:defRPr sz="4000"/>
            </a:lvl1pPr>
          </a:lstStyle>
          <a:p>
            <a:r>
              <a:t>Cache Coherence Protocols</a:t>
            </a:r>
          </a:p>
        </p:txBody>
      </p:sp>
      <p:sp>
        <p:nvSpPr>
          <p:cNvPr id="364" name="Idea of most protocols:…"/>
          <p:cNvSpPr txBox="1">
            <a:spLocks noGrp="1"/>
          </p:cNvSpPr>
          <p:nvPr>
            <p:ph type="body" idx="4294967295"/>
          </p:nvPr>
        </p:nvSpPr>
        <p:spPr>
          <a:xfrm>
            <a:off x="457200" y="1143000"/>
            <a:ext cx="8534400" cy="5353249"/>
          </a:xfrm>
          <a:prstGeom prst="rect">
            <a:avLst/>
          </a:prstGeom>
        </p:spPr>
        <p:txBody>
          <a:bodyPr>
            <a:normAutofit fontScale="92500" lnSpcReduction="20000"/>
          </a:bodyPr>
          <a:lstStyle/>
          <a:p>
            <a:pPr marL="339470" indent="-339470" defTabSz="905255">
              <a:lnSpc>
                <a:spcPct val="90000"/>
              </a:lnSpc>
              <a:spcBef>
                <a:spcPts val="500"/>
              </a:spcBef>
              <a:buChar char="▪"/>
              <a:defRPr sz="2376"/>
            </a:pPr>
            <a:r>
              <a:rPr dirty="0"/>
              <a:t>Idea of most protocols:</a:t>
            </a:r>
          </a:p>
          <a:p>
            <a:pPr marL="735520" lvl="1" indent="-282892" defTabSz="905255">
              <a:lnSpc>
                <a:spcPct val="90000"/>
              </a:lnSpc>
              <a:spcBef>
                <a:spcPts val="0"/>
              </a:spcBef>
              <a:buClrTx/>
              <a:defRPr sz="1979"/>
            </a:pPr>
            <a:r>
              <a:rPr dirty="0"/>
              <a:t>Keep track of what processors have copies of what data</a:t>
            </a:r>
          </a:p>
          <a:p>
            <a:pPr marL="735520" lvl="1" indent="-282892" defTabSz="905255">
              <a:lnSpc>
                <a:spcPct val="90000"/>
              </a:lnSpc>
              <a:spcBef>
                <a:spcPts val="0"/>
              </a:spcBef>
              <a:buClrTx/>
              <a:defRPr sz="1979"/>
            </a:pPr>
            <a:r>
              <a:rPr dirty="0"/>
              <a:t>Enforce that at any given time a single </a:t>
            </a:r>
            <a:r>
              <a:rPr u="sng" dirty="0"/>
              <a:t>value</a:t>
            </a:r>
            <a:r>
              <a:rPr dirty="0"/>
              <a:t> of every data exists:</a:t>
            </a:r>
          </a:p>
          <a:p>
            <a:pPr marL="1131569" lvl="2" indent="-226313" defTabSz="905255">
              <a:lnSpc>
                <a:spcPct val="90000"/>
              </a:lnSpc>
              <a:spcBef>
                <a:spcPts val="0"/>
              </a:spcBef>
              <a:buClrTx/>
              <a:defRPr sz="1782"/>
            </a:pPr>
            <a:r>
              <a:rPr dirty="0"/>
              <a:t>By getting rid of copies of the data with old values → </a:t>
            </a:r>
            <a:r>
              <a:rPr u="sng" dirty="0">
                <a:solidFill>
                  <a:srgbClr val="FF0000"/>
                </a:solidFill>
              </a:rPr>
              <a:t>invalidate protocols</a:t>
            </a:r>
          </a:p>
          <a:p>
            <a:pPr marL="1131569" lvl="2" indent="-226313" defTabSz="905255">
              <a:lnSpc>
                <a:spcPct val="90000"/>
              </a:lnSpc>
              <a:spcBef>
                <a:spcPts val="0"/>
              </a:spcBef>
              <a:buClrTx/>
              <a:defRPr sz="1782"/>
            </a:pPr>
            <a:r>
              <a:rPr dirty="0"/>
              <a:t>By updating everyone’s copy of the data → </a:t>
            </a:r>
            <a:r>
              <a:rPr u="sng" dirty="0">
                <a:solidFill>
                  <a:srgbClr val="FF0000"/>
                </a:solidFill>
              </a:rPr>
              <a:t>update protocols</a:t>
            </a:r>
          </a:p>
          <a:p>
            <a:pPr marL="735520" lvl="1" indent="-282892" defTabSz="905255">
              <a:lnSpc>
                <a:spcPct val="90000"/>
              </a:lnSpc>
              <a:spcBef>
                <a:spcPts val="0"/>
              </a:spcBef>
              <a:buClrTx/>
              <a:defRPr sz="1979"/>
            </a:pPr>
            <a:r>
              <a:rPr dirty="0"/>
              <a:t>They enforce the Single-Writer-Multiple-Reader Invariant (or SWMR). </a:t>
            </a:r>
          </a:p>
          <a:p>
            <a:pPr marL="735520" lvl="1" indent="-282892" defTabSz="905255">
              <a:lnSpc>
                <a:spcPct val="90000"/>
              </a:lnSpc>
              <a:spcBef>
                <a:spcPts val="0"/>
              </a:spcBef>
              <a:buClrTx/>
              <a:defRPr sz="1979"/>
            </a:pPr>
            <a:endParaRPr dirty="0"/>
          </a:p>
          <a:p>
            <a:pPr marL="735520" lvl="1" indent="-282892" defTabSz="905255">
              <a:lnSpc>
                <a:spcPct val="90000"/>
              </a:lnSpc>
              <a:spcBef>
                <a:spcPts val="0"/>
              </a:spcBef>
              <a:buClrTx/>
              <a:defRPr sz="1979"/>
            </a:pPr>
            <a:endParaRPr dirty="0"/>
          </a:p>
          <a:p>
            <a:pPr marL="735520" lvl="1" indent="-282892" defTabSz="905255">
              <a:lnSpc>
                <a:spcPct val="90000"/>
              </a:lnSpc>
              <a:spcBef>
                <a:spcPts val="0"/>
              </a:spcBef>
              <a:buClrTx/>
              <a:defRPr sz="1979"/>
            </a:pPr>
            <a:endParaRPr dirty="0"/>
          </a:p>
          <a:p>
            <a:pPr marL="735520" lvl="1" indent="-282892" defTabSz="905255">
              <a:lnSpc>
                <a:spcPct val="90000"/>
              </a:lnSpc>
              <a:spcBef>
                <a:spcPts val="0"/>
              </a:spcBef>
              <a:buClrTx/>
              <a:defRPr sz="1979"/>
            </a:pPr>
            <a:endParaRPr dirty="0"/>
          </a:p>
          <a:p>
            <a:pPr marL="735520" lvl="1" indent="-282892" defTabSz="905255">
              <a:lnSpc>
                <a:spcPct val="90000"/>
              </a:lnSpc>
              <a:spcBef>
                <a:spcPts val="0"/>
              </a:spcBef>
              <a:buClrTx/>
              <a:defRPr sz="1979"/>
            </a:pPr>
            <a:endParaRPr dirty="0"/>
          </a:p>
          <a:p>
            <a:pPr marL="735520" lvl="1" indent="-282892" defTabSz="905255">
              <a:lnSpc>
                <a:spcPct val="90000"/>
              </a:lnSpc>
              <a:spcBef>
                <a:spcPts val="0"/>
              </a:spcBef>
              <a:buClrTx/>
              <a:defRPr sz="1979"/>
            </a:pPr>
            <a:endParaRPr dirty="0"/>
          </a:p>
          <a:p>
            <a:pPr marL="735520" lvl="1" indent="-282892" defTabSz="905255">
              <a:lnSpc>
                <a:spcPct val="90000"/>
              </a:lnSpc>
              <a:spcBef>
                <a:spcPts val="0"/>
              </a:spcBef>
              <a:buClrTx/>
              <a:defRPr sz="1979"/>
            </a:pPr>
            <a:endParaRPr sz="1782" u="sng" dirty="0">
              <a:solidFill>
                <a:srgbClr val="FF0000"/>
              </a:solidFill>
            </a:endParaRPr>
          </a:p>
          <a:p>
            <a:pPr marL="339470" indent="-339470" defTabSz="905255">
              <a:lnSpc>
                <a:spcPct val="90000"/>
              </a:lnSpc>
              <a:spcBef>
                <a:spcPts val="500"/>
              </a:spcBef>
              <a:buChar char="▪"/>
              <a:defRPr sz="2376"/>
            </a:pPr>
            <a:endParaRPr sz="1782" u="sng" dirty="0">
              <a:solidFill>
                <a:srgbClr val="FF0000"/>
              </a:solidFill>
            </a:endParaRPr>
          </a:p>
          <a:p>
            <a:pPr marL="339470" indent="-339470" defTabSz="905255">
              <a:lnSpc>
                <a:spcPct val="90000"/>
              </a:lnSpc>
              <a:spcBef>
                <a:spcPts val="500"/>
              </a:spcBef>
              <a:buChar char="▪"/>
              <a:defRPr sz="2376"/>
            </a:pPr>
            <a:endParaRPr lang="en-US" sz="1782" u="sng" dirty="0">
              <a:solidFill>
                <a:srgbClr val="FF0000"/>
              </a:solidFill>
            </a:endParaRPr>
          </a:p>
          <a:p>
            <a:pPr marL="339470" indent="-339470" defTabSz="905255">
              <a:lnSpc>
                <a:spcPct val="90000"/>
              </a:lnSpc>
              <a:spcBef>
                <a:spcPts val="500"/>
              </a:spcBef>
              <a:buChar char="▪"/>
              <a:defRPr sz="2376"/>
            </a:pPr>
            <a:endParaRPr lang="en-US" sz="1782" u="sng" dirty="0">
              <a:solidFill>
                <a:srgbClr val="FF0000"/>
              </a:solidFill>
            </a:endParaRPr>
          </a:p>
          <a:p>
            <a:pPr marL="339470" indent="-339470" defTabSz="905255">
              <a:lnSpc>
                <a:spcPct val="90000"/>
              </a:lnSpc>
              <a:spcBef>
                <a:spcPts val="500"/>
              </a:spcBef>
              <a:buChar char="▪"/>
              <a:defRPr sz="2376"/>
            </a:pPr>
            <a:endParaRPr lang="en-US" sz="1782" u="sng" dirty="0">
              <a:solidFill>
                <a:srgbClr val="FF0000"/>
              </a:solidFill>
            </a:endParaRPr>
          </a:p>
          <a:p>
            <a:pPr marL="339470" indent="-339470" defTabSz="905255">
              <a:lnSpc>
                <a:spcPct val="90000"/>
              </a:lnSpc>
              <a:spcBef>
                <a:spcPts val="500"/>
              </a:spcBef>
              <a:buChar char="▪"/>
              <a:defRPr sz="2376"/>
            </a:pPr>
            <a:endParaRPr sz="1782" u="sng" dirty="0">
              <a:solidFill>
                <a:srgbClr val="FF0000"/>
              </a:solidFill>
            </a:endParaRPr>
          </a:p>
          <a:p>
            <a:pPr marL="339470" indent="-339470" defTabSz="905255">
              <a:lnSpc>
                <a:spcPct val="90000"/>
              </a:lnSpc>
              <a:spcBef>
                <a:spcPts val="500"/>
              </a:spcBef>
              <a:buChar char="▪"/>
              <a:defRPr sz="2376"/>
            </a:pPr>
            <a:r>
              <a:rPr dirty="0"/>
              <a:t>SWMR: </a:t>
            </a:r>
          </a:p>
          <a:p>
            <a:pPr marL="735520" lvl="1" indent="-282892" defTabSz="905255">
              <a:lnSpc>
                <a:spcPct val="90000"/>
              </a:lnSpc>
              <a:spcBef>
                <a:spcPts val="0"/>
              </a:spcBef>
              <a:buClrTx/>
              <a:defRPr sz="1979"/>
            </a:pPr>
            <a:r>
              <a:rPr dirty="0"/>
              <a:t>Guarantee that old values are </a:t>
            </a:r>
            <a:r>
              <a:rPr u="sng" dirty="0"/>
              <a:t>eventually</a:t>
            </a:r>
            <a:r>
              <a:rPr dirty="0"/>
              <a:t> invalidated/updated (</a:t>
            </a:r>
            <a:r>
              <a:rPr u="sng" dirty="0">
                <a:solidFill>
                  <a:srgbClr val="FF0000"/>
                </a:solidFill>
              </a:rPr>
              <a:t>write propagation</a:t>
            </a:r>
            <a:r>
              <a:rPr dirty="0"/>
              <a:t>)</a:t>
            </a:r>
          </a:p>
          <a:p>
            <a:pPr marL="735520" lvl="1" indent="-282892" defTabSz="905255">
              <a:lnSpc>
                <a:spcPct val="90000"/>
              </a:lnSpc>
              <a:spcBef>
                <a:spcPts val="0"/>
              </a:spcBef>
              <a:buClrTx/>
              <a:defRPr sz="1979"/>
            </a:pPr>
            <a:r>
              <a:rPr dirty="0"/>
              <a:t>Guarantee that only a single processor is allowed to modify a certain datum at any given time (</a:t>
            </a:r>
            <a:r>
              <a:rPr u="sng" dirty="0">
                <a:solidFill>
                  <a:srgbClr val="FF0000"/>
                </a:solidFill>
              </a:rPr>
              <a:t>write serialization</a:t>
            </a:r>
            <a:r>
              <a:rPr dirty="0"/>
              <a:t>)</a:t>
            </a:r>
          </a:p>
        </p:txBody>
      </p:sp>
      <p:grpSp>
        <p:nvGrpSpPr>
          <p:cNvPr id="393" name="Group"/>
          <p:cNvGrpSpPr/>
          <p:nvPr/>
        </p:nvGrpSpPr>
        <p:grpSpPr>
          <a:xfrm>
            <a:off x="241300" y="2867024"/>
            <a:ext cx="3704779" cy="2134220"/>
            <a:chOff x="0" y="0"/>
            <a:chExt cx="3704778" cy="2134218"/>
          </a:xfrm>
        </p:grpSpPr>
        <p:sp>
          <p:nvSpPr>
            <p:cNvPr id="365" name="CPU"/>
            <p:cNvSpPr txBox="1"/>
            <p:nvPr/>
          </p:nvSpPr>
          <p:spPr>
            <a:xfrm>
              <a:off x="291406" y="65393"/>
              <a:ext cx="458336" cy="27584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366" name="Oval"/>
            <p:cNvSpPr/>
            <p:nvPr/>
          </p:nvSpPr>
          <p:spPr>
            <a:xfrm>
              <a:off x="185567" y="-1"/>
              <a:ext cx="651950" cy="387906"/>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67" name="Line"/>
            <p:cNvSpPr/>
            <p:nvPr/>
          </p:nvSpPr>
          <p:spPr>
            <a:xfrm flipH="1">
              <a:off x="520573" y="387904"/>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68" name="Rectangle"/>
            <p:cNvSpPr/>
            <p:nvPr/>
          </p:nvSpPr>
          <p:spPr>
            <a:xfrm>
              <a:off x="0" y="1278153"/>
              <a:ext cx="3704779" cy="214017"/>
            </a:xfrm>
            <a:prstGeom prst="rect">
              <a:avLst/>
            </a:prstGeom>
            <a:solidFill>
              <a:srgbClr val="FF0000">
                <a:alpha val="50195"/>
              </a:srgbClr>
            </a:solid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69" name="Line"/>
            <p:cNvSpPr/>
            <p:nvPr/>
          </p:nvSpPr>
          <p:spPr>
            <a:xfrm>
              <a:off x="1845820" y="1468390"/>
              <a:ext cx="1" cy="193210"/>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70" name="Rectangle"/>
            <p:cNvSpPr/>
            <p:nvPr/>
          </p:nvSpPr>
          <p:spPr>
            <a:xfrm>
              <a:off x="236475" y="1661599"/>
              <a:ext cx="3231829" cy="472620"/>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71" name="Main memory"/>
            <p:cNvSpPr txBox="1"/>
            <p:nvPr/>
          </p:nvSpPr>
          <p:spPr>
            <a:xfrm>
              <a:off x="1127178" y="1706186"/>
              <a:ext cx="1402799" cy="33529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800" b="0"/>
              </a:lvl1pPr>
            </a:lstStyle>
            <a:p>
              <a:r>
                <a:rPr dirty="0"/>
                <a:t>Main memory</a:t>
              </a:r>
            </a:p>
          </p:txBody>
        </p:sp>
        <p:sp>
          <p:nvSpPr>
            <p:cNvPr id="372" name="CPU"/>
            <p:cNvSpPr txBox="1"/>
            <p:nvPr/>
          </p:nvSpPr>
          <p:spPr>
            <a:xfrm>
              <a:off x="1158482" y="65393"/>
              <a:ext cx="458336" cy="27584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373" name="Oval"/>
            <p:cNvSpPr/>
            <p:nvPr/>
          </p:nvSpPr>
          <p:spPr>
            <a:xfrm>
              <a:off x="1052643" y="-1"/>
              <a:ext cx="651950" cy="387906"/>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74" name="Line"/>
            <p:cNvSpPr/>
            <p:nvPr/>
          </p:nvSpPr>
          <p:spPr>
            <a:xfrm>
              <a:off x="1387649" y="387904"/>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75" name="CPU"/>
            <p:cNvSpPr txBox="1"/>
            <p:nvPr/>
          </p:nvSpPr>
          <p:spPr>
            <a:xfrm>
              <a:off x="2025558" y="65393"/>
              <a:ext cx="458336" cy="27584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376" name="Oval"/>
            <p:cNvSpPr/>
            <p:nvPr/>
          </p:nvSpPr>
          <p:spPr>
            <a:xfrm>
              <a:off x="1919719" y="-1"/>
              <a:ext cx="651950" cy="387906"/>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77" name="Line"/>
            <p:cNvSpPr/>
            <p:nvPr/>
          </p:nvSpPr>
          <p:spPr>
            <a:xfrm>
              <a:off x="2254725" y="387904"/>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78" name="CPU"/>
            <p:cNvSpPr txBox="1"/>
            <p:nvPr/>
          </p:nvSpPr>
          <p:spPr>
            <a:xfrm>
              <a:off x="2892633" y="65393"/>
              <a:ext cx="458336" cy="27584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379" name="Oval"/>
            <p:cNvSpPr/>
            <p:nvPr/>
          </p:nvSpPr>
          <p:spPr>
            <a:xfrm>
              <a:off x="2786794" y="-1"/>
              <a:ext cx="651950" cy="387906"/>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80" name="Line"/>
            <p:cNvSpPr/>
            <p:nvPr/>
          </p:nvSpPr>
          <p:spPr>
            <a:xfrm>
              <a:off x="3121801" y="387904"/>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81" name="Cache"/>
            <p:cNvSpPr txBox="1"/>
            <p:nvPr/>
          </p:nvSpPr>
          <p:spPr>
            <a:xfrm>
              <a:off x="225622" y="707443"/>
              <a:ext cx="543922" cy="27584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Cache</a:t>
              </a:r>
            </a:p>
          </p:txBody>
        </p:sp>
        <p:sp>
          <p:nvSpPr>
            <p:cNvPr id="382" name="Line"/>
            <p:cNvSpPr/>
            <p:nvPr/>
          </p:nvSpPr>
          <p:spPr>
            <a:xfrm flipH="1">
              <a:off x="520573" y="1101292"/>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83" name="Cache"/>
            <p:cNvSpPr txBox="1"/>
            <p:nvPr/>
          </p:nvSpPr>
          <p:spPr>
            <a:xfrm>
              <a:off x="1092698" y="707443"/>
              <a:ext cx="543922" cy="27584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Cache</a:t>
              </a:r>
            </a:p>
          </p:txBody>
        </p:sp>
        <p:sp>
          <p:nvSpPr>
            <p:cNvPr id="384" name="Line"/>
            <p:cNvSpPr/>
            <p:nvPr/>
          </p:nvSpPr>
          <p:spPr>
            <a:xfrm>
              <a:off x="1387649" y="1101292"/>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85" name="Cache"/>
            <p:cNvSpPr txBox="1"/>
            <p:nvPr/>
          </p:nvSpPr>
          <p:spPr>
            <a:xfrm>
              <a:off x="1959774" y="707443"/>
              <a:ext cx="543922" cy="27584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Cache</a:t>
              </a:r>
            </a:p>
          </p:txBody>
        </p:sp>
        <p:sp>
          <p:nvSpPr>
            <p:cNvPr id="386" name="Line"/>
            <p:cNvSpPr/>
            <p:nvPr/>
          </p:nvSpPr>
          <p:spPr>
            <a:xfrm>
              <a:off x="2254725" y="1101292"/>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87" name="Cache"/>
            <p:cNvSpPr txBox="1"/>
            <p:nvPr/>
          </p:nvSpPr>
          <p:spPr>
            <a:xfrm>
              <a:off x="2826850" y="707443"/>
              <a:ext cx="543922" cy="27584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Cache</a:t>
              </a:r>
            </a:p>
          </p:txBody>
        </p:sp>
        <p:sp>
          <p:nvSpPr>
            <p:cNvPr id="388" name="Line"/>
            <p:cNvSpPr/>
            <p:nvPr/>
          </p:nvSpPr>
          <p:spPr>
            <a:xfrm>
              <a:off x="3121801" y="1101292"/>
              <a:ext cx="1" cy="194697"/>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89" name="Rectangle"/>
            <p:cNvSpPr/>
            <p:nvPr/>
          </p:nvSpPr>
          <p:spPr>
            <a:xfrm>
              <a:off x="133017" y="636104"/>
              <a:ext cx="788252" cy="428034"/>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90" name="Rectangle"/>
            <p:cNvSpPr/>
            <p:nvPr/>
          </p:nvSpPr>
          <p:spPr>
            <a:xfrm>
              <a:off x="1000093" y="636104"/>
              <a:ext cx="788251" cy="428034"/>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91" name="Rectangle"/>
            <p:cNvSpPr/>
            <p:nvPr/>
          </p:nvSpPr>
          <p:spPr>
            <a:xfrm>
              <a:off x="1867168" y="636104"/>
              <a:ext cx="788252" cy="428034"/>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92" name="Rectangle"/>
            <p:cNvSpPr/>
            <p:nvPr/>
          </p:nvSpPr>
          <p:spPr>
            <a:xfrm>
              <a:off x="2734244" y="636104"/>
              <a:ext cx="788252" cy="428034"/>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grpSp>
      <p:grpSp>
        <p:nvGrpSpPr>
          <p:cNvPr id="414" name="Group"/>
          <p:cNvGrpSpPr/>
          <p:nvPr/>
        </p:nvGrpSpPr>
        <p:grpSpPr>
          <a:xfrm>
            <a:off x="4800600" y="2971800"/>
            <a:ext cx="3610968" cy="1924669"/>
            <a:chOff x="0" y="0"/>
            <a:chExt cx="3610967" cy="1924668"/>
          </a:xfrm>
        </p:grpSpPr>
        <p:sp>
          <p:nvSpPr>
            <p:cNvPr id="394" name="CPU"/>
            <p:cNvSpPr txBox="1"/>
            <p:nvPr/>
          </p:nvSpPr>
          <p:spPr>
            <a:xfrm>
              <a:off x="284027" y="77655"/>
              <a:ext cx="446730" cy="32756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395" name="Oval"/>
            <p:cNvSpPr/>
            <p:nvPr/>
          </p:nvSpPr>
          <p:spPr>
            <a:xfrm>
              <a:off x="180868" y="0"/>
              <a:ext cx="635442" cy="460641"/>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96" name="Line"/>
            <p:cNvSpPr/>
            <p:nvPr/>
          </p:nvSpPr>
          <p:spPr>
            <a:xfrm>
              <a:off x="507391" y="460640"/>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97" name="Rectangle"/>
            <p:cNvSpPr/>
            <p:nvPr/>
          </p:nvSpPr>
          <p:spPr>
            <a:xfrm>
              <a:off x="0" y="908083"/>
              <a:ext cx="3610968" cy="254148"/>
            </a:xfrm>
            <a:prstGeom prst="rect">
              <a:avLst/>
            </a:prstGeom>
            <a:solidFill>
              <a:srgbClr val="FF0000">
                <a:alpha val="50195"/>
              </a:srgbClr>
            </a:solid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398" name="Line"/>
            <p:cNvSpPr/>
            <p:nvPr/>
          </p:nvSpPr>
          <p:spPr>
            <a:xfrm>
              <a:off x="1799081" y="1133991"/>
              <a:ext cx="1" cy="229438"/>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399" name="Rectangle"/>
            <p:cNvSpPr/>
            <p:nvPr/>
          </p:nvSpPr>
          <p:spPr>
            <a:xfrm>
              <a:off x="230487" y="1363429"/>
              <a:ext cx="3149993" cy="561240"/>
            </a:xfrm>
            <a:prstGeom prst="rect">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400" name="Main memory"/>
            <p:cNvSpPr txBox="1"/>
            <p:nvPr/>
          </p:nvSpPr>
          <p:spPr>
            <a:xfrm>
              <a:off x="1098635" y="1416376"/>
              <a:ext cx="1367279" cy="3981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800" b="0"/>
              </a:lvl1pPr>
            </a:lstStyle>
            <a:p>
              <a:r>
                <a:t>Main memory</a:t>
              </a:r>
            </a:p>
          </p:txBody>
        </p:sp>
        <p:sp>
          <p:nvSpPr>
            <p:cNvPr id="401" name="CPU"/>
            <p:cNvSpPr txBox="1"/>
            <p:nvPr/>
          </p:nvSpPr>
          <p:spPr>
            <a:xfrm>
              <a:off x="1129147" y="77655"/>
              <a:ext cx="446730" cy="32756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402" name="Oval"/>
            <p:cNvSpPr/>
            <p:nvPr/>
          </p:nvSpPr>
          <p:spPr>
            <a:xfrm>
              <a:off x="1025988" y="0"/>
              <a:ext cx="635442" cy="460641"/>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403" name="Line"/>
            <p:cNvSpPr/>
            <p:nvPr/>
          </p:nvSpPr>
          <p:spPr>
            <a:xfrm>
              <a:off x="1352511" y="460640"/>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404" name="CPU"/>
            <p:cNvSpPr txBox="1"/>
            <p:nvPr/>
          </p:nvSpPr>
          <p:spPr>
            <a:xfrm>
              <a:off x="1974267" y="77655"/>
              <a:ext cx="446730" cy="32756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405" name="Oval"/>
            <p:cNvSpPr/>
            <p:nvPr/>
          </p:nvSpPr>
          <p:spPr>
            <a:xfrm>
              <a:off x="1871108" y="0"/>
              <a:ext cx="635441" cy="460641"/>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406" name="Line"/>
            <p:cNvSpPr/>
            <p:nvPr/>
          </p:nvSpPr>
          <p:spPr>
            <a:xfrm>
              <a:off x="2197631" y="460640"/>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407" name="CPU"/>
            <p:cNvSpPr txBox="1"/>
            <p:nvPr/>
          </p:nvSpPr>
          <p:spPr>
            <a:xfrm>
              <a:off x="2819387" y="77655"/>
              <a:ext cx="446730" cy="32756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lvl1pPr algn="ctr">
                <a:defRPr sz="1400" b="0"/>
              </a:lvl1pPr>
            </a:lstStyle>
            <a:p>
              <a:r>
                <a:t>CPU</a:t>
              </a:r>
            </a:p>
          </p:txBody>
        </p:sp>
        <p:sp>
          <p:nvSpPr>
            <p:cNvPr id="408" name="Oval"/>
            <p:cNvSpPr/>
            <p:nvPr/>
          </p:nvSpPr>
          <p:spPr>
            <a:xfrm>
              <a:off x="2716228" y="0"/>
              <a:ext cx="635442" cy="460641"/>
            </a:xfrm>
            <a:prstGeom prst="ellipse">
              <a:avLst/>
            </a:prstGeom>
            <a:no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409" name="Line"/>
            <p:cNvSpPr/>
            <p:nvPr/>
          </p:nvSpPr>
          <p:spPr>
            <a:xfrm>
              <a:off x="3042752" y="460640"/>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410" name="Line"/>
            <p:cNvSpPr/>
            <p:nvPr/>
          </p:nvSpPr>
          <p:spPr>
            <a:xfrm>
              <a:off x="507391" y="698059"/>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411" name="Line"/>
            <p:cNvSpPr/>
            <p:nvPr/>
          </p:nvSpPr>
          <p:spPr>
            <a:xfrm>
              <a:off x="1352511" y="698059"/>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412" name="Line"/>
            <p:cNvSpPr/>
            <p:nvPr/>
          </p:nvSpPr>
          <p:spPr>
            <a:xfrm>
              <a:off x="2197631" y="698059"/>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sp>
          <p:nvSpPr>
            <p:cNvPr id="413" name="Line"/>
            <p:cNvSpPr/>
            <p:nvPr/>
          </p:nvSpPr>
          <p:spPr>
            <a:xfrm>
              <a:off x="3042752" y="698059"/>
              <a:ext cx="1" cy="231204"/>
            </a:xfrm>
            <a:prstGeom prst="line">
              <a:avLst/>
            </a:prstGeom>
            <a:noFill/>
            <a:ln w="12700" cap="flat">
              <a:solidFill>
                <a:srgbClr val="000000"/>
              </a:solidFill>
              <a:prstDash val="solid"/>
              <a:round/>
            </a:ln>
            <a:effectLst/>
          </p:spPr>
          <p:txBody>
            <a:bodyPr wrap="square" lIns="45719" tIns="45719" rIns="45719" bIns="45719" numCol="1" anchor="t">
              <a:noAutofit/>
            </a:bodyPr>
            <a:lstStyle/>
            <a:p>
              <a:endParaRPr/>
            </a:p>
          </p:txBody>
        </p:sp>
      </p:grpSp>
      <p:sp>
        <p:nvSpPr>
          <p:cNvPr id="415" name="Line"/>
          <p:cNvSpPr/>
          <p:nvPr/>
        </p:nvSpPr>
        <p:spPr>
          <a:xfrm>
            <a:off x="3670300" y="4037285"/>
            <a:ext cx="1157926" cy="1"/>
          </a:xfrm>
          <a:prstGeom prst="line">
            <a:avLst/>
          </a:prstGeom>
          <a:ln w="25400">
            <a:solidFill>
              <a:schemeClr val="accent1"/>
            </a:solidFill>
            <a:tailEnd type="triangle"/>
          </a:ln>
          <a:effectLst>
            <a:outerShdw blurRad="38100" dist="20000" dir="5400000" rotWithShape="0">
              <a:srgbClr val="000000">
                <a:alpha val="38000"/>
              </a:srgbClr>
            </a:outerShdw>
          </a:effectLst>
        </p:spPr>
        <p:txBody>
          <a:bodyPr lIns="45719" rIns="45719"/>
          <a:lstStyle/>
          <a:p>
            <a:endParaRPr/>
          </a:p>
        </p:txBody>
      </p:sp>
      <p:sp>
        <p:nvSpPr>
          <p:cNvPr id="41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15</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419" name="Write-invalidate Example"/>
          <p:cNvSpPr txBox="1">
            <a:spLocks noGrp="1"/>
          </p:cNvSpPr>
          <p:nvPr>
            <p:ph type="title" idx="4294967295"/>
          </p:nvPr>
        </p:nvSpPr>
        <p:spPr>
          <a:xfrm>
            <a:off x="685800" y="152400"/>
            <a:ext cx="7772400" cy="838200"/>
          </a:xfrm>
          <a:prstGeom prst="rect">
            <a:avLst/>
          </a:prstGeom>
        </p:spPr>
        <p:txBody>
          <a:bodyPr>
            <a:normAutofit/>
          </a:bodyPr>
          <a:lstStyle>
            <a:lvl1pPr>
              <a:defRPr sz="4000"/>
            </a:lvl1pPr>
          </a:lstStyle>
          <a:p>
            <a:r>
              <a:t>Write-invalidate Example</a:t>
            </a:r>
          </a:p>
        </p:txBody>
      </p:sp>
      <p:sp>
        <p:nvSpPr>
          <p:cNvPr id="420" name="CPU"/>
          <p:cNvSpPr txBox="1"/>
          <p:nvPr/>
        </p:nvSpPr>
        <p:spPr>
          <a:xfrm>
            <a:off x="1829514" y="1371600"/>
            <a:ext cx="443072"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CPU</a:t>
            </a:r>
          </a:p>
        </p:txBody>
      </p:sp>
      <p:sp>
        <p:nvSpPr>
          <p:cNvPr id="421" name="Oval"/>
          <p:cNvSpPr/>
          <p:nvPr/>
        </p:nvSpPr>
        <p:spPr>
          <a:xfrm>
            <a:off x="1727200" y="1301750"/>
            <a:ext cx="630238" cy="414338"/>
          </a:xfrm>
          <a:prstGeom prst="ellipse">
            <a:avLst/>
          </a:prstGeom>
          <a:ln w="12700">
            <a:solidFill>
              <a:srgbClr val="000000"/>
            </a:solidFill>
          </a:ln>
        </p:spPr>
        <p:txBody>
          <a:bodyPr lIns="45719" rIns="45719" anchor="ctr"/>
          <a:lstStyle/>
          <a:p>
            <a:pPr>
              <a:defRPr sz="1800" b="0"/>
            </a:pPr>
            <a:endParaRPr/>
          </a:p>
        </p:txBody>
      </p:sp>
      <p:sp>
        <p:nvSpPr>
          <p:cNvPr id="422" name="Line"/>
          <p:cNvSpPr/>
          <p:nvPr/>
        </p:nvSpPr>
        <p:spPr>
          <a:xfrm>
            <a:off x="2051050" y="1716087"/>
            <a:ext cx="0" cy="207963"/>
          </a:xfrm>
          <a:prstGeom prst="line">
            <a:avLst/>
          </a:prstGeom>
          <a:ln w="12700">
            <a:solidFill>
              <a:srgbClr val="000000"/>
            </a:solidFill>
          </a:ln>
        </p:spPr>
        <p:txBody>
          <a:bodyPr lIns="45719" rIns="45719"/>
          <a:lstStyle/>
          <a:p>
            <a:endParaRPr/>
          </a:p>
        </p:txBody>
      </p:sp>
      <p:sp>
        <p:nvSpPr>
          <p:cNvPr id="423" name="Rectangle"/>
          <p:cNvSpPr/>
          <p:nvPr/>
        </p:nvSpPr>
        <p:spPr>
          <a:xfrm>
            <a:off x="3048000" y="5362575"/>
            <a:ext cx="3124200" cy="504825"/>
          </a:xfrm>
          <a:prstGeom prst="rect">
            <a:avLst/>
          </a:prstGeom>
          <a:ln w="12700">
            <a:solidFill>
              <a:srgbClr val="000000"/>
            </a:solidFill>
          </a:ln>
        </p:spPr>
        <p:txBody>
          <a:bodyPr lIns="45719" rIns="45719" anchor="ctr"/>
          <a:lstStyle/>
          <a:p>
            <a:pPr>
              <a:defRPr sz="1800" b="0"/>
            </a:pPr>
            <a:endParaRPr/>
          </a:p>
        </p:txBody>
      </p:sp>
      <p:sp>
        <p:nvSpPr>
          <p:cNvPr id="424" name="Main memory"/>
          <p:cNvSpPr txBox="1"/>
          <p:nvPr/>
        </p:nvSpPr>
        <p:spPr>
          <a:xfrm>
            <a:off x="3909040" y="5410200"/>
            <a:ext cx="1356083"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Main memory</a:t>
            </a:r>
          </a:p>
        </p:txBody>
      </p:sp>
      <p:sp>
        <p:nvSpPr>
          <p:cNvPr id="425" name="CPU"/>
          <p:cNvSpPr txBox="1"/>
          <p:nvPr/>
        </p:nvSpPr>
        <p:spPr>
          <a:xfrm>
            <a:off x="4344114" y="1371600"/>
            <a:ext cx="443072"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CPU</a:t>
            </a:r>
          </a:p>
        </p:txBody>
      </p:sp>
      <p:sp>
        <p:nvSpPr>
          <p:cNvPr id="426" name="Oval"/>
          <p:cNvSpPr/>
          <p:nvPr/>
        </p:nvSpPr>
        <p:spPr>
          <a:xfrm>
            <a:off x="4241800" y="1301750"/>
            <a:ext cx="630238" cy="414338"/>
          </a:xfrm>
          <a:prstGeom prst="ellipse">
            <a:avLst/>
          </a:prstGeom>
          <a:ln w="12700">
            <a:solidFill>
              <a:srgbClr val="000000"/>
            </a:solidFill>
          </a:ln>
        </p:spPr>
        <p:txBody>
          <a:bodyPr lIns="45719" rIns="45719" anchor="ctr"/>
          <a:lstStyle/>
          <a:p>
            <a:pPr>
              <a:defRPr sz="1800" b="0"/>
            </a:pPr>
            <a:endParaRPr/>
          </a:p>
        </p:txBody>
      </p:sp>
      <p:sp>
        <p:nvSpPr>
          <p:cNvPr id="427" name="Line"/>
          <p:cNvSpPr/>
          <p:nvPr/>
        </p:nvSpPr>
        <p:spPr>
          <a:xfrm>
            <a:off x="4565650" y="1716087"/>
            <a:ext cx="0" cy="207963"/>
          </a:xfrm>
          <a:prstGeom prst="line">
            <a:avLst/>
          </a:prstGeom>
          <a:ln w="12700">
            <a:solidFill>
              <a:srgbClr val="000000"/>
            </a:solidFill>
          </a:ln>
        </p:spPr>
        <p:txBody>
          <a:bodyPr lIns="45719" rIns="45719"/>
          <a:lstStyle/>
          <a:p>
            <a:endParaRPr/>
          </a:p>
        </p:txBody>
      </p:sp>
      <p:sp>
        <p:nvSpPr>
          <p:cNvPr id="428" name="CPU"/>
          <p:cNvSpPr txBox="1"/>
          <p:nvPr/>
        </p:nvSpPr>
        <p:spPr>
          <a:xfrm>
            <a:off x="6882526" y="1371600"/>
            <a:ext cx="443073"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CPU</a:t>
            </a:r>
          </a:p>
        </p:txBody>
      </p:sp>
      <p:sp>
        <p:nvSpPr>
          <p:cNvPr id="429" name="Oval"/>
          <p:cNvSpPr/>
          <p:nvPr/>
        </p:nvSpPr>
        <p:spPr>
          <a:xfrm>
            <a:off x="6780212" y="1301750"/>
            <a:ext cx="630239" cy="414338"/>
          </a:xfrm>
          <a:prstGeom prst="ellipse">
            <a:avLst/>
          </a:prstGeom>
          <a:ln w="12700">
            <a:solidFill>
              <a:srgbClr val="000000"/>
            </a:solidFill>
          </a:ln>
        </p:spPr>
        <p:txBody>
          <a:bodyPr lIns="45719" rIns="45719" anchor="ctr"/>
          <a:lstStyle/>
          <a:p>
            <a:pPr>
              <a:defRPr sz="1800" b="0"/>
            </a:pPr>
            <a:endParaRPr/>
          </a:p>
        </p:txBody>
      </p:sp>
      <p:sp>
        <p:nvSpPr>
          <p:cNvPr id="430" name="Line"/>
          <p:cNvSpPr/>
          <p:nvPr/>
        </p:nvSpPr>
        <p:spPr>
          <a:xfrm>
            <a:off x="7104062" y="1716087"/>
            <a:ext cx="1" cy="207963"/>
          </a:xfrm>
          <a:prstGeom prst="line">
            <a:avLst/>
          </a:prstGeom>
          <a:ln w="12700">
            <a:solidFill>
              <a:srgbClr val="000000"/>
            </a:solidFill>
          </a:ln>
        </p:spPr>
        <p:txBody>
          <a:bodyPr lIns="45719" rIns="45719"/>
          <a:lstStyle/>
          <a:p>
            <a:endParaRPr/>
          </a:p>
        </p:txBody>
      </p:sp>
      <p:sp>
        <p:nvSpPr>
          <p:cNvPr id="431" name="Cache"/>
          <p:cNvSpPr txBox="1"/>
          <p:nvPr/>
        </p:nvSpPr>
        <p:spPr>
          <a:xfrm>
            <a:off x="1765921" y="2057400"/>
            <a:ext cx="525808"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Cache</a:t>
            </a:r>
          </a:p>
        </p:txBody>
      </p:sp>
      <p:sp>
        <p:nvSpPr>
          <p:cNvPr id="432" name="Cache"/>
          <p:cNvSpPr txBox="1"/>
          <p:nvPr/>
        </p:nvSpPr>
        <p:spPr>
          <a:xfrm>
            <a:off x="4280521" y="2057400"/>
            <a:ext cx="525808"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Cache</a:t>
            </a:r>
          </a:p>
        </p:txBody>
      </p:sp>
      <p:sp>
        <p:nvSpPr>
          <p:cNvPr id="433" name="Cache"/>
          <p:cNvSpPr txBox="1"/>
          <p:nvPr/>
        </p:nvSpPr>
        <p:spPr>
          <a:xfrm>
            <a:off x="6818933" y="2057400"/>
            <a:ext cx="525809"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Cache</a:t>
            </a:r>
          </a:p>
        </p:txBody>
      </p:sp>
      <p:sp>
        <p:nvSpPr>
          <p:cNvPr id="434" name="Rectangle"/>
          <p:cNvSpPr/>
          <p:nvPr/>
        </p:nvSpPr>
        <p:spPr>
          <a:xfrm>
            <a:off x="1676400" y="1981200"/>
            <a:ext cx="762000" cy="457200"/>
          </a:xfrm>
          <a:prstGeom prst="rect">
            <a:avLst/>
          </a:prstGeom>
          <a:ln w="12700">
            <a:solidFill>
              <a:srgbClr val="000000"/>
            </a:solidFill>
          </a:ln>
        </p:spPr>
        <p:txBody>
          <a:bodyPr lIns="45719" rIns="45719" anchor="ctr"/>
          <a:lstStyle/>
          <a:p>
            <a:pPr>
              <a:defRPr sz="1800" b="0"/>
            </a:pPr>
            <a:endParaRPr/>
          </a:p>
        </p:txBody>
      </p:sp>
      <p:sp>
        <p:nvSpPr>
          <p:cNvPr id="435" name="Rectangle"/>
          <p:cNvSpPr/>
          <p:nvPr/>
        </p:nvSpPr>
        <p:spPr>
          <a:xfrm>
            <a:off x="4191000" y="1981200"/>
            <a:ext cx="762000" cy="457200"/>
          </a:xfrm>
          <a:prstGeom prst="rect">
            <a:avLst/>
          </a:prstGeom>
          <a:ln w="12700">
            <a:solidFill>
              <a:srgbClr val="000000"/>
            </a:solidFill>
          </a:ln>
        </p:spPr>
        <p:txBody>
          <a:bodyPr lIns="45719" rIns="45719" anchor="ctr"/>
          <a:lstStyle/>
          <a:p>
            <a:pPr>
              <a:defRPr sz="1800" b="0"/>
            </a:pPr>
            <a:endParaRPr/>
          </a:p>
        </p:txBody>
      </p:sp>
      <p:sp>
        <p:nvSpPr>
          <p:cNvPr id="436" name="Rectangle"/>
          <p:cNvSpPr/>
          <p:nvPr/>
        </p:nvSpPr>
        <p:spPr>
          <a:xfrm>
            <a:off x="6729412" y="1981200"/>
            <a:ext cx="762001" cy="457200"/>
          </a:xfrm>
          <a:prstGeom prst="rect">
            <a:avLst/>
          </a:prstGeom>
          <a:ln w="12700">
            <a:solidFill>
              <a:srgbClr val="000000"/>
            </a:solidFill>
          </a:ln>
        </p:spPr>
        <p:txBody>
          <a:bodyPr lIns="45719" rIns="45719" anchor="ctr"/>
          <a:lstStyle/>
          <a:p>
            <a:pPr>
              <a:defRPr sz="1800" b="0"/>
            </a:pPr>
            <a:endParaRPr/>
          </a:p>
        </p:txBody>
      </p:sp>
      <p:sp>
        <p:nvSpPr>
          <p:cNvPr id="437" name="T1: load A (A=1)"/>
          <p:cNvSpPr txBox="1"/>
          <p:nvPr/>
        </p:nvSpPr>
        <p:spPr>
          <a:xfrm>
            <a:off x="1143000" y="2514600"/>
            <a:ext cx="1616160"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1</a:t>
            </a:r>
            <a:r>
              <a:t>: load A (A=1)</a:t>
            </a:r>
          </a:p>
        </p:txBody>
      </p:sp>
      <p:sp>
        <p:nvSpPr>
          <p:cNvPr id="438" name="T1: A=1"/>
          <p:cNvSpPr txBox="1"/>
          <p:nvPr/>
        </p:nvSpPr>
        <p:spPr>
          <a:xfrm>
            <a:off x="6324600" y="51054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1</a:t>
            </a:r>
            <a:r>
              <a:t>: A=1</a:t>
            </a:r>
          </a:p>
        </p:txBody>
      </p:sp>
      <p:sp>
        <p:nvSpPr>
          <p:cNvPr id="439" name="T1: A not cached"/>
          <p:cNvSpPr txBox="1"/>
          <p:nvPr/>
        </p:nvSpPr>
        <p:spPr>
          <a:xfrm>
            <a:off x="3657600" y="25146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1</a:t>
            </a:r>
            <a:r>
              <a:t>: A not cached</a:t>
            </a:r>
          </a:p>
        </p:txBody>
      </p:sp>
      <p:sp>
        <p:nvSpPr>
          <p:cNvPr id="440" name="T1: A not cached"/>
          <p:cNvSpPr txBox="1"/>
          <p:nvPr/>
        </p:nvSpPr>
        <p:spPr>
          <a:xfrm>
            <a:off x="6172200" y="25146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1</a:t>
            </a:r>
            <a:r>
              <a:t>: A not cached</a:t>
            </a:r>
          </a:p>
        </p:txBody>
      </p:sp>
      <p:sp>
        <p:nvSpPr>
          <p:cNvPr id="441" name="T2: load A (A=1)"/>
          <p:cNvSpPr txBox="1"/>
          <p:nvPr/>
        </p:nvSpPr>
        <p:spPr>
          <a:xfrm>
            <a:off x="6172200" y="2819400"/>
            <a:ext cx="1616160"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2</a:t>
            </a:r>
            <a:r>
              <a:t>: load A (A=1)</a:t>
            </a:r>
          </a:p>
        </p:txBody>
      </p:sp>
      <p:sp>
        <p:nvSpPr>
          <p:cNvPr id="442" name="T2: A not cached"/>
          <p:cNvSpPr txBox="1"/>
          <p:nvPr/>
        </p:nvSpPr>
        <p:spPr>
          <a:xfrm>
            <a:off x="3657600" y="28194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2</a:t>
            </a:r>
            <a:r>
              <a:t>: A not cached</a:t>
            </a:r>
          </a:p>
        </p:txBody>
      </p:sp>
      <p:sp>
        <p:nvSpPr>
          <p:cNvPr id="443" name="T2: A=1"/>
          <p:cNvSpPr txBox="1"/>
          <p:nvPr/>
        </p:nvSpPr>
        <p:spPr>
          <a:xfrm>
            <a:off x="1143000" y="28194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2</a:t>
            </a:r>
            <a:r>
              <a:t>: A=1</a:t>
            </a:r>
          </a:p>
        </p:txBody>
      </p:sp>
      <p:sp>
        <p:nvSpPr>
          <p:cNvPr id="444" name="T2: A=1"/>
          <p:cNvSpPr txBox="1"/>
          <p:nvPr/>
        </p:nvSpPr>
        <p:spPr>
          <a:xfrm>
            <a:off x="6324600" y="54102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2</a:t>
            </a:r>
            <a:r>
              <a:t>: A=1</a:t>
            </a:r>
          </a:p>
        </p:txBody>
      </p:sp>
      <p:sp>
        <p:nvSpPr>
          <p:cNvPr id="445" name="T3: store A (A=2)"/>
          <p:cNvSpPr txBox="1"/>
          <p:nvPr/>
        </p:nvSpPr>
        <p:spPr>
          <a:xfrm>
            <a:off x="6172200" y="3124200"/>
            <a:ext cx="1678110"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FF0000"/>
                </a:solidFill>
              </a:defRPr>
            </a:pPr>
            <a:r>
              <a:t>T</a:t>
            </a:r>
            <a:r>
              <a:rPr baseline="-25000"/>
              <a:t>3</a:t>
            </a:r>
            <a:r>
              <a:t>: store A (A=2)</a:t>
            </a:r>
          </a:p>
        </p:txBody>
      </p:sp>
      <p:sp>
        <p:nvSpPr>
          <p:cNvPr id="446" name="T3: A not cached"/>
          <p:cNvSpPr txBox="1"/>
          <p:nvPr/>
        </p:nvSpPr>
        <p:spPr>
          <a:xfrm>
            <a:off x="3657600" y="31242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3</a:t>
            </a:r>
            <a:r>
              <a:t>: A not cached</a:t>
            </a:r>
          </a:p>
        </p:txBody>
      </p:sp>
      <p:sp>
        <p:nvSpPr>
          <p:cNvPr id="447" name="T3: A not cached"/>
          <p:cNvSpPr txBox="1"/>
          <p:nvPr/>
        </p:nvSpPr>
        <p:spPr>
          <a:xfrm>
            <a:off x="1143000" y="31242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FF0000"/>
                </a:solidFill>
              </a:defRPr>
            </a:pPr>
            <a:r>
              <a:t>T</a:t>
            </a:r>
            <a:r>
              <a:rPr baseline="-25000"/>
              <a:t>3</a:t>
            </a:r>
            <a:r>
              <a:t>: A not cached</a:t>
            </a:r>
          </a:p>
        </p:txBody>
      </p:sp>
      <p:sp>
        <p:nvSpPr>
          <p:cNvPr id="448" name="T3: A=1"/>
          <p:cNvSpPr txBox="1"/>
          <p:nvPr/>
        </p:nvSpPr>
        <p:spPr>
          <a:xfrm>
            <a:off x="6324600" y="57150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3</a:t>
            </a:r>
            <a:r>
              <a:t>: A=1</a:t>
            </a:r>
          </a:p>
        </p:txBody>
      </p:sp>
      <p:sp>
        <p:nvSpPr>
          <p:cNvPr id="449" name="invalidate"/>
          <p:cNvSpPr txBox="1"/>
          <p:nvPr/>
        </p:nvSpPr>
        <p:spPr>
          <a:xfrm>
            <a:off x="685800" y="4419600"/>
            <a:ext cx="939513"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solidFill>
                  <a:srgbClr val="FF0000"/>
                </a:solidFill>
              </a:defRPr>
            </a:lvl1pPr>
          </a:lstStyle>
          <a:p>
            <a:r>
              <a:t>invalidate</a:t>
            </a:r>
          </a:p>
        </p:txBody>
      </p:sp>
      <p:sp>
        <p:nvSpPr>
          <p:cNvPr id="450" name="stale"/>
          <p:cNvSpPr txBox="1"/>
          <p:nvPr/>
        </p:nvSpPr>
        <p:spPr>
          <a:xfrm>
            <a:off x="7696200" y="5334000"/>
            <a:ext cx="49459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lvl1pPr>
          </a:lstStyle>
          <a:p>
            <a:r>
              <a:t>stale</a:t>
            </a:r>
          </a:p>
        </p:txBody>
      </p:sp>
      <p:sp>
        <p:nvSpPr>
          <p:cNvPr id="451" name="Line"/>
          <p:cNvSpPr/>
          <p:nvPr/>
        </p:nvSpPr>
        <p:spPr>
          <a:xfrm flipH="1">
            <a:off x="7239000" y="5562600"/>
            <a:ext cx="457201" cy="304800"/>
          </a:xfrm>
          <a:prstGeom prst="line">
            <a:avLst/>
          </a:prstGeom>
          <a:ln w="12700">
            <a:solidFill>
              <a:srgbClr val="000000"/>
            </a:solidFill>
            <a:tailEnd type="triangle"/>
          </a:ln>
        </p:spPr>
        <p:txBody>
          <a:bodyPr lIns="45719" rIns="45719"/>
          <a:lstStyle/>
          <a:p>
            <a:endParaRPr/>
          </a:p>
        </p:txBody>
      </p:sp>
      <p:sp>
        <p:nvSpPr>
          <p:cNvPr id="452" name="T4: load A (A=2)"/>
          <p:cNvSpPr txBox="1"/>
          <p:nvPr/>
        </p:nvSpPr>
        <p:spPr>
          <a:xfrm>
            <a:off x="3657600" y="3429000"/>
            <a:ext cx="1616160"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0000FF"/>
                </a:solidFill>
              </a:defRPr>
            </a:pPr>
            <a:r>
              <a:t>T</a:t>
            </a:r>
            <a:r>
              <a:rPr baseline="-25000"/>
              <a:t>4</a:t>
            </a:r>
            <a:r>
              <a:t>: load A (A=2)</a:t>
            </a:r>
          </a:p>
        </p:txBody>
      </p:sp>
      <p:sp>
        <p:nvSpPr>
          <p:cNvPr id="453" name="T4: A not cached"/>
          <p:cNvSpPr txBox="1"/>
          <p:nvPr/>
        </p:nvSpPr>
        <p:spPr>
          <a:xfrm>
            <a:off x="1143000" y="34290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4</a:t>
            </a:r>
            <a:r>
              <a:t>: A not cached</a:t>
            </a:r>
          </a:p>
        </p:txBody>
      </p:sp>
      <p:sp>
        <p:nvSpPr>
          <p:cNvPr id="454" name="T4: A=2"/>
          <p:cNvSpPr txBox="1"/>
          <p:nvPr/>
        </p:nvSpPr>
        <p:spPr>
          <a:xfrm>
            <a:off x="6172200" y="34290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4</a:t>
            </a:r>
            <a:r>
              <a:t>: A=2</a:t>
            </a:r>
          </a:p>
        </p:txBody>
      </p:sp>
      <p:sp>
        <p:nvSpPr>
          <p:cNvPr id="455" name="T4: A=1"/>
          <p:cNvSpPr txBox="1"/>
          <p:nvPr/>
        </p:nvSpPr>
        <p:spPr>
          <a:xfrm>
            <a:off x="6324600" y="6019800"/>
            <a:ext cx="836124"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rPr dirty="0"/>
              <a:t>T</a:t>
            </a:r>
            <a:r>
              <a:rPr baseline="-25000" dirty="0"/>
              <a:t>4</a:t>
            </a:r>
            <a:r>
              <a:rPr dirty="0"/>
              <a:t>: A=</a:t>
            </a:r>
            <a:r>
              <a:rPr lang="en-US" dirty="0"/>
              <a:t>2</a:t>
            </a:r>
            <a:endParaRPr dirty="0"/>
          </a:p>
        </p:txBody>
      </p:sp>
      <p:sp>
        <p:nvSpPr>
          <p:cNvPr id="456" name="new value"/>
          <p:cNvSpPr txBox="1"/>
          <p:nvPr/>
        </p:nvSpPr>
        <p:spPr>
          <a:xfrm>
            <a:off x="3886200" y="3962400"/>
            <a:ext cx="98070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solidFill>
                  <a:srgbClr val="0000FF"/>
                </a:solidFill>
              </a:defRPr>
            </a:lvl1pPr>
          </a:lstStyle>
          <a:p>
            <a:r>
              <a:t>new value</a:t>
            </a:r>
          </a:p>
        </p:txBody>
      </p:sp>
      <p:sp>
        <p:nvSpPr>
          <p:cNvPr id="457" name="Line"/>
          <p:cNvSpPr/>
          <p:nvPr/>
        </p:nvSpPr>
        <p:spPr>
          <a:xfrm>
            <a:off x="95412" y="3352800"/>
            <a:ext cx="8482858" cy="1752710"/>
          </a:xfrm>
          <a:custGeom>
            <a:avLst/>
            <a:gdLst/>
            <a:ahLst/>
            <a:cxnLst>
              <a:cxn ang="0">
                <a:pos x="wd2" y="hd2"/>
              </a:cxn>
              <a:cxn ang="5400000">
                <a:pos x="wd2" y="hd2"/>
              </a:cxn>
              <a:cxn ang="10800000">
                <a:pos x="wd2" y="hd2"/>
              </a:cxn>
              <a:cxn ang="16200000">
                <a:pos x="wd2" y="hd2"/>
              </a:cxn>
            </a:cxnLst>
            <a:rect l="0" t="0" r="r" b="b"/>
            <a:pathLst>
              <a:path w="20038" h="21446" extrusionOk="0">
                <a:moveTo>
                  <a:pt x="18675" y="0"/>
                </a:moveTo>
                <a:cubicBezTo>
                  <a:pt x="19710" y="78"/>
                  <a:pt x="20745" y="155"/>
                  <a:pt x="19395" y="3729"/>
                </a:cubicBezTo>
                <a:cubicBezTo>
                  <a:pt x="18045" y="7304"/>
                  <a:pt x="13725" y="21289"/>
                  <a:pt x="10575" y="21445"/>
                </a:cubicBezTo>
                <a:cubicBezTo>
                  <a:pt x="7425" y="21600"/>
                  <a:pt x="1845" y="8236"/>
                  <a:pt x="495" y="4662"/>
                </a:cubicBezTo>
                <a:cubicBezTo>
                  <a:pt x="-855" y="1088"/>
                  <a:pt x="810" y="544"/>
                  <a:pt x="2475" y="0"/>
                </a:cubicBezTo>
              </a:path>
            </a:pathLst>
          </a:custGeom>
          <a:ln w="19050">
            <a:solidFill>
              <a:srgbClr val="FF0000"/>
            </a:solidFill>
            <a:tailEnd type="triangle"/>
          </a:ln>
        </p:spPr>
        <p:txBody>
          <a:bodyPr lIns="45719" rIns="45719"/>
          <a:lstStyle/>
          <a:p>
            <a:pPr>
              <a:defRPr sz="1800" b="0"/>
            </a:pPr>
            <a:endParaRPr/>
          </a:p>
        </p:txBody>
      </p:sp>
      <p:sp>
        <p:nvSpPr>
          <p:cNvPr id="458" name="Line"/>
          <p:cNvSpPr/>
          <p:nvPr/>
        </p:nvSpPr>
        <p:spPr>
          <a:xfrm>
            <a:off x="3169882" y="3657600"/>
            <a:ext cx="4423460" cy="742189"/>
          </a:xfrm>
          <a:custGeom>
            <a:avLst/>
            <a:gdLst/>
            <a:ahLst/>
            <a:cxnLst>
              <a:cxn ang="0">
                <a:pos x="wd2" y="hd2"/>
              </a:cxn>
              <a:cxn ang="5400000">
                <a:pos x="wd2" y="hd2"/>
              </a:cxn>
              <a:cxn ang="10800000">
                <a:pos x="wd2" y="hd2"/>
              </a:cxn>
              <a:cxn ang="16200000">
                <a:pos x="wd2" y="hd2"/>
              </a:cxn>
            </a:cxnLst>
            <a:rect l="0" t="0" r="r" b="b"/>
            <a:pathLst>
              <a:path w="20062" h="21038" extrusionOk="0">
                <a:moveTo>
                  <a:pt x="17764" y="0"/>
                </a:moveTo>
                <a:cubicBezTo>
                  <a:pt x="19463" y="0"/>
                  <a:pt x="21162" y="0"/>
                  <a:pt x="19146" y="3503"/>
                </a:cubicBezTo>
                <a:cubicBezTo>
                  <a:pt x="17130" y="7005"/>
                  <a:pt x="8836" y="20432"/>
                  <a:pt x="5668" y="21016"/>
                </a:cubicBezTo>
                <a:cubicBezTo>
                  <a:pt x="2500" y="21600"/>
                  <a:pt x="714" y="10508"/>
                  <a:pt x="138" y="7005"/>
                </a:cubicBezTo>
                <a:cubicBezTo>
                  <a:pt x="-438" y="3503"/>
                  <a:pt x="887" y="1751"/>
                  <a:pt x="2212" y="0"/>
                </a:cubicBezTo>
              </a:path>
            </a:pathLst>
          </a:custGeom>
          <a:ln w="19050">
            <a:solidFill>
              <a:srgbClr val="0000FF"/>
            </a:solidFill>
            <a:tailEnd type="triangle"/>
          </a:ln>
        </p:spPr>
        <p:txBody>
          <a:bodyPr lIns="45719" rIns="45719"/>
          <a:lstStyle/>
          <a:p>
            <a:pPr>
              <a:defRPr sz="1800" b="0"/>
            </a:pPr>
            <a:endParaRPr/>
          </a:p>
        </p:txBody>
      </p:sp>
      <p:sp>
        <p:nvSpPr>
          <p:cNvPr id="459" name="T5: load A (A=2)"/>
          <p:cNvSpPr txBox="1"/>
          <p:nvPr/>
        </p:nvSpPr>
        <p:spPr>
          <a:xfrm>
            <a:off x="1143000" y="3733800"/>
            <a:ext cx="1616160"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FF0000"/>
                </a:solidFill>
              </a:defRPr>
            </a:pPr>
            <a:r>
              <a:t>T</a:t>
            </a:r>
            <a:r>
              <a:rPr baseline="-25000"/>
              <a:t>5</a:t>
            </a:r>
            <a:r>
              <a:t>: load A (A=2)</a:t>
            </a:r>
          </a:p>
        </p:txBody>
      </p:sp>
      <p:sp>
        <p:nvSpPr>
          <p:cNvPr id="460" name="new value"/>
          <p:cNvSpPr txBox="1"/>
          <p:nvPr/>
        </p:nvSpPr>
        <p:spPr>
          <a:xfrm>
            <a:off x="1860524" y="5758435"/>
            <a:ext cx="98070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solidFill>
                  <a:srgbClr val="FF0000"/>
                </a:solidFill>
              </a:defRPr>
            </a:lvl1pPr>
          </a:lstStyle>
          <a:p>
            <a:r>
              <a:rPr dirty="0"/>
              <a:t>new value</a:t>
            </a:r>
          </a:p>
        </p:txBody>
      </p:sp>
      <p:sp>
        <p:nvSpPr>
          <p:cNvPr id="46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16</a:t>
            </a:fld>
            <a:endParaRPr/>
          </a:p>
        </p:txBody>
      </p:sp>
      <p:sp>
        <p:nvSpPr>
          <p:cNvPr id="8" name="Freeform 7">
            <a:extLst>
              <a:ext uri="{FF2B5EF4-FFF2-40B4-BE49-F238E27FC236}">
                <a16:creationId xmlns:a16="http://schemas.microsoft.com/office/drawing/2014/main" id="{0D1C2C5C-8398-CC97-D996-9D035ABC2AC5}"/>
              </a:ext>
            </a:extLst>
          </p:cNvPr>
          <p:cNvSpPr/>
          <p:nvPr/>
        </p:nvSpPr>
        <p:spPr bwMode="auto">
          <a:xfrm>
            <a:off x="7089732" y="3524065"/>
            <a:ext cx="1547934" cy="2752738"/>
          </a:xfrm>
          <a:custGeom>
            <a:avLst/>
            <a:gdLst>
              <a:gd name="connsiteX0" fmla="*/ 25052 w 1547934"/>
              <a:gd name="connsiteY0" fmla="*/ 70905 h 2752738"/>
              <a:gd name="connsiteX1" fmla="*/ 350728 w 1547934"/>
              <a:gd name="connsiteY1" fmla="*/ 33327 h 2752738"/>
              <a:gd name="connsiteX2" fmla="*/ 400832 w 1547934"/>
              <a:gd name="connsiteY2" fmla="*/ 20801 h 2752738"/>
              <a:gd name="connsiteX3" fmla="*/ 1089764 w 1547934"/>
              <a:gd name="connsiteY3" fmla="*/ 33327 h 2752738"/>
              <a:gd name="connsiteX4" fmla="*/ 1453019 w 1547934"/>
              <a:gd name="connsiteY4" fmla="*/ 421634 h 2752738"/>
              <a:gd name="connsiteX5" fmla="*/ 1528175 w 1547934"/>
              <a:gd name="connsiteY5" fmla="*/ 1198247 h 2752738"/>
              <a:gd name="connsiteX6" fmla="*/ 1490597 w 1547934"/>
              <a:gd name="connsiteY6" fmla="*/ 2037491 h 2752738"/>
              <a:gd name="connsiteX7" fmla="*/ 951978 w 1547934"/>
              <a:gd name="connsiteY7" fmla="*/ 2413272 h 2752738"/>
              <a:gd name="connsiteX8" fmla="*/ 313150 w 1547934"/>
              <a:gd name="connsiteY8" fmla="*/ 2726423 h 2752738"/>
              <a:gd name="connsiteX9" fmla="*/ 0 w 1547934"/>
              <a:gd name="connsiteY9" fmla="*/ 2713897 h 275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7934" h="2752738">
                <a:moveTo>
                  <a:pt x="25052" y="70905"/>
                </a:moveTo>
                <a:lnTo>
                  <a:pt x="350728" y="33327"/>
                </a:lnTo>
                <a:cubicBezTo>
                  <a:pt x="413358" y="24976"/>
                  <a:pt x="277659" y="20801"/>
                  <a:pt x="400832" y="20801"/>
                </a:cubicBezTo>
                <a:cubicBezTo>
                  <a:pt x="524005" y="20801"/>
                  <a:pt x="914400" y="-33479"/>
                  <a:pt x="1089764" y="33327"/>
                </a:cubicBezTo>
                <a:cubicBezTo>
                  <a:pt x="1265129" y="100133"/>
                  <a:pt x="1379950" y="227481"/>
                  <a:pt x="1453019" y="421634"/>
                </a:cubicBezTo>
                <a:cubicBezTo>
                  <a:pt x="1526088" y="615787"/>
                  <a:pt x="1521912" y="928938"/>
                  <a:pt x="1528175" y="1198247"/>
                </a:cubicBezTo>
                <a:cubicBezTo>
                  <a:pt x="1534438" y="1467556"/>
                  <a:pt x="1586630" y="1834987"/>
                  <a:pt x="1490597" y="2037491"/>
                </a:cubicBezTo>
                <a:cubicBezTo>
                  <a:pt x="1394564" y="2239995"/>
                  <a:pt x="1148219" y="2298450"/>
                  <a:pt x="951978" y="2413272"/>
                </a:cubicBezTo>
                <a:cubicBezTo>
                  <a:pt x="755737" y="2528094"/>
                  <a:pt x="471813" y="2676319"/>
                  <a:pt x="313150" y="2726423"/>
                </a:cubicBezTo>
                <a:cubicBezTo>
                  <a:pt x="154487" y="2776527"/>
                  <a:pt x="77243" y="2745212"/>
                  <a:pt x="0" y="2713897"/>
                </a:cubicBezTo>
              </a:path>
            </a:pathLst>
          </a:custGeom>
          <a:noFill/>
          <a:ln w="12700" cap="flat" cmpd="sng" algn="ctr">
            <a:solidFill>
              <a:srgbClr val="0000FF"/>
            </a:solidFill>
            <a:prstDash val="solid"/>
            <a:round/>
            <a:headEnd type="none" w="sm" len="sm"/>
            <a:tailEnd type="triangle" w="lg"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Garamond" pitchFamily="-112" charset="0"/>
            </a:endParaRPr>
          </a:p>
        </p:txBody>
      </p:sp>
      <p:sp>
        <p:nvSpPr>
          <p:cNvPr id="9" name="Freeform 8">
            <a:extLst>
              <a:ext uri="{FF2B5EF4-FFF2-40B4-BE49-F238E27FC236}">
                <a16:creationId xmlns:a16="http://schemas.microsoft.com/office/drawing/2014/main" id="{E73649F4-6322-1911-1526-3DE6EB8A7BC4}"/>
              </a:ext>
            </a:extLst>
          </p:cNvPr>
          <p:cNvSpPr/>
          <p:nvPr/>
        </p:nvSpPr>
        <p:spPr bwMode="auto">
          <a:xfrm>
            <a:off x="338550" y="3933173"/>
            <a:ext cx="6049724" cy="2367670"/>
          </a:xfrm>
          <a:custGeom>
            <a:avLst/>
            <a:gdLst>
              <a:gd name="connsiteX0" fmla="*/ 6049724 w 6049724"/>
              <a:gd name="connsiteY0" fmla="*/ 2304789 h 2367670"/>
              <a:gd name="connsiteX1" fmla="*/ 5110272 w 6049724"/>
              <a:gd name="connsiteY1" fmla="*/ 2367419 h 2367670"/>
              <a:gd name="connsiteX2" fmla="*/ 3895247 w 6049724"/>
              <a:gd name="connsiteY2" fmla="*/ 2317315 h 2367670"/>
              <a:gd name="connsiteX3" fmla="*/ 1227203 w 6049724"/>
              <a:gd name="connsiteY3" fmla="*/ 2116898 h 2367670"/>
              <a:gd name="connsiteX4" fmla="*/ 200069 w 6049724"/>
              <a:gd name="connsiteY4" fmla="*/ 1615857 h 2367670"/>
              <a:gd name="connsiteX5" fmla="*/ 12179 w 6049724"/>
              <a:gd name="connsiteY5" fmla="*/ 1002082 h 2367670"/>
              <a:gd name="connsiteX6" fmla="*/ 112387 w 6049724"/>
              <a:gd name="connsiteY6" fmla="*/ 212942 h 2367670"/>
              <a:gd name="connsiteX7" fmla="*/ 863949 w 6049724"/>
              <a:gd name="connsiteY7" fmla="*/ 0 h 2367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49724" h="2367670">
                <a:moveTo>
                  <a:pt x="6049724" y="2304789"/>
                </a:moveTo>
                <a:cubicBezTo>
                  <a:pt x="5759537" y="2335060"/>
                  <a:pt x="5469351" y="2365331"/>
                  <a:pt x="5110272" y="2367419"/>
                </a:cubicBezTo>
                <a:cubicBezTo>
                  <a:pt x="4751193" y="2369507"/>
                  <a:pt x="4542425" y="2359068"/>
                  <a:pt x="3895247" y="2317315"/>
                </a:cubicBezTo>
                <a:cubicBezTo>
                  <a:pt x="3248069" y="2275562"/>
                  <a:pt x="1843066" y="2233808"/>
                  <a:pt x="1227203" y="2116898"/>
                </a:cubicBezTo>
                <a:cubicBezTo>
                  <a:pt x="611340" y="1999988"/>
                  <a:pt x="402573" y="1801660"/>
                  <a:pt x="200069" y="1615857"/>
                </a:cubicBezTo>
                <a:cubicBezTo>
                  <a:pt x="-2435" y="1430054"/>
                  <a:pt x="26793" y="1235901"/>
                  <a:pt x="12179" y="1002082"/>
                </a:cubicBezTo>
                <a:cubicBezTo>
                  <a:pt x="-2435" y="768263"/>
                  <a:pt x="-29575" y="379956"/>
                  <a:pt x="112387" y="212942"/>
                </a:cubicBezTo>
                <a:cubicBezTo>
                  <a:pt x="254349" y="45928"/>
                  <a:pt x="559149" y="22964"/>
                  <a:pt x="863949" y="0"/>
                </a:cubicBezTo>
              </a:path>
            </a:pathLst>
          </a:custGeom>
          <a:noFill/>
          <a:ln w="12700" cap="flat" cmpd="sng" algn="ctr">
            <a:solidFill>
              <a:srgbClr val="FF0000"/>
            </a:solidFill>
            <a:prstDash val="solid"/>
            <a:round/>
            <a:headEnd type="none" w="sm" len="sm"/>
            <a:tailEnd type="triangle" w="lg"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Garamond" pitchFamily="-112" charset="0"/>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465" name="Write-update Example"/>
          <p:cNvSpPr txBox="1">
            <a:spLocks noGrp="1"/>
          </p:cNvSpPr>
          <p:nvPr>
            <p:ph type="title" idx="4294967295"/>
          </p:nvPr>
        </p:nvSpPr>
        <p:spPr>
          <a:xfrm>
            <a:off x="685800" y="152400"/>
            <a:ext cx="7772400" cy="838200"/>
          </a:xfrm>
          <a:prstGeom prst="rect">
            <a:avLst/>
          </a:prstGeom>
        </p:spPr>
        <p:txBody>
          <a:bodyPr>
            <a:normAutofit/>
          </a:bodyPr>
          <a:lstStyle>
            <a:lvl1pPr>
              <a:defRPr sz="4000"/>
            </a:lvl1pPr>
          </a:lstStyle>
          <a:p>
            <a:r>
              <a:t>Write-update Example</a:t>
            </a:r>
          </a:p>
        </p:txBody>
      </p:sp>
      <p:sp>
        <p:nvSpPr>
          <p:cNvPr id="466" name="CPU"/>
          <p:cNvSpPr txBox="1"/>
          <p:nvPr/>
        </p:nvSpPr>
        <p:spPr>
          <a:xfrm>
            <a:off x="1829514" y="1371600"/>
            <a:ext cx="443072"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CPU</a:t>
            </a:r>
          </a:p>
        </p:txBody>
      </p:sp>
      <p:sp>
        <p:nvSpPr>
          <p:cNvPr id="467" name="Oval"/>
          <p:cNvSpPr/>
          <p:nvPr/>
        </p:nvSpPr>
        <p:spPr>
          <a:xfrm>
            <a:off x="1727200" y="1301750"/>
            <a:ext cx="630238" cy="414338"/>
          </a:xfrm>
          <a:prstGeom prst="ellipse">
            <a:avLst/>
          </a:prstGeom>
          <a:ln w="12700">
            <a:solidFill>
              <a:srgbClr val="000000"/>
            </a:solidFill>
          </a:ln>
        </p:spPr>
        <p:txBody>
          <a:bodyPr lIns="45719" rIns="45719" anchor="ctr"/>
          <a:lstStyle/>
          <a:p>
            <a:pPr>
              <a:defRPr sz="1800" b="0"/>
            </a:pPr>
            <a:endParaRPr/>
          </a:p>
        </p:txBody>
      </p:sp>
      <p:sp>
        <p:nvSpPr>
          <p:cNvPr id="468" name="Line"/>
          <p:cNvSpPr/>
          <p:nvPr/>
        </p:nvSpPr>
        <p:spPr>
          <a:xfrm>
            <a:off x="2051050" y="1716087"/>
            <a:ext cx="0" cy="207963"/>
          </a:xfrm>
          <a:prstGeom prst="line">
            <a:avLst/>
          </a:prstGeom>
          <a:ln w="12700">
            <a:solidFill>
              <a:srgbClr val="000000"/>
            </a:solidFill>
          </a:ln>
        </p:spPr>
        <p:txBody>
          <a:bodyPr lIns="45719" rIns="45719"/>
          <a:lstStyle/>
          <a:p>
            <a:endParaRPr/>
          </a:p>
        </p:txBody>
      </p:sp>
      <p:sp>
        <p:nvSpPr>
          <p:cNvPr id="469" name="Rectangle"/>
          <p:cNvSpPr/>
          <p:nvPr/>
        </p:nvSpPr>
        <p:spPr>
          <a:xfrm>
            <a:off x="3048000" y="5362575"/>
            <a:ext cx="3124200" cy="504825"/>
          </a:xfrm>
          <a:prstGeom prst="rect">
            <a:avLst/>
          </a:prstGeom>
          <a:ln w="12700">
            <a:solidFill>
              <a:srgbClr val="000000"/>
            </a:solidFill>
          </a:ln>
        </p:spPr>
        <p:txBody>
          <a:bodyPr lIns="45719" rIns="45719" anchor="ctr"/>
          <a:lstStyle/>
          <a:p>
            <a:pPr>
              <a:defRPr sz="1800" b="0"/>
            </a:pPr>
            <a:endParaRPr/>
          </a:p>
        </p:txBody>
      </p:sp>
      <p:sp>
        <p:nvSpPr>
          <p:cNvPr id="470" name="Main memory"/>
          <p:cNvSpPr txBox="1"/>
          <p:nvPr/>
        </p:nvSpPr>
        <p:spPr>
          <a:xfrm>
            <a:off x="3909040" y="5410200"/>
            <a:ext cx="1356083"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Main memory</a:t>
            </a:r>
          </a:p>
        </p:txBody>
      </p:sp>
      <p:sp>
        <p:nvSpPr>
          <p:cNvPr id="471" name="CPU"/>
          <p:cNvSpPr txBox="1"/>
          <p:nvPr/>
        </p:nvSpPr>
        <p:spPr>
          <a:xfrm>
            <a:off x="4344114" y="1371600"/>
            <a:ext cx="443072"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CPU</a:t>
            </a:r>
          </a:p>
        </p:txBody>
      </p:sp>
      <p:sp>
        <p:nvSpPr>
          <p:cNvPr id="472" name="Oval"/>
          <p:cNvSpPr/>
          <p:nvPr/>
        </p:nvSpPr>
        <p:spPr>
          <a:xfrm>
            <a:off x="4241800" y="1301750"/>
            <a:ext cx="630238" cy="414338"/>
          </a:xfrm>
          <a:prstGeom prst="ellipse">
            <a:avLst/>
          </a:prstGeom>
          <a:ln w="12700">
            <a:solidFill>
              <a:srgbClr val="000000"/>
            </a:solidFill>
          </a:ln>
        </p:spPr>
        <p:txBody>
          <a:bodyPr lIns="45719" rIns="45719" anchor="ctr"/>
          <a:lstStyle/>
          <a:p>
            <a:pPr>
              <a:defRPr sz="1800" b="0"/>
            </a:pPr>
            <a:endParaRPr/>
          </a:p>
        </p:txBody>
      </p:sp>
      <p:sp>
        <p:nvSpPr>
          <p:cNvPr id="473" name="Line"/>
          <p:cNvSpPr/>
          <p:nvPr/>
        </p:nvSpPr>
        <p:spPr>
          <a:xfrm>
            <a:off x="4565650" y="1716087"/>
            <a:ext cx="0" cy="207963"/>
          </a:xfrm>
          <a:prstGeom prst="line">
            <a:avLst/>
          </a:prstGeom>
          <a:ln w="12700">
            <a:solidFill>
              <a:srgbClr val="000000"/>
            </a:solidFill>
          </a:ln>
        </p:spPr>
        <p:txBody>
          <a:bodyPr lIns="45719" rIns="45719"/>
          <a:lstStyle/>
          <a:p>
            <a:endParaRPr/>
          </a:p>
        </p:txBody>
      </p:sp>
      <p:sp>
        <p:nvSpPr>
          <p:cNvPr id="474" name="CPU"/>
          <p:cNvSpPr txBox="1"/>
          <p:nvPr/>
        </p:nvSpPr>
        <p:spPr>
          <a:xfrm>
            <a:off x="6882526" y="1371600"/>
            <a:ext cx="443073"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CPU</a:t>
            </a:r>
          </a:p>
        </p:txBody>
      </p:sp>
      <p:sp>
        <p:nvSpPr>
          <p:cNvPr id="475" name="Oval"/>
          <p:cNvSpPr/>
          <p:nvPr/>
        </p:nvSpPr>
        <p:spPr>
          <a:xfrm>
            <a:off x="6780212" y="1301750"/>
            <a:ext cx="630239" cy="414338"/>
          </a:xfrm>
          <a:prstGeom prst="ellipse">
            <a:avLst/>
          </a:prstGeom>
          <a:ln w="12700">
            <a:solidFill>
              <a:srgbClr val="000000"/>
            </a:solidFill>
          </a:ln>
        </p:spPr>
        <p:txBody>
          <a:bodyPr lIns="45719" rIns="45719" anchor="ctr"/>
          <a:lstStyle/>
          <a:p>
            <a:pPr>
              <a:defRPr sz="1800" b="0"/>
            </a:pPr>
            <a:endParaRPr/>
          </a:p>
        </p:txBody>
      </p:sp>
      <p:sp>
        <p:nvSpPr>
          <p:cNvPr id="476" name="Line"/>
          <p:cNvSpPr/>
          <p:nvPr/>
        </p:nvSpPr>
        <p:spPr>
          <a:xfrm>
            <a:off x="7104062" y="1716087"/>
            <a:ext cx="1" cy="207963"/>
          </a:xfrm>
          <a:prstGeom prst="line">
            <a:avLst/>
          </a:prstGeom>
          <a:ln w="12700">
            <a:solidFill>
              <a:srgbClr val="000000"/>
            </a:solidFill>
          </a:ln>
        </p:spPr>
        <p:txBody>
          <a:bodyPr lIns="45719" rIns="45719"/>
          <a:lstStyle/>
          <a:p>
            <a:endParaRPr/>
          </a:p>
        </p:txBody>
      </p:sp>
      <p:sp>
        <p:nvSpPr>
          <p:cNvPr id="477" name="Cache"/>
          <p:cNvSpPr txBox="1"/>
          <p:nvPr/>
        </p:nvSpPr>
        <p:spPr>
          <a:xfrm>
            <a:off x="1765921" y="2057400"/>
            <a:ext cx="525808"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Cache</a:t>
            </a:r>
          </a:p>
        </p:txBody>
      </p:sp>
      <p:sp>
        <p:nvSpPr>
          <p:cNvPr id="478" name="Cache"/>
          <p:cNvSpPr txBox="1"/>
          <p:nvPr/>
        </p:nvSpPr>
        <p:spPr>
          <a:xfrm>
            <a:off x="4280521" y="2057400"/>
            <a:ext cx="525808"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Cache</a:t>
            </a:r>
          </a:p>
        </p:txBody>
      </p:sp>
      <p:sp>
        <p:nvSpPr>
          <p:cNvPr id="479" name="Cache"/>
          <p:cNvSpPr txBox="1"/>
          <p:nvPr/>
        </p:nvSpPr>
        <p:spPr>
          <a:xfrm>
            <a:off x="6818933" y="2057400"/>
            <a:ext cx="525809" cy="29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400" b="0"/>
            </a:lvl1pPr>
          </a:lstStyle>
          <a:p>
            <a:r>
              <a:t>Cache</a:t>
            </a:r>
          </a:p>
        </p:txBody>
      </p:sp>
      <p:sp>
        <p:nvSpPr>
          <p:cNvPr id="480" name="Rectangle"/>
          <p:cNvSpPr/>
          <p:nvPr/>
        </p:nvSpPr>
        <p:spPr>
          <a:xfrm>
            <a:off x="1676400" y="1981200"/>
            <a:ext cx="762000" cy="457200"/>
          </a:xfrm>
          <a:prstGeom prst="rect">
            <a:avLst/>
          </a:prstGeom>
          <a:ln w="12700">
            <a:solidFill>
              <a:srgbClr val="000000"/>
            </a:solidFill>
          </a:ln>
        </p:spPr>
        <p:txBody>
          <a:bodyPr lIns="45719" rIns="45719" anchor="ctr"/>
          <a:lstStyle/>
          <a:p>
            <a:pPr>
              <a:defRPr sz="1800" b="0"/>
            </a:pPr>
            <a:endParaRPr/>
          </a:p>
        </p:txBody>
      </p:sp>
      <p:sp>
        <p:nvSpPr>
          <p:cNvPr id="481" name="Rectangle"/>
          <p:cNvSpPr/>
          <p:nvPr/>
        </p:nvSpPr>
        <p:spPr>
          <a:xfrm>
            <a:off x="4191000" y="1981200"/>
            <a:ext cx="762000" cy="457200"/>
          </a:xfrm>
          <a:prstGeom prst="rect">
            <a:avLst/>
          </a:prstGeom>
          <a:ln w="12700">
            <a:solidFill>
              <a:srgbClr val="000000"/>
            </a:solidFill>
          </a:ln>
        </p:spPr>
        <p:txBody>
          <a:bodyPr lIns="45719" rIns="45719" anchor="ctr"/>
          <a:lstStyle/>
          <a:p>
            <a:pPr>
              <a:defRPr sz="1800" b="0"/>
            </a:pPr>
            <a:endParaRPr/>
          </a:p>
        </p:txBody>
      </p:sp>
      <p:sp>
        <p:nvSpPr>
          <p:cNvPr id="482" name="Rectangle"/>
          <p:cNvSpPr/>
          <p:nvPr/>
        </p:nvSpPr>
        <p:spPr>
          <a:xfrm>
            <a:off x="6729412" y="1981200"/>
            <a:ext cx="762001" cy="457200"/>
          </a:xfrm>
          <a:prstGeom prst="rect">
            <a:avLst/>
          </a:prstGeom>
          <a:ln w="12700">
            <a:solidFill>
              <a:srgbClr val="000000"/>
            </a:solidFill>
          </a:ln>
        </p:spPr>
        <p:txBody>
          <a:bodyPr lIns="45719" rIns="45719" anchor="ctr"/>
          <a:lstStyle/>
          <a:p>
            <a:pPr>
              <a:defRPr sz="1800" b="0"/>
            </a:pPr>
            <a:endParaRPr/>
          </a:p>
        </p:txBody>
      </p:sp>
      <p:sp>
        <p:nvSpPr>
          <p:cNvPr id="483" name="T1: load A (A=1)"/>
          <p:cNvSpPr txBox="1"/>
          <p:nvPr/>
        </p:nvSpPr>
        <p:spPr>
          <a:xfrm>
            <a:off x="1143000" y="2514600"/>
            <a:ext cx="1616160"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1</a:t>
            </a:r>
            <a:r>
              <a:t>: load A (A=1)</a:t>
            </a:r>
          </a:p>
        </p:txBody>
      </p:sp>
      <p:sp>
        <p:nvSpPr>
          <p:cNvPr id="484" name="T1: A=1"/>
          <p:cNvSpPr txBox="1"/>
          <p:nvPr/>
        </p:nvSpPr>
        <p:spPr>
          <a:xfrm>
            <a:off x="6324600" y="51054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1</a:t>
            </a:r>
            <a:r>
              <a:t>: A=1</a:t>
            </a:r>
          </a:p>
        </p:txBody>
      </p:sp>
      <p:sp>
        <p:nvSpPr>
          <p:cNvPr id="485" name="T1: A not cached"/>
          <p:cNvSpPr txBox="1"/>
          <p:nvPr/>
        </p:nvSpPr>
        <p:spPr>
          <a:xfrm>
            <a:off x="3657600" y="25146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1</a:t>
            </a:r>
            <a:r>
              <a:t>: A not cached</a:t>
            </a:r>
          </a:p>
        </p:txBody>
      </p:sp>
      <p:sp>
        <p:nvSpPr>
          <p:cNvPr id="486" name="T1: A not cached"/>
          <p:cNvSpPr txBox="1"/>
          <p:nvPr/>
        </p:nvSpPr>
        <p:spPr>
          <a:xfrm>
            <a:off x="6172200" y="25146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1</a:t>
            </a:r>
            <a:r>
              <a:t>: A not cached</a:t>
            </a:r>
          </a:p>
        </p:txBody>
      </p:sp>
      <p:sp>
        <p:nvSpPr>
          <p:cNvPr id="487" name="T2: load A (A=1)"/>
          <p:cNvSpPr txBox="1"/>
          <p:nvPr/>
        </p:nvSpPr>
        <p:spPr>
          <a:xfrm>
            <a:off x="6172200" y="2819400"/>
            <a:ext cx="1616160"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2</a:t>
            </a:r>
            <a:r>
              <a:t>: load A (A=1)</a:t>
            </a:r>
          </a:p>
        </p:txBody>
      </p:sp>
      <p:sp>
        <p:nvSpPr>
          <p:cNvPr id="488" name="T2: A not cached"/>
          <p:cNvSpPr txBox="1"/>
          <p:nvPr/>
        </p:nvSpPr>
        <p:spPr>
          <a:xfrm>
            <a:off x="3657600" y="28194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2</a:t>
            </a:r>
            <a:r>
              <a:t>: A not cached</a:t>
            </a:r>
          </a:p>
        </p:txBody>
      </p:sp>
      <p:sp>
        <p:nvSpPr>
          <p:cNvPr id="489" name="T2: A=1"/>
          <p:cNvSpPr txBox="1"/>
          <p:nvPr/>
        </p:nvSpPr>
        <p:spPr>
          <a:xfrm>
            <a:off x="1143000" y="28194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2</a:t>
            </a:r>
            <a:r>
              <a:t>: A=1</a:t>
            </a:r>
          </a:p>
        </p:txBody>
      </p:sp>
      <p:sp>
        <p:nvSpPr>
          <p:cNvPr id="490" name="T2: A=1"/>
          <p:cNvSpPr txBox="1"/>
          <p:nvPr/>
        </p:nvSpPr>
        <p:spPr>
          <a:xfrm>
            <a:off x="6324600" y="54102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2</a:t>
            </a:r>
            <a:r>
              <a:t>: A=1</a:t>
            </a:r>
          </a:p>
        </p:txBody>
      </p:sp>
      <p:sp>
        <p:nvSpPr>
          <p:cNvPr id="491" name="T3: store A (A=2)"/>
          <p:cNvSpPr txBox="1"/>
          <p:nvPr/>
        </p:nvSpPr>
        <p:spPr>
          <a:xfrm>
            <a:off x="6172200" y="3124200"/>
            <a:ext cx="1678110"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FF0000"/>
                </a:solidFill>
              </a:defRPr>
            </a:pPr>
            <a:r>
              <a:t>T</a:t>
            </a:r>
            <a:r>
              <a:rPr baseline="-25000"/>
              <a:t>3</a:t>
            </a:r>
            <a:r>
              <a:t>: store A (A=2)</a:t>
            </a:r>
          </a:p>
        </p:txBody>
      </p:sp>
      <p:sp>
        <p:nvSpPr>
          <p:cNvPr id="492" name="T3: A not cached"/>
          <p:cNvSpPr txBox="1"/>
          <p:nvPr/>
        </p:nvSpPr>
        <p:spPr>
          <a:xfrm>
            <a:off x="3657600" y="3124200"/>
            <a:ext cx="1598747"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3</a:t>
            </a:r>
            <a:r>
              <a:t>: A not cached</a:t>
            </a:r>
          </a:p>
        </p:txBody>
      </p:sp>
      <p:sp>
        <p:nvSpPr>
          <p:cNvPr id="493" name="T3: A = 2"/>
          <p:cNvSpPr txBox="1"/>
          <p:nvPr/>
        </p:nvSpPr>
        <p:spPr>
          <a:xfrm>
            <a:off x="1143000" y="3124200"/>
            <a:ext cx="9519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FF0000"/>
                </a:solidFill>
              </a:defRPr>
            </a:pPr>
            <a:r>
              <a:t>T</a:t>
            </a:r>
            <a:r>
              <a:rPr baseline="-25000"/>
              <a:t>3</a:t>
            </a:r>
            <a:r>
              <a:t>: A = 2</a:t>
            </a:r>
          </a:p>
        </p:txBody>
      </p:sp>
      <p:sp>
        <p:nvSpPr>
          <p:cNvPr id="494" name="T3: A=2"/>
          <p:cNvSpPr txBox="1"/>
          <p:nvPr/>
        </p:nvSpPr>
        <p:spPr>
          <a:xfrm>
            <a:off x="6324600" y="57150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FF0000"/>
                </a:solidFill>
              </a:defRPr>
            </a:pPr>
            <a:r>
              <a:t>T</a:t>
            </a:r>
            <a:r>
              <a:rPr baseline="-25000"/>
              <a:t>3</a:t>
            </a:r>
            <a:r>
              <a:t>: A=2</a:t>
            </a:r>
          </a:p>
        </p:txBody>
      </p:sp>
      <p:sp>
        <p:nvSpPr>
          <p:cNvPr id="495" name="update"/>
          <p:cNvSpPr txBox="1"/>
          <p:nvPr/>
        </p:nvSpPr>
        <p:spPr>
          <a:xfrm>
            <a:off x="457200" y="4114800"/>
            <a:ext cx="701760"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solidFill>
                  <a:srgbClr val="FF0000"/>
                </a:solidFill>
              </a:defRPr>
            </a:lvl1pPr>
          </a:lstStyle>
          <a:p>
            <a:r>
              <a:t>update</a:t>
            </a:r>
          </a:p>
        </p:txBody>
      </p:sp>
      <p:sp>
        <p:nvSpPr>
          <p:cNvPr id="496" name="update"/>
          <p:cNvSpPr txBox="1"/>
          <p:nvPr/>
        </p:nvSpPr>
        <p:spPr>
          <a:xfrm>
            <a:off x="7696200" y="5334000"/>
            <a:ext cx="701760"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solidFill>
                  <a:srgbClr val="FF0000"/>
                </a:solidFill>
              </a:defRPr>
            </a:lvl1pPr>
          </a:lstStyle>
          <a:p>
            <a:r>
              <a:t>update</a:t>
            </a:r>
          </a:p>
        </p:txBody>
      </p:sp>
      <p:sp>
        <p:nvSpPr>
          <p:cNvPr id="497" name="T4: load A (A=2)"/>
          <p:cNvSpPr txBox="1"/>
          <p:nvPr/>
        </p:nvSpPr>
        <p:spPr>
          <a:xfrm>
            <a:off x="3657600" y="3429000"/>
            <a:ext cx="1616160"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0000FF"/>
                </a:solidFill>
              </a:defRPr>
            </a:pPr>
            <a:r>
              <a:t>T</a:t>
            </a:r>
            <a:r>
              <a:rPr baseline="-25000"/>
              <a:t>4</a:t>
            </a:r>
            <a:r>
              <a:t>: load A (A=2)</a:t>
            </a:r>
          </a:p>
        </p:txBody>
      </p:sp>
      <p:sp>
        <p:nvSpPr>
          <p:cNvPr id="498" name="T4: A = 2"/>
          <p:cNvSpPr txBox="1"/>
          <p:nvPr/>
        </p:nvSpPr>
        <p:spPr>
          <a:xfrm>
            <a:off x="1143000" y="3429000"/>
            <a:ext cx="9519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4</a:t>
            </a:r>
            <a:r>
              <a:t>: A = 2</a:t>
            </a:r>
          </a:p>
        </p:txBody>
      </p:sp>
      <p:sp>
        <p:nvSpPr>
          <p:cNvPr id="499" name="T4: A=2"/>
          <p:cNvSpPr txBox="1"/>
          <p:nvPr/>
        </p:nvSpPr>
        <p:spPr>
          <a:xfrm>
            <a:off x="6172200" y="34290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4</a:t>
            </a:r>
            <a:r>
              <a:t>: A=2</a:t>
            </a:r>
          </a:p>
        </p:txBody>
      </p:sp>
      <p:sp>
        <p:nvSpPr>
          <p:cNvPr id="500" name="T4: A=2"/>
          <p:cNvSpPr txBox="1"/>
          <p:nvPr/>
        </p:nvSpPr>
        <p:spPr>
          <a:xfrm>
            <a:off x="6324600" y="6019800"/>
            <a:ext cx="837603"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pPr>
            <a:r>
              <a:t>T</a:t>
            </a:r>
            <a:r>
              <a:rPr baseline="-25000"/>
              <a:t>4</a:t>
            </a:r>
            <a:r>
              <a:t>: A=2</a:t>
            </a:r>
          </a:p>
        </p:txBody>
      </p:sp>
      <p:sp>
        <p:nvSpPr>
          <p:cNvPr id="501" name="new value"/>
          <p:cNvSpPr txBox="1"/>
          <p:nvPr/>
        </p:nvSpPr>
        <p:spPr>
          <a:xfrm>
            <a:off x="3352800" y="4114800"/>
            <a:ext cx="98070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solidFill>
                  <a:srgbClr val="0000FF"/>
                </a:solidFill>
              </a:defRPr>
            </a:lvl1pPr>
          </a:lstStyle>
          <a:p>
            <a:r>
              <a:t>new value</a:t>
            </a:r>
          </a:p>
        </p:txBody>
      </p:sp>
      <p:sp>
        <p:nvSpPr>
          <p:cNvPr id="502" name="Line"/>
          <p:cNvSpPr/>
          <p:nvPr/>
        </p:nvSpPr>
        <p:spPr>
          <a:xfrm>
            <a:off x="95412" y="3352800"/>
            <a:ext cx="8482858" cy="1752710"/>
          </a:xfrm>
          <a:custGeom>
            <a:avLst/>
            <a:gdLst/>
            <a:ahLst/>
            <a:cxnLst>
              <a:cxn ang="0">
                <a:pos x="wd2" y="hd2"/>
              </a:cxn>
              <a:cxn ang="5400000">
                <a:pos x="wd2" y="hd2"/>
              </a:cxn>
              <a:cxn ang="10800000">
                <a:pos x="wd2" y="hd2"/>
              </a:cxn>
              <a:cxn ang="16200000">
                <a:pos x="wd2" y="hd2"/>
              </a:cxn>
            </a:cxnLst>
            <a:rect l="0" t="0" r="r" b="b"/>
            <a:pathLst>
              <a:path w="20038" h="21446" extrusionOk="0">
                <a:moveTo>
                  <a:pt x="18675" y="0"/>
                </a:moveTo>
                <a:cubicBezTo>
                  <a:pt x="19710" y="78"/>
                  <a:pt x="20745" y="155"/>
                  <a:pt x="19395" y="3729"/>
                </a:cubicBezTo>
                <a:cubicBezTo>
                  <a:pt x="18045" y="7304"/>
                  <a:pt x="13725" y="21289"/>
                  <a:pt x="10575" y="21445"/>
                </a:cubicBezTo>
                <a:cubicBezTo>
                  <a:pt x="7425" y="21600"/>
                  <a:pt x="1845" y="8236"/>
                  <a:pt x="495" y="4662"/>
                </a:cubicBezTo>
                <a:cubicBezTo>
                  <a:pt x="-855" y="1088"/>
                  <a:pt x="810" y="544"/>
                  <a:pt x="2475" y="0"/>
                </a:cubicBezTo>
              </a:path>
            </a:pathLst>
          </a:custGeom>
          <a:ln w="19050">
            <a:solidFill>
              <a:srgbClr val="FF0000"/>
            </a:solidFill>
            <a:tailEnd type="triangle"/>
          </a:ln>
        </p:spPr>
        <p:txBody>
          <a:bodyPr lIns="45719" rIns="45719"/>
          <a:lstStyle/>
          <a:p>
            <a:pPr>
              <a:defRPr sz="1800" b="0"/>
            </a:pPr>
            <a:endParaRPr/>
          </a:p>
        </p:txBody>
      </p:sp>
      <p:sp>
        <p:nvSpPr>
          <p:cNvPr id="503" name="Line"/>
          <p:cNvSpPr/>
          <p:nvPr/>
        </p:nvSpPr>
        <p:spPr>
          <a:xfrm>
            <a:off x="7239000" y="3429000"/>
            <a:ext cx="1680390" cy="2438400"/>
          </a:xfrm>
          <a:custGeom>
            <a:avLst/>
            <a:gdLst/>
            <a:ahLst/>
            <a:cxnLst>
              <a:cxn ang="0">
                <a:pos x="wd2" y="hd2"/>
              </a:cxn>
              <a:cxn ang="5400000">
                <a:pos x="wd2" y="hd2"/>
              </a:cxn>
              <a:cxn ang="10800000">
                <a:pos x="wd2" y="hd2"/>
              </a:cxn>
              <a:cxn ang="16200000">
                <a:pos x="wd2" y="hd2"/>
              </a:cxn>
            </a:cxnLst>
            <a:rect l="0" t="0" r="r" b="b"/>
            <a:pathLst>
              <a:path w="19986" h="21600" extrusionOk="0">
                <a:moveTo>
                  <a:pt x="15407" y="0"/>
                </a:moveTo>
                <a:cubicBezTo>
                  <a:pt x="18503" y="1238"/>
                  <a:pt x="21600" y="2475"/>
                  <a:pt x="19032" y="6075"/>
                </a:cubicBezTo>
                <a:cubicBezTo>
                  <a:pt x="16464" y="9675"/>
                  <a:pt x="8232" y="15638"/>
                  <a:pt x="0" y="21600"/>
                </a:cubicBezTo>
              </a:path>
            </a:pathLst>
          </a:custGeom>
          <a:ln w="19050">
            <a:solidFill>
              <a:srgbClr val="FF0000"/>
            </a:solidFill>
            <a:tailEnd type="triangle"/>
          </a:ln>
        </p:spPr>
        <p:txBody>
          <a:bodyPr lIns="45719" rIns="45719"/>
          <a:lstStyle/>
          <a:p>
            <a:pPr>
              <a:defRPr sz="1800" b="0"/>
            </a:pPr>
            <a:endParaRPr/>
          </a:p>
        </p:txBody>
      </p:sp>
      <p:sp>
        <p:nvSpPr>
          <p:cNvPr id="504" name="Line"/>
          <p:cNvSpPr/>
          <p:nvPr/>
        </p:nvSpPr>
        <p:spPr>
          <a:xfrm>
            <a:off x="2381082" y="3733800"/>
            <a:ext cx="4019718" cy="2673036"/>
          </a:xfrm>
          <a:custGeom>
            <a:avLst/>
            <a:gdLst/>
            <a:ahLst/>
            <a:cxnLst>
              <a:cxn ang="0">
                <a:pos x="wd2" y="hd2"/>
              </a:cxn>
              <a:cxn ang="5400000">
                <a:pos x="wd2" y="hd2"/>
              </a:cxn>
              <a:cxn ang="10800000">
                <a:pos x="wd2" y="hd2"/>
              </a:cxn>
              <a:cxn ang="16200000">
                <a:pos x="wd2" y="hd2"/>
              </a:cxn>
            </a:cxnLst>
            <a:rect l="0" t="0" r="r" b="b"/>
            <a:pathLst>
              <a:path w="19990" h="20296" extrusionOk="0">
                <a:moveTo>
                  <a:pt x="19990" y="18514"/>
                </a:moveTo>
                <a:cubicBezTo>
                  <a:pt x="11464" y="20057"/>
                  <a:pt x="2937" y="21600"/>
                  <a:pt x="664" y="18514"/>
                </a:cubicBezTo>
                <a:cubicBezTo>
                  <a:pt x="-1610" y="15429"/>
                  <a:pt x="2369" y="7714"/>
                  <a:pt x="6348" y="0"/>
                </a:cubicBezTo>
              </a:path>
            </a:pathLst>
          </a:custGeom>
          <a:ln w="19050">
            <a:solidFill>
              <a:srgbClr val="0000FF"/>
            </a:solidFill>
            <a:tailEnd type="triangle"/>
          </a:ln>
        </p:spPr>
        <p:txBody>
          <a:bodyPr lIns="45719" rIns="45719"/>
          <a:lstStyle/>
          <a:p>
            <a:pPr>
              <a:defRPr sz="1800" b="0"/>
            </a:pPr>
            <a:endParaRPr/>
          </a:p>
        </p:txBody>
      </p:sp>
      <p:sp>
        <p:nvSpPr>
          <p:cNvPr id="505" name="T5: load A (A=2)"/>
          <p:cNvSpPr txBox="1"/>
          <p:nvPr/>
        </p:nvSpPr>
        <p:spPr>
          <a:xfrm>
            <a:off x="1143000" y="3733800"/>
            <a:ext cx="1616160" cy="4015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FF0000"/>
                </a:solidFill>
              </a:defRPr>
            </a:pPr>
            <a:r>
              <a:t>T</a:t>
            </a:r>
            <a:r>
              <a:rPr baseline="-25000"/>
              <a:t>5</a:t>
            </a:r>
            <a:r>
              <a:t>: load A (A=2)</a:t>
            </a:r>
          </a:p>
        </p:txBody>
      </p:sp>
      <p:sp>
        <p:nvSpPr>
          <p:cNvPr id="50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17</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509" name="Invalidate vs. Update Protocols"/>
          <p:cNvSpPr txBox="1">
            <a:spLocks noGrp="1"/>
          </p:cNvSpPr>
          <p:nvPr>
            <p:ph type="title" idx="4294967295"/>
          </p:nvPr>
        </p:nvSpPr>
        <p:spPr>
          <a:xfrm>
            <a:off x="685800" y="152400"/>
            <a:ext cx="7772400" cy="838200"/>
          </a:xfrm>
          <a:prstGeom prst="rect">
            <a:avLst/>
          </a:prstGeom>
        </p:spPr>
        <p:txBody>
          <a:bodyPr>
            <a:normAutofit fontScale="90000"/>
          </a:bodyPr>
          <a:lstStyle>
            <a:lvl1pPr>
              <a:defRPr sz="4000"/>
            </a:lvl1pPr>
          </a:lstStyle>
          <a:p>
            <a:r>
              <a:t>Invalidate vs. Update Protocols</a:t>
            </a:r>
          </a:p>
        </p:txBody>
      </p:sp>
      <p:sp>
        <p:nvSpPr>
          <p:cNvPr id="510" name="Invalidate:…"/>
          <p:cNvSpPr txBox="1">
            <a:spLocks noGrp="1"/>
          </p:cNvSpPr>
          <p:nvPr>
            <p:ph type="body" idx="4294967295"/>
          </p:nvPr>
        </p:nvSpPr>
        <p:spPr>
          <a:xfrm>
            <a:off x="457200" y="1143000"/>
            <a:ext cx="8382000" cy="4343400"/>
          </a:xfrm>
          <a:prstGeom prst="rect">
            <a:avLst/>
          </a:prstGeom>
        </p:spPr>
        <p:txBody>
          <a:bodyPr>
            <a:normAutofit fontScale="92500" lnSpcReduction="10000"/>
          </a:bodyPr>
          <a:lstStyle/>
          <a:p>
            <a:pPr>
              <a:spcBef>
                <a:spcPts val="500"/>
              </a:spcBef>
              <a:buChar char="▪"/>
              <a:defRPr sz="2400"/>
            </a:pPr>
            <a:r>
              <a:t>Invalidate:</a:t>
            </a:r>
          </a:p>
          <a:p>
            <a:pPr marL="285750" lvl="1" indent="171450">
              <a:spcBef>
                <a:spcPts val="0"/>
              </a:spcBef>
              <a:buSzTx/>
              <a:buFont typeface="Wingdings"/>
              <a:buNone/>
              <a:defRPr sz="2000"/>
            </a:pPr>
            <a:r>
              <a:t>+ Multiple writes by the same processor to the cache block only require one invalidation</a:t>
            </a:r>
          </a:p>
          <a:p>
            <a:pPr marL="285750" lvl="1" indent="171450">
              <a:spcBef>
                <a:spcPts val="0"/>
              </a:spcBef>
              <a:buSzTx/>
              <a:buFont typeface="Wingdings"/>
              <a:buNone/>
              <a:defRPr sz="2000"/>
            </a:pPr>
            <a:r>
              <a:t>+ No need to send the new value of the data (less bandwidth)</a:t>
            </a:r>
          </a:p>
          <a:p>
            <a:pPr marL="742950" lvl="1" indent="-285750">
              <a:spcBef>
                <a:spcPts val="0"/>
              </a:spcBef>
              <a:buClrTx/>
              <a:defRPr sz="2000"/>
            </a:pPr>
            <a:r>
              <a:t>Caches must be able to provide up-to-date data upon request</a:t>
            </a:r>
          </a:p>
          <a:p>
            <a:pPr marL="742950" lvl="1" indent="-285750">
              <a:spcBef>
                <a:spcPts val="0"/>
              </a:spcBef>
              <a:buClrTx/>
              <a:defRPr sz="2000"/>
            </a:pPr>
            <a:r>
              <a:t>Must write-back data to memory when evicting a modified block</a:t>
            </a:r>
          </a:p>
          <a:p>
            <a:pPr marL="285750" lvl="1" indent="171450">
              <a:spcBef>
                <a:spcPts val="0"/>
              </a:spcBef>
              <a:buSzTx/>
              <a:buFont typeface="Wingdings"/>
              <a:buNone/>
              <a:defRPr sz="2000"/>
            </a:pPr>
            <a:r>
              <a:t>Usually used with write-back caches (more popular)</a:t>
            </a:r>
          </a:p>
          <a:p>
            <a:pPr>
              <a:spcBef>
                <a:spcPts val="500"/>
              </a:spcBef>
              <a:buChar char="▪"/>
              <a:defRPr sz="2400"/>
            </a:pPr>
            <a:r>
              <a:t>Update:</a:t>
            </a:r>
          </a:p>
          <a:p>
            <a:pPr marL="285750" lvl="1" indent="171450">
              <a:spcBef>
                <a:spcPts val="0"/>
              </a:spcBef>
              <a:buSzTx/>
              <a:buFont typeface="Wingdings"/>
              <a:buNone/>
              <a:defRPr sz="2000"/>
            </a:pPr>
            <a:r>
              <a:t>+ New value can be re-used without the need to ask for it again</a:t>
            </a:r>
          </a:p>
          <a:p>
            <a:pPr marL="285750" lvl="1" indent="171450">
              <a:spcBef>
                <a:spcPts val="0"/>
              </a:spcBef>
              <a:buSzTx/>
              <a:buFont typeface="Wingdings"/>
              <a:buNone/>
              <a:defRPr sz="2000"/>
            </a:pPr>
            <a:r>
              <a:t>+ Data can always be read from memory</a:t>
            </a:r>
          </a:p>
          <a:p>
            <a:pPr marL="285750" lvl="1" indent="171450">
              <a:spcBef>
                <a:spcPts val="0"/>
              </a:spcBef>
              <a:buSzTx/>
              <a:buFont typeface="Wingdings"/>
              <a:buNone/>
              <a:defRPr sz="2000"/>
            </a:pPr>
            <a:r>
              <a:t>+ Modified blocks can be evicted from caches silently</a:t>
            </a:r>
          </a:p>
          <a:p>
            <a:pPr marL="742950" lvl="1" indent="-285750">
              <a:spcBef>
                <a:spcPts val="0"/>
              </a:spcBef>
              <a:buClrTx/>
              <a:defRPr sz="2000"/>
            </a:pPr>
            <a:r>
              <a:t>Possible multiple useless updates (more bandwidth)</a:t>
            </a:r>
          </a:p>
          <a:p>
            <a:pPr marL="285750" lvl="1" indent="171450">
              <a:spcBef>
                <a:spcPts val="0"/>
              </a:spcBef>
              <a:buSzTx/>
              <a:buFont typeface="Wingdings"/>
              <a:buNone/>
              <a:defRPr sz="2000"/>
            </a:pPr>
            <a:r>
              <a:t>Usually used with write-through caches (less popular)</a:t>
            </a:r>
          </a:p>
        </p:txBody>
      </p:sp>
      <p:sp>
        <p:nvSpPr>
          <p:cNvPr id="51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18</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514" name="Cache Coherence Protocols"/>
          <p:cNvSpPr txBox="1">
            <a:spLocks noGrp="1"/>
          </p:cNvSpPr>
          <p:nvPr>
            <p:ph type="title" idx="4294967295"/>
          </p:nvPr>
        </p:nvSpPr>
        <p:spPr>
          <a:xfrm>
            <a:off x="685800" y="152400"/>
            <a:ext cx="8077200" cy="838200"/>
          </a:xfrm>
          <a:prstGeom prst="rect">
            <a:avLst/>
          </a:prstGeom>
        </p:spPr>
        <p:txBody>
          <a:bodyPr>
            <a:normAutofit/>
          </a:bodyPr>
          <a:lstStyle>
            <a:lvl1pPr>
              <a:defRPr sz="4000"/>
            </a:lvl1pPr>
          </a:lstStyle>
          <a:p>
            <a:r>
              <a:t>Cache Coherence Protocols</a:t>
            </a:r>
          </a:p>
        </p:txBody>
      </p:sp>
      <p:sp>
        <p:nvSpPr>
          <p:cNvPr id="515" name="Implementation can either be in software or hardware.…"/>
          <p:cNvSpPr txBox="1">
            <a:spLocks noGrp="1"/>
          </p:cNvSpPr>
          <p:nvPr>
            <p:ph type="body" idx="4294967295"/>
          </p:nvPr>
        </p:nvSpPr>
        <p:spPr>
          <a:xfrm>
            <a:off x="457200" y="1143000"/>
            <a:ext cx="8534400" cy="4419600"/>
          </a:xfrm>
          <a:prstGeom prst="rect">
            <a:avLst/>
          </a:prstGeom>
        </p:spPr>
        <p:txBody>
          <a:bodyPr>
            <a:normAutofit fontScale="92500" lnSpcReduction="10000"/>
          </a:bodyPr>
          <a:lstStyle/>
          <a:p>
            <a:pPr marL="298322" indent="-298322" defTabSz="795527">
              <a:lnSpc>
                <a:spcPct val="90000"/>
              </a:lnSpc>
              <a:spcBef>
                <a:spcPts val="500"/>
              </a:spcBef>
              <a:buChar char="▪"/>
              <a:defRPr sz="2088"/>
            </a:pPr>
            <a:r>
              <a:t>Implementation can either be in software or hardware. </a:t>
            </a:r>
          </a:p>
          <a:p>
            <a:pPr marL="298322" indent="-298322" defTabSz="795527">
              <a:lnSpc>
                <a:spcPct val="90000"/>
              </a:lnSpc>
              <a:spcBef>
                <a:spcPts val="500"/>
              </a:spcBef>
              <a:buChar char="▪"/>
              <a:defRPr sz="2088"/>
            </a:pPr>
            <a:r>
              <a:t>Software coherence: Programmer-directed or compiler-controlled</a:t>
            </a:r>
          </a:p>
          <a:p>
            <a:pPr marL="696087" lvl="1" indent="-298322" defTabSz="795527">
              <a:lnSpc>
                <a:spcPct val="90000"/>
              </a:lnSpc>
              <a:spcBef>
                <a:spcPts val="500"/>
              </a:spcBef>
              <a:buChar char="▪"/>
              <a:defRPr sz="2088"/>
            </a:pPr>
            <a:r>
              <a:t>Expose instructions such as </a:t>
            </a:r>
            <a:r>
              <a:rPr i="1"/>
              <a:t>writeback </a:t>
            </a:r>
            <a:r>
              <a:t>and </a:t>
            </a:r>
            <a:r>
              <a:rPr i="1"/>
              <a:t>self-invalidate </a:t>
            </a:r>
            <a:r>
              <a:t>to software</a:t>
            </a:r>
          </a:p>
          <a:p>
            <a:pPr marL="696087" lvl="1" indent="-298322" defTabSz="795527">
              <a:lnSpc>
                <a:spcPct val="90000"/>
              </a:lnSpc>
              <a:spcBef>
                <a:spcPts val="500"/>
              </a:spcBef>
              <a:buChar char="▪"/>
              <a:defRPr sz="2088"/>
            </a:pPr>
            <a:r>
              <a:t>Insert these at appropriate points, e.g.,  by leveraging static analysis.</a:t>
            </a:r>
          </a:p>
          <a:p>
            <a:pPr marL="696087" lvl="1" indent="-298322" defTabSz="795527">
              <a:lnSpc>
                <a:spcPct val="90000"/>
              </a:lnSpc>
              <a:spcBef>
                <a:spcPts val="500"/>
              </a:spcBef>
              <a:buChar char="▪"/>
              <a:defRPr sz="2088"/>
            </a:pPr>
            <a:r>
              <a:t>Problem: conservatism of static analysis (or programmer burden)</a:t>
            </a:r>
          </a:p>
          <a:p>
            <a:pPr marL="298322" indent="-298322" defTabSz="795527">
              <a:lnSpc>
                <a:spcPct val="90000"/>
              </a:lnSpc>
              <a:spcBef>
                <a:spcPts val="500"/>
              </a:spcBef>
              <a:buChar char="▪"/>
              <a:defRPr sz="2088"/>
            </a:pPr>
            <a:r>
              <a:t>Hardware coherence</a:t>
            </a:r>
          </a:p>
          <a:p>
            <a:pPr marL="696087" lvl="1" indent="-298322" defTabSz="795527">
              <a:lnSpc>
                <a:spcPct val="90000"/>
              </a:lnSpc>
              <a:spcBef>
                <a:spcPts val="500"/>
              </a:spcBef>
              <a:buChar char="▪"/>
              <a:defRPr sz="2088"/>
            </a:pPr>
            <a:r>
              <a:t>Add state bits to cache lines to track state of the line</a:t>
            </a:r>
          </a:p>
          <a:p>
            <a:pPr marL="1044130" lvl="2" indent="-248602" defTabSz="795527">
              <a:lnSpc>
                <a:spcPct val="90000"/>
              </a:lnSpc>
              <a:spcBef>
                <a:spcPts val="0"/>
              </a:spcBef>
              <a:buClrTx/>
              <a:buChar char="–"/>
              <a:defRPr sz="1740"/>
            </a:pPr>
            <a:r>
              <a:t>Most common: Modified, Owned, Exclusive, Shared, Invalid </a:t>
            </a:r>
          </a:p>
          <a:p>
            <a:pPr marL="1044130" lvl="2" indent="-248602" defTabSz="795527">
              <a:lnSpc>
                <a:spcPct val="90000"/>
              </a:lnSpc>
              <a:spcBef>
                <a:spcPts val="0"/>
              </a:spcBef>
              <a:buClrTx/>
              <a:buChar char="–"/>
              <a:defRPr sz="1740"/>
            </a:pPr>
            <a:r>
              <a:t>Protocols usually named after the states supported</a:t>
            </a:r>
          </a:p>
          <a:p>
            <a:pPr marL="696087" lvl="1" indent="-298322" defTabSz="795527">
              <a:lnSpc>
                <a:spcPct val="90000"/>
              </a:lnSpc>
              <a:spcBef>
                <a:spcPts val="500"/>
              </a:spcBef>
              <a:buChar char="▪"/>
              <a:defRPr sz="2088"/>
            </a:pPr>
            <a:r>
              <a:t>Cache lines transition between states upon load/store operations from the local processor and by remote processors</a:t>
            </a:r>
          </a:p>
          <a:p>
            <a:pPr marL="696087" lvl="1" indent="-298322" defTabSz="795527">
              <a:lnSpc>
                <a:spcPct val="90000"/>
              </a:lnSpc>
              <a:spcBef>
                <a:spcPts val="500"/>
              </a:spcBef>
              <a:buChar char="▪"/>
              <a:defRPr sz="2088"/>
            </a:pPr>
            <a:r>
              <a:t>These state transitions must guarantee SWMR and in doing so:</a:t>
            </a:r>
          </a:p>
          <a:p>
            <a:pPr marL="1093850" lvl="2" indent="-298322" defTabSz="795527">
              <a:lnSpc>
                <a:spcPct val="90000"/>
              </a:lnSpc>
              <a:spcBef>
                <a:spcPts val="500"/>
              </a:spcBef>
              <a:defRPr sz="2088"/>
            </a:pPr>
            <a:r>
              <a:t> write propagation and </a:t>
            </a:r>
          </a:p>
          <a:p>
            <a:pPr marL="1093850" lvl="2" indent="-298322" defTabSz="795527">
              <a:lnSpc>
                <a:spcPct val="90000"/>
              </a:lnSpc>
              <a:spcBef>
                <a:spcPts val="500"/>
              </a:spcBef>
              <a:defRPr sz="2088"/>
            </a:pPr>
            <a:r>
              <a:t>write serialization</a:t>
            </a:r>
          </a:p>
        </p:txBody>
      </p:sp>
      <p:sp>
        <p:nvSpPr>
          <p:cNvPr id="51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19</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519" name="Example: MSI Protocol"/>
          <p:cNvSpPr txBox="1">
            <a:spLocks noGrp="1"/>
          </p:cNvSpPr>
          <p:nvPr>
            <p:ph type="title" idx="4294967295"/>
          </p:nvPr>
        </p:nvSpPr>
        <p:spPr>
          <a:xfrm>
            <a:off x="685800" y="152400"/>
            <a:ext cx="8077200" cy="838200"/>
          </a:xfrm>
          <a:prstGeom prst="rect">
            <a:avLst/>
          </a:prstGeom>
        </p:spPr>
        <p:txBody>
          <a:bodyPr>
            <a:normAutofit/>
          </a:bodyPr>
          <a:lstStyle>
            <a:lvl1pPr>
              <a:defRPr sz="4000"/>
            </a:lvl1pPr>
          </a:lstStyle>
          <a:p>
            <a:r>
              <a:t>Example: MSI Protocol</a:t>
            </a:r>
          </a:p>
        </p:txBody>
      </p:sp>
      <p:sp>
        <p:nvSpPr>
          <p:cNvPr id="520" name="States:…"/>
          <p:cNvSpPr txBox="1">
            <a:spLocks noGrp="1"/>
          </p:cNvSpPr>
          <p:nvPr>
            <p:ph type="body" idx="4294967295"/>
          </p:nvPr>
        </p:nvSpPr>
        <p:spPr>
          <a:xfrm>
            <a:off x="457200" y="1143000"/>
            <a:ext cx="8534400" cy="4343400"/>
          </a:xfrm>
          <a:prstGeom prst="rect">
            <a:avLst/>
          </a:prstGeom>
        </p:spPr>
        <p:txBody>
          <a:bodyPr>
            <a:normAutofit/>
          </a:bodyPr>
          <a:lstStyle/>
          <a:p>
            <a:pPr>
              <a:spcBef>
                <a:spcPts val="500"/>
              </a:spcBef>
              <a:buChar char="▪"/>
              <a:defRPr sz="2400"/>
            </a:pPr>
            <a:r>
              <a:t>States:</a:t>
            </a:r>
          </a:p>
          <a:p>
            <a:pPr marL="742950" lvl="1" indent="-285750">
              <a:spcBef>
                <a:spcPts val="0"/>
              </a:spcBef>
              <a:buClrTx/>
              <a:defRPr sz="2000">
                <a:solidFill>
                  <a:srgbClr val="FF0000"/>
                </a:solidFill>
              </a:defRPr>
            </a:pPr>
            <a:r>
              <a:t>Modified (M):</a:t>
            </a:r>
            <a:r>
              <a:rPr>
                <a:solidFill>
                  <a:srgbClr val="000000"/>
                </a:solidFill>
              </a:rPr>
              <a:t> block is cached only in this cache and has been modified</a:t>
            </a:r>
          </a:p>
          <a:p>
            <a:pPr marL="742950" lvl="1" indent="-285750">
              <a:spcBef>
                <a:spcPts val="0"/>
              </a:spcBef>
              <a:buClrTx/>
              <a:defRPr sz="2000">
                <a:solidFill>
                  <a:srgbClr val="FF0000"/>
                </a:solidFill>
              </a:defRPr>
            </a:pPr>
            <a:r>
              <a:t>Shared (S):</a:t>
            </a:r>
            <a:r>
              <a:rPr>
                <a:solidFill>
                  <a:srgbClr val="000000"/>
                </a:solidFill>
              </a:rPr>
              <a:t> block is cached in this cache and possibly in other caches (no cache can modify the block)</a:t>
            </a:r>
          </a:p>
          <a:p>
            <a:pPr marL="742950" lvl="1" indent="-285750">
              <a:spcBef>
                <a:spcPts val="0"/>
              </a:spcBef>
              <a:buClrTx/>
              <a:defRPr sz="2000">
                <a:solidFill>
                  <a:srgbClr val="FF0000"/>
                </a:solidFill>
              </a:defRPr>
            </a:pPr>
            <a:r>
              <a:t>Invalid (I):</a:t>
            </a:r>
            <a:r>
              <a:rPr>
                <a:solidFill>
                  <a:srgbClr val="000000"/>
                </a:solidFill>
              </a:rPr>
              <a:t> block is not cached</a:t>
            </a:r>
          </a:p>
        </p:txBody>
      </p:sp>
      <p:sp>
        <p:nvSpPr>
          <p:cNvPr id="52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20</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524" name="Example: MSI Protocol"/>
          <p:cNvSpPr txBox="1">
            <a:spLocks noGrp="1"/>
          </p:cNvSpPr>
          <p:nvPr>
            <p:ph type="title" idx="4294967295"/>
          </p:nvPr>
        </p:nvSpPr>
        <p:spPr>
          <a:xfrm>
            <a:off x="685800" y="152400"/>
            <a:ext cx="7772400" cy="838200"/>
          </a:xfrm>
          <a:prstGeom prst="rect">
            <a:avLst/>
          </a:prstGeom>
        </p:spPr>
        <p:txBody>
          <a:bodyPr>
            <a:normAutofit/>
          </a:bodyPr>
          <a:lstStyle>
            <a:lvl1pPr>
              <a:defRPr sz="4000"/>
            </a:lvl1pPr>
          </a:lstStyle>
          <a:p>
            <a:r>
              <a:t>Example: MSI Protocol</a:t>
            </a:r>
          </a:p>
        </p:txBody>
      </p:sp>
      <p:sp>
        <p:nvSpPr>
          <p:cNvPr id="525" name="Transactions originated at this CPU:"/>
          <p:cNvSpPr txBox="1">
            <a:spLocks noGrp="1"/>
          </p:cNvSpPr>
          <p:nvPr>
            <p:ph type="body" idx="4294967295"/>
          </p:nvPr>
        </p:nvSpPr>
        <p:spPr>
          <a:xfrm>
            <a:off x="457200" y="1143000"/>
            <a:ext cx="8382000" cy="4343400"/>
          </a:xfrm>
          <a:prstGeom prst="rect">
            <a:avLst/>
          </a:prstGeom>
        </p:spPr>
        <p:txBody>
          <a:bodyPr>
            <a:normAutofit/>
          </a:bodyPr>
          <a:lstStyle>
            <a:lvl1pPr>
              <a:spcBef>
                <a:spcPts val="500"/>
              </a:spcBef>
              <a:buChar char="▪"/>
              <a:defRPr sz="2400"/>
            </a:lvl1pPr>
          </a:lstStyle>
          <a:p>
            <a:r>
              <a:t>Transactions originated at this CPU:</a:t>
            </a:r>
          </a:p>
        </p:txBody>
      </p:sp>
      <p:sp>
        <p:nvSpPr>
          <p:cNvPr id="526" name="Invalid"/>
          <p:cNvSpPr txBox="1"/>
          <p:nvPr/>
        </p:nvSpPr>
        <p:spPr>
          <a:xfrm>
            <a:off x="1448303" y="2590800"/>
            <a:ext cx="713369"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Invalid</a:t>
            </a:r>
          </a:p>
        </p:txBody>
      </p:sp>
      <p:sp>
        <p:nvSpPr>
          <p:cNvPr id="527" name="Oval"/>
          <p:cNvSpPr/>
          <p:nvPr/>
        </p:nvSpPr>
        <p:spPr>
          <a:xfrm>
            <a:off x="1219200" y="2286000"/>
            <a:ext cx="1143001" cy="990600"/>
          </a:xfrm>
          <a:prstGeom prst="ellipse">
            <a:avLst/>
          </a:prstGeom>
          <a:ln w="12700">
            <a:solidFill>
              <a:srgbClr val="000000"/>
            </a:solidFill>
          </a:ln>
        </p:spPr>
        <p:txBody>
          <a:bodyPr lIns="45719" rIns="45719" anchor="ctr"/>
          <a:lstStyle/>
          <a:p>
            <a:pPr>
              <a:defRPr sz="1800" b="0"/>
            </a:pPr>
            <a:endParaRPr/>
          </a:p>
        </p:txBody>
      </p:sp>
      <p:sp>
        <p:nvSpPr>
          <p:cNvPr id="528" name="Shared"/>
          <p:cNvSpPr txBox="1"/>
          <p:nvPr/>
        </p:nvSpPr>
        <p:spPr>
          <a:xfrm>
            <a:off x="6022535" y="2590800"/>
            <a:ext cx="708905"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Shared</a:t>
            </a:r>
          </a:p>
        </p:txBody>
      </p:sp>
      <p:sp>
        <p:nvSpPr>
          <p:cNvPr id="529" name="Oval"/>
          <p:cNvSpPr/>
          <p:nvPr/>
        </p:nvSpPr>
        <p:spPr>
          <a:xfrm>
            <a:off x="5791200" y="2286000"/>
            <a:ext cx="1143001" cy="990600"/>
          </a:xfrm>
          <a:prstGeom prst="ellipse">
            <a:avLst/>
          </a:prstGeom>
          <a:ln w="12700">
            <a:solidFill>
              <a:srgbClr val="000000"/>
            </a:solidFill>
          </a:ln>
        </p:spPr>
        <p:txBody>
          <a:bodyPr lIns="45719" rIns="45719" anchor="ctr"/>
          <a:lstStyle/>
          <a:p>
            <a:pPr>
              <a:defRPr sz="1800" b="0"/>
            </a:pPr>
            <a:endParaRPr/>
          </a:p>
        </p:txBody>
      </p:sp>
      <p:sp>
        <p:nvSpPr>
          <p:cNvPr id="530" name="Modified"/>
          <p:cNvSpPr txBox="1"/>
          <p:nvPr/>
        </p:nvSpPr>
        <p:spPr>
          <a:xfrm>
            <a:off x="3614335" y="5029200"/>
            <a:ext cx="913617"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Modified</a:t>
            </a:r>
          </a:p>
        </p:txBody>
      </p:sp>
      <p:sp>
        <p:nvSpPr>
          <p:cNvPr id="531" name="Oval"/>
          <p:cNvSpPr/>
          <p:nvPr/>
        </p:nvSpPr>
        <p:spPr>
          <a:xfrm>
            <a:off x="3489325" y="4724400"/>
            <a:ext cx="1143001" cy="990600"/>
          </a:xfrm>
          <a:prstGeom prst="ellipse">
            <a:avLst/>
          </a:prstGeom>
          <a:ln w="12700">
            <a:solidFill>
              <a:srgbClr val="000000"/>
            </a:solidFill>
          </a:ln>
        </p:spPr>
        <p:txBody>
          <a:bodyPr lIns="45719" rIns="45719" anchor="ctr"/>
          <a:lstStyle/>
          <a:p>
            <a:pPr>
              <a:defRPr sz="1800" b="0"/>
            </a:pPr>
            <a:endParaRPr/>
          </a:p>
        </p:txBody>
      </p:sp>
      <p:sp>
        <p:nvSpPr>
          <p:cNvPr id="532" name="Line"/>
          <p:cNvSpPr/>
          <p:nvPr/>
        </p:nvSpPr>
        <p:spPr>
          <a:xfrm>
            <a:off x="2362200" y="2667000"/>
            <a:ext cx="3429000" cy="0"/>
          </a:xfrm>
          <a:prstGeom prst="line">
            <a:avLst/>
          </a:prstGeom>
          <a:ln w="25400">
            <a:solidFill>
              <a:srgbClr val="FF0000"/>
            </a:solidFill>
            <a:tailEnd type="triangle"/>
          </a:ln>
        </p:spPr>
        <p:txBody>
          <a:bodyPr lIns="45719" rIns="45719"/>
          <a:lstStyle/>
          <a:p>
            <a:endParaRPr/>
          </a:p>
        </p:txBody>
      </p:sp>
      <p:sp>
        <p:nvSpPr>
          <p:cNvPr id="533" name="Line"/>
          <p:cNvSpPr/>
          <p:nvPr/>
        </p:nvSpPr>
        <p:spPr>
          <a:xfrm>
            <a:off x="1676400" y="3276599"/>
            <a:ext cx="1905000" cy="1600202"/>
          </a:xfrm>
          <a:prstGeom prst="line">
            <a:avLst/>
          </a:prstGeom>
          <a:ln w="25400">
            <a:solidFill>
              <a:srgbClr val="FF0000"/>
            </a:solidFill>
            <a:tailEnd type="triangle"/>
          </a:ln>
        </p:spPr>
        <p:txBody>
          <a:bodyPr lIns="45719" rIns="45719"/>
          <a:lstStyle/>
          <a:p>
            <a:endParaRPr/>
          </a:p>
        </p:txBody>
      </p:sp>
      <p:sp>
        <p:nvSpPr>
          <p:cNvPr id="534" name="CPU read miss"/>
          <p:cNvSpPr txBox="1"/>
          <p:nvPr/>
        </p:nvSpPr>
        <p:spPr>
          <a:xfrm>
            <a:off x="3307042" y="2286000"/>
            <a:ext cx="142819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CPU read miss</a:t>
            </a:r>
          </a:p>
        </p:txBody>
      </p:sp>
      <p:sp>
        <p:nvSpPr>
          <p:cNvPr id="535" name="CPU read hit"/>
          <p:cNvSpPr txBox="1"/>
          <p:nvPr/>
        </p:nvSpPr>
        <p:spPr>
          <a:xfrm>
            <a:off x="5275238" y="1524000"/>
            <a:ext cx="126846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CPU read hit</a:t>
            </a:r>
          </a:p>
        </p:txBody>
      </p:sp>
      <p:sp>
        <p:nvSpPr>
          <p:cNvPr id="536" name="CPU write miss"/>
          <p:cNvSpPr txBox="1"/>
          <p:nvPr/>
        </p:nvSpPr>
        <p:spPr>
          <a:xfrm>
            <a:off x="715107" y="3733800"/>
            <a:ext cx="1492373"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CPU write miss</a:t>
            </a:r>
          </a:p>
        </p:txBody>
      </p:sp>
      <p:sp>
        <p:nvSpPr>
          <p:cNvPr id="537" name="Line"/>
          <p:cNvSpPr/>
          <p:nvPr/>
        </p:nvSpPr>
        <p:spPr>
          <a:xfrm flipH="1">
            <a:off x="4495800" y="3276600"/>
            <a:ext cx="1600201" cy="1676400"/>
          </a:xfrm>
          <a:prstGeom prst="line">
            <a:avLst/>
          </a:prstGeom>
          <a:ln w="25400">
            <a:solidFill>
              <a:srgbClr val="FF0000"/>
            </a:solidFill>
            <a:tailEnd type="triangle"/>
          </a:ln>
        </p:spPr>
        <p:txBody>
          <a:bodyPr lIns="45719" rIns="45719"/>
          <a:lstStyle/>
          <a:p>
            <a:endParaRPr/>
          </a:p>
        </p:txBody>
      </p:sp>
      <p:sp>
        <p:nvSpPr>
          <p:cNvPr id="538" name="CPU write (upgrade)"/>
          <p:cNvSpPr txBox="1"/>
          <p:nvPr/>
        </p:nvSpPr>
        <p:spPr>
          <a:xfrm>
            <a:off x="4667610" y="4648200"/>
            <a:ext cx="1945555"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CPU write (upgrade)</a:t>
            </a:r>
          </a:p>
        </p:txBody>
      </p:sp>
      <p:sp>
        <p:nvSpPr>
          <p:cNvPr id="539" name="CPU write hit"/>
          <p:cNvSpPr txBox="1"/>
          <p:nvPr/>
        </p:nvSpPr>
        <p:spPr>
          <a:xfrm>
            <a:off x="1692704" y="5562600"/>
            <a:ext cx="1332642"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CPU write hit</a:t>
            </a:r>
          </a:p>
        </p:txBody>
      </p:sp>
      <p:sp>
        <p:nvSpPr>
          <p:cNvPr id="540" name="CPU read hit"/>
          <p:cNvSpPr txBox="1"/>
          <p:nvPr/>
        </p:nvSpPr>
        <p:spPr>
          <a:xfrm>
            <a:off x="1693838" y="5334000"/>
            <a:ext cx="126846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CPU read hit</a:t>
            </a:r>
          </a:p>
        </p:txBody>
      </p:sp>
      <p:sp>
        <p:nvSpPr>
          <p:cNvPr id="541" name="Line"/>
          <p:cNvSpPr/>
          <p:nvPr/>
        </p:nvSpPr>
        <p:spPr>
          <a:xfrm>
            <a:off x="3038475" y="4928092"/>
            <a:ext cx="542925" cy="791313"/>
          </a:xfrm>
          <a:custGeom>
            <a:avLst/>
            <a:gdLst/>
            <a:ahLst/>
            <a:cxnLst>
              <a:cxn ang="0">
                <a:pos x="wd2" y="hd2"/>
              </a:cxn>
              <a:cxn ang="5400000">
                <a:pos x="wd2" y="hd2"/>
              </a:cxn>
              <a:cxn ang="10800000">
                <a:pos x="wd2" y="hd2"/>
              </a:cxn>
              <a:cxn ang="16200000">
                <a:pos x="wd2" y="hd2"/>
              </a:cxn>
            </a:cxnLst>
            <a:rect l="0" t="0" r="r" b="b"/>
            <a:pathLst>
              <a:path w="20986" h="20087" extrusionOk="0">
                <a:moveTo>
                  <a:pt x="18041" y="2566"/>
                </a:moveTo>
                <a:cubicBezTo>
                  <a:pt x="12150" y="793"/>
                  <a:pt x="6259" y="-980"/>
                  <a:pt x="3313" y="632"/>
                </a:cubicBezTo>
                <a:cubicBezTo>
                  <a:pt x="368" y="2244"/>
                  <a:pt x="-614" y="9014"/>
                  <a:pt x="368" y="12238"/>
                </a:cubicBezTo>
                <a:cubicBezTo>
                  <a:pt x="1350" y="15462"/>
                  <a:pt x="5768" y="19330"/>
                  <a:pt x="9204" y="19975"/>
                </a:cubicBezTo>
                <a:cubicBezTo>
                  <a:pt x="12641" y="20620"/>
                  <a:pt x="16813" y="18363"/>
                  <a:pt x="20986" y="16107"/>
                </a:cubicBezTo>
              </a:path>
            </a:pathLst>
          </a:custGeom>
          <a:ln w="25400">
            <a:solidFill>
              <a:srgbClr val="FF0000"/>
            </a:solidFill>
            <a:tailEnd type="triangle"/>
          </a:ln>
        </p:spPr>
        <p:txBody>
          <a:bodyPr lIns="45719" rIns="45719"/>
          <a:lstStyle/>
          <a:p>
            <a:pPr>
              <a:defRPr sz="1800" b="0"/>
            </a:pPr>
            <a:endParaRPr/>
          </a:p>
        </p:txBody>
      </p:sp>
      <p:sp>
        <p:nvSpPr>
          <p:cNvPr id="542" name="Line"/>
          <p:cNvSpPr/>
          <p:nvPr/>
        </p:nvSpPr>
        <p:spPr>
          <a:xfrm>
            <a:off x="5561719" y="1943100"/>
            <a:ext cx="766160" cy="571500"/>
          </a:xfrm>
          <a:custGeom>
            <a:avLst/>
            <a:gdLst/>
            <a:ahLst/>
            <a:cxnLst>
              <a:cxn ang="0">
                <a:pos x="wd2" y="hd2"/>
              </a:cxn>
              <a:cxn ang="5400000">
                <a:pos x="wd2" y="hd2"/>
              </a:cxn>
              <a:cxn ang="10800000">
                <a:pos x="wd2" y="hd2"/>
              </a:cxn>
              <a:cxn ang="16200000">
                <a:pos x="wd2" y="hd2"/>
              </a:cxn>
            </a:cxnLst>
            <a:rect l="0" t="0" r="r" b="b"/>
            <a:pathLst>
              <a:path w="21017" h="21130" extrusionOk="0">
                <a:moveTo>
                  <a:pt x="8386" y="21130"/>
                </a:moveTo>
                <a:cubicBezTo>
                  <a:pt x="4379" y="18547"/>
                  <a:pt x="373" y="15965"/>
                  <a:pt x="24" y="12678"/>
                </a:cubicBezTo>
                <a:cubicBezTo>
                  <a:pt x="-324" y="9391"/>
                  <a:pt x="3160" y="3287"/>
                  <a:pt x="6295" y="1408"/>
                </a:cubicBezTo>
                <a:cubicBezTo>
                  <a:pt x="9431" y="-470"/>
                  <a:pt x="16399" y="-470"/>
                  <a:pt x="18837" y="1408"/>
                </a:cubicBezTo>
                <a:cubicBezTo>
                  <a:pt x="21276" y="3287"/>
                  <a:pt x="21102" y="7982"/>
                  <a:pt x="20928" y="12678"/>
                </a:cubicBezTo>
              </a:path>
            </a:pathLst>
          </a:custGeom>
          <a:ln w="25400">
            <a:solidFill>
              <a:srgbClr val="FF0000"/>
            </a:solidFill>
            <a:tailEnd type="triangle"/>
          </a:ln>
        </p:spPr>
        <p:txBody>
          <a:bodyPr lIns="45719" rIns="45719"/>
          <a:lstStyle/>
          <a:p>
            <a:pPr>
              <a:defRPr sz="1800" b="0"/>
            </a:pPr>
            <a:endParaRPr/>
          </a:p>
        </p:txBody>
      </p:sp>
      <p:sp>
        <p:nvSpPr>
          <p:cNvPr id="54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21</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546" name="Example: MSI Protocol"/>
          <p:cNvSpPr txBox="1">
            <a:spLocks noGrp="1"/>
          </p:cNvSpPr>
          <p:nvPr>
            <p:ph type="title" idx="4294967295"/>
          </p:nvPr>
        </p:nvSpPr>
        <p:spPr>
          <a:xfrm>
            <a:off x="685800" y="152400"/>
            <a:ext cx="7772400" cy="838200"/>
          </a:xfrm>
          <a:prstGeom prst="rect">
            <a:avLst/>
          </a:prstGeom>
        </p:spPr>
        <p:txBody>
          <a:bodyPr>
            <a:normAutofit/>
          </a:bodyPr>
          <a:lstStyle>
            <a:lvl1pPr>
              <a:defRPr sz="4000"/>
            </a:lvl1pPr>
          </a:lstStyle>
          <a:p>
            <a:r>
              <a:t>Example: MSI Protocol</a:t>
            </a:r>
          </a:p>
        </p:txBody>
      </p:sp>
      <p:sp>
        <p:nvSpPr>
          <p:cNvPr id="547" name="Transactions originated at other CPU:"/>
          <p:cNvSpPr txBox="1">
            <a:spLocks noGrp="1"/>
          </p:cNvSpPr>
          <p:nvPr>
            <p:ph type="body" idx="4294967295"/>
          </p:nvPr>
        </p:nvSpPr>
        <p:spPr>
          <a:xfrm>
            <a:off x="457200" y="1143000"/>
            <a:ext cx="8382000" cy="4343400"/>
          </a:xfrm>
          <a:prstGeom prst="rect">
            <a:avLst/>
          </a:prstGeom>
        </p:spPr>
        <p:txBody>
          <a:bodyPr>
            <a:normAutofit/>
          </a:bodyPr>
          <a:lstStyle>
            <a:lvl1pPr>
              <a:spcBef>
                <a:spcPts val="500"/>
              </a:spcBef>
              <a:buChar char="▪"/>
              <a:defRPr sz="2400"/>
            </a:lvl1pPr>
          </a:lstStyle>
          <a:p>
            <a:r>
              <a:t>Transactions originated at other CPU:</a:t>
            </a:r>
          </a:p>
        </p:txBody>
      </p:sp>
      <p:sp>
        <p:nvSpPr>
          <p:cNvPr id="548" name="Invalid"/>
          <p:cNvSpPr txBox="1"/>
          <p:nvPr/>
        </p:nvSpPr>
        <p:spPr>
          <a:xfrm>
            <a:off x="1448303" y="2590800"/>
            <a:ext cx="713369"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Invalid</a:t>
            </a:r>
          </a:p>
        </p:txBody>
      </p:sp>
      <p:sp>
        <p:nvSpPr>
          <p:cNvPr id="549" name="Oval"/>
          <p:cNvSpPr/>
          <p:nvPr/>
        </p:nvSpPr>
        <p:spPr>
          <a:xfrm>
            <a:off x="1219200" y="2286000"/>
            <a:ext cx="1143001" cy="990600"/>
          </a:xfrm>
          <a:prstGeom prst="ellipse">
            <a:avLst/>
          </a:prstGeom>
          <a:ln w="12700">
            <a:solidFill>
              <a:srgbClr val="000000"/>
            </a:solidFill>
          </a:ln>
        </p:spPr>
        <p:txBody>
          <a:bodyPr lIns="45719" rIns="45719" anchor="ctr"/>
          <a:lstStyle/>
          <a:p>
            <a:pPr>
              <a:defRPr sz="1800" b="0"/>
            </a:pPr>
            <a:endParaRPr/>
          </a:p>
        </p:txBody>
      </p:sp>
      <p:sp>
        <p:nvSpPr>
          <p:cNvPr id="550" name="Shared"/>
          <p:cNvSpPr txBox="1"/>
          <p:nvPr/>
        </p:nvSpPr>
        <p:spPr>
          <a:xfrm>
            <a:off x="6022535" y="2590800"/>
            <a:ext cx="708905"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Shared</a:t>
            </a:r>
          </a:p>
        </p:txBody>
      </p:sp>
      <p:sp>
        <p:nvSpPr>
          <p:cNvPr id="551" name="Oval"/>
          <p:cNvSpPr/>
          <p:nvPr/>
        </p:nvSpPr>
        <p:spPr>
          <a:xfrm>
            <a:off x="5791200" y="2286000"/>
            <a:ext cx="1143001" cy="990600"/>
          </a:xfrm>
          <a:prstGeom prst="ellipse">
            <a:avLst/>
          </a:prstGeom>
          <a:ln w="12700">
            <a:solidFill>
              <a:srgbClr val="000000"/>
            </a:solidFill>
          </a:ln>
        </p:spPr>
        <p:txBody>
          <a:bodyPr lIns="45719" rIns="45719" anchor="ctr"/>
          <a:lstStyle/>
          <a:p>
            <a:pPr>
              <a:defRPr sz="1800" b="0"/>
            </a:pPr>
            <a:endParaRPr/>
          </a:p>
        </p:txBody>
      </p:sp>
      <p:sp>
        <p:nvSpPr>
          <p:cNvPr id="552" name="Modified"/>
          <p:cNvSpPr txBox="1"/>
          <p:nvPr/>
        </p:nvSpPr>
        <p:spPr>
          <a:xfrm>
            <a:off x="3614335" y="5029200"/>
            <a:ext cx="913617"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Modified</a:t>
            </a:r>
          </a:p>
        </p:txBody>
      </p:sp>
      <p:sp>
        <p:nvSpPr>
          <p:cNvPr id="553" name="Oval"/>
          <p:cNvSpPr/>
          <p:nvPr/>
        </p:nvSpPr>
        <p:spPr>
          <a:xfrm>
            <a:off x="3489325" y="4724400"/>
            <a:ext cx="1143001" cy="990600"/>
          </a:xfrm>
          <a:prstGeom prst="ellipse">
            <a:avLst/>
          </a:prstGeom>
          <a:ln w="12700">
            <a:solidFill>
              <a:srgbClr val="000000"/>
            </a:solidFill>
          </a:ln>
        </p:spPr>
        <p:txBody>
          <a:bodyPr lIns="45719" rIns="45719" anchor="ctr"/>
          <a:lstStyle/>
          <a:p>
            <a:pPr>
              <a:defRPr sz="1800" b="0"/>
            </a:pPr>
            <a:endParaRPr/>
          </a:p>
        </p:txBody>
      </p:sp>
      <p:sp>
        <p:nvSpPr>
          <p:cNvPr id="554" name="Line"/>
          <p:cNvSpPr/>
          <p:nvPr/>
        </p:nvSpPr>
        <p:spPr>
          <a:xfrm>
            <a:off x="2362200" y="2667000"/>
            <a:ext cx="3429000" cy="0"/>
          </a:xfrm>
          <a:prstGeom prst="line">
            <a:avLst/>
          </a:prstGeom>
          <a:ln w="25400">
            <a:solidFill>
              <a:srgbClr val="ABABAB"/>
            </a:solidFill>
            <a:tailEnd type="triangle"/>
          </a:ln>
        </p:spPr>
        <p:txBody>
          <a:bodyPr lIns="45719" rIns="45719"/>
          <a:lstStyle/>
          <a:p>
            <a:endParaRPr/>
          </a:p>
        </p:txBody>
      </p:sp>
      <p:sp>
        <p:nvSpPr>
          <p:cNvPr id="555" name="Line"/>
          <p:cNvSpPr/>
          <p:nvPr/>
        </p:nvSpPr>
        <p:spPr>
          <a:xfrm>
            <a:off x="1676400" y="3276599"/>
            <a:ext cx="1905000" cy="1600202"/>
          </a:xfrm>
          <a:prstGeom prst="line">
            <a:avLst/>
          </a:prstGeom>
          <a:ln w="25400">
            <a:solidFill>
              <a:srgbClr val="ABABAB"/>
            </a:solidFill>
            <a:tailEnd type="triangle"/>
          </a:ln>
        </p:spPr>
        <p:txBody>
          <a:bodyPr lIns="45719" rIns="45719"/>
          <a:lstStyle/>
          <a:p>
            <a:endParaRPr/>
          </a:p>
        </p:txBody>
      </p:sp>
      <p:sp>
        <p:nvSpPr>
          <p:cNvPr id="556" name="CPU read miss"/>
          <p:cNvSpPr txBox="1"/>
          <p:nvPr/>
        </p:nvSpPr>
        <p:spPr>
          <a:xfrm>
            <a:off x="3307042" y="2286000"/>
            <a:ext cx="142819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ABABAB"/>
                </a:solidFill>
              </a:defRPr>
            </a:lvl1pPr>
          </a:lstStyle>
          <a:p>
            <a:r>
              <a:t>CPU read miss</a:t>
            </a:r>
          </a:p>
        </p:txBody>
      </p:sp>
      <p:sp>
        <p:nvSpPr>
          <p:cNvPr id="557" name="CPU read hit"/>
          <p:cNvSpPr txBox="1"/>
          <p:nvPr/>
        </p:nvSpPr>
        <p:spPr>
          <a:xfrm>
            <a:off x="5275238" y="1524000"/>
            <a:ext cx="126846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ABABAB"/>
                </a:solidFill>
              </a:defRPr>
            </a:lvl1pPr>
          </a:lstStyle>
          <a:p>
            <a:r>
              <a:t>CPU read hit</a:t>
            </a:r>
          </a:p>
        </p:txBody>
      </p:sp>
      <p:sp>
        <p:nvSpPr>
          <p:cNvPr id="558" name="CPU write miss"/>
          <p:cNvSpPr txBox="1"/>
          <p:nvPr/>
        </p:nvSpPr>
        <p:spPr>
          <a:xfrm>
            <a:off x="715107" y="3733800"/>
            <a:ext cx="1492373"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ABABAB"/>
                </a:solidFill>
              </a:defRPr>
            </a:lvl1pPr>
          </a:lstStyle>
          <a:p>
            <a:r>
              <a:t>CPU write miss</a:t>
            </a:r>
          </a:p>
        </p:txBody>
      </p:sp>
      <p:sp>
        <p:nvSpPr>
          <p:cNvPr id="559" name="Line"/>
          <p:cNvSpPr/>
          <p:nvPr/>
        </p:nvSpPr>
        <p:spPr>
          <a:xfrm flipH="1">
            <a:off x="4495800" y="3276600"/>
            <a:ext cx="1600201" cy="1676400"/>
          </a:xfrm>
          <a:prstGeom prst="line">
            <a:avLst/>
          </a:prstGeom>
          <a:ln w="25400">
            <a:solidFill>
              <a:srgbClr val="ABABAB"/>
            </a:solidFill>
            <a:tailEnd type="triangle"/>
          </a:ln>
        </p:spPr>
        <p:txBody>
          <a:bodyPr lIns="45719" rIns="45719"/>
          <a:lstStyle/>
          <a:p>
            <a:endParaRPr/>
          </a:p>
        </p:txBody>
      </p:sp>
      <p:sp>
        <p:nvSpPr>
          <p:cNvPr id="560" name="CPU write"/>
          <p:cNvSpPr txBox="1"/>
          <p:nvPr/>
        </p:nvSpPr>
        <p:spPr>
          <a:xfrm>
            <a:off x="4726757" y="4648200"/>
            <a:ext cx="103986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ABABAB"/>
                </a:solidFill>
              </a:defRPr>
            </a:lvl1pPr>
          </a:lstStyle>
          <a:p>
            <a:r>
              <a:t>CPU write</a:t>
            </a:r>
          </a:p>
        </p:txBody>
      </p:sp>
      <p:sp>
        <p:nvSpPr>
          <p:cNvPr id="561" name="CPU write hit"/>
          <p:cNvSpPr txBox="1"/>
          <p:nvPr/>
        </p:nvSpPr>
        <p:spPr>
          <a:xfrm>
            <a:off x="1692704" y="5562600"/>
            <a:ext cx="1332642"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ABABAB"/>
                </a:solidFill>
              </a:defRPr>
            </a:lvl1pPr>
          </a:lstStyle>
          <a:p>
            <a:r>
              <a:t>CPU write hit</a:t>
            </a:r>
          </a:p>
        </p:txBody>
      </p:sp>
      <p:sp>
        <p:nvSpPr>
          <p:cNvPr id="562" name="CPU read hit"/>
          <p:cNvSpPr txBox="1"/>
          <p:nvPr/>
        </p:nvSpPr>
        <p:spPr>
          <a:xfrm>
            <a:off x="1693838" y="5334000"/>
            <a:ext cx="126846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ABABAB"/>
                </a:solidFill>
              </a:defRPr>
            </a:lvl1pPr>
          </a:lstStyle>
          <a:p>
            <a:r>
              <a:t>CPU read hit</a:t>
            </a:r>
          </a:p>
        </p:txBody>
      </p:sp>
      <p:sp>
        <p:nvSpPr>
          <p:cNvPr id="563" name="Line"/>
          <p:cNvSpPr/>
          <p:nvPr/>
        </p:nvSpPr>
        <p:spPr>
          <a:xfrm>
            <a:off x="3038475" y="4928092"/>
            <a:ext cx="542925" cy="791313"/>
          </a:xfrm>
          <a:custGeom>
            <a:avLst/>
            <a:gdLst/>
            <a:ahLst/>
            <a:cxnLst>
              <a:cxn ang="0">
                <a:pos x="wd2" y="hd2"/>
              </a:cxn>
              <a:cxn ang="5400000">
                <a:pos x="wd2" y="hd2"/>
              </a:cxn>
              <a:cxn ang="10800000">
                <a:pos x="wd2" y="hd2"/>
              </a:cxn>
              <a:cxn ang="16200000">
                <a:pos x="wd2" y="hd2"/>
              </a:cxn>
            </a:cxnLst>
            <a:rect l="0" t="0" r="r" b="b"/>
            <a:pathLst>
              <a:path w="20986" h="20087" extrusionOk="0">
                <a:moveTo>
                  <a:pt x="18041" y="2566"/>
                </a:moveTo>
                <a:cubicBezTo>
                  <a:pt x="12150" y="793"/>
                  <a:pt x="6259" y="-980"/>
                  <a:pt x="3313" y="632"/>
                </a:cubicBezTo>
                <a:cubicBezTo>
                  <a:pt x="368" y="2244"/>
                  <a:pt x="-614" y="9014"/>
                  <a:pt x="368" y="12238"/>
                </a:cubicBezTo>
                <a:cubicBezTo>
                  <a:pt x="1350" y="15462"/>
                  <a:pt x="5768" y="19330"/>
                  <a:pt x="9204" y="19975"/>
                </a:cubicBezTo>
                <a:cubicBezTo>
                  <a:pt x="12641" y="20620"/>
                  <a:pt x="16813" y="18363"/>
                  <a:pt x="20986" y="16107"/>
                </a:cubicBezTo>
              </a:path>
            </a:pathLst>
          </a:custGeom>
          <a:ln w="25400">
            <a:solidFill>
              <a:srgbClr val="ABABAB"/>
            </a:solidFill>
            <a:tailEnd type="triangle"/>
          </a:ln>
        </p:spPr>
        <p:txBody>
          <a:bodyPr lIns="45719" rIns="45719"/>
          <a:lstStyle/>
          <a:p>
            <a:pPr>
              <a:defRPr sz="1800" b="0"/>
            </a:pPr>
            <a:endParaRPr/>
          </a:p>
        </p:txBody>
      </p:sp>
      <p:sp>
        <p:nvSpPr>
          <p:cNvPr id="564" name="Line"/>
          <p:cNvSpPr/>
          <p:nvPr/>
        </p:nvSpPr>
        <p:spPr>
          <a:xfrm>
            <a:off x="5561719" y="1943100"/>
            <a:ext cx="766160" cy="571500"/>
          </a:xfrm>
          <a:custGeom>
            <a:avLst/>
            <a:gdLst/>
            <a:ahLst/>
            <a:cxnLst>
              <a:cxn ang="0">
                <a:pos x="wd2" y="hd2"/>
              </a:cxn>
              <a:cxn ang="5400000">
                <a:pos x="wd2" y="hd2"/>
              </a:cxn>
              <a:cxn ang="10800000">
                <a:pos x="wd2" y="hd2"/>
              </a:cxn>
              <a:cxn ang="16200000">
                <a:pos x="wd2" y="hd2"/>
              </a:cxn>
            </a:cxnLst>
            <a:rect l="0" t="0" r="r" b="b"/>
            <a:pathLst>
              <a:path w="21017" h="21130" extrusionOk="0">
                <a:moveTo>
                  <a:pt x="8386" y="21130"/>
                </a:moveTo>
                <a:cubicBezTo>
                  <a:pt x="4379" y="18547"/>
                  <a:pt x="373" y="15965"/>
                  <a:pt x="24" y="12678"/>
                </a:cubicBezTo>
                <a:cubicBezTo>
                  <a:pt x="-324" y="9391"/>
                  <a:pt x="3160" y="3287"/>
                  <a:pt x="6295" y="1408"/>
                </a:cubicBezTo>
                <a:cubicBezTo>
                  <a:pt x="9431" y="-470"/>
                  <a:pt x="16399" y="-470"/>
                  <a:pt x="18837" y="1408"/>
                </a:cubicBezTo>
                <a:cubicBezTo>
                  <a:pt x="21276" y="3287"/>
                  <a:pt x="21102" y="7982"/>
                  <a:pt x="20928" y="12678"/>
                </a:cubicBezTo>
              </a:path>
            </a:pathLst>
          </a:custGeom>
          <a:ln w="25400">
            <a:solidFill>
              <a:srgbClr val="ABABAB"/>
            </a:solidFill>
            <a:tailEnd type="triangle"/>
          </a:ln>
        </p:spPr>
        <p:txBody>
          <a:bodyPr lIns="45719" rIns="45719"/>
          <a:lstStyle/>
          <a:p>
            <a:pPr>
              <a:defRPr sz="1800" b="0"/>
            </a:pPr>
            <a:endParaRPr/>
          </a:p>
        </p:txBody>
      </p:sp>
      <p:sp>
        <p:nvSpPr>
          <p:cNvPr id="565" name="Line"/>
          <p:cNvSpPr/>
          <p:nvPr/>
        </p:nvSpPr>
        <p:spPr>
          <a:xfrm flipH="1" flipV="1">
            <a:off x="2362200" y="2895600"/>
            <a:ext cx="3429000" cy="1"/>
          </a:xfrm>
          <a:prstGeom prst="line">
            <a:avLst/>
          </a:prstGeom>
          <a:ln w="25400">
            <a:solidFill>
              <a:srgbClr val="FF0000"/>
            </a:solidFill>
            <a:tailEnd type="triangle"/>
          </a:ln>
        </p:spPr>
        <p:txBody>
          <a:bodyPr lIns="45719" rIns="45719"/>
          <a:lstStyle/>
          <a:p>
            <a:endParaRPr/>
          </a:p>
        </p:txBody>
      </p:sp>
      <p:sp>
        <p:nvSpPr>
          <p:cNvPr id="566" name="Remote write miss"/>
          <p:cNvSpPr txBox="1"/>
          <p:nvPr/>
        </p:nvSpPr>
        <p:spPr>
          <a:xfrm>
            <a:off x="3135772" y="2895600"/>
            <a:ext cx="1743743"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Remote write miss</a:t>
            </a:r>
          </a:p>
        </p:txBody>
      </p:sp>
      <p:sp>
        <p:nvSpPr>
          <p:cNvPr id="567" name="Line"/>
          <p:cNvSpPr/>
          <p:nvPr/>
        </p:nvSpPr>
        <p:spPr>
          <a:xfrm flipH="1" flipV="1">
            <a:off x="2057400" y="3200399"/>
            <a:ext cx="1752600" cy="1524002"/>
          </a:xfrm>
          <a:prstGeom prst="line">
            <a:avLst/>
          </a:prstGeom>
          <a:ln w="25400">
            <a:solidFill>
              <a:srgbClr val="FF0000"/>
            </a:solidFill>
            <a:tailEnd type="triangle"/>
          </a:ln>
        </p:spPr>
        <p:txBody>
          <a:bodyPr lIns="45719" rIns="45719"/>
          <a:lstStyle/>
          <a:p>
            <a:endParaRPr/>
          </a:p>
        </p:txBody>
      </p:sp>
      <p:sp>
        <p:nvSpPr>
          <p:cNvPr id="568" name="Remote write miss"/>
          <p:cNvSpPr txBox="1"/>
          <p:nvPr/>
        </p:nvSpPr>
        <p:spPr>
          <a:xfrm>
            <a:off x="3172285" y="3810000"/>
            <a:ext cx="1743743"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Remote write miss</a:t>
            </a:r>
          </a:p>
        </p:txBody>
      </p:sp>
      <p:sp>
        <p:nvSpPr>
          <p:cNvPr id="569" name="Line"/>
          <p:cNvSpPr/>
          <p:nvPr/>
        </p:nvSpPr>
        <p:spPr>
          <a:xfrm flipV="1">
            <a:off x="4648200" y="3276600"/>
            <a:ext cx="1828800" cy="1905000"/>
          </a:xfrm>
          <a:prstGeom prst="line">
            <a:avLst/>
          </a:prstGeom>
          <a:ln w="25400">
            <a:solidFill>
              <a:srgbClr val="FF0000"/>
            </a:solidFill>
            <a:tailEnd type="triangle"/>
          </a:ln>
        </p:spPr>
        <p:txBody>
          <a:bodyPr lIns="45719" rIns="45719"/>
          <a:lstStyle/>
          <a:p>
            <a:endParaRPr/>
          </a:p>
        </p:txBody>
      </p:sp>
      <p:sp>
        <p:nvSpPr>
          <p:cNvPr id="570" name="Remote read miss"/>
          <p:cNvSpPr txBox="1"/>
          <p:nvPr/>
        </p:nvSpPr>
        <p:spPr>
          <a:xfrm>
            <a:off x="5764219" y="4038600"/>
            <a:ext cx="1679562"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Remote read miss</a:t>
            </a:r>
          </a:p>
        </p:txBody>
      </p:sp>
      <p:sp>
        <p:nvSpPr>
          <p:cNvPr id="571" name="Line"/>
          <p:cNvSpPr/>
          <p:nvPr/>
        </p:nvSpPr>
        <p:spPr>
          <a:xfrm flipH="1">
            <a:off x="6858000" y="2400792"/>
            <a:ext cx="542925" cy="791313"/>
          </a:xfrm>
          <a:custGeom>
            <a:avLst/>
            <a:gdLst/>
            <a:ahLst/>
            <a:cxnLst>
              <a:cxn ang="0">
                <a:pos x="wd2" y="hd2"/>
              </a:cxn>
              <a:cxn ang="5400000">
                <a:pos x="wd2" y="hd2"/>
              </a:cxn>
              <a:cxn ang="10800000">
                <a:pos x="wd2" y="hd2"/>
              </a:cxn>
              <a:cxn ang="16200000">
                <a:pos x="wd2" y="hd2"/>
              </a:cxn>
            </a:cxnLst>
            <a:rect l="0" t="0" r="r" b="b"/>
            <a:pathLst>
              <a:path w="20986" h="20087" extrusionOk="0">
                <a:moveTo>
                  <a:pt x="18041" y="2566"/>
                </a:moveTo>
                <a:cubicBezTo>
                  <a:pt x="12150" y="793"/>
                  <a:pt x="6259" y="-980"/>
                  <a:pt x="3313" y="632"/>
                </a:cubicBezTo>
                <a:cubicBezTo>
                  <a:pt x="368" y="2244"/>
                  <a:pt x="-614" y="9014"/>
                  <a:pt x="368" y="12238"/>
                </a:cubicBezTo>
                <a:cubicBezTo>
                  <a:pt x="1350" y="15462"/>
                  <a:pt x="5768" y="19330"/>
                  <a:pt x="9204" y="19975"/>
                </a:cubicBezTo>
                <a:cubicBezTo>
                  <a:pt x="12641" y="20620"/>
                  <a:pt x="16813" y="18363"/>
                  <a:pt x="20986" y="16107"/>
                </a:cubicBezTo>
              </a:path>
            </a:pathLst>
          </a:custGeom>
          <a:ln w="25400">
            <a:solidFill>
              <a:srgbClr val="FF0000"/>
            </a:solidFill>
            <a:tailEnd type="triangle"/>
          </a:ln>
        </p:spPr>
        <p:txBody>
          <a:bodyPr lIns="45719" rIns="45719"/>
          <a:lstStyle/>
          <a:p>
            <a:pPr>
              <a:defRPr sz="1800" b="0"/>
            </a:pPr>
            <a:endParaRPr/>
          </a:p>
        </p:txBody>
      </p:sp>
      <p:sp>
        <p:nvSpPr>
          <p:cNvPr id="572" name="Remote read miss"/>
          <p:cNvSpPr txBox="1"/>
          <p:nvPr/>
        </p:nvSpPr>
        <p:spPr>
          <a:xfrm>
            <a:off x="6983419" y="1981200"/>
            <a:ext cx="1679562"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Remote read miss</a:t>
            </a:r>
          </a:p>
        </p:txBody>
      </p:sp>
      <p:sp>
        <p:nvSpPr>
          <p:cNvPr id="57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22</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576" name="Example: MESI Protocol"/>
          <p:cNvSpPr txBox="1">
            <a:spLocks noGrp="1"/>
          </p:cNvSpPr>
          <p:nvPr>
            <p:ph type="title" idx="4294967295"/>
          </p:nvPr>
        </p:nvSpPr>
        <p:spPr>
          <a:xfrm>
            <a:off x="685800" y="152400"/>
            <a:ext cx="8077200" cy="838200"/>
          </a:xfrm>
          <a:prstGeom prst="rect">
            <a:avLst/>
          </a:prstGeom>
        </p:spPr>
        <p:txBody>
          <a:bodyPr>
            <a:normAutofit/>
          </a:bodyPr>
          <a:lstStyle>
            <a:lvl1pPr>
              <a:defRPr sz="4000"/>
            </a:lvl1pPr>
          </a:lstStyle>
          <a:p>
            <a:r>
              <a:t>Example: MESI Protocol</a:t>
            </a:r>
          </a:p>
        </p:txBody>
      </p:sp>
      <p:sp>
        <p:nvSpPr>
          <p:cNvPr id="577" name="States:…"/>
          <p:cNvSpPr txBox="1">
            <a:spLocks noGrp="1"/>
          </p:cNvSpPr>
          <p:nvPr>
            <p:ph type="body" idx="4294967295"/>
          </p:nvPr>
        </p:nvSpPr>
        <p:spPr>
          <a:xfrm>
            <a:off x="457200" y="1143000"/>
            <a:ext cx="8534400" cy="4800600"/>
          </a:xfrm>
          <a:prstGeom prst="rect">
            <a:avLst/>
          </a:prstGeom>
        </p:spPr>
        <p:txBody>
          <a:bodyPr>
            <a:normAutofit lnSpcReduction="10000"/>
          </a:bodyPr>
          <a:lstStyle/>
          <a:p>
            <a:pPr>
              <a:lnSpc>
                <a:spcPct val="90000"/>
              </a:lnSpc>
              <a:spcBef>
                <a:spcPts val="500"/>
              </a:spcBef>
              <a:buChar char="▪"/>
              <a:defRPr sz="2400"/>
            </a:pPr>
            <a:r>
              <a:t>States:</a:t>
            </a:r>
          </a:p>
          <a:p>
            <a:pPr marL="742950" lvl="1" indent="-285750">
              <a:lnSpc>
                <a:spcPct val="90000"/>
              </a:lnSpc>
              <a:spcBef>
                <a:spcPts val="0"/>
              </a:spcBef>
              <a:buClrTx/>
              <a:defRPr sz="2000"/>
            </a:pPr>
            <a:r>
              <a:t>Modified (M): block is cached only in this cache and has been modified</a:t>
            </a:r>
          </a:p>
          <a:p>
            <a:pPr marL="742950" lvl="1" indent="-285750">
              <a:lnSpc>
                <a:spcPct val="90000"/>
              </a:lnSpc>
              <a:spcBef>
                <a:spcPts val="0"/>
              </a:spcBef>
              <a:buClrTx/>
              <a:defRPr sz="2000">
                <a:solidFill>
                  <a:srgbClr val="FF0000"/>
                </a:solidFill>
              </a:defRPr>
            </a:pPr>
            <a:r>
              <a:t>Exclusive (E):</a:t>
            </a:r>
            <a:r>
              <a:rPr>
                <a:solidFill>
                  <a:srgbClr val="000000"/>
                </a:solidFill>
              </a:rPr>
              <a:t> block is cached only in this cache, has not been modified, but can be modified at will</a:t>
            </a:r>
          </a:p>
          <a:p>
            <a:pPr marL="742950" lvl="1" indent="-285750">
              <a:lnSpc>
                <a:spcPct val="90000"/>
              </a:lnSpc>
              <a:spcBef>
                <a:spcPts val="0"/>
              </a:spcBef>
              <a:buClrTx/>
              <a:defRPr sz="2000"/>
            </a:pPr>
            <a:r>
              <a:t>Shared (S): block is cached in this cache and possibly in other caches</a:t>
            </a:r>
          </a:p>
          <a:p>
            <a:pPr marL="742950" lvl="1" indent="-285750">
              <a:lnSpc>
                <a:spcPct val="90000"/>
              </a:lnSpc>
              <a:spcBef>
                <a:spcPts val="0"/>
              </a:spcBef>
              <a:buClrTx/>
              <a:defRPr sz="2000"/>
            </a:pPr>
            <a:r>
              <a:t>Invalid (I): block is not cached</a:t>
            </a:r>
          </a:p>
          <a:p>
            <a:pPr>
              <a:lnSpc>
                <a:spcPct val="90000"/>
              </a:lnSpc>
              <a:spcBef>
                <a:spcPts val="500"/>
              </a:spcBef>
              <a:buChar char="▪"/>
              <a:defRPr sz="2400"/>
            </a:pPr>
            <a:r>
              <a:t>State E is obtained on reads when no other processor has a shared copy</a:t>
            </a:r>
          </a:p>
          <a:p>
            <a:pPr marL="742950" lvl="1" indent="-285750">
              <a:lnSpc>
                <a:spcPct val="90000"/>
              </a:lnSpc>
              <a:spcBef>
                <a:spcPts val="0"/>
              </a:spcBef>
              <a:buClrTx/>
              <a:defRPr sz="2000"/>
            </a:pPr>
            <a:r>
              <a:t>All processors must answer if they have copies or not</a:t>
            </a:r>
          </a:p>
          <a:p>
            <a:pPr marL="742950" lvl="1" indent="-285750">
              <a:lnSpc>
                <a:spcPct val="90000"/>
              </a:lnSpc>
              <a:spcBef>
                <a:spcPts val="0"/>
              </a:spcBef>
              <a:buClrTx/>
              <a:defRPr sz="2000"/>
            </a:pPr>
            <a:r>
              <a:t>Or some device must know if processors have copies</a:t>
            </a:r>
          </a:p>
          <a:p>
            <a:pPr>
              <a:lnSpc>
                <a:spcPct val="90000"/>
              </a:lnSpc>
              <a:spcBef>
                <a:spcPts val="500"/>
              </a:spcBef>
              <a:buChar char="▪"/>
              <a:defRPr sz="2400"/>
            </a:pPr>
            <a:r>
              <a:t>Advantage over MSI</a:t>
            </a:r>
          </a:p>
          <a:p>
            <a:pPr marL="742950" lvl="1" indent="-285750">
              <a:lnSpc>
                <a:spcPct val="90000"/>
              </a:lnSpc>
              <a:spcBef>
                <a:spcPts val="0"/>
              </a:spcBef>
              <a:buClrTx/>
              <a:defRPr sz="2000"/>
            </a:pPr>
            <a:r>
              <a:t>Often variables are loaded, modified in register, and then stored</a:t>
            </a:r>
          </a:p>
          <a:p>
            <a:pPr marL="742950" lvl="1" indent="-285750">
              <a:lnSpc>
                <a:spcPct val="90000"/>
              </a:lnSpc>
              <a:spcBef>
                <a:spcPts val="0"/>
              </a:spcBef>
              <a:buClrTx/>
              <a:defRPr sz="2000"/>
            </a:pPr>
            <a:r>
              <a:t>The store on state E then does not require asking for permission to write</a:t>
            </a:r>
          </a:p>
        </p:txBody>
      </p:sp>
      <p:sp>
        <p:nvSpPr>
          <p:cNvPr id="57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23</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581" name="Example: MESI Protocol"/>
          <p:cNvSpPr txBox="1">
            <a:spLocks noGrp="1"/>
          </p:cNvSpPr>
          <p:nvPr>
            <p:ph type="title" idx="4294967295"/>
          </p:nvPr>
        </p:nvSpPr>
        <p:spPr>
          <a:xfrm>
            <a:off x="685800" y="152400"/>
            <a:ext cx="7772400" cy="838200"/>
          </a:xfrm>
          <a:prstGeom prst="rect">
            <a:avLst/>
          </a:prstGeom>
        </p:spPr>
        <p:txBody>
          <a:bodyPr>
            <a:normAutofit/>
          </a:bodyPr>
          <a:lstStyle>
            <a:lvl1pPr>
              <a:defRPr sz="4000"/>
            </a:lvl1pPr>
          </a:lstStyle>
          <a:p>
            <a:r>
              <a:t>Example: MESI Protocol</a:t>
            </a:r>
          </a:p>
        </p:txBody>
      </p:sp>
      <p:sp>
        <p:nvSpPr>
          <p:cNvPr id="582" name="Transactions originated at this CPU:"/>
          <p:cNvSpPr txBox="1">
            <a:spLocks noGrp="1"/>
          </p:cNvSpPr>
          <p:nvPr>
            <p:ph type="body" idx="4294967295"/>
          </p:nvPr>
        </p:nvSpPr>
        <p:spPr>
          <a:xfrm>
            <a:off x="457200" y="1143000"/>
            <a:ext cx="8382000" cy="4343400"/>
          </a:xfrm>
          <a:prstGeom prst="rect">
            <a:avLst/>
          </a:prstGeom>
        </p:spPr>
        <p:txBody>
          <a:bodyPr>
            <a:normAutofit/>
          </a:bodyPr>
          <a:lstStyle>
            <a:lvl1pPr>
              <a:spcBef>
                <a:spcPts val="500"/>
              </a:spcBef>
              <a:buChar char="▪"/>
              <a:defRPr sz="2400"/>
            </a:lvl1pPr>
          </a:lstStyle>
          <a:p>
            <a:r>
              <a:t>Transactions originated at this CPU:</a:t>
            </a:r>
          </a:p>
        </p:txBody>
      </p:sp>
      <p:sp>
        <p:nvSpPr>
          <p:cNvPr id="583" name="Invalid"/>
          <p:cNvSpPr txBox="1"/>
          <p:nvPr/>
        </p:nvSpPr>
        <p:spPr>
          <a:xfrm>
            <a:off x="1448303" y="2590800"/>
            <a:ext cx="713369"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Invalid</a:t>
            </a:r>
          </a:p>
        </p:txBody>
      </p:sp>
      <p:sp>
        <p:nvSpPr>
          <p:cNvPr id="584" name="Oval"/>
          <p:cNvSpPr/>
          <p:nvPr/>
        </p:nvSpPr>
        <p:spPr>
          <a:xfrm>
            <a:off x="1219200" y="2286000"/>
            <a:ext cx="1143001" cy="990600"/>
          </a:xfrm>
          <a:prstGeom prst="ellipse">
            <a:avLst/>
          </a:prstGeom>
          <a:ln w="12700">
            <a:solidFill>
              <a:srgbClr val="000000"/>
            </a:solidFill>
          </a:ln>
        </p:spPr>
        <p:txBody>
          <a:bodyPr lIns="45719" rIns="45719" anchor="ctr"/>
          <a:lstStyle/>
          <a:p>
            <a:pPr>
              <a:defRPr sz="1800" b="0"/>
            </a:pPr>
            <a:endParaRPr/>
          </a:p>
        </p:txBody>
      </p:sp>
      <p:sp>
        <p:nvSpPr>
          <p:cNvPr id="585" name="Shared"/>
          <p:cNvSpPr txBox="1"/>
          <p:nvPr/>
        </p:nvSpPr>
        <p:spPr>
          <a:xfrm>
            <a:off x="6022535" y="2590800"/>
            <a:ext cx="708905"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Shared</a:t>
            </a:r>
          </a:p>
        </p:txBody>
      </p:sp>
      <p:sp>
        <p:nvSpPr>
          <p:cNvPr id="586" name="Oval"/>
          <p:cNvSpPr/>
          <p:nvPr/>
        </p:nvSpPr>
        <p:spPr>
          <a:xfrm>
            <a:off x="5791200" y="2286000"/>
            <a:ext cx="1143001" cy="990600"/>
          </a:xfrm>
          <a:prstGeom prst="ellipse">
            <a:avLst/>
          </a:prstGeom>
          <a:ln w="12700">
            <a:solidFill>
              <a:srgbClr val="000000"/>
            </a:solidFill>
          </a:ln>
        </p:spPr>
        <p:txBody>
          <a:bodyPr lIns="45719" rIns="45719" anchor="ctr"/>
          <a:lstStyle/>
          <a:p>
            <a:pPr>
              <a:defRPr sz="1800" b="0"/>
            </a:pPr>
            <a:endParaRPr/>
          </a:p>
        </p:txBody>
      </p:sp>
      <p:sp>
        <p:nvSpPr>
          <p:cNvPr id="587" name="Modified"/>
          <p:cNvSpPr txBox="1"/>
          <p:nvPr/>
        </p:nvSpPr>
        <p:spPr>
          <a:xfrm>
            <a:off x="1344210" y="5029200"/>
            <a:ext cx="913617"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Modified</a:t>
            </a:r>
          </a:p>
        </p:txBody>
      </p:sp>
      <p:sp>
        <p:nvSpPr>
          <p:cNvPr id="588" name="Oval"/>
          <p:cNvSpPr/>
          <p:nvPr/>
        </p:nvSpPr>
        <p:spPr>
          <a:xfrm>
            <a:off x="1219200" y="4724400"/>
            <a:ext cx="1143001" cy="990600"/>
          </a:xfrm>
          <a:prstGeom prst="ellipse">
            <a:avLst/>
          </a:prstGeom>
          <a:ln w="12700">
            <a:solidFill>
              <a:srgbClr val="000000"/>
            </a:solidFill>
          </a:ln>
        </p:spPr>
        <p:txBody>
          <a:bodyPr lIns="45719" rIns="45719" anchor="ctr"/>
          <a:lstStyle/>
          <a:p>
            <a:pPr>
              <a:defRPr sz="1800" b="0"/>
            </a:pPr>
            <a:endParaRPr/>
          </a:p>
        </p:txBody>
      </p:sp>
      <p:sp>
        <p:nvSpPr>
          <p:cNvPr id="589" name="Line"/>
          <p:cNvSpPr/>
          <p:nvPr/>
        </p:nvSpPr>
        <p:spPr>
          <a:xfrm>
            <a:off x="2362200" y="2667000"/>
            <a:ext cx="3429000" cy="0"/>
          </a:xfrm>
          <a:prstGeom prst="line">
            <a:avLst/>
          </a:prstGeom>
          <a:ln w="25400">
            <a:solidFill>
              <a:srgbClr val="0000FF"/>
            </a:solidFill>
            <a:tailEnd type="triangle"/>
          </a:ln>
        </p:spPr>
        <p:txBody>
          <a:bodyPr lIns="45719" rIns="45719"/>
          <a:lstStyle/>
          <a:p>
            <a:endParaRPr/>
          </a:p>
        </p:txBody>
      </p:sp>
      <p:sp>
        <p:nvSpPr>
          <p:cNvPr id="590" name="Line"/>
          <p:cNvSpPr/>
          <p:nvPr/>
        </p:nvSpPr>
        <p:spPr>
          <a:xfrm flipH="1">
            <a:off x="1676399" y="3276600"/>
            <a:ext cx="1" cy="1447800"/>
          </a:xfrm>
          <a:prstGeom prst="line">
            <a:avLst/>
          </a:prstGeom>
          <a:ln w="25400">
            <a:solidFill>
              <a:srgbClr val="0000FF"/>
            </a:solidFill>
            <a:tailEnd type="triangle"/>
          </a:ln>
        </p:spPr>
        <p:txBody>
          <a:bodyPr lIns="45719" rIns="45719"/>
          <a:lstStyle/>
          <a:p>
            <a:endParaRPr/>
          </a:p>
        </p:txBody>
      </p:sp>
      <p:sp>
        <p:nvSpPr>
          <p:cNvPr id="591" name="CPU read miss &amp; sharing"/>
          <p:cNvSpPr txBox="1"/>
          <p:nvPr/>
        </p:nvSpPr>
        <p:spPr>
          <a:xfrm>
            <a:off x="2847914" y="2286000"/>
            <a:ext cx="2349622"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0000FF"/>
                </a:solidFill>
              </a:defRPr>
            </a:lvl1pPr>
          </a:lstStyle>
          <a:p>
            <a:r>
              <a:t>CPU read miss &amp; sharing</a:t>
            </a:r>
          </a:p>
        </p:txBody>
      </p:sp>
      <p:sp>
        <p:nvSpPr>
          <p:cNvPr id="592" name="CPU read hit"/>
          <p:cNvSpPr txBox="1"/>
          <p:nvPr/>
        </p:nvSpPr>
        <p:spPr>
          <a:xfrm>
            <a:off x="5275238" y="1524000"/>
            <a:ext cx="126846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0000FF"/>
                </a:solidFill>
              </a:defRPr>
            </a:lvl1pPr>
          </a:lstStyle>
          <a:p>
            <a:r>
              <a:t>CPU read hit</a:t>
            </a:r>
          </a:p>
        </p:txBody>
      </p:sp>
      <p:sp>
        <p:nvSpPr>
          <p:cNvPr id="593" name="CPU write miss"/>
          <p:cNvSpPr txBox="1"/>
          <p:nvPr/>
        </p:nvSpPr>
        <p:spPr>
          <a:xfrm>
            <a:off x="105507" y="3733800"/>
            <a:ext cx="1492373"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0000FF"/>
                </a:solidFill>
              </a:defRPr>
            </a:lvl1pPr>
          </a:lstStyle>
          <a:p>
            <a:r>
              <a:t>CPU write miss</a:t>
            </a:r>
          </a:p>
        </p:txBody>
      </p:sp>
      <p:sp>
        <p:nvSpPr>
          <p:cNvPr id="594" name="Line"/>
          <p:cNvSpPr/>
          <p:nvPr/>
        </p:nvSpPr>
        <p:spPr>
          <a:xfrm flipH="1">
            <a:off x="2285999" y="3276599"/>
            <a:ext cx="3810002" cy="1676402"/>
          </a:xfrm>
          <a:prstGeom prst="line">
            <a:avLst/>
          </a:prstGeom>
          <a:ln w="25400">
            <a:solidFill>
              <a:srgbClr val="0000FF"/>
            </a:solidFill>
            <a:tailEnd type="triangle"/>
          </a:ln>
        </p:spPr>
        <p:txBody>
          <a:bodyPr lIns="45719" rIns="45719"/>
          <a:lstStyle/>
          <a:p>
            <a:endParaRPr/>
          </a:p>
        </p:txBody>
      </p:sp>
      <p:sp>
        <p:nvSpPr>
          <p:cNvPr id="595" name="CPU write"/>
          <p:cNvSpPr txBox="1"/>
          <p:nvPr/>
        </p:nvSpPr>
        <p:spPr>
          <a:xfrm>
            <a:off x="2897957" y="4648200"/>
            <a:ext cx="103986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0000FF"/>
                </a:solidFill>
              </a:defRPr>
            </a:lvl1pPr>
          </a:lstStyle>
          <a:p>
            <a:r>
              <a:t>CPU write</a:t>
            </a:r>
          </a:p>
        </p:txBody>
      </p:sp>
      <p:sp>
        <p:nvSpPr>
          <p:cNvPr id="596" name="CPU write hit"/>
          <p:cNvSpPr txBox="1"/>
          <p:nvPr/>
        </p:nvSpPr>
        <p:spPr>
          <a:xfrm>
            <a:off x="717979" y="5943600"/>
            <a:ext cx="1332642"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0000FF"/>
                </a:solidFill>
              </a:defRPr>
            </a:lvl1pPr>
          </a:lstStyle>
          <a:p>
            <a:r>
              <a:t>CPU write hit</a:t>
            </a:r>
          </a:p>
        </p:txBody>
      </p:sp>
      <p:sp>
        <p:nvSpPr>
          <p:cNvPr id="597" name="CPU read hit"/>
          <p:cNvSpPr txBox="1"/>
          <p:nvPr/>
        </p:nvSpPr>
        <p:spPr>
          <a:xfrm>
            <a:off x="719113" y="5715000"/>
            <a:ext cx="126846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0000FF"/>
                </a:solidFill>
              </a:defRPr>
            </a:lvl1pPr>
          </a:lstStyle>
          <a:p>
            <a:r>
              <a:t>CPU read hit</a:t>
            </a:r>
          </a:p>
        </p:txBody>
      </p:sp>
      <p:sp>
        <p:nvSpPr>
          <p:cNvPr id="598" name="Line"/>
          <p:cNvSpPr/>
          <p:nvPr/>
        </p:nvSpPr>
        <p:spPr>
          <a:xfrm>
            <a:off x="768350" y="4928092"/>
            <a:ext cx="542925" cy="791313"/>
          </a:xfrm>
          <a:custGeom>
            <a:avLst/>
            <a:gdLst/>
            <a:ahLst/>
            <a:cxnLst>
              <a:cxn ang="0">
                <a:pos x="wd2" y="hd2"/>
              </a:cxn>
              <a:cxn ang="5400000">
                <a:pos x="wd2" y="hd2"/>
              </a:cxn>
              <a:cxn ang="10800000">
                <a:pos x="wd2" y="hd2"/>
              </a:cxn>
              <a:cxn ang="16200000">
                <a:pos x="wd2" y="hd2"/>
              </a:cxn>
            </a:cxnLst>
            <a:rect l="0" t="0" r="r" b="b"/>
            <a:pathLst>
              <a:path w="20986" h="20087" extrusionOk="0">
                <a:moveTo>
                  <a:pt x="18041" y="2566"/>
                </a:moveTo>
                <a:cubicBezTo>
                  <a:pt x="12150" y="793"/>
                  <a:pt x="6259" y="-980"/>
                  <a:pt x="3313" y="632"/>
                </a:cubicBezTo>
                <a:cubicBezTo>
                  <a:pt x="368" y="2244"/>
                  <a:pt x="-614" y="9014"/>
                  <a:pt x="368" y="12238"/>
                </a:cubicBezTo>
                <a:cubicBezTo>
                  <a:pt x="1350" y="15462"/>
                  <a:pt x="5768" y="19330"/>
                  <a:pt x="9204" y="19975"/>
                </a:cubicBezTo>
                <a:cubicBezTo>
                  <a:pt x="12641" y="20620"/>
                  <a:pt x="16813" y="18363"/>
                  <a:pt x="20986" y="16107"/>
                </a:cubicBezTo>
              </a:path>
            </a:pathLst>
          </a:custGeom>
          <a:ln w="25400">
            <a:solidFill>
              <a:srgbClr val="0000FF"/>
            </a:solidFill>
            <a:tailEnd type="triangle"/>
          </a:ln>
        </p:spPr>
        <p:txBody>
          <a:bodyPr lIns="45719" rIns="45719"/>
          <a:lstStyle/>
          <a:p>
            <a:pPr>
              <a:defRPr sz="1800" b="0"/>
            </a:pPr>
            <a:endParaRPr/>
          </a:p>
        </p:txBody>
      </p:sp>
      <p:sp>
        <p:nvSpPr>
          <p:cNvPr id="599" name="Line"/>
          <p:cNvSpPr/>
          <p:nvPr/>
        </p:nvSpPr>
        <p:spPr>
          <a:xfrm>
            <a:off x="5561719" y="1943100"/>
            <a:ext cx="766160" cy="571500"/>
          </a:xfrm>
          <a:custGeom>
            <a:avLst/>
            <a:gdLst/>
            <a:ahLst/>
            <a:cxnLst>
              <a:cxn ang="0">
                <a:pos x="wd2" y="hd2"/>
              </a:cxn>
              <a:cxn ang="5400000">
                <a:pos x="wd2" y="hd2"/>
              </a:cxn>
              <a:cxn ang="10800000">
                <a:pos x="wd2" y="hd2"/>
              </a:cxn>
              <a:cxn ang="16200000">
                <a:pos x="wd2" y="hd2"/>
              </a:cxn>
            </a:cxnLst>
            <a:rect l="0" t="0" r="r" b="b"/>
            <a:pathLst>
              <a:path w="21017" h="21130" extrusionOk="0">
                <a:moveTo>
                  <a:pt x="8386" y="21130"/>
                </a:moveTo>
                <a:cubicBezTo>
                  <a:pt x="4379" y="18547"/>
                  <a:pt x="373" y="15965"/>
                  <a:pt x="24" y="12678"/>
                </a:cubicBezTo>
                <a:cubicBezTo>
                  <a:pt x="-324" y="9391"/>
                  <a:pt x="3160" y="3287"/>
                  <a:pt x="6295" y="1408"/>
                </a:cubicBezTo>
                <a:cubicBezTo>
                  <a:pt x="9431" y="-470"/>
                  <a:pt x="16399" y="-470"/>
                  <a:pt x="18837" y="1408"/>
                </a:cubicBezTo>
                <a:cubicBezTo>
                  <a:pt x="21276" y="3287"/>
                  <a:pt x="21102" y="7982"/>
                  <a:pt x="20928" y="12678"/>
                </a:cubicBezTo>
              </a:path>
            </a:pathLst>
          </a:custGeom>
          <a:ln w="25400">
            <a:solidFill>
              <a:srgbClr val="0000FF"/>
            </a:solidFill>
            <a:tailEnd type="triangle"/>
          </a:ln>
        </p:spPr>
        <p:txBody>
          <a:bodyPr lIns="45719" rIns="45719"/>
          <a:lstStyle/>
          <a:p>
            <a:pPr>
              <a:defRPr sz="1800" b="0"/>
            </a:pPr>
            <a:endParaRPr/>
          </a:p>
        </p:txBody>
      </p:sp>
      <p:sp>
        <p:nvSpPr>
          <p:cNvPr id="600" name="Exclusive"/>
          <p:cNvSpPr txBox="1"/>
          <p:nvPr/>
        </p:nvSpPr>
        <p:spPr>
          <a:xfrm>
            <a:off x="5902047" y="5029200"/>
            <a:ext cx="94353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Exclusive</a:t>
            </a:r>
          </a:p>
        </p:txBody>
      </p:sp>
      <p:sp>
        <p:nvSpPr>
          <p:cNvPr id="601" name="Oval"/>
          <p:cNvSpPr/>
          <p:nvPr/>
        </p:nvSpPr>
        <p:spPr>
          <a:xfrm>
            <a:off x="5791200" y="4724400"/>
            <a:ext cx="1143001" cy="990600"/>
          </a:xfrm>
          <a:prstGeom prst="ellipse">
            <a:avLst/>
          </a:prstGeom>
          <a:ln w="12700">
            <a:solidFill>
              <a:srgbClr val="000000"/>
            </a:solidFill>
          </a:ln>
        </p:spPr>
        <p:txBody>
          <a:bodyPr lIns="45719" rIns="45719" anchor="ctr"/>
          <a:lstStyle/>
          <a:p>
            <a:pPr>
              <a:defRPr sz="1800" b="0"/>
            </a:pPr>
            <a:endParaRPr/>
          </a:p>
        </p:txBody>
      </p:sp>
      <p:sp>
        <p:nvSpPr>
          <p:cNvPr id="602" name="CPU read hit"/>
          <p:cNvSpPr txBox="1"/>
          <p:nvPr/>
        </p:nvSpPr>
        <p:spPr>
          <a:xfrm>
            <a:off x="7485038" y="5257800"/>
            <a:ext cx="126846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CPU read hit</a:t>
            </a:r>
          </a:p>
        </p:txBody>
      </p:sp>
      <p:sp>
        <p:nvSpPr>
          <p:cNvPr id="603" name="Line"/>
          <p:cNvSpPr/>
          <p:nvPr/>
        </p:nvSpPr>
        <p:spPr>
          <a:xfrm flipH="1">
            <a:off x="6858000" y="4915392"/>
            <a:ext cx="542925" cy="791313"/>
          </a:xfrm>
          <a:custGeom>
            <a:avLst/>
            <a:gdLst/>
            <a:ahLst/>
            <a:cxnLst>
              <a:cxn ang="0">
                <a:pos x="wd2" y="hd2"/>
              </a:cxn>
              <a:cxn ang="5400000">
                <a:pos x="wd2" y="hd2"/>
              </a:cxn>
              <a:cxn ang="10800000">
                <a:pos x="wd2" y="hd2"/>
              </a:cxn>
              <a:cxn ang="16200000">
                <a:pos x="wd2" y="hd2"/>
              </a:cxn>
            </a:cxnLst>
            <a:rect l="0" t="0" r="r" b="b"/>
            <a:pathLst>
              <a:path w="20986" h="20087" extrusionOk="0">
                <a:moveTo>
                  <a:pt x="18041" y="2566"/>
                </a:moveTo>
                <a:cubicBezTo>
                  <a:pt x="12150" y="793"/>
                  <a:pt x="6259" y="-980"/>
                  <a:pt x="3313" y="632"/>
                </a:cubicBezTo>
                <a:cubicBezTo>
                  <a:pt x="368" y="2244"/>
                  <a:pt x="-614" y="9014"/>
                  <a:pt x="368" y="12238"/>
                </a:cubicBezTo>
                <a:cubicBezTo>
                  <a:pt x="1350" y="15462"/>
                  <a:pt x="5768" y="19330"/>
                  <a:pt x="9204" y="19975"/>
                </a:cubicBezTo>
                <a:cubicBezTo>
                  <a:pt x="12641" y="20620"/>
                  <a:pt x="16813" y="18363"/>
                  <a:pt x="20986" y="16107"/>
                </a:cubicBezTo>
              </a:path>
            </a:pathLst>
          </a:custGeom>
          <a:ln w="25400">
            <a:solidFill>
              <a:srgbClr val="FF0000"/>
            </a:solidFill>
            <a:tailEnd type="triangle"/>
          </a:ln>
        </p:spPr>
        <p:txBody>
          <a:bodyPr lIns="45719" rIns="45719"/>
          <a:lstStyle/>
          <a:p>
            <a:pPr>
              <a:defRPr sz="1800" b="0"/>
            </a:pPr>
            <a:endParaRPr/>
          </a:p>
        </p:txBody>
      </p:sp>
      <p:sp>
        <p:nvSpPr>
          <p:cNvPr id="604" name="Line"/>
          <p:cNvSpPr/>
          <p:nvPr/>
        </p:nvSpPr>
        <p:spPr>
          <a:xfrm>
            <a:off x="2057399" y="3276600"/>
            <a:ext cx="3810002" cy="1676400"/>
          </a:xfrm>
          <a:prstGeom prst="line">
            <a:avLst/>
          </a:prstGeom>
          <a:ln w="25400">
            <a:solidFill>
              <a:srgbClr val="FF0000"/>
            </a:solidFill>
            <a:tailEnd type="triangle"/>
          </a:ln>
        </p:spPr>
        <p:txBody>
          <a:bodyPr lIns="45719" rIns="45719"/>
          <a:lstStyle/>
          <a:p>
            <a:endParaRPr/>
          </a:p>
        </p:txBody>
      </p:sp>
      <p:sp>
        <p:nvSpPr>
          <p:cNvPr id="605" name="CPU read miss &amp; no sharing"/>
          <p:cNvSpPr txBox="1"/>
          <p:nvPr/>
        </p:nvSpPr>
        <p:spPr>
          <a:xfrm>
            <a:off x="2603476" y="3200400"/>
            <a:ext cx="264006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CPU read miss &amp; no sharing</a:t>
            </a:r>
          </a:p>
        </p:txBody>
      </p:sp>
      <p:sp>
        <p:nvSpPr>
          <p:cNvPr id="606" name="Line"/>
          <p:cNvSpPr/>
          <p:nvPr/>
        </p:nvSpPr>
        <p:spPr>
          <a:xfrm flipH="1" flipV="1">
            <a:off x="2362200" y="5335270"/>
            <a:ext cx="3352800" cy="1"/>
          </a:xfrm>
          <a:prstGeom prst="line">
            <a:avLst/>
          </a:prstGeom>
          <a:ln w="25400">
            <a:solidFill>
              <a:srgbClr val="FF0000"/>
            </a:solidFill>
            <a:tailEnd type="triangle"/>
          </a:ln>
        </p:spPr>
        <p:txBody>
          <a:bodyPr lIns="45719" rIns="45719"/>
          <a:lstStyle/>
          <a:p>
            <a:endParaRPr/>
          </a:p>
        </p:txBody>
      </p:sp>
      <p:sp>
        <p:nvSpPr>
          <p:cNvPr id="607" name="CPU write"/>
          <p:cNvSpPr txBox="1"/>
          <p:nvPr/>
        </p:nvSpPr>
        <p:spPr>
          <a:xfrm>
            <a:off x="3507557" y="5334000"/>
            <a:ext cx="103986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CPU write</a:t>
            </a:r>
          </a:p>
        </p:txBody>
      </p:sp>
      <p:grpSp>
        <p:nvGrpSpPr>
          <p:cNvPr id="611" name="Group"/>
          <p:cNvGrpSpPr/>
          <p:nvPr/>
        </p:nvGrpSpPr>
        <p:grpSpPr>
          <a:xfrm>
            <a:off x="2819400" y="3505200"/>
            <a:ext cx="5857875" cy="1524000"/>
            <a:chOff x="0" y="0"/>
            <a:chExt cx="5857875" cy="1524000"/>
          </a:xfrm>
        </p:grpSpPr>
        <p:sp>
          <p:nvSpPr>
            <p:cNvPr id="608" name="Oval"/>
            <p:cNvSpPr/>
            <p:nvPr/>
          </p:nvSpPr>
          <p:spPr>
            <a:xfrm>
              <a:off x="0" y="1143000"/>
              <a:ext cx="1219200" cy="381000"/>
            </a:xfrm>
            <a:prstGeom prst="ellipse">
              <a:avLst/>
            </a:prstGeom>
            <a:solidFill>
              <a:srgbClr val="FF0000">
                <a:alpha val="19999"/>
              </a:srgbClr>
            </a:solidFill>
            <a:ln w="12700" cap="flat">
              <a:solidFill>
                <a:srgbClr val="000000"/>
              </a:solidFill>
              <a:prstDash val="solid"/>
              <a:round/>
            </a:ln>
            <a:effectLst/>
          </p:spPr>
          <p:txBody>
            <a:bodyPr wrap="square" lIns="45719" tIns="45719" rIns="45719" bIns="45719" numCol="1" anchor="ctr">
              <a:noAutofit/>
            </a:bodyPr>
            <a:lstStyle/>
            <a:p>
              <a:pPr>
                <a:defRPr sz="1800" b="0"/>
              </a:pPr>
              <a:endParaRPr/>
            </a:p>
          </p:txBody>
        </p:sp>
        <p:sp>
          <p:nvSpPr>
            <p:cNvPr id="609" name="Line"/>
            <p:cNvSpPr/>
            <p:nvPr/>
          </p:nvSpPr>
          <p:spPr>
            <a:xfrm flipH="1">
              <a:off x="1219199" y="304800"/>
              <a:ext cx="2209802" cy="838200"/>
            </a:xfrm>
            <a:prstGeom prst="line">
              <a:avLst/>
            </a:prstGeom>
            <a:noFill/>
            <a:ln w="25400" cap="flat">
              <a:solidFill>
                <a:srgbClr val="FF0000"/>
              </a:solidFill>
              <a:prstDash val="sysDot"/>
              <a:round/>
              <a:tailEnd type="triangle" w="med" len="med"/>
            </a:ln>
            <a:effectLst/>
          </p:spPr>
          <p:txBody>
            <a:bodyPr wrap="square" lIns="45719" tIns="45719" rIns="45719" bIns="45719" numCol="1" anchor="t">
              <a:noAutofit/>
            </a:bodyPr>
            <a:lstStyle/>
            <a:p>
              <a:endParaRPr/>
            </a:p>
          </p:txBody>
        </p:sp>
        <p:sp>
          <p:nvSpPr>
            <p:cNvPr id="610" name="Must inform everyone…"/>
            <p:cNvSpPr/>
            <p:nvPr/>
          </p:nvSpPr>
          <p:spPr>
            <a:xfrm>
              <a:off x="4587875" y="0"/>
              <a:ext cx="1270000" cy="1270000"/>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p>
              <a:pPr algn="ctr">
                <a:defRPr sz="1800" b="0">
                  <a:solidFill>
                    <a:srgbClr val="FF0000"/>
                  </a:solidFill>
                </a:defRPr>
              </a:pPr>
              <a:r>
                <a:t>Must inform everyone</a:t>
              </a:r>
            </a:p>
            <a:p>
              <a:pPr algn="ctr">
                <a:defRPr sz="1800" b="0">
                  <a:solidFill>
                    <a:srgbClr val="FF0000"/>
                  </a:solidFill>
                </a:defRPr>
              </a:pPr>
              <a:r>
                <a:t>(</a:t>
              </a:r>
              <a:r>
                <a:rPr u="sng"/>
                <a:t>upgrade</a:t>
              </a:r>
              <a:r>
                <a:t>)</a:t>
              </a:r>
            </a:p>
          </p:txBody>
        </p:sp>
      </p:grpSp>
      <p:grpSp>
        <p:nvGrpSpPr>
          <p:cNvPr id="615" name="Group"/>
          <p:cNvGrpSpPr/>
          <p:nvPr/>
        </p:nvGrpSpPr>
        <p:grpSpPr>
          <a:xfrm>
            <a:off x="3428999" y="5334000"/>
            <a:ext cx="4084873" cy="1043940"/>
            <a:chOff x="0" y="0"/>
            <a:chExt cx="4084871" cy="1043940"/>
          </a:xfrm>
        </p:grpSpPr>
        <p:sp>
          <p:nvSpPr>
            <p:cNvPr id="612" name="Oval"/>
            <p:cNvSpPr/>
            <p:nvPr/>
          </p:nvSpPr>
          <p:spPr>
            <a:xfrm>
              <a:off x="0" y="0"/>
              <a:ext cx="1219200" cy="381000"/>
            </a:xfrm>
            <a:prstGeom prst="ellipse">
              <a:avLst/>
            </a:prstGeom>
            <a:solidFill>
              <a:srgbClr val="FF0000">
                <a:alpha val="19999"/>
              </a:srgbClr>
            </a:solidFill>
            <a:ln w="12700" cap="flat">
              <a:solidFill>
                <a:srgbClr val="000000"/>
              </a:solidFill>
              <a:prstDash val="solid"/>
              <a:round/>
            </a:ln>
            <a:effectLst/>
          </p:spPr>
          <p:txBody>
            <a:bodyPr wrap="square" lIns="45719" tIns="45719" rIns="45719" bIns="45719" numCol="1" anchor="ctr">
              <a:noAutofit/>
            </a:bodyPr>
            <a:lstStyle/>
            <a:p>
              <a:pPr>
                <a:defRPr sz="1800" b="0"/>
              </a:pPr>
              <a:endParaRPr dirty="0"/>
            </a:p>
          </p:txBody>
        </p:sp>
        <p:sp>
          <p:nvSpPr>
            <p:cNvPr id="613" name="Line"/>
            <p:cNvSpPr/>
            <p:nvPr/>
          </p:nvSpPr>
          <p:spPr>
            <a:xfrm flipH="1" flipV="1">
              <a:off x="1219200" y="381000"/>
              <a:ext cx="838201" cy="457200"/>
            </a:xfrm>
            <a:prstGeom prst="line">
              <a:avLst/>
            </a:prstGeom>
            <a:noFill/>
            <a:ln w="25400" cap="flat">
              <a:solidFill>
                <a:srgbClr val="FF0000"/>
              </a:solidFill>
              <a:prstDash val="sysDot"/>
              <a:round/>
              <a:tailEnd type="triangle" w="med" len="med"/>
            </a:ln>
            <a:effectLst/>
          </p:spPr>
          <p:txBody>
            <a:bodyPr wrap="square" lIns="45719" tIns="45719" rIns="45719" bIns="45719" numCol="1" anchor="t">
              <a:noAutofit/>
            </a:bodyPr>
            <a:lstStyle/>
            <a:p>
              <a:endParaRPr/>
            </a:p>
          </p:txBody>
        </p:sp>
        <p:sp>
          <p:nvSpPr>
            <p:cNvPr id="614" name="Can be done silently"/>
            <p:cNvSpPr txBox="1"/>
            <p:nvPr/>
          </p:nvSpPr>
          <p:spPr>
            <a:xfrm>
              <a:off x="2185753" y="685800"/>
              <a:ext cx="1899119" cy="3581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1800" b="0">
                  <a:solidFill>
                    <a:srgbClr val="FF0000"/>
                  </a:solidFill>
                </a:defRPr>
              </a:lvl1pPr>
            </a:lstStyle>
            <a:p>
              <a:r>
                <a:t>Can be done silently</a:t>
              </a:r>
            </a:p>
          </p:txBody>
        </p:sp>
      </p:grpSp>
      <p:sp>
        <p:nvSpPr>
          <p:cNvPr id="61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24</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6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 grpId="0" animBg="1" advAuto="0"/>
      <p:bldP spid="615" grpId="0"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619" name="Example: MESI Protocol"/>
          <p:cNvSpPr txBox="1">
            <a:spLocks noGrp="1"/>
          </p:cNvSpPr>
          <p:nvPr>
            <p:ph type="title" idx="4294967295"/>
          </p:nvPr>
        </p:nvSpPr>
        <p:spPr>
          <a:xfrm>
            <a:off x="685800" y="152400"/>
            <a:ext cx="7772400" cy="838200"/>
          </a:xfrm>
          <a:prstGeom prst="rect">
            <a:avLst/>
          </a:prstGeom>
        </p:spPr>
        <p:txBody>
          <a:bodyPr>
            <a:normAutofit/>
          </a:bodyPr>
          <a:lstStyle>
            <a:lvl1pPr>
              <a:defRPr sz="4000"/>
            </a:lvl1pPr>
          </a:lstStyle>
          <a:p>
            <a:r>
              <a:t>Example: MESI Protocol</a:t>
            </a:r>
          </a:p>
        </p:txBody>
      </p:sp>
      <p:sp>
        <p:nvSpPr>
          <p:cNvPr id="620" name="Transactions originated at other CPU:"/>
          <p:cNvSpPr txBox="1">
            <a:spLocks noGrp="1"/>
          </p:cNvSpPr>
          <p:nvPr>
            <p:ph type="body" idx="4294967295"/>
          </p:nvPr>
        </p:nvSpPr>
        <p:spPr>
          <a:xfrm>
            <a:off x="457200" y="1143000"/>
            <a:ext cx="8382000" cy="4343400"/>
          </a:xfrm>
          <a:prstGeom prst="rect">
            <a:avLst/>
          </a:prstGeom>
        </p:spPr>
        <p:txBody>
          <a:bodyPr>
            <a:normAutofit/>
          </a:bodyPr>
          <a:lstStyle>
            <a:lvl1pPr>
              <a:spcBef>
                <a:spcPts val="500"/>
              </a:spcBef>
              <a:buChar char="▪"/>
              <a:defRPr sz="2400"/>
            </a:lvl1pPr>
          </a:lstStyle>
          <a:p>
            <a:r>
              <a:t>Transactions originated at other CPU:</a:t>
            </a:r>
          </a:p>
        </p:txBody>
      </p:sp>
      <p:sp>
        <p:nvSpPr>
          <p:cNvPr id="621" name="Invalid"/>
          <p:cNvSpPr txBox="1"/>
          <p:nvPr/>
        </p:nvSpPr>
        <p:spPr>
          <a:xfrm>
            <a:off x="1448303" y="2590800"/>
            <a:ext cx="713369"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Invalid</a:t>
            </a:r>
          </a:p>
        </p:txBody>
      </p:sp>
      <p:sp>
        <p:nvSpPr>
          <p:cNvPr id="622" name="Oval"/>
          <p:cNvSpPr/>
          <p:nvPr/>
        </p:nvSpPr>
        <p:spPr>
          <a:xfrm>
            <a:off x="1219200" y="2286000"/>
            <a:ext cx="1143001" cy="990600"/>
          </a:xfrm>
          <a:prstGeom prst="ellipse">
            <a:avLst/>
          </a:prstGeom>
          <a:ln w="12700">
            <a:solidFill>
              <a:srgbClr val="000000"/>
            </a:solidFill>
          </a:ln>
        </p:spPr>
        <p:txBody>
          <a:bodyPr lIns="45719" rIns="45719" anchor="ctr"/>
          <a:lstStyle/>
          <a:p>
            <a:pPr>
              <a:defRPr sz="1800" b="0"/>
            </a:pPr>
            <a:endParaRPr/>
          </a:p>
        </p:txBody>
      </p:sp>
      <p:sp>
        <p:nvSpPr>
          <p:cNvPr id="623" name="Shared"/>
          <p:cNvSpPr txBox="1"/>
          <p:nvPr/>
        </p:nvSpPr>
        <p:spPr>
          <a:xfrm>
            <a:off x="6022535" y="2590800"/>
            <a:ext cx="708905"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Shared</a:t>
            </a:r>
          </a:p>
        </p:txBody>
      </p:sp>
      <p:sp>
        <p:nvSpPr>
          <p:cNvPr id="624" name="Oval"/>
          <p:cNvSpPr/>
          <p:nvPr/>
        </p:nvSpPr>
        <p:spPr>
          <a:xfrm>
            <a:off x="5791200" y="2286000"/>
            <a:ext cx="1143001" cy="990600"/>
          </a:xfrm>
          <a:prstGeom prst="ellipse">
            <a:avLst/>
          </a:prstGeom>
          <a:ln w="12700">
            <a:solidFill>
              <a:srgbClr val="000000"/>
            </a:solidFill>
          </a:ln>
        </p:spPr>
        <p:txBody>
          <a:bodyPr lIns="45719" rIns="45719" anchor="ctr"/>
          <a:lstStyle/>
          <a:p>
            <a:pPr>
              <a:defRPr sz="1800" b="0"/>
            </a:pPr>
            <a:endParaRPr/>
          </a:p>
        </p:txBody>
      </p:sp>
      <p:sp>
        <p:nvSpPr>
          <p:cNvPr id="625" name="Modified"/>
          <p:cNvSpPr txBox="1"/>
          <p:nvPr/>
        </p:nvSpPr>
        <p:spPr>
          <a:xfrm>
            <a:off x="1344210" y="5029200"/>
            <a:ext cx="913617"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Modified</a:t>
            </a:r>
          </a:p>
        </p:txBody>
      </p:sp>
      <p:sp>
        <p:nvSpPr>
          <p:cNvPr id="626" name="Oval"/>
          <p:cNvSpPr/>
          <p:nvPr/>
        </p:nvSpPr>
        <p:spPr>
          <a:xfrm>
            <a:off x="1219200" y="4724400"/>
            <a:ext cx="1143001" cy="990600"/>
          </a:xfrm>
          <a:prstGeom prst="ellipse">
            <a:avLst/>
          </a:prstGeom>
          <a:ln w="12700">
            <a:solidFill>
              <a:srgbClr val="000000"/>
            </a:solidFill>
          </a:ln>
        </p:spPr>
        <p:txBody>
          <a:bodyPr lIns="45719" rIns="45719" anchor="ctr"/>
          <a:lstStyle/>
          <a:p>
            <a:pPr>
              <a:defRPr sz="1800" b="0"/>
            </a:pPr>
            <a:endParaRPr/>
          </a:p>
        </p:txBody>
      </p:sp>
      <p:sp>
        <p:nvSpPr>
          <p:cNvPr id="627" name="Exclusive"/>
          <p:cNvSpPr txBox="1"/>
          <p:nvPr/>
        </p:nvSpPr>
        <p:spPr>
          <a:xfrm>
            <a:off x="5902047" y="5029200"/>
            <a:ext cx="943531"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lvl1pPr>
          </a:lstStyle>
          <a:p>
            <a:r>
              <a:t>Exclusive</a:t>
            </a:r>
          </a:p>
        </p:txBody>
      </p:sp>
      <p:sp>
        <p:nvSpPr>
          <p:cNvPr id="628" name="Oval"/>
          <p:cNvSpPr/>
          <p:nvPr/>
        </p:nvSpPr>
        <p:spPr>
          <a:xfrm>
            <a:off x="5791200" y="4724400"/>
            <a:ext cx="1143001" cy="990600"/>
          </a:xfrm>
          <a:prstGeom prst="ellipse">
            <a:avLst/>
          </a:prstGeom>
          <a:ln w="12700">
            <a:solidFill>
              <a:srgbClr val="000000"/>
            </a:solidFill>
          </a:ln>
        </p:spPr>
        <p:txBody>
          <a:bodyPr lIns="45719" rIns="45719" anchor="ctr"/>
          <a:lstStyle/>
          <a:p>
            <a:pPr>
              <a:defRPr sz="1800" b="0"/>
            </a:pPr>
            <a:endParaRPr/>
          </a:p>
        </p:txBody>
      </p:sp>
      <p:sp>
        <p:nvSpPr>
          <p:cNvPr id="629" name="Line"/>
          <p:cNvSpPr/>
          <p:nvPr/>
        </p:nvSpPr>
        <p:spPr>
          <a:xfrm flipV="1">
            <a:off x="1981199" y="3276600"/>
            <a:ext cx="1" cy="1447800"/>
          </a:xfrm>
          <a:prstGeom prst="line">
            <a:avLst/>
          </a:prstGeom>
          <a:ln w="25400">
            <a:solidFill>
              <a:srgbClr val="FF0000"/>
            </a:solidFill>
            <a:tailEnd type="triangle"/>
          </a:ln>
        </p:spPr>
        <p:txBody>
          <a:bodyPr lIns="45719" rIns="45719"/>
          <a:lstStyle/>
          <a:p>
            <a:endParaRPr/>
          </a:p>
        </p:txBody>
      </p:sp>
      <p:sp>
        <p:nvSpPr>
          <p:cNvPr id="630" name="Remote write…"/>
          <p:cNvSpPr txBox="1"/>
          <p:nvPr/>
        </p:nvSpPr>
        <p:spPr>
          <a:xfrm>
            <a:off x="457200" y="3505200"/>
            <a:ext cx="1291231" cy="6248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800" b="0">
                <a:solidFill>
                  <a:srgbClr val="FF0000"/>
                </a:solidFill>
              </a:defRPr>
            </a:pPr>
            <a:r>
              <a:t>Remote write</a:t>
            </a:r>
          </a:p>
          <a:p>
            <a:pPr>
              <a:defRPr sz="1800" b="0">
                <a:solidFill>
                  <a:srgbClr val="FF0000"/>
                </a:solidFill>
              </a:defRPr>
            </a:pPr>
            <a:r>
              <a:t>miss</a:t>
            </a:r>
          </a:p>
        </p:txBody>
      </p:sp>
      <p:sp>
        <p:nvSpPr>
          <p:cNvPr id="631" name="Line"/>
          <p:cNvSpPr/>
          <p:nvPr/>
        </p:nvSpPr>
        <p:spPr>
          <a:xfrm flipV="1">
            <a:off x="2057399" y="3124199"/>
            <a:ext cx="3810002" cy="1676402"/>
          </a:xfrm>
          <a:prstGeom prst="line">
            <a:avLst/>
          </a:prstGeom>
          <a:ln w="25400">
            <a:solidFill>
              <a:srgbClr val="FF0000"/>
            </a:solidFill>
            <a:tailEnd type="triangle"/>
          </a:ln>
        </p:spPr>
        <p:txBody>
          <a:bodyPr lIns="45719" rIns="45719"/>
          <a:lstStyle/>
          <a:p>
            <a:endParaRPr/>
          </a:p>
        </p:txBody>
      </p:sp>
      <p:sp>
        <p:nvSpPr>
          <p:cNvPr id="632" name="Remote read miss"/>
          <p:cNvSpPr txBox="1"/>
          <p:nvPr/>
        </p:nvSpPr>
        <p:spPr>
          <a:xfrm>
            <a:off x="3478219" y="3124200"/>
            <a:ext cx="1679562"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Remote read miss</a:t>
            </a:r>
          </a:p>
        </p:txBody>
      </p:sp>
      <p:sp>
        <p:nvSpPr>
          <p:cNvPr id="633" name="Line"/>
          <p:cNvSpPr/>
          <p:nvPr/>
        </p:nvSpPr>
        <p:spPr>
          <a:xfrm flipH="1" flipV="1">
            <a:off x="2362200" y="2895600"/>
            <a:ext cx="3429000" cy="1"/>
          </a:xfrm>
          <a:prstGeom prst="line">
            <a:avLst/>
          </a:prstGeom>
          <a:ln w="25400">
            <a:solidFill>
              <a:srgbClr val="FF0000"/>
            </a:solidFill>
            <a:tailEnd type="triangle"/>
          </a:ln>
        </p:spPr>
        <p:txBody>
          <a:bodyPr lIns="45719" rIns="45719"/>
          <a:lstStyle/>
          <a:p>
            <a:endParaRPr/>
          </a:p>
        </p:txBody>
      </p:sp>
      <p:sp>
        <p:nvSpPr>
          <p:cNvPr id="634" name="Remote write miss"/>
          <p:cNvSpPr txBox="1"/>
          <p:nvPr/>
        </p:nvSpPr>
        <p:spPr>
          <a:xfrm>
            <a:off x="3172285" y="2514600"/>
            <a:ext cx="1743743"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Remote write miss</a:t>
            </a:r>
          </a:p>
        </p:txBody>
      </p:sp>
      <p:sp>
        <p:nvSpPr>
          <p:cNvPr id="635" name="Line"/>
          <p:cNvSpPr/>
          <p:nvPr/>
        </p:nvSpPr>
        <p:spPr>
          <a:xfrm flipH="1">
            <a:off x="6858000" y="2400792"/>
            <a:ext cx="542925" cy="791313"/>
          </a:xfrm>
          <a:custGeom>
            <a:avLst/>
            <a:gdLst/>
            <a:ahLst/>
            <a:cxnLst>
              <a:cxn ang="0">
                <a:pos x="wd2" y="hd2"/>
              </a:cxn>
              <a:cxn ang="5400000">
                <a:pos x="wd2" y="hd2"/>
              </a:cxn>
              <a:cxn ang="10800000">
                <a:pos x="wd2" y="hd2"/>
              </a:cxn>
              <a:cxn ang="16200000">
                <a:pos x="wd2" y="hd2"/>
              </a:cxn>
            </a:cxnLst>
            <a:rect l="0" t="0" r="r" b="b"/>
            <a:pathLst>
              <a:path w="20986" h="20087" extrusionOk="0">
                <a:moveTo>
                  <a:pt x="18041" y="2566"/>
                </a:moveTo>
                <a:cubicBezTo>
                  <a:pt x="12150" y="793"/>
                  <a:pt x="6259" y="-980"/>
                  <a:pt x="3313" y="632"/>
                </a:cubicBezTo>
                <a:cubicBezTo>
                  <a:pt x="368" y="2244"/>
                  <a:pt x="-614" y="9014"/>
                  <a:pt x="368" y="12238"/>
                </a:cubicBezTo>
                <a:cubicBezTo>
                  <a:pt x="1350" y="15462"/>
                  <a:pt x="5768" y="19330"/>
                  <a:pt x="9204" y="19975"/>
                </a:cubicBezTo>
                <a:cubicBezTo>
                  <a:pt x="12641" y="20620"/>
                  <a:pt x="16813" y="18363"/>
                  <a:pt x="20986" y="16107"/>
                </a:cubicBezTo>
              </a:path>
            </a:pathLst>
          </a:custGeom>
          <a:ln w="25400">
            <a:solidFill>
              <a:srgbClr val="FF0000"/>
            </a:solidFill>
            <a:tailEnd type="triangle"/>
          </a:ln>
        </p:spPr>
        <p:txBody>
          <a:bodyPr lIns="45719" rIns="45719"/>
          <a:lstStyle/>
          <a:p>
            <a:pPr>
              <a:defRPr sz="1800" b="0"/>
            </a:pPr>
            <a:endParaRPr/>
          </a:p>
        </p:txBody>
      </p:sp>
      <p:sp>
        <p:nvSpPr>
          <p:cNvPr id="636" name="Remote read miss"/>
          <p:cNvSpPr txBox="1"/>
          <p:nvPr/>
        </p:nvSpPr>
        <p:spPr>
          <a:xfrm>
            <a:off x="6983419" y="1981200"/>
            <a:ext cx="1679562"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Remote read miss</a:t>
            </a:r>
          </a:p>
        </p:txBody>
      </p:sp>
      <p:sp>
        <p:nvSpPr>
          <p:cNvPr id="637" name="Line"/>
          <p:cNvSpPr/>
          <p:nvPr/>
        </p:nvSpPr>
        <p:spPr>
          <a:xfrm flipV="1">
            <a:off x="6553199" y="3276600"/>
            <a:ext cx="1" cy="1447800"/>
          </a:xfrm>
          <a:prstGeom prst="line">
            <a:avLst/>
          </a:prstGeom>
          <a:ln w="25400">
            <a:solidFill>
              <a:srgbClr val="FF0000"/>
            </a:solidFill>
            <a:tailEnd type="triangle"/>
          </a:ln>
        </p:spPr>
        <p:txBody>
          <a:bodyPr lIns="45719" rIns="45719"/>
          <a:lstStyle/>
          <a:p>
            <a:endParaRPr/>
          </a:p>
        </p:txBody>
      </p:sp>
      <p:sp>
        <p:nvSpPr>
          <p:cNvPr id="638" name="Remote read miss"/>
          <p:cNvSpPr txBox="1"/>
          <p:nvPr/>
        </p:nvSpPr>
        <p:spPr>
          <a:xfrm>
            <a:off x="6678619" y="3657600"/>
            <a:ext cx="1679562"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Remote read miss</a:t>
            </a:r>
          </a:p>
        </p:txBody>
      </p:sp>
      <p:sp>
        <p:nvSpPr>
          <p:cNvPr id="639" name="Line"/>
          <p:cNvSpPr/>
          <p:nvPr/>
        </p:nvSpPr>
        <p:spPr>
          <a:xfrm flipH="1" flipV="1">
            <a:off x="2285999" y="3047999"/>
            <a:ext cx="3810002" cy="1676402"/>
          </a:xfrm>
          <a:prstGeom prst="line">
            <a:avLst/>
          </a:prstGeom>
          <a:ln w="25400">
            <a:solidFill>
              <a:srgbClr val="FF0000"/>
            </a:solidFill>
            <a:tailEnd type="triangle"/>
          </a:ln>
        </p:spPr>
        <p:txBody>
          <a:bodyPr lIns="45719" rIns="45719"/>
          <a:lstStyle/>
          <a:p>
            <a:endParaRPr/>
          </a:p>
        </p:txBody>
      </p:sp>
      <p:sp>
        <p:nvSpPr>
          <p:cNvPr id="640" name="Remote write miss"/>
          <p:cNvSpPr txBox="1"/>
          <p:nvPr/>
        </p:nvSpPr>
        <p:spPr>
          <a:xfrm>
            <a:off x="3858085" y="4495800"/>
            <a:ext cx="1743743" cy="358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800" b="0">
                <a:solidFill>
                  <a:srgbClr val="FF0000"/>
                </a:solidFill>
              </a:defRPr>
            </a:lvl1pPr>
          </a:lstStyle>
          <a:p>
            <a:r>
              <a:t>Remote write miss</a:t>
            </a:r>
          </a:p>
        </p:txBody>
      </p:sp>
      <p:sp>
        <p:nvSpPr>
          <p:cNvPr id="64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25</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649" name="Behavior of Cache Coherence Protocols"/>
          <p:cNvSpPr txBox="1">
            <a:spLocks noGrp="1"/>
          </p:cNvSpPr>
          <p:nvPr>
            <p:ph type="title" idx="4294967295"/>
          </p:nvPr>
        </p:nvSpPr>
        <p:spPr>
          <a:xfrm>
            <a:off x="685800" y="152400"/>
            <a:ext cx="8153400" cy="838200"/>
          </a:xfrm>
          <a:prstGeom prst="rect">
            <a:avLst/>
          </a:prstGeom>
        </p:spPr>
        <p:txBody>
          <a:bodyPr>
            <a:normAutofit fontScale="90000"/>
          </a:bodyPr>
          <a:lstStyle>
            <a:lvl1pPr>
              <a:defRPr sz="3600"/>
            </a:lvl1pPr>
          </a:lstStyle>
          <a:p>
            <a:r>
              <a:t>Behavior of Cache Coherence Protocols</a:t>
            </a:r>
          </a:p>
        </p:txBody>
      </p:sp>
      <p:sp>
        <p:nvSpPr>
          <p:cNvPr id="650" name="Uniprocessor cache misses (the 3 C’s):…"/>
          <p:cNvSpPr txBox="1">
            <a:spLocks noGrp="1"/>
          </p:cNvSpPr>
          <p:nvPr>
            <p:ph type="body" idx="4294967295"/>
          </p:nvPr>
        </p:nvSpPr>
        <p:spPr>
          <a:xfrm>
            <a:off x="457200" y="1143000"/>
            <a:ext cx="8382000" cy="4343400"/>
          </a:xfrm>
          <a:prstGeom prst="rect">
            <a:avLst/>
          </a:prstGeom>
        </p:spPr>
        <p:txBody>
          <a:bodyPr>
            <a:normAutofit fontScale="92500" lnSpcReduction="20000"/>
          </a:bodyPr>
          <a:lstStyle/>
          <a:p>
            <a:pPr>
              <a:spcBef>
                <a:spcPts val="500"/>
              </a:spcBef>
              <a:buChar char="▪"/>
              <a:defRPr sz="2400"/>
            </a:pPr>
            <a:r>
              <a:t>Uniprocessor cache misses (the 3 C’s):</a:t>
            </a:r>
          </a:p>
          <a:p>
            <a:pPr marL="742950" lvl="1" indent="-285750">
              <a:lnSpc>
                <a:spcPct val="95000"/>
              </a:lnSpc>
              <a:spcBef>
                <a:spcPts val="0"/>
              </a:spcBef>
              <a:buClrTx/>
              <a:defRPr sz="2000"/>
            </a:pPr>
            <a:r>
              <a:t>Cold (or compulsory) misses: when a block is accessed for the first time</a:t>
            </a:r>
          </a:p>
          <a:p>
            <a:pPr marL="742950" lvl="1" indent="-285750">
              <a:lnSpc>
                <a:spcPct val="95000"/>
              </a:lnSpc>
              <a:spcBef>
                <a:spcPts val="0"/>
              </a:spcBef>
              <a:buClrTx/>
              <a:defRPr sz="2000"/>
            </a:pPr>
            <a:r>
              <a:t>Capacity misses: when a block is not in the cache because it was evicted because the cache was full</a:t>
            </a:r>
          </a:p>
          <a:p>
            <a:pPr marL="742950" lvl="1" indent="-285750">
              <a:lnSpc>
                <a:spcPct val="95000"/>
              </a:lnSpc>
              <a:spcBef>
                <a:spcPts val="0"/>
              </a:spcBef>
              <a:buClrTx/>
              <a:defRPr sz="2000"/>
            </a:pPr>
            <a:r>
              <a:t>Conflict misses: when a block is not in the cache because it was evicted because the cache set was full</a:t>
            </a:r>
          </a:p>
          <a:p>
            <a:pPr>
              <a:lnSpc>
                <a:spcPct val="120000"/>
              </a:lnSpc>
              <a:spcBef>
                <a:spcPts val="500"/>
              </a:spcBef>
              <a:buChar char="▪"/>
              <a:defRPr sz="2400" u="sng">
                <a:solidFill>
                  <a:srgbClr val="FF0000"/>
                </a:solidFill>
              </a:defRPr>
            </a:pPr>
            <a:r>
              <a:t>Coherence misses</a:t>
            </a:r>
            <a:r>
              <a:rPr u="none">
                <a:solidFill>
                  <a:srgbClr val="000000"/>
                </a:solidFill>
              </a:rPr>
              <a:t>: when a block is not in the cache because it was invalidated by a write from another processor</a:t>
            </a:r>
          </a:p>
          <a:p>
            <a:pPr marL="742950" lvl="1" indent="-285750">
              <a:lnSpc>
                <a:spcPct val="120000"/>
              </a:lnSpc>
              <a:spcBef>
                <a:spcPts val="0"/>
              </a:spcBef>
              <a:buClrTx/>
              <a:defRPr sz="2000"/>
            </a:pPr>
            <a:r>
              <a:t>Hard to reduce </a:t>
            </a:r>
            <a:r>
              <a:rPr>
                <a:latin typeface="Symbol"/>
                <a:ea typeface="Symbol"/>
                <a:cs typeface="Symbol"/>
                <a:sym typeface="Symbol"/>
              </a:rPr>
              <a:t>® </a:t>
            </a:r>
            <a:r>
              <a:t>relates to intrinsic </a:t>
            </a:r>
            <a:r>
              <a:rPr u="sng"/>
              <a:t>communication and sharing of data</a:t>
            </a:r>
            <a:r>
              <a:t> in the parallel application</a:t>
            </a:r>
          </a:p>
          <a:p>
            <a:pPr marL="742950" lvl="1" indent="-285750">
              <a:lnSpc>
                <a:spcPct val="120000"/>
              </a:lnSpc>
              <a:spcBef>
                <a:spcPts val="0"/>
              </a:spcBef>
              <a:buClrTx/>
              <a:defRPr sz="2000" u="sng">
                <a:solidFill>
                  <a:srgbClr val="FF0000"/>
                </a:solidFill>
              </a:defRPr>
            </a:pPr>
            <a:r>
              <a:t>False sharing</a:t>
            </a:r>
            <a:r>
              <a:rPr u="none">
                <a:solidFill>
                  <a:srgbClr val="000000"/>
                </a:solidFill>
              </a:rPr>
              <a:t> coherence misses: processors modify different words of the cache block (no real communication or sharing) but end up invalidating the complete block</a:t>
            </a:r>
          </a:p>
        </p:txBody>
      </p:sp>
      <p:sp>
        <p:nvSpPr>
          <p:cNvPr id="65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26</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654" name="Behavior of Cache Coherence Protocols"/>
          <p:cNvSpPr txBox="1">
            <a:spLocks noGrp="1"/>
          </p:cNvSpPr>
          <p:nvPr>
            <p:ph type="title" idx="4294967295"/>
          </p:nvPr>
        </p:nvSpPr>
        <p:spPr>
          <a:xfrm>
            <a:off x="685800" y="152400"/>
            <a:ext cx="8153400" cy="838200"/>
          </a:xfrm>
          <a:prstGeom prst="rect">
            <a:avLst/>
          </a:prstGeom>
        </p:spPr>
        <p:txBody>
          <a:bodyPr>
            <a:normAutofit fontScale="90000"/>
          </a:bodyPr>
          <a:lstStyle>
            <a:lvl1pPr>
              <a:defRPr sz="3600"/>
            </a:lvl1pPr>
          </a:lstStyle>
          <a:p>
            <a:r>
              <a:t>Behavior of Cache Coherence Protocols</a:t>
            </a:r>
          </a:p>
        </p:txBody>
      </p:sp>
      <p:sp>
        <p:nvSpPr>
          <p:cNvPr id="655" name="False sharing misses increases with larger cache line size…"/>
          <p:cNvSpPr txBox="1">
            <a:spLocks noGrp="1"/>
          </p:cNvSpPr>
          <p:nvPr>
            <p:ph type="body" idx="4294967295"/>
          </p:nvPr>
        </p:nvSpPr>
        <p:spPr>
          <a:xfrm>
            <a:off x="457200" y="1143000"/>
            <a:ext cx="8382000" cy="4343400"/>
          </a:xfrm>
          <a:prstGeom prst="rect">
            <a:avLst/>
          </a:prstGeom>
        </p:spPr>
        <p:txBody>
          <a:bodyPr>
            <a:normAutofit fontScale="92500" lnSpcReduction="20000"/>
          </a:bodyPr>
          <a:lstStyle/>
          <a:p>
            <a:pPr marL="339470" indent="-339470" defTabSz="905255">
              <a:lnSpc>
                <a:spcPct val="120000"/>
              </a:lnSpc>
              <a:spcBef>
                <a:spcPts val="500"/>
              </a:spcBef>
              <a:buChar char="▪"/>
              <a:defRPr sz="2376"/>
            </a:pPr>
            <a:r>
              <a:rPr dirty="0"/>
              <a:t>False sharing misses increases with larger cache line size</a:t>
            </a:r>
          </a:p>
          <a:p>
            <a:pPr marL="735520" lvl="1" indent="-282892" defTabSz="905255">
              <a:lnSpc>
                <a:spcPct val="120000"/>
              </a:lnSpc>
              <a:spcBef>
                <a:spcPts val="0"/>
              </a:spcBef>
              <a:buClrTx/>
              <a:defRPr sz="1979"/>
            </a:pPr>
            <a:r>
              <a:rPr dirty="0"/>
              <a:t>Only true sharing remains with single word/byte cache lines</a:t>
            </a:r>
          </a:p>
          <a:p>
            <a:pPr marL="339470" indent="-339470" defTabSz="905255">
              <a:lnSpc>
                <a:spcPct val="120000"/>
              </a:lnSpc>
              <a:spcBef>
                <a:spcPts val="500"/>
              </a:spcBef>
              <a:buChar char="▪"/>
              <a:defRPr sz="2376"/>
            </a:pPr>
            <a:r>
              <a:rPr dirty="0"/>
              <a:t>False sharing misses can be reduced with better placement of data in memory</a:t>
            </a:r>
          </a:p>
          <a:p>
            <a:pPr marL="339470" indent="-339470" defTabSz="905255">
              <a:lnSpc>
                <a:spcPct val="120000"/>
              </a:lnSpc>
              <a:spcBef>
                <a:spcPts val="500"/>
              </a:spcBef>
              <a:buChar char="▪"/>
              <a:defRPr sz="2376"/>
            </a:pPr>
            <a:r>
              <a:rPr dirty="0"/>
              <a:t>True sharing misses tends to decrease with larger cache line sizes (due to locality)</a:t>
            </a:r>
          </a:p>
          <a:p>
            <a:pPr marL="339470" indent="-339470" defTabSz="905255">
              <a:lnSpc>
                <a:spcPct val="120000"/>
              </a:lnSpc>
              <a:spcBef>
                <a:spcPts val="500"/>
              </a:spcBef>
              <a:buChar char="▪"/>
              <a:defRPr sz="2376"/>
            </a:pPr>
            <a:r>
              <a:rPr dirty="0"/>
              <a:t>Classifying misses in a multiprocessor is not straightforward</a:t>
            </a:r>
          </a:p>
          <a:p>
            <a:pPr marL="735520" lvl="1" indent="-282892" defTabSz="905255">
              <a:lnSpc>
                <a:spcPct val="120000"/>
              </a:lnSpc>
              <a:spcBef>
                <a:spcPts val="0"/>
              </a:spcBef>
              <a:buClrTx/>
              <a:defRPr sz="1979"/>
            </a:pPr>
            <a:r>
              <a:rPr dirty="0"/>
              <a:t>E.g., if P0 has line A in the cache and evicts it due to capacity limitation, and later P1 writes to the same line: is this a capacity or a coherence miss?</a:t>
            </a:r>
          </a:p>
          <a:p>
            <a:pPr marL="282892" lvl="1" indent="169735" defTabSz="905255">
              <a:lnSpc>
                <a:spcPct val="120000"/>
              </a:lnSpc>
              <a:spcBef>
                <a:spcPts val="0"/>
              </a:spcBef>
              <a:buSzTx/>
              <a:buFont typeface="Wingdings"/>
              <a:buNone/>
              <a:defRPr sz="1979"/>
            </a:pPr>
            <a:r>
              <a:rPr dirty="0"/>
              <a:t>     It is both, as fixing one problem (e.g., increasing cache size) won’t fix the other</a:t>
            </a:r>
          </a:p>
        </p:txBody>
      </p:sp>
      <p:sp>
        <p:nvSpPr>
          <p:cNvPr id="65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27</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659" name="Behavior of Cache Coherence Protocols"/>
          <p:cNvSpPr txBox="1">
            <a:spLocks noGrp="1"/>
          </p:cNvSpPr>
          <p:nvPr>
            <p:ph type="title" idx="4294967295"/>
          </p:nvPr>
        </p:nvSpPr>
        <p:spPr>
          <a:xfrm>
            <a:off x="685800" y="152400"/>
            <a:ext cx="8153400" cy="838200"/>
          </a:xfrm>
          <a:prstGeom prst="rect">
            <a:avLst/>
          </a:prstGeom>
        </p:spPr>
        <p:txBody>
          <a:bodyPr>
            <a:normAutofit fontScale="90000"/>
          </a:bodyPr>
          <a:lstStyle>
            <a:lvl1pPr>
              <a:defRPr sz="3600"/>
            </a:lvl1pPr>
          </a:lstStyle>
          <a:p>
            <a:r>
              <a:t>Behavior of Cache Coherence Protocols</a:t>
            </a:r>
          </a:p>
        </p:txBody>
      </p:sp>
      <p:sp>
        <p:nvSpPr>
          <p:cNvPr id="660" name="Common types of data access patterns…"/>
          <p:cNvSpPr txBox="1">
            <a:spLocks noGrp="1"/>
          </p:cNvSpPr>
          <p:nvPr>
            <p:ph type="body" idx="4294967295"/>
          </p:nvPr>
        </p:nvSpPr>
        <p:spPr>
          <a:xfrm>
            <a:off x="457200" y="1142999"/>
            <a:ext cx="8382000" cy="4953002"/>
          </a:xfrm>
          <a:prstGeom prst="rect">
            <a:avLst/>
          </a:prstGeom>
        </p:spPr>
        <p:txBody>
          <a:bodyPr>
            <a:normAutofit/>
          </a:bodyPr>
          <a:lstStyle/>
          <a:p>
            <a:pPr>
              <a:lnSpc>
                <a:spcPct val="90000"/>
              </a:lnSpc>
              <a:spcBef>
                <a:spcPts val="500"/>
              </a:spcBef>
              <a:buChar char="▪"/>
              <a:defRPr sz="2400"/>
            </a:pPr>
            <a:r>
              <a:t>Common types of data access patterns</a:t>
            </a:r>
          </a:p>
          <a:p>
            <a:pPr marL="742950" lvl="1" indent="-285750">
              <a:lnSpc>
                <a:spcPct val="90000"/>
              </a:lnSpc>
              <a:spcBef>
                <a:spcPts val="0"/>
              </a:spcBef>
              <a:buClrTx/>
              <a:defRPr sz="2000"/>
            </a:pPr>
            <a:r>
              <a:t>Private: data that is only accessed by a single processor</a:t>
            </a:r>
          </a:p>
          <a:p>
            <a:pPr marL="742950" lvl="1" indent="-285750">
              <a:lnSpc>
                <a:spcPct val="90000"/>
              </a:lnSpc>
              <a:spcBef>
                <a:spcPts val="0"/>
              </a:spcBef>
              <a:buClrTx/>
              <a:defRPr sz="2000"/>
            </a:pPr>
            <a:r>
              <a:t>Read-only shared: data that is accessed by multiple processors but only for reading (this includes instructions)</a:t>
            </a:r>
          </a:p>
          <a:p>
            <a:pPr marL="742950" lvl="1" indent="-285750">
              <a:lnSpc>
                <a:spcPct val="90000"/>
              </a:lnSpc>
              <a:spcBef>
                <a:spcPts val="0"/>
              </a:spcBef>
              <a:buClrTx/>
              <a:defRPr sz="2000"/>
            </a:pPr>
            <a:r>
              <a:t>Migratory: data that is used and modified by multiple processors, but in turns</a:t>
            </a:r>
          </a:p>
          <a:p>
            <a:pPr marL="742950" lvl="1" indent="-285750">
              <a:lnSpc>
                <a:spcPct val="90000"/>
              </a:lnSpc>
              <a:spcBef>
                <a:spcPts val="0"/>
              </a:spcBef>
              <a:buClrTx/>
              <a:defRPr sz="2000"/>
            </a:pPr>
            <a:r>
              <a:t>Producer-consumer: data that is updated by one processor and consumed by another</a:t>
            </a:r>
          </a:p>
          <a:p>
            <a:pPr marL="742950" lvl="1" indent="-285750">
              <a:lnSpc>
                <a:spcPct val="90000"/>
              </a:lnSpc>
              <a:spcBef>
                <a:spcPts val="0"/>
              </a:spcBef>
              <a:buClrTx/>
              <a:defRPr sz="2000"/>
            </a:pPr>
            <a:r>
              <a:t>Read-write: data that is used and modified by multiple processors simultaneously</a:t>
            </a:r>
          </a:p>
          <a:p>
            <a:pPr marL="1143000" lvl="2" indent="-228600">
              <a:lnSpc>
                <a:spcPct val="90000"/>
              </a:lnSpc>
              <a:spcBef>
                <a:spcPts val="0"/>
              </a:spcBef>
              <a:buClrTx/>
              <a:defRPr sz="1800"/>
            </a:pPr>
            <a:r>
              <a:t>Data used for synchronization </a:t>
            </a:r>
          </a:p>
          <a:p>
            <a:pPr>
              <a:lnSpc>
                <a:spcPct val="90000"/>
              </a:lnSpc>
              <a:buChar char="▪"/>
              <a:defRPr sz="1800"/>
            </a:pPr>
            <a:endParaRPr/>
          </a:p>
          <a:p>
            <a:pPr>
              <a:lnSpc>
                <a:spcPct val="90000"/>
              </a:lnSpc>
              <a:spcBef>
                <a:spcPts val="500"/>
              </a:spcBef>
              <a:buChar char="▪"/>
              <a:defRPr sz="2400" b="1">
                <a:solidFill>
                  <a:srgbClr val="FF0000"/>
                </a:solidFill>
              </a:defRPr>
            </a:pPr>
            <a:r>
              <a:t>Bottom-line: threads don’t usually read and write the same data indiscriminately</a:t>
            </a:r>
          </a:p>
        </p:txBody>
      </p:sp>
      <p:sp>
        <p:nvSpPr>
          <p:cNvPr id="66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28</a:t>
            </a:fld>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 name="Parallel Architectures - 2021-22"/>
          <p:cNvSpPr txBox="1"/>
          <p:nvPr/>
        </p:nvSpPr>
        <p:spPr>
          <a:xfrm>
            <a:off x="2895600" y="6400800"/>
            <a:ext cx="335280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0"/>
            </a:lvl1pPr>
          </a:lstStyle>
          <a:p>
            <a:r>
              <a:rPr lang="en-US" dirty="0"/>
              <a:t>CS/ECE 6810 Computer Architecture</a:t>
            </a:r>
            <a:endParaRPr dirty="0"/>
          </a:p>
        </p:txBody>
      </p:sp>
      <p:sp>
        <p:nvSpPr>
          <p:cNvPr id="644" name="Possible Implementations"/>
          <p:cNvSpPr txBox="1">
            <a:spLocks noGrp="1"/>
          </p:cNvSpPr>
          <p:nvPr>
            <p:ph type="title" idx="4294967295"/>
          </p:nvPr>
        </p:nvSpPr>
        <p:spPr>
          <a:xfrm>
            <a:off x="685800" y="152400"/>
            <a:ext cx="8077200" cy="838200"/>
          </a:xfrm>
          <a:prstGeom prst="rect">
            <a:avLst/>
          </a:prstGeom>
        </p:spPr>
        <p:txBody>
          <a:bodyPr>
            <a:normAutofit/>
          </a:bodyPr>
          <a:lstStyle>
            <a:lvl1pPr>
              <a:defRPr sz="4000"/>
            </a:lvl1pPr>
          </a:lstStyle>
          <a:p>
            <a:r>
              <a:t>Possible Implementations</a:t>
            </a:r>
          </a:p>
        </p:txBody>
      </p:sp>
      <p:sp>
        <p:nvSpPr>
          <p:cNvPr id="645" name="Two ways of implementing coherence protocols in hardware…"/>
          <p:cNvSpPr txBox="1">
            <a:spLocks noGrp="1"/>
          </p:cNvSpPr>
          <p:nvPr>
            <p:ph type="body" idx="4294967295"/>
          </p:nvPr>
        </p:nvSpPr>
        <p:spPr>
          <a:xfrm>
            <a:off x="457200" y="1142999"/>
            <a:ext cx="8534400" cy="4572002"/>
          </a:xfrm>
          <a:prstGeom prst="rect">
            <a:avLst/>
          </a:prstGeom>
        </p:spPr>
        <p:txBody>
          <a:bodyPr>
            <a:normAutofit lnSpcReduction="10000"/>
          </a:bodyPr>
          <a:lstStyle/>
          <a:p>
            <a:pPr>
              <a:spcBef>
                <a:spcPts val="500"/>
              </a:spcBef>
              <a:buChar char="▪"/>
              <a:defRPr sz="2400"/>
            </a:pPr>
            <a:r>
              <a:t>Two ways of implementing coherence protocols in hardware</a:t>
            </a:r>
          </a:p>
          <a:p>
            <a:pPr>
              <a:buSzTx/>
              <a:buFont typeface="Wingdings"/>
              <a:buNone/>
              <a:defRPr sz="2400"/>
            </a:pPr>
            <a:endParaRPr/>
          </a:p>
          <a:p>
            <a:pPr marL="742950" lvl="1" indent="-285750">
              <a:spcBef>
                <a:spcPts val="0"/>
              </a:spcBef>
              <a:buClrTx/>
              <a:defRPr sz="2000" u="sng">
                <a:solidFill>
                  <a:srgbClr val="FF0000"/>
                </a:solidFill>
              </a:defRPr>
            </a:pPr>
            <a:r>
              <a:t>Snooping</a:t>
            </a:r>
            <a:r>
              <a:rPr u="none">
                <a:solidFill>
                  <a:srgbClr val="000000"/>
                </a:solidFill>
              </a:rPr>
              <a:t>: all cache controllers monitor all other caches’ activities and maintain the state of their lines</a:t>
            </a:r>
          </a:p>
          <a:p>
            <a:pPr marL="1143000" lvl="2" indent="-228600">
              <a:spcBef>
                <a:spcPts val="0"/>
              </a:spcBef>
              <a:buClrTx/>
              <a:defRPr sz="1800"/>
            </a:pPr>
            <a:r>
              <a:t>Commonly used with buses and in many CMP’s today</a:t>
            </a:r>
          </a:p>
          <a:p>
            <a:pPr marL="1143000" lvl="2" indent="-228600">
              <a:spcBef>
                <a:spcPts val="0"/>
              </a:spcBef>
              <a:buClrTx/>
              <a:defRPr sz="1800"/>
            </a:pPr>
            <a:endParaRPr/>
          </a:p>
          <a:p>
            <a:pPr marL="1143000" lvl="2" indent="-228600">
              <a:spcBef>
                <a:spcPts val="0"/>
              </a:spcBef>
              <a:buClrTx/>
              <a:defRPr sz="1800"/>
            </a:pPr>
            <a:endParaRPr/>
          </a:p>
          <a:p>
            <a:pPr marL="742950" lvl="1" indent="-285750">
              <a:spcBef>
                <a:spcPts val="0"/>
              </a:spcBef>
              <a:buClrTx/>
              <a:defRPr sz="2000" u="sng">
                <a:solidFill>
                  <a:srgbClr val="FF0000"/>
                </a:solidFill>
              </a:defRPr>
            </a:pPr>
            <a:r>
              <a:t>Directory</a:t>
            </a:r>
            <a:r>
              <a:rPr u="none">
                <a:solidFill>
                  <a:srgbClr val="000000"/>
                </a:solidFill>
              </a:rPr>
              <a:t>: a central control device directly handles all cache activities and tells the caches what transitions to make</a:t>
            </a:r>
          </a:p>
          <a:p>
            <a:pPr marL="1143000" lvl="2" indent="-228600">
              <a:spcBef>
                <a:spcPts val="0"/>
              </a:spcBef>
              <a:buClrTx/>
              <a:defRPr sz="1800"/>
            </a:pPr>
            <a:r>
              <a:t>Can be of two types: physically centralized and physically distributed</a:t>
            </a:r>
          </a:p>
          <a:p>
            <a:pPr marL="1143000" lvl="2" indent="-228600">
              <a:spcBef>
                <a:spcPts val="0"/>
              </a:spcBef>
              <a:buClrTx/>
              <a:defRPr sz="1800"/>
            </a:pPr>
            <a:r>
              <a:t>Commonly used with scalable interconnects and in many CMP’s today</a:t>
            </a:r>
          </a:p>
        </p:txBody>
      </p:sp>
      <p:sp>
        <p:nvSpPr>
          <p:cNvPr id="64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29</a:t>
            </a:fld>
            <a:endParaRPr/>
          </a:p>
        </p:txBody>
      </p:sp>
    </p:spTree>
    <p:extLst>
      <p:ext uri="{BB962C8B-B14F-4D97-AF65-F5344CB8AC3E}">
        <p14:creationId xmlns:p14="http://schemas.microsoft.com/office/powerpoint/2010/main" val="369166235"/>
      </p:ext>
    </p:extLst>
  </p:cSld>
  <p:clrMapOvr>
    <a:masterClrMapping/>
  </p:clrMapOvr>
  <mc:AlternateContent xmlns:mc="http://schemas.openxmlformats.org/markup-compatibility/2006" xmlns:p14="http://schemas.microsoft.com/office/powerpoint/2010/main">
    <mc:Choice Requires="p14">
      <p:transition>
        <p:fade/>
      </p:transition>
    </mc:Choice>
    <mc:Fallback xmlns:a14="http://schemas.microsoft.com/office/drawing/2010/main" xmlns:m="http://schemas.openxmlformats.org/officeDocument/2006/math" xmlns="">
      <p:transition spd="fast">
        <p:fade/>
      </p:transition>
    </mc:Fallback>
  </mc:AlternateContent>
</p:sld>
</file>

<file path=ppt/theme/theme1.xml><?xml version="1.0" encoding="utf-8"?>
<a:theme xmlns:a="http://schemas.openxmlformats.org/drawingml/2006/main" name="isca00_transp">
  <a:themeElements>
    <a:clrScheme name="isca00_transp 10">
      <a:dk1>
        <a:srgbClr val="000000"/>
      </a:dk1>
      <a:lt1>
        <a:srgbClr val="FFFFFF"/>
      </a:lt1>
      <a:dk2>
        <a:srgbClr val="000000"/>
      </a:dk2>
      <a:lt2>
        <a:srgbClr val="ABABAB"/>
      </a:lt2>
      <a:accent1>
        <a:srgbClr val="CC3300"/>
      </a:accent1>
      <a:accent2>
        <a:srgbClr val="D70000"/>
      </a:accent2>
      <a:accent3>
        <a:srgbClr val="FFFFFF"/>
      </a:accent3>
      <a:accent4>
        <a:srgbClr val="000000"/>
      </a:accent4>
      <a:accent5>
        <a:srgbClr val="E2ADAA"/>
      </a:accent5>
      <a:accent6>
        <a:srgbClr val="C30000"/>
      </a:accent6>
      <a:hlink>
        <a:srgbClr val="D70000"/>
      </a:hlink>
      <a:folHlink>
        <a:srgbClr val="D70000"/>
      </a:folHlink>
    </a:clrScheme>
    <a:fontScheme name="isca00_transp">
      <a:majorFont>
        <a:latin typeface="Geneva"/>
        <a:ea typeface=""/>
        <a:cs typeface=""/>
      </a:majorFont>
      <a:minorFont>
        <a:latin typeface="Genev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a:ln>
              <a:noFill/>
            </a:ln>
            <a:solidFill>
              <a:schemeClr val="tx1"/>
            </a:solidFill>
            <a:effectLst/>
            <a:latin typeface="Garamond" pitchFamily="-112"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a:ln>
              <a:noFill/>
            </a:ln>
            <a:solidFill>
              <a:schemeClr val="tx1"/>
            </a:solidFill>
            <a:effectLst/>
            <a:latin typeface="Garamond" pitchFamily="-112" charset="0"/>
          </a:defRPr>
        </a:defPPr>
      </a:lstStyle>
    </a:lnDef>
  </a:objectDefaults>
  <a:extraClrSchemeLst>
    <a:extraClrScheme>
      <a:clrScheme name="isca00_transp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sca00_transp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sca00_transp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sca00_transp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sca00_transp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sca00_transp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sca00_transp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isca00_transp 8">
        <a:dk1>
          <a:srgbClr val="ABABAB"/>
        </a:dk1>
        <a:lt1>
          <a:srgbClr val="FFFFFF"/>
        </a:lt1>
        <a:dk2>
          <a:srgbClr val="212142"/>
        </a:dk2>
        <a:lt2>
          <a:srgbClr val="FFFFFF"/>
        </a:lt2>
        <a:accent1>
          <a:srgbClr val="CC6600"/>
        </a:accent1>
        <a:accent2>
          <a:srgbClr val="FF6600"/>
        </a:accent2>
        <a:accent3>
          <a:srgbClr val="ABABB0"/>
        </a:accent3>
        <a:accent4>
          <a:srgbClr val="DADADA"/>
        </a:accent4>
        <a:accent5>
          <a:srgbClr val="E2B8AA"/>
        </a:accent5>
        <a:accent6>
          <a:srgbClr val="E75C00"/>
        </a:accent6>
        <a:hlink>
          <a:srgbClr val="FF6600"/>
        </a:hlink>
        <a:folHlink>
          <a:srgbClr val="FF6600"/>
        </a:folHlink>
      </a:clrScheme>
      <a:clrMap bg1="dk2" tx1="lt1" bg2="dk1" tx2="lt2" accent1="accent1" accent2="accent2" accent3="accent3" accent4="accent4" accent5="accent5" accent6="accent6" hlink="hlink" folHlink="folHlink"/>
    </a:extraClrScheme>
    <a:extraClrScheme>
      <a:clrScheme name="isca00_transp 9">
        <a:dk1>
          <a:srgbClr val="ABABAB"/>
        </a:dk1>
        <a:lt1>
          <a:srgbClr val="FFFFFF"/>
        </a:lt1>
        <a:dk2>
          <a:srgbClr val="333366"/>
        </a:dk2>
        <a:lt2>
          <a:srgbClr val="FFFFFF"/>
        </a:lt2>
        <a:accent1>
          <a:srgbClr val="CC6600"/>
        </a:accent1>
        <a:accent2>
          <a:srgbClr val="FF6600"/>
        </a:accent2>
        <a:accent3>
          <a:srgbClr val="ADADB8"/>
        </a:accent3>
        <a:accent4>
          <a:srgbClr val="DADADA"/>
        </a:accent4>
        <a:accent5>
          <a:srgbClr val="E2B8AA"/>
        </a:accent5>
        <a:accent6>
          <a:srgbClr val="E75C00"/>
        </a:accent6>
        <a:hlink>
          <a:srgbClr val="FF6600"/>
        </a:hlink>
        <a:folHlink>
          <a:srgbClr val="FF6600"/>
        </a:folHlink>
      </a:clrScheme>
      <a:clrMap bg1="dk2" tx1="lt1" bg2="dk1" tx2="lt2" accent1="accent1" accent2="accent2" accent3="accent3" accent4="accent4" accent5="accent5" accent6="accent6" hlink="hlink" folHlink="folHlink"/>
    </a:extraClrScheme>
    <a:extraClrScheme>
      <a:clrScheme name="isca00_transp 10">
        <a:dk1>
          <a:srgbClr val="000000"/>
        </a:dk1>
        <a:lt1>
          <a:srgbClr val="FFFFFF"/>
        </a:lt1>
        <a:dk2>
          <a:srgbClr val="000000"/>
        </a:dk2>
        <a:lt2>
          <a:srgbClr val="ABABAB"/>
        </a:lt2>
        <a:accent1>
          <a:srgbClr val="CC3300"/>
        </a:accent1>
        <a:accent2>
          <a:srgbClr val="D70000"/>
        </a:accent2>
        <a:accent3>
          <a:srgbClr val="FFFFFF"/>
        </a:accent3>
        <a:accent4>
          <a:srgbClr val="000000"/>
        </a:accent4>
        <a:accent5>
          <a:srgbClr val="E2ADAA"/>
        </a:accent5>
        <a:accent6>
          <a:srgbClr val="C30000"/>
        </a:accent6>
        <a:hlink>
          <a:srgbClr val="D70000"/>
        </a:hlink>
        <a:folHlink>
          <a:srgbClr val="D7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C:\users\cintra\isca00_transp.ppt</Template>
  <TotalTime>272233</TotalTime>
  <Words>2961</Words>
  <Application>Microsoft Macintosh PowerPoint</Application>
  <PresentationFormat>On-screen Show (4:3)</PresentationFormat>
  <Paragraphs>574</Paragraphs>
  <Slides>29</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Garamond</vt:lpstr>
      <vt:lpstr>Geneva</vt:lpstr>
      <vt:lpstr>Symbol</vt:lpstr>
      <vt:lpstr>Times New Roman</vt:lpstr>
      <vt:lpstr>Wingdings</vt:lpstr>
      <vt:lpstr>isca00_transp</vt:lpstr>
      <vt:lpstr>End of the Uniprocessor?</vt:lpstr>
      <vt:lpstr>Shared Memory Multiprocessors </vt:lpstr>
      <vt:lpstr>Shared Memory Multiprocessors</vt:lpstr>
      <vt:lpstr>Modern Multicore Processor</vt:lpstr>
      <vt:lpstr>Shared Memory Multiprocessors</vt:lpstr>
      <vt:lpstr>Shared Memory Multiprocessors</vt:lpstr>
      <vt:lpstr>HW Support for Shared Memory</vt:lpstr>
      <vt:lpstr>Cache Coherence</vt:lpstr>
      <vt:lpstr>Cache Coherence</vt:lpstr>
      <vt:lpstr>Memory Consistency</vt:lpstr>
      <vt:lpstr>Primitive Synchronization </vt:lpstr>
      <vt:lpstr>The Cache Coherence Problem</vt:lpstr>
      <vt:lpstr>Cache Coherence</vt:lpstr>
      <vt:lpstr>Cache Coherence Protocols</vt:lpstr>
      <vt:lpstr>Cache Coherence Protocols</vt:lpstr>
      <vt:lpstr>Write-invalidate Example</vt:lpstr>
      <vt:lpstr>Write-update Example</vt:lpstr>
      <vt:lpstr>Invalidate vs. Update Protocols</vt:lpstr>
      <vt:lpstr>Cache Coherence Protocols</vt:lpstr>
      <vt:lpstr>Example: MSI Protocol</vt:lpstr>
      <vt:lpstr>Example: MSI Protocol</vt:lpstr>
      <vt:lpstr>Example: MSI Protocol</vt:lpstr>
      <vt:lpstr>Example: MESI Protocol</vt:lpstr>
      <vt:lpstr>Example: MESI Protocol</vt:lpstr>
      <vt:lpstr>Example: MESI Protocol</vt:lpstr>
      <vt:lpstr>Behavior of Cache Coherence Protocols</vt:lpstr>
      <vt:lpstr>Behavior of Cache Coherence Protocols</vt:lpstr>
      <vt:lpstr>Behavior of Cache Coherence Protocols</vt:lpstr>
      <vt:lpstr>Possible Implementations</vt:lpstr>
    </vt:vector>
  </TitlesOfParts>
  <Manager/>
  <Company>Office 2004 Test Drive User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Informatics 3  Computer Architecture</dc:title>
  <dc:subject/>
  <dc:creator>Office 2004 Test Drive User</dc:creator>
  <cp:keywords/>
  <dc:description/>
  <cp:lastModifiedBy>Vijay Nagarajan</cp:lastModifiedBy>
  <cp:revision>621</cp:revision>
  <cp:lastPrinted>2015-01-12T09:43:55Z</cp:lastPrinted>
  <dcterms:created xsi:type="dcterms:W3CDTF">2018-01-13T22:21:21Z</dcterms:created>
  <dcterms:modified xsi:type="dcterms:W3CDTF">2025-11-04T20:21:50Z</dcterms:modified>
  <cp:category/>
</cp:coreProperties>
</file>