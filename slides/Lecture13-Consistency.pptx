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3"/>
  </p:notesMasterIdLst>
  <p:handoutMasterIdLst>
    <p:handoutMasterId r:id="rId44"/>
  </p:handout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860" r:id="rId17"/>
    <p:sldId id="861" r:id="rId18"/>
    <p:sldId id="276" r:id="rId19"/>
    <p:sldId id="862" r:id="rId20"/>
    <p:sldId id="277" r:id="rId21"/>
    <p:sldId id="278" r:id="rId22"/>
    <p:sldId id="863" r:id="rId23"/>
    <p:sldId id="279" r:id="rId24"/>
    <p:sldId id="280" r:id="rId25"/>
    <p:sldId id="1055" r:id="rId26"/>
    <p:sldId id="1056" r:id="rId27"/>
    <p:sldId id="1057" r:id="rId28"/>
    <p:sldId id="1058" r:id="rId29"/>
    <p:sldId id="281" r:id="rId30"/>
    <p:sldId id="282" r:id="rId31"/>
    <p:sldId id="283" r:id="rId32"/>
    <p:sldId id="853" r:id="rId33"/>
    <p:sldId id="864" r:id="rId34"/>
    <p:sldId id="1041" r:id="rId35"/>
    <p:sldId id="1040" r:id="rId36"/>
    <p:sldId id="1042" r:id="rId37"/>
    <p:sldId id="1051" r:id="rId38"/>
    <p:sldId id="1043" r:id="rId39"/>
    <p:sldId id="1052" r:id="rId40"/>
    <p:sldId id="1053" r:id="rId41"/>
    <p:sldId id="1054" r:id="rId42"/>
  </p:sldIdLst>
  <p:sldSz cx="9144000" cy="6858000" type="screen4x3"/>
  <p:notesSz cx="7315200" cy="9601200"/>
  <p:defaultTextStyle>
    <a:defPPr>
      <a:defRPr lang="en-US"/>
    </a:defPPr>
    <a:lvl1pPr algn="l" rtl="0" eaLnBrk="0" fontAlgn="base" hangingPunct="0">
      <a:spcBef>
        <a:spcPct val="0"/>
      </a:spcBef>
      <a:spcAft>
        <a:spcPct val="0"/>
      </a:spcAft>
      <a:defRPr sz="2400" b="1" kern="1200">
        <a:solidFill>
          <a:schemeClr val="tx1"/>
        </a:solidFill>
        <a:latin typeface="Garamond" pitchFamily="-112" charset="0"/>
        <a:ea typeface="+mn-ea"/>
        <a:cs typeface="+mn-cs"/>
      </a:defRPr>
    </a:lvl1pPr>
    <a:lvl2pPr marL="457200" algn="l" rtl="0" eaLnBrk="0" fontAlgn="base" hangingPunct="0">
      <a:spcBef>
        <a:spcPct val="0"/>
      </a:spcBef>
      <a:spcAft>
        <a:spcPct val="0"/>
      </a:spcAft>
      <a:defRPr sz="2400" b="1" kern="1200">
        <a:solidFill>
          <a:schemeClr val="tx1"/>
        </a:solidFill>
        <a:latin typeface="Garamond" pitchFamily="-112" charset="0"/>
        <a:ea typeface="+mn-ea"/>
        <a:cs typeface="+mn-cs"/>
      </a:defRPr>
    </a:lvl2pPr>
    <a:lvl3pPr marL="914400" algn="l" rtl="0" eaLnBrk="0" fontAlgn="base" hangingPunct="0">
      <a:spcBef>
        <a:spcPct val="0"/>
      </a:spcBef>
      <a:spcAft>
        <a:spcPct val="0"/>
      </a:spcAft>
      <a:defRPr sz="2400" b="1" kern="1200">
        <a:solidFill>
          <a:schemeClr val="tx1"/>
        </a:solidFill>
        <a:latin typeface="Garamond" pitchFamily="-112" charset="0"/>
        <a:ea typeface="+mn-ea"/>
        <a:cs typeface="+mn-cs"/>
      </a:defRPr>
    </a:lvl3pPr>
    <a:lvl4pPr marL="1371600" algn="l" rtl="0" eaLnBrk="0" fontAlgn="base" hangingPunct="0">
      <a:spcBef>
        <a:spcPct val="0"/>
      </a:spcBef>
      <a:spcAft>
        <a:spcPct val="0"/>
      </a:spcAft>
      <a:defRPr sz="2400" b="1" kern="1200">
        <a:solidFill>
          <a:schemeClr val="tx1"/>
        </a:solidFill>
        <a:latin typeface="Garamond" pitchFamily="-112" charset="0"/>
        <a:ea typeface="+mn-ea"/>
        <a:cs typeface="+mn-cs"/>
      </a:defRPr>
    </a:lvl4pPr>
    <a:lvl5pPr marL="1828800" algn="l" rtl="0" eaLnBrk="0" fontAlgn="base" hangingPunct="0">
      <a:spcBef>
        <a:spcPct val="0"/>
      </a:spcBef>
      <a:spcAft>
        <a:spcPct val="0"/>
      </a:spcAft>
      <a:defRPr sz="2400" b="1" kern="1200">
        <a:solidFill>
          <a:schemeClr val="tx1"/>
        </a:solidFill>
        <a:latin typeface="Garamond" pitchFamily="-112" charset="0"/>
        <a:ea typeface="+mn-ea"/>
        <a:cs typeface="+mn-cs"/>
      </a:defRPr>
    </a:lvl5pPr>
    <a:lvl6pPr marL="2286000" algn="l" defTabSz="457200" rtl="0" eaLnBrk="1" latinLnBrk="0" hangingPunct="1">
      <a:defRPr sz="2400" b="1" kern="1200">
        <a:solidFill>
          <a:schemeClr val="tx1"/>
        </a:solidFill>
        <a:latin typeface="Garamond" pitchFamily="-112" charset="0"/>
        <a:ea typeface="+mn-ea"/>
        <a:cs typeface="+mn-cs"/>
      </a:defRPr>
    </a:lvl6pPr>
    <a:lvl7pPr marL="2743200" algn="l" defTabSz="457200" rtl="0" eaLnBrk="1" latinLnBrk="0" hangingPunct="1">
      <a:defRPr sz="2400" b="1" kern="1200">
        <a:solidFill>
          <a:schemeClr val="tx1"/>
        </a:solidFill>
        <a:latin typeface="Garamond" pitchFamily="-112" charset="0"/>
        <a:ea typeface="+mn-ea"/>
        <a:cs typeface="+mn-cs"/>
      </a:defRPr>
    </a:lvl7pPr>
    <a:lvl8pPr marL="3200400" algn="l" defTabSz="457200" rtl="0" eaLnBrk="1" latinLnBrk="0" hangingPunct="1">
      <a:defRPr sz="2400" b="1" kern="1200">
        <a:solidFill>
          <a:schemeClr val="tx1"/>
        </a:solidFill>
        <a:latin typeface="Garamond" pitchFamily="-112" charset="0"/>
        <a:ea typeface="+mn-ea"/>
        <a:cs typeface="+mn-cs"/>
      </a:defRPr>
    </a:lvl8pPr>
    <a:lvl9pPr marL="3657600" algn="l" defTabSz="457200" rtl="0" eaLnBrk="1" latinLnBrk="0" hangingPunct="1">
      <a:defRPr sz="2400" b="1" kern="1200">
        <a:solidFill>
          <a:schemeClr val="tx1"/>
        </a:solidFill>
        <a:latin typeface="Garamond" pitchFamily="-112"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606060"/>
    <a:srgbClr val="339933"/>
    <a:srgbClr val="0000FF"/>
    <a:srgbClr val="FF00FF"/>
    <a:srgbClr val="00FFFF"/>
    <a:srgbClr val="00FF00"/>
    <a:srgbClr val="000000"/>
    <a:srgbClr val="A80500"/>
    <a:srgbClr val="7819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81027" autoAdjust="0"/>
  </p:normalViewPr>
  <p:slideViewPr>
    <p:cSldViewPr>
      <p:cViewPr varScale="1">
        <p:scale>
          <a:sx n="102" d="100"/>
          <a:sy n="102" d="100"/>
        </p:scale>
        <p:origin x="145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3" d="100"/>
          <a:sy n="93" d="100"/>
        </p:scale>
        <p:origin x="4736" y="2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549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12" charset="0"/>
              </a:defRPr>
            </a:lvl1pPr>
          </a:lstStyle>
          <a:p>
            <a:pPr>
              <a:defRPr/>
            </a:pPr>
            <a:endParaRPr lang="en-US"/>
          </a:p>
        </p:txBody>
      </p:sp>
      <p:sp>
        <p:nvSpPr>
          <p:cNvPr id="575491"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12" charset="0"/>
              </a:defRPr>
            </a:lvl1pPr>
          </a:lstStyle>
          <a:p>
            <a:r>
              <a:rPr lang="en-US"/>
              <a:t>2008-2009</a:t>
            </a:r>
          </a:p>
        </p:txBody>
      </p:sp>
      <p:sp>
        <p:nvSpPr>
          <p:cNvPr id="575492" name="Rectangle 4"/>
          <p:cNvSpPr>
            <a:spLocks noGrp="1" noChangeArrowheads="1"/>
          </p:cNvSpPr>
          <p:nvPr>
            <p:ph type="ftr" sz="quarter" idx="2"/>
          </p:nvPr>
        </p:nvSpPr>
        <p:spPr bwMode="auto">
          <a:xfrm>
            <a:off x="0"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12" charset="0"/>
              </a:defRPr>
            </a:lvl1pPr>
          </a:lstStyle>
          <a:p>
            <a:r>
              <a:rPr lang="en-US"/>
              <a:t>Informatics 3   -   Computer Architecture</a:t>
            </a:r>
          </a:p>
        </p:txBody>
      </p:sp>
      <p:sp>
        <p:nvSpPr>
          <p:cNvPr id="575493" name="Rectangle 5"/>
          <p:cNvSpPr>
            <a:spLocks noGrp="1" noChangeArrowheads="1"/>
          </p:cNvSpPr>
          <p:nvPr>
            <p:ph type="sldNum" sz="quarter" idx="3"/>
          </p:nvPr>
        </p:nvSpPr>
        <p:spPr bwMode="auto">
          <a:xfrm>
            <a:off x="4143375"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12" charset="0"/>
              </a:defRPr>
            </a:lvl1pPr>
          </a:lstStyle>
          <a:p>
            <a:pPr>
              <a:defRPr/>
            </a:pPr>
            <a:fld id="{BE1F0884-5E63-6845-9E6A-12C0C70E007E}" type="slidenum">
              <a:rPr lang="en-US"/>
              <a:pPr>
                <a:defRPr/>
              </a:pPr>
              <a:t>‹#›</a:t>
            </a:fld>
            <a:endParaRPr lang="en-US"/>
          </a:p>
        </p:txBody>
      </p:sp>
    </p:spTree>
    <p:extLst>
      <p:ext uri="{BB962C8B-B14F-4D97-AF65-F5344CB8AC3E}">
        <p14:creationId xmlns:p14="http://schemas.microsoft.com/office/powerpoint/2010/main" val="5646817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3170238" cy="479425"/>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lvl1pPr defTabSz="922338">
              <a:defRPr sz="1200" b="0">
                <a:latin typeface="Times New Roman" pitchFamily="-112" charset="0"/>
              </a:defRPr>
            </a:lvl1pPr>
          </a:lstStyle>
          <a:p>
            <a:pPr>
              <a:defRPr/>
            </a:pPr>
            <a:endParaRPr lang="en-US"/>
          </a:p>
        </p:txBody>
      </p:sp>
      <p:sp>
        <p:nvSpPr>
          <p:cNvPr id="63491" name="Rectangle 3"/>
          <p:cNvSpPr>
            <a:spLocks noGrp="1" noChangeArrowheads="1"/>
          </p:cNvSpPr>
          <p:nvPr>
            <p:ph type="dt" idx="1"/>
          </p:nvPr>
        </p:nvSpPr>
        <p:spPr bwMode="auto">
          <a:xfrm>
            <a:off x="4144963" y="0"/>
            <a:ext cx="3170237" cy="479425"/>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lvl1pPr algn="r" defTabSz="922338">
              <a:defRPr sz="1200" b="0">
                <a:latin typeface="Times New Roman" pitchFamily="-112" charset="0"/>
              </a:defRPr>
            </a:lvl1pPr>
          </a:lstStyle>
          <a:p>
            <a:r>
              <a:rPr lang="en-US"/>
              <a:t>2008-2009</a:t>
            </a:r>
          </a:p>
        </p:txBody>
      </p:sp>
      <p:sp>
        <p:nvSpPr>
          <p:cNvPr id="40964" name="Rectangle 4"/>
          <p:cNvSpPr>
            <a:spLocks noGrp="1" noRot="1" noChangeAspect="1" noChangeArrowheads="1" noTextEdit="1"/>
          </p:cNvSpPr>
          <p:nvPr>
            <p:ph type="sldImg" idx="2"/>
          </p:nvPr>
        </p:nvSpPr>
        <p:spPr bwMode="auto">
          <a:xfrm>
            <a:off x="685800" y="533400"/>
            <a:ext cx="6172200" cy="4343400"/>
          </a:xfrm>
          <a:prstGeom prst="rect">
            <a:avLst/>
          </a:prstGeom>
          <a:noFill/>
          <a:ln w="9525">
            <a:solidFill>
              <a:srgbClr val="000000"/>
            </a:solidFill>
            <a:miter lim="800000"/>
            <a:headEnd/>
            <a:tailEnd/>
          </a:ln>
        </p:spPr>
      </p:sp>
      <p:sp>
        <p:nvSpPr>
          <p:cNvPr id="63493" name="Rectangle 5"/>
          <p:cNvSpPr>
            <a:spLocks noGrp="1" noChangeArrowheads="1"/>
          </p:cNvSpPr>
          <p:nvPr>
            <p:ph type="body" sz="quarter" idx="3"/>
          </p:nvPr>
        </p:nvSpPr>
        <p:spPr bwMode="auto">
          <a:xfrm>
            <a:off x="685800" y="4953000"/>
            <a:ext cx="6172200" cy="1905000"/>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3494" name="Rectangle 6"/>
          <p:cNvSpPr>
            <a:spLocks noGrp="1" noChangeArrowheads="1"/>
          </p:cNvSpPr>
          <p:nvPr>
            <p:ph type="ftr" sz="quarter" idx="4"/>
          </p:nvPr>
        </p:nvSpPr>
        <p:spPr bwMode="auto">
          <a:xfrm>
            <a:off x="0" y="9121775"/>
            <a:ext cx="3170238" cy="479425"/>
          </a:xfrm>
          <a:prstGeom prst="rect">
            <a:avLst/>
          </a:prstGeom>
          <a:noFill/>
          <a:ln w="12700">
            <a:noFill/>
            <a:miter lim="800000"/>
            <a:headEnd type="none" w="sm" len="sm"/>
            <a:tailEnd type="none" w="sm" len="sm"/>
          </a:ln>
          <a:effectLst/>
        </p:spPr>
        <p:txBody>
          <a:bodyPr vert="horz" wrap="square" lIns="92226" tIns="46113" rIns="92226" bIns="46113" numCol="1" anchor="b" anchorCtr="0" compatLnSpc="1">
            <a:prstTxWarp prst="textNoShape">
              <a:avLst/>
            </a:prstTxWarp>
          </a:bodyPr>
          <a:lstStyle>
            <a:lvl1pPr defTabSz="922338">
              <a:defRPr sz="1200" b="0">
                <a:latin typeface="Times New Roman" pitchFamily="-112" charset="0"/>
              </a:defRPr>
            </a:lvl1pPr>
          </a:lstStyle>
          <a:p>
            <a:r>
              <a:rPr lang="en-US"/>
              <a:t>Informatics 3   -   Computer Architecture</a:t>
            </a:r>
          </a:p>
        </p:txBody>
      </p:sp>
      <p:sp>
        <p:nvSpPr>
          <p:cNvPr id="63495" name="Rectangle 7"/>
          <p:cNvSpPr>
            <a:spLocks noGrp="1" noChangeArrowheads="1"/>
          </p:cNvSpPr>
          <p:nvPr>
            <p:ph type="sldNum" sz="quarter" idx="5"/>
          </p:nvPr>
        </p:nvSpPr>
        <p:spPr bwMode="auto">
          <a:xfrm>
            <a:off x="4144963" y="9121775"/>
            <a:ext cx="3170237" cy="479425"/>
          </a:xfrm>
          <a:prstGeom prst="rect">
            <a:avLst/>
          </a:prstGeom>
          <a:noFill/>
          <a:ln w="12700">
            <a:noFill/>
            <a:miter lim="800000"/>
            <a:headEnd type="none" w="sm" len="sm"/>
            <a:tailEnd type="none" w="sm" len="sm"/>
          </a:ln>
          <a:effectLst/>
        </p:spPr>
        <p:txBody>
          <a:bodyPr vert="horz" wrap="square" lIns="92226" tIns="46113" rIns="92226" bIns="46113" numCol="1" anchor="b" anchorCtr="0" compatLnSpc="1">
            <a:prstTxWarp prst="textNoShape">
              <a:avLst/>
            </a:prstTxWarp>
          </a:bodyPr>
          <a:lstStyle>
            <a:lvl1pPr algn="r" defTabSz="922338">
              <a:defRPr sz="1200" b="0">
                <a:latin typeface="Times New Roman" pitchFamily="-112" charset="0"/>
              </a:defRPr>
            </a:lvl1pPr>
          </a:lstStyle>
          <a:p>
            <a:pPr>
              <a:defRPr/>
            </a:pPr>
            <a:fld id="{3ACFF632-C89B-E148-8D44-977E94A39556}" type="slidenum">
              <a:rPr lang="en-US"/>
              <a:pPr>
                <a:defRPr/>
              </a:pPr>
              <a:t>‹#›</a:t>
            </a:fld>
            <a:endParaRPr lang="en-US"/>
          </a:p>
        </p:txBody>
      </p:sp>
      <p:grpSp>
        <p:nvGrpSpPr>
          <p:cNvPr id="40968" name="Group 17"/>
          <p:cNvGrpSpPr>
            <a:grpSpLocks/>
          </p:cNvGrpSpPr>
          <p:nvPr/>
        </p:nvGrpSpPr>
        <p:grpSpPr bwMode="auto">
          <a:xfrm>
            <a:off x="714375" y="7191375"/>
            <a:ext cx="6143625" cy="1981200"/>
            <a:chOff x="450" y="4530"/>
            <a:chExt cx="3389" cy="1248"/>
          </a:xfrm>
        </p:grpSpPr>
        <p:sp>
          <p:nvSpPr>
            <p:cNvPr id="63496" name="Line 8"/>
            <p:cNvSpPr>
              <a:spLocks noChangeShapeType="1"/>
            </p:cNvSpPr>
            <p:nvPr/>
          </p:nvSpPr>
          <p:spPr bwMode="auto">
            <a:xfrm>
              <a:off x="450" y="4530"/>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7" name="Line 9"/>
            <p:cNvSpPr>
              <a:spLocks noChangeShapeType="1"/>
            </p:cNvSpPr>
            <p:nvPr/>
          </p:nvSpPr>
          <p:spPr bwMode="auto">
            <a:xfrm>
              <a:off x="450" y="4709"/>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8" name="Line 10"/>
            <p:cNvSpPr>
              <a:spLocks noChangeShapeType="1"/>
            </p:cNvSpPr>
            <p:nvPr/>
          </p:nvSpPr>
          <p:spPr bwMode="auto">
            <a:xfrm>
              <a:off x="450" y="4886"/>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9" name="Line 11"/>
            <p:cNvSpPr>
              <a:spLocks noChangeShapeType="1"/>
            </p:cNvSpPr>
            <p:nvPr/>
          </p:nvSpPr>
          <p:spPr bwMode="auto">
            <a:xfrm>
              <a:off x="450" y="5065"/>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0" name="Line 12"/>
            <p:cNvSpPr>
              <a:spLocks noChangeShapeType="1"/>
            </p:cNvSpPr>
            <p:nvPr/>
          </p:nvSpPr>
          <p:spPr bwMode="auto">
            <a:xfrm>
              <a:off x="450" y="5243"/>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1" name="Line 13"/>
            <p:cNvSpPr>
              <a:spLocks noChangeShapeType="1"/>
            </p:cNvSpPr>
            <p:nvPr/>
          </p:nvSpPr>
          <p:spPr bwMode="auto">
            <a:xfrm>
              <a:off x="450" y="5421"/>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2" name="Line 14"/>
            <p:cNvSpPr>
              <a:spLocks noChangeShapeType="1"/>
            </p:cNvSpPr>
            <p:nvPr/>
          </p:nvSpPr>
          <p:spPr bwMode="auto">
            <a:xfrm>
              <a:off x="450" y="5600"/>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3" name="Line 15"/>
            <p:cNvSpPr>
              <a:spLocks noChangeShapeType="1"/>
            </p:cNvSpPr>
            <p:nvPr/>
          </p:nvSpPr>
          <p:spPr bwMode="auto">
            <a:xfrm>
              <a:off x="450" y="5778"/>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grpSp>
      <p:sp>
        <p:nvSpPr>
          <p:cNvPr id="63504" name="Text Box 16"/>
          <p:cNvSpPr txBox="1">
            <a:spLocks noChangeArrowheads="1"/>
          </p:cNvSpPr>
          <p:nvPr/>
        </p:nvSpPr>
        <p:spPr bwMode="auto">
          <a:xfrm>
            <a:off x="609600" y="6858000"/>
            <a:ext cx="1314450" cy="274638"/>
          </a:xfrm>
          <a:prstGeom prst="rect">
            <a:avLst/>
          </a:prstGeom>
          <a:noFill/>
          <a:ln w="9525">
            <a:noFill/>
            <a:miter lim="800000"/>
            <a:headEnd/>
            <a:tailEnd/>
          </a:ln>
          <a:effectLst/>
        </p:spPr>
        <p:txBody>
          <a:bodyPr wrap="none" lIns="92994" tIns="46497" rIns="92994" bIns="46497">
            <a:prstTxWarp prst="textNoShape">
              <a:avLst/>
            </a:prstTxWarp>
            <a:spAutoFit/>
          </a:bodyPr>
          <a:lstStyle/>
          <a:p>
            <a:pPr defTabSz="930275" eaLnBrk="1" hangingPunct="1">
              <a:defRPr/>
            </a:pPr>
            <a:r>
              <a:rPr lang="en-GB" sz="1200" b="0">
                <a:latin typeface="Arial" pitchFamily="-112" charset="0"/>
              </a:rPr>
              <a:t>Additional notes:</a:t>
            </a:r>
          </a:p>
        </p:txBody>
      </p:sp>
    </p:spTree>
    <p:extLst>
      <p:ext uri="{BB962C8B-B14F-4D97-AF65-F5344CB8AC3E}">
        <p14:creationId xmlns:p14="http://schemas.microsoft.com/office/powerpoint/2010/main" val="65477586"/>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If A = 0  is observable it is a violation of multi-copy atomicity. Why? Because it means that A was observed by P2 but later (in logical time), was not observed by P3.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3</a:t>
            </a:fld>
            <a:endParaRPr lang="en-US"/>
          </a:p>
        </p:txBody>
      </p:sp>
    </p:spTree>
    <p:extLst>
      <p:ext uri="{BB962C8B-B14F-4D97-AF65-F5344CB8AC3E}">
        <p14:creationId xmlns:p14="http://schemas.microsoft.com/office/powerpoint/2010/main" val="1005694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With SC, the final print of A will have to print 1.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8</a:t>
            </a:fld>
            <a:endParaRPr lang="en-US"/>
          </a:p>
        </p:txBody>
      </p:sp>
    </p:spTree>
    <p:extLst>
      <p:ext uri="{BB962C8B-B14F-4D97-AF65-F5344CB8AC3E}">
        <p14:creationId xmlns:p14="http://schemas.microsoft.com/office/powerpoint/2010/main" val="3907085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Languages specification might allow this. Why?</a:t>
            </a:r>
          </a:p>
          <a:p>
            <a:endParaRPr lang="en-US" dirty="0"/>
          </a:p>
          <a:p>
            <a:r>
              <a:rPr lang="en-US" dirty="0" err="1"/>
              <a:t>Ld</a:t>
            </a:r>
            <a:r>
              <a:rPr lang="en-US" dirty="0"/>
              <a:t> </a:t>
            </a:r>
            <a:r>
              <a:rPr lang="en-US" dirty="0">
                <a:sym typeface="Wingdings" pitchFamily="2" charset="2"/>
              </a:rPr>
              <a:t> St ordering is not enforced. </a:t>
            </a:r>
          </a:p>
          <a:p>
            <a:endParaRPr lang="en-US" dirty="0">
              <a:sym typeface="Wingdings" pitchFamily="2" charset="2"/>
            </a:endParaRPr>
          </a:p>
          <a:p>
            <a:r>
              <a:rPr lang="en-US" dirty="0">
                <a:sym typeface="Wingdings" pitchFamily="2" charset="2"/>
              </a:rPr>
              <a:t>Compiler might speculate the first load reads 42, then store Y=42, and after operations from P2 have performed, the prediction becomes true. </a:t>
            </a:r>
          </a:p>
          <a:p>
            <a:endParaRPr lang="en-US" dirty="0"/>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36</a:t>
            </a:fld>
            <a:endParaRPr lang="en-US"/>
          </a:p>
        </p:txBody>
      </p:sp>
    </p:spTree>
    <p:extLst>
      <p:ext uri="{BB962C8B-B14F-4D97-AF65-F5344CB8AC3E}">
        <p14:creationId xmlns:p14="http://schemas.microsoft.com/office/powerpoint/2010/main" val="1074207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Note that this litmus test result should be allowed, and is allowed by some hardware : e.g., Power.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37</a:t>
            </a:fld>
            <a:endParaRPr lang="en-US"/>
          </a:p>
        </p:txBody>
      </p:sp>
    </p:spTree>
    <p:extLst>
      <p:ext uri="{BB962C8B-B14F-4D97-AF65-F5344CB8AC3E}">
        <p14:creationId xmlns:p14="http://schemas.microsoft.com/office/powerpoint/2010/main" val="2626051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Because hardware memory models honor syntactic dependencies. The moment there is a syntactic dependency between a load and store the two operations are ordered. </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38</a:t>
            </a:fld>
            <a:endParaRPr lang="en-US"/>
          </a:p>
        </p:txBody>
      </p:sp>
    </p:spTree>
    <p:extLst>
      <p:ext uri="{BB962C8B-B14F-4D97-AF65-F5344CB8AC3E}">
        <p14:creationId xmlns:p14="http://schemas.microsoft.com/office/powerpoint/2010/main" val="1516423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40</a:t>
            </a:fld>
            <a:endParaRPr lang="en-US"/>
          </a:p>
        </p:txBody>
      </p:sp>
    </p:spTree>
    <p:extLst>
      <p:ext uri="{BB962C8B-B14F-4D97-AF65-F5344CB8AC3E}">
        <p14:creationId xmlns:p14="http://schemas.microsoft.com/office/powerpoint/2010/main" val="392904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6F06C-E215-99BE-3310-2AA23524D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49390-4F15-EA82-ED84-56E335B4C0FF}"/>
              </a:ext>
            </a:extLst>
          </p:cNvPr>
          <p:cNvSpPr>
            <a:spLocks noGrp="1" noRot="1" noChangeAspect="1"/>
          </p:cNvSpPr>
          <p:nvPr>
            <p:ph type="sldImg"/>
          </p:nvPr>
        </p:nvSpPr>
        <p:spPr>
          <a:xfrm>
            <a:off x="876300" y="533400"/>
            <a:ext cx="5791200" cy="4343400"/>
          </a:xfrm>
        </p:spPr>
      </p:sp>
      <p:sp>
        <p:nvSpPr>
          <p:cNvPr id="3" name="Notes Placeholder 2">
            <a:extLst>
              <a:ext uri="{FF2B5EF4-FFF2-40B4-BE49-F238E27FC236}">
                <a16:creationId xmlns:a16="http://schemas.microsoft.com/office/drawing/2014/main" id="{D32CF628-DF03-91DB-AA28-4BE710C8E3DD}"/>
              </a:ext>
            </a:extLst>
          </p:cNvPr>
          <p:cNvSpPr>
            <a:spLocks noGrp="1"/>
          </p:cNvSpPr>
          <p:nvPr>
            <p:ph type="body" idx="1"/>
          </p:nvPr>
        </p:nvSpPr>
        <p:spPr/>
        <p:txBody>
          <a:bodyPr/>
          <a:lstStyle/>
          <a:p>
            <a:endParaRPr lang="en-US" dirty="0"/>
          </a:p>
        </p:txBody>
      </p:sp>
      <p:sp>
        <p:nvSpPr>
          <p:cNvPr id="4" name="Date Placeholder 3">
            <a:extLst>
              <a:ext uri="{FF2B5EF4-FFF2-40B4-BE49-F238E27FC236}">
                <a16:creationId xmlns:a16="http://schemas.microsoft.com/office/drawing/2014/main" id="{0799E263-F496-14D1-0B4E-1BB98647E80A}"/>
              </a:ext>
            </a:extLst>
          </p:cNvPr>
          <p:cNvSpPr>
            <a:spLocks noGrp="1"/>
          </p:cNvSpPr>
          <p:nvPr>
            <p:ph type="dt" idx="1"/>
          </p:nvPr>
        </p:nvSpPr>
        <p:spPr/>
        <p:txBody>
          <a:bodyPr/>
          <a:lstStyle/>
          <a:p>
            <a:r>
              <a:rPr lang="en-US"/>
              <a:t>2008-2009</a:t>
            </a:r>
          </a:p>
        </p:txBody>
      </p:sp>
      <p:sp>
        <p:nvSpPr>
          <p:cNvPr id="5" name="Footer Placeholder 4">
            <a:extLst>
              <a:ext uri="{FF2B5EF4-FFF2-40B4-BE49-F238E27FC236}">
                <a16:creationId xmlns:a16="http://schemas.microsoft.com/office/drawing/2014/main" id="{B5FFD93D-61A0-9D81-31F6-7C9503BFA02D}"/>
              </a:ext>
            </a:extLst>
          </p:cNvPr>
          <p:cNvSpPr>
            <a:spLocks noGrp="1"/>
          </p:cNvSpPr>
          <p:nvPr>
            <p:ph type="ftr" sz="quarter" idx="4"/>
          </p:nvPr>
        </p:nvSpPr>
        <p:spPr/>
        <p:txBody>
          <a:bodyPr/>
          <a:lstStyle/>
          <a:p>
            <a:r>
              <a:rPr lang="en-US"/>
              <a:t>Informatics 3   -   Computer Architecture</a:t>
            </a:r>
          </a:p>
        </p:txBody>
      </p:sp>
      <p:sp>
        <p:nvSpPr>
          <p:cNvPr id="6" name="Slide Number Placeholder 5">
            <a:extLst>
              <a:ext uri="{FF2B5EF4-FFF2-40B4-BE49-F238E27FC236}">
                <a16:creationId xmlns:a16="http://schemas.microsoft.com/office/drawing/2014/main" id="{7785BCF5-567F-2CBF-8237-2364026C83B7}"/>
              </a:ext>
            </a:extLst>
          </p:cNvPr>
          <p:cNvSpPr>
            <a:spLocks noGrp="1"/>
          </p:cNvSpPr>
          <p:nvPr>
            <p:ph type="sldNum" sz="quarter" idx="5"/>
          </p:nvPr>
        </p:nvSpPr>
        <p:spPr/>
        <p:txBody>
          <a:bodyPr/>
          <a:lstStyle/>
          <a:p>
            <a:pPr>
              <a:defRPr/>
            </a:pPr>
            <a:fld id="{3ACFF632-C89B-E148-8D44-977E94A39556}" type="slidenum">
              <a:rPr lang="en-US" smtClean="0"/>
              <a:pPr>
                <a:defRPr/>
              </a:pPr>
              <a:t>41</a:t>
            </a:fld>
            <a:endParaRPr lang="en-US"/>
          </a:p>
        </p:txBody>
      </p:sp>
    </p:spTree>
    <p:extLst>
      <p:ext uri="{BB962C8B-B14F-4D97-AF65-F5344CB8AC3E}">
        <p14:creationId xmlns:p14="http://schemas.microsoft.com/office/powerpoint/2010/main" val="14796983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
          <p:cNvSpPr>
            <a:spLocks noChangeShapeType="1"/>
          </p:cNvSpPr>
          <p:nvPr/>
        </p:nvSpPr>
        <p:spPr bwMode="auto">
          <a:xfrm>
            <a:off x="685800" y="3657600"/>
            <a:ext cx="7772400" cy="0"/>
          </a:xfrm>
          <a:prstGeom prst="line">
            <a:avLst/>
          </a:prstGeom>
          <a:noFill/>
          <a:ln w="76200">
            <a:solidFill>
              <a:schemeClr val="accent2"/>
            </a:solidFill>
            <a:round/>
            <a:headEnd/>
            <a:tailEnd/>
          </a:ln>
          <a:effectLst/>
        </p:spPr>
        <p:txBody>
          <a:bodyPr wrap="none" anchor="ctr">
            <a:prstTxWarp prst="textNoShape">
              <a:avLst/>
            </a:prstTxWarp>
          </a:bodyPr>
          <a:lstStyle/>
          <a:p>
            <a:pPr>
              <a:defRPr/>
            </a:pPr>
            <a:endParaRPr lang="en-US" dirty="0"/>
          </a:p>
        </p:txBody>
      </p:sp>
      <p:sp>
        <p:nvSpPr>
          <p:cNvPr id="5" name="Rectangle 7"/>
          <p:cNvSpPr>
            <a:spLocks noChangeArrowheads="1"/>
          </p:cNvSpPr>
          <p:nvPr/>
        </p:nvSpPr>
        <p:spPr bwMode="auto">
          <a:xfrm>
            <a:off x="685800" y="4038600"/>
            <a:ext cx="7772400" cy="1981200"/>
          </a:xfrm>
          <a:prstGeom prst="rect">
            <a:avLst/>
          </a:prstGeom>
          <a:noFill/>
          <a:ln w="9525">
            <a:noFill/>
            <a:miter lim="800000"/>
            <a:headEnd/>
            <a:tailEnd/>
          </a:ln>
          <a:effectLst/>
        </p:spPr>
        <p:txBody>
          <a:bodyPr>
            <a:prstTxWarp prst="textNoShape">
              <a:avLst/>
            </a:prstTxWarp>
          </a:bodyPr>
          <a:lstStyle/>
          <a:p>
            <a:pPr algn="ctr">
              <a:lnSpc>
                <a:spcPct val="120000"/>
              </a:lnSpc>
              <a:spcBef>
                <a:spcPct val="20000"/>
              </a:spcBef>
              <a:buClr>
                <a:schemeClr val="accent2"/>
              </a:buClr>
              <a:buFont typeface="Wingdings" pitchFamily="-112" charset="2"/>
              <a:buNone/>
              <a:defRPr/>
            </a:pPr>
            <a:r>
              <a:rPr lang="en-GB" sz="2000" b="0" baseline="0" dirty="0">
                <a:latin typeface="Geneva" pitchFamily="-112" charset="0"/>
              </a:rPr>
              <a:t>Prof. Vijay Nagarajan</a:t>
            </a:r>
            <a:endParaRPr lang="en-GB" sz="2000" b="0" dirty="0">
              <a:latin typeface="Geneva" pitchFamily="-112" charset="0"/>
            </a:endParaRPr>
          </a:p>
          <a:p>
            <a:pPr algn="ctr">
              <a:lnSpc>
                <a:spcPct val="120000"/>
              </a:lnSpc>
              <a:spcBef>
                <a:spcPct val="20000"/>
              </a:spcBef>
              <a:buClr>
                <a:schemeClr val="accent2"/>
              </a:buClr>
              <a:buFont typeface="Wingdings" pitchFamily="-112" charset="2"/>
              <a:buNone/>
              <a:defRPr/>
            </a:pPr>
            <a:endParaRPr lang="en-GB" sz="1600" b="0" dirty="0">
              <a:latin typeface="Geneva" pitchFamily="-112" charset="0"/>
            </a:endParaRPr>
          </a:p>
        </p:txBody>
      </p:sp>
      <p:sp>
        <p:nvSpPr>
          <p:cNvPr id="234498" name="Rectangle 2"/>
          <p:cNvSpPr>
            <a:spLocks noGrp="1" noChangeArrowheads="1"/>
          </p:cNvSpPr>
          <p:nvPr>
            <p:ph type="ctrTitle"/>
          </p:nvPr>
        </p:nvSpPr>
        <p:spPr>
          <a:xfrm>
            <a:off x="685800" y="1752600"/>
            <a:ext cx="7772400" cy="1676400"/>
          </a:xfrm>
        </p:spPr>
        <p:txBody>
          <a:bodyPr/>
          <a:lstStyle>
            <a:lvl1pPr algn="ctr">
              <a:defRPr sz="2000"/>
            </a:lvl1pPr>
          </a:lstStyle>
          <a:p>
            <a:r>
              <a:rPr lang="en-US"/>
              <a:t>Click to edit Master title style</a:t>
            </a:r>
          </a:p>
        </p:txBody>
      </p:sp>
      <p:pic>
        <p:nvPicPr>
          <p:cNvPr id="6" name="Picture 5" descr="A red and white logo&#10;&#10;Description automatically generated">
            <a:extLst>
              <a:ext uri="{FF2B5EF4-FFF2-40B4-BE49-F238E27FC236}">
                <a16:creationId xmlns:a16="http://schemas.microsoft.com/office/drawing/2014/main" id="{D59D87F7-4D95-717A-4D8A-3EFA7D55EE35}"/>
              </a:ext>
            </a:extLst>
          </p:cNvPr>
          <p:cNvPicPr>
            <a:picLocks noChangeAspect="1"/>
          </p:cNvPicPr>
          <p:nvPr userDrawn="1"/>
        </p:nvPicPr>
        <p:blipFill>
          <a:blip r:embed="rId2"/>
          <a:stretch>
            <a:fillRect/>
          </a:stretch>
        </p:blipFill>
        <p:spPr>
          <a:xfrm>
            <a:off x="8229600" y="173383"/>
            <a:ext cx="685800" cy="635000"/>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lvl1pPr>
              <a:defRPr smtClean="0"/>
            </a:lvl1pPr>
          </a:lstStyle>
          <a:p>
            <a:pPr>
              <a:defRPr/>
            </a:pPr>
            <a:fld id="{FF10D8AA-72FC-054E-A724-04FB34D4ED2D}" type="slidenum">
              <a:rPr lang="en-US"/>
              <a:pPr>
                <a:defRPr/>
              </a:pPr>
              <a:t>‹#›</a:t>
            </a:fld>
            <a:endParaRPr lang="en-US">
              <a:latin typeface="Garamond" pitchFamily="-112"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lvl1pPr>
              <a:defRPr smtClean="0"/>
            </a:lvl1pPr>
          </a:lstStyle>
          <a:p>
            <a:pPr>
              <a:defRPr/>
            </a:pPr>
            <a:fld id="{439F0767-F541-5C44-BC09-F876CE08E507}" type="slidenum">
              <a:rPr lang="en-US"/>
              <a:pPr>
                <a:defRPr/>
              </a:pPr>
              <a:t>‹#›</a:t>
            </a:fld>
            <a:endParaRPr lang="en-US">
              <a:latin typeface="Garamond" pitchFamily="-112"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5800" y="15240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5240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0"/>
          </p:nvPr>
        </p:nvSpPr>
        <p:spPr>
          <a:xfrm>
            <a:off x="2438400" y="6553200"/>
            <a:ext cx="3810000" cy="304800"/>
          </a:xfrm>
        </p:spPr>
        <p:txBody>
          <a:bodyPr/>
          <a:lstStyle>
            <a:lvl1pPr>
              <a:defRPr sz="1400" baseline="0" smtClean="0">
                <a:latin typeface="+mn-lt"/>
              </a:defRPr>
            </a:lvl1pPr>
          </a:lstStyle>
          <a:p>
            <a:pPr>
              <a:defRPr/>
            </a:pPr>
            <a:r>
              <a:rPr lang="en-US" dirty="0">
                <a:latin typeface="Garamond" pitchFamily="-112" charset="0"/>
              </a:rPr>
              <a:t>CS/ECE  Computer Architecture – Fall’23</a:t>
            </a:r>
          </a:p>
          <a:p>
            <a:pPr>
              <a:defRPr/>
            </a:pPr>
            <a:endParaRPr lang="en-US" dirty="0">
              <a:latin typeface="Garamond" pitchFamily="-112" charset="0"/>
            </a:endParaRPr>
          </a:p>
          <a:p>
            <a:pPr>
              <a:defRPr/>
            </a:pPr>
            <a:endParaRPr lang="en-US" dirty="0">
              <a:latin typeface="Garamond" pitchFamily="-112" charset="0"/>
            </a:endParaRPr>
          </a:p>
        </p:txBody>
      </p:sp>
      <p:sp>
        <p:nvSpPr>
          <p:cNvPr id="6" name="Slide Number Placeholder 5"/>
          <p:cNvSpPr>
            <a:spLocks noGrp="1"/>
          </p:cNvSpPr>
          <p:nvPr>
            <p:ph type="sldNum" sz="quarter" idx="11"/>
          </p:nvPr>
        </p:nvSpPr>
        <p:spPr/>
        <p:txBody>
          <a:bodyPr/>
          <a:lstStyle>
            <a:lvl1pPr>
              <a:defRPr smtClean="0"/>
            </a:lvl1pPr>
          </a:lstStyle>
          <a:p>
            <a:pPr>
              <a:defRPr/>
            </a:pPr>
            <a:fld id="{32A40ACE-8BC5-0B40-BBA1-EF9CE833121F}" type="slidenum">
              <a:rPr lang="en-US"/>
              <a:pPr>
                <a:defRPr/>
              </a:pPr>
              <a:t>‹#›</a:t>
            </a:fld>
            <a:endParaRPr lang="en-US">
              <a:latin typeface="Garamond" pitchFamily="-112"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Footer Placeholder 6"/>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8" name="Slide Number Placeholder 7"/>
          <p:cNvSpPr>
            <a:spLocks noGrp="1"/>
          </p:cNvSpPr>
          <p:nvPr>
            <p:ph type="sldNum" sz="quarter" idx="11"/>
          </p:nvPr>
        </p:nvSpPr>
        <p:spPr/>
        <p:txBody>
          <a:bodyPr/>
          <a:lstStyle>
            <a:lvl1pPr>
              <a:defRPr smtClean="0"/>
            </a:lvl1pPr>
          </a:lstStyle>
          <a:p>
            <a:pPr>
              <a:defRPr/>
            </a:pPr>
            <a:fld id="{0F59B5E2-87DD-EB43-872A-3E0EACCB644F}" type="slidenum">
              <a:rPr lang="en-US"/>
              <a:pPr>
                <a:defRPr/>
              </a:pPr>
              <a:t>‹#›</a:t>
            </a:fld>
            <a:endParaRPr lang="en-US">
              <a:latin typeface="Garamond" pitchFamily="-112"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Footer Placeholder 2"/>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4" name="Slide Number Placeholder 3"/>
          <p:cNvSpPr>
            <a:spLocks noGrp="1"/>
          </p:cNvSpPr>
          <p:nvPr>
            <p:ph type="sldNum" sz="quarter" idx="11"/>
          </p:nvPr>
        </p:nvSpPr>
        <p:spPr/>
        <p:txBody>
          <a:bodyPr/>
          <a:lstStyle>
            <a:lvl1pPr>
              <a:defRPr smtClean="0"/>
            </a:lvl1pPr>
          </a:lstStyle>
          <a:p>
            <a:pPr>
              <a:defRPr/>
            </a:pPr>
            <a:fld id="{ED26977E-680E-ED4B-94F0-141655F29872}" type="slidenum">
              <a:rPr lang="en-US"/>
              <a:pPr>
                <a:defRPr/>
              </a:pPr>
              <a:t>‹#›</a:t>
            </a:fld>
            <a:endParaRPr lang="en-US">
              <a:latin typeface="Garamond" pitchFamily="-112"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3" name="Slide Number Placeholder 2"/>
          <p:cNvSpPr>
            <a:spLocks noGrp="1"/>
          </p:cNvSpPr>
          <p:nvPr>
            <p:ph type="sldNum" sz="quarter" idx="11"/>
          </p:nvPr>
        </p:nvSpPr>
        <p:spPr/>
        <p:txBody>
          <a:bodyPr/>
          <a:lstStyle>
            <a:lvl1pPr>
              <a:defRPr smtClean="0"/>
            </a:lvl1pPr>
          </a:lstStyle>
          <a:p>
            <a:pPr>
              <a:defRPr/>
            </a:pPr>
            <a:fld id="{7D1CA570-A426-4944-B7E4-1239F68B4EC3}" type="slidenum">
              <a:rPr lang="en-US"/>
              <a:pPr>
                <a:defRPr/>
              </a:pPr>
              <a:t>‹#›</a:t>
            </a:fld>
            <a:endParaRPr lang="en-US">
              <a:latin typeface="Garamond" pitchFamily="-112" charset="0"/>
            </a:endParaRPr>
          </a:p>
        </p:txBody>
      </p:sp>
      <p:sp>
        <p:nvSpPr>
          <p:cNvPr id="4" name="Rectangle 3"/>
          <p:cNvSpPr/>
          <p:nvPr userDrawn="1"/>
        </p:nvSpPr>
        <p:spPr bwMode="auto">
          <a:xfrm>
            <a:off x="467544" y="836712"/>
            <a:ext cx="8136904" cy="360040"/>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Garamond" pitchFamily="-112"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39E4FD61-08EC-3449-AF81-7DDFB2B32A47}" type="slidenum">
              <a:rPr lang="en-US"/>
              <a:pPr>
                <a:defRPr/>
              </a:pPr>
              <a:t>‹#›</a:t>
            </a:fld>
            <a:endParaRPr lang="en-US">
              <a:latin typeface="Garamond" pitchFamily="-112"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454976B5-A97D-9348-B219-18176D30763E}" type="slidenum">
              <a:rPr lang="en-US"/>
              <a:pPr>
                <a:defRPr/>
              </a:pPr>
              <a:t>‹#›</a:t>
            </a:fld>
            <a:endParaRPr lang="en-US">
              <a:latin typeface="Garamond" pitchFamily="-112"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B6EB67F5-B818-A947-B3C0-F7774BB8DB12}" type="slidenum">
              <a:rPr lang="en-US"/>
              <a:pPr>
                <a:defRPr/>
              </a:pPr>
              <a:t>‹#›</a:t>
            </a:fld>
            <a:endParaRPr lang="en-US">
              <a:latin typeface="Garamond" pitchFamily="-112"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52400"/>
            <a:ext cx="1943100" cy="6248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85800" y="152400"/>
            <a:ext cx="5676900" cy="6248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576F58A6-734F-3F40-8ACC-F1E1F9649C4A}" type="slidenum">
              <a:rPr lang="en-US"/>
              <a:pPr>
                <a:defRPr/>
              </a:pPr>
              <a:t>‹#›</a:t>
            </a:fld>
            <a:endParaRPr lang="en-US">
              <a:latin typeface="Garamond" pitchFamily="-112"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20000" cy="8382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85800" y="1524000"/>
            <a:ext cx="38100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524000"/>
            <a:ext cx="38100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977F90CF-3290-294A-AFFA-BABFD9F61AFD}" type="slidenum">
              <a:rPr lang="en-US"/>
              <a:pPr>
                <a:defRPr/>
              </a:pPr>
              <a:t>‹#›</a:t>
            </a:fld>
            <a:endParaRPr lang="en-US">
              <a:latin typeface="Garamond" pitchFamily="-112"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20000" cy="838200"/>
          </a:xfrm>
        </p:spPr>
        <p:txBody>
          <a:bodyPr/>
          <a:lstStyle/>
          <a:p>
            <a:r>
              <a:rPr lang="en-GB"/>
              <a:t>Click to edit Master title style</a:t>
            </a:r>
            <a:endParaRPr lang="en-US"/>
          </a:p>
        </p:txBody>
      </p:sp>
      <p:sp>
        <p:nvSpPr>
          <p:cNvPr id="3" name="Table Placeholder 2"/>
          <p:cNvSpPr>
            <a:spLocks noGrp="1"/>
          </p:cNvSpPr>
          <p:nvPr>
            <p:ph type="tbl" idx="1"/>
          </p:nvPr>
        </p:nvSpPr>
        <p:spPr>
          <a:xfrm>
            <a:off x="685800" y="1524000"/>
            <a:ext cx="7772400" cy="4876800"/>
          </a:xfrm>
        </p:spPr>
        <p:txBody>
          <a:bodyPr/>
          <a:lstStyle/>
          <a:p>
            <a:pPr lvl="0"/>
            <a:endParaRPr lang="en-US" noProof="0"/>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Fall’23</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F5C3F736-FD0F-AA45-8F37-A57BE49B46B7}" type="slidenum">
              <a:rPr lang="en-US"/>
              <a:pPr>
                <a:defRPr/>
              </a:pPr>
              <a:t>‹#›</a:t>
            </a:fld>
            <a:endParaRPr lang="en-US">
              <a:latin typeface="Garamond" pitchFamily="-112"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27647927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52400"/>
            <a:ext cx="7620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524000"/>
            <a:ext cx="7772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3476" name="Rectangle 4"/>
          <p:cNvSpPr>
            <a:spLocks noGrp="1" noChangeArrowheads="1"/>
          </p:cNvSpPr>
          <p:nvPr>
            <p:ph type="ftr" sz="quarter" idx="3"/>
          </p:nvPr>
        </p:nvSpPr>
        <p:spPr bwMode="auto">
          <a:xfrm>
            <a:off x="2895600" y="6553200"/>
            <a:ext cx="33528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0" smtClean="0">
                <a:latin typeface="+mn-lt"/>
              </a:defRPr>
            </a:lvl1pPr>
          </a:lstStyle>
          <a:p>
            <a:pPr>
              <a:defRPr/>
            </a:pPr>
            <a:r>
              <a:rPr lang="en-US" dirty="0"/>
              <a:t>CS/ECE Computer Architecture – Fall’23</a:t>
            </a:r>
            <a:endParaRPr lang="en-US" sz="1400" dirty="0"/>
          </a:p>
        </p:txBody>
      </p:sp>
      <p:sp>
        <p:nvSpPr>
          <p:cNvPr id="233477" name="Line 5"/>
          <p:cNvSpPr>
            <a:spLocks noChangeShapeType="1"/>
          </p:cNvSpPr>
          <p:nvPr/>
        </p:nvSpPr>
        <p:spPr bwMode="auto">
          <a:xfrm>
            <a:off x="685800" y="990600"/>
            <a:ext cx="7772400" cy="0"/>
          </a:xfrm>
          <a:prstGeom prst="line">
            <a:avLst/>
          </a:prstGeom>
          <a:noFill/>
          <a:ln w="38100">
            <a:solidFill>
              <a:schemeClr val="accent2">
                <a:alpha val="89000"/>
              </a:schemeClr>
            </a:solidFill>
            <a:round/>
            <a:headEnd/>
            <a:tailEnd/>
          </a:ln>
          <a:effectLst/>
        </p:spPr>
        <p:txBody>
          <a:bodyPr wrap="none" anchor="ctr">
            <a:prstTxWarp prst="textNoShape">
              <a:avLst/>
            </a:prstTxWarp>
          </a:bodyPr>
          <a:lstStyle/>
          <a:p>
            <a:pPr>
              <a:defRPr/>
            </a:pPr>
            <a:endParaRPr lang="en-US"/>
          </a:p>
        </p:txBody>
      </p:sp>
      <p:sp>
        <p:nvSpPr>
          <p:cNvPr id="233479" name="Rectangle 7"/>
          <p:cNvSpPr>
            <a:spLocks noGrp="1" noChangeArrowheads="1"/>
          </p:cNvSpPr>
          <p:nvPr>
            <p:ph type="sldNum" sz="quarter" idx="4"/>
          </p:nvPr>
        </p:nvSpPr>
        <p:spPr bwMode="auto">
          <a:xfrm>
            <a:off x="7086600" y="6553200"/>
            <a:ext cx="1905000" cy="3048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mn-lt"/>
              </a:defRPr>
            </a:lvl1pPr>
          </a:lstStyle>
          <a:p>
            <a:pPr>
              <a:defRPr/>
            </a:pPr>
            <a:fld id="{153BAC1E-BB0B-A049-B56D-74AA82B13E1A}" type="slidenum">
              <a:rPr lang="en-US"/>
              <a:pPr>
                <a:defRPr/>
              </a:pPr>
              <a:t>‹#›</a:t>
            </a:fld>
            <a:endParaRPr lang="en-US"/>
          </a:p>
        </p:txBody>
      </p:sp>
      <p:pic>
        <p:nvPicPr>
          <p:cNvPr id="3" name="Picture 2" descr="A red and white logo&#10;&#10;Description automatically generated">
            <a:extLst>
              <a:ext uri="{FF2B5EF4-FFF2-40B4-BE49-F238E27FC236}">
                <a16:creationId xmlns:a16="http://schemas.microsoft.com/office/drawing/2014/main" id="{7BA18FEC-871B-E19F-0632-FE1098BEDAA5}"/>
              </a:ext>
            </a:extLst>
          </p:cNvPr>
          <p:cNvPicPr>
            <a:picLocks noChangeAspect="1"/>
          </p:cNvPicPr>
          <p:nvPr userDrawn="1"/>
        </p:nvPicPr>
        <p:blipFill>
          <a:blip r:embed="rId16"/>
          <a:stretch>
            <a:fillRect/>
          </a:stretch>
        </p:blipFill>
        <p:spPr>
          <a:xfrm>
            <a:off x="8305800" y="139700"/>
            <a:ext cx="685800" cy="635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hf hdr="0" dt="0"/>
  <p:txStyles>
    <p:titleStyle>
      <a:lvl1pPr algn="l" rtl="0" eaLnBrk="0" fontAlgn="base" hangingPunct="0">
        <a:spcBef>
          <a:spcPct val="0"/>
        </a:spcBef>
        <a:spcAft>
          <a:spcPct val="0"/>
        </a:spcAft>
        <a:defRPr sz="2400">
          <a:solidFill>
            <a:schemeClr val="tx2"/>
          </a:solidFill>
          <a:latin typeface="+mj-lt"/>
          <a:ea typeface="ＭＳ Ｐゴシック" pitchFamily="-112" charset="-128"/>
          <a:cs typeface="ＭＳ Ｐゴシック" pitchFamily="-112" charset="-128"/>
        </a:defRPr>
      </a:lvl1pPr>
      <a:lvl2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2pPr>
      <a:lvl3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3pPr>
      <a:lvl4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4pPr>
      <a:lvl5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5pPr>
      <a:lvl6pPr marL="457200" algn="l" rtl="0" eaLnBrk="0" fontAlgn="base" hangingPunct="0">
        <a:spcBef>
          <a:spcPct val="0"/>
        </a:spcBef>
        <a:spcAft>
          <a:spcPct val="0"/>
        </a:spcAft>
        <a:defRPr sz="2400">
          <a:solidFill>
            <a:schemeClr val="tx2"/>
          </a:solidFill>
          <a:latin typeface="Geneva" pitchFamily="-112" charset="0"/>
        </a:defRPr>
      </a:lvl6pPr>
      <a:lvl7pPr marL="914400" algn="l" rtl="0" eaLnBrk="0" fontAlgn="base" hangingPunct="0">
        <a:spcBef>
          <a:spcPct val="0"/>
        </a:spcBef>
        <a:spcAft>
          <a:spcPct val="0"/>
        </a:spcAft>
        <a:defRPr sz="2400">
          <a:solidFill>
            <a:schemeClr val="tx2"/>
          </a:solidFill>
          <a:latin typeface="Geneva" pitchFamily="-112" charset="0"/>
        </a:defRPr>
      </a:lvl7pPr>
      <a:lvl8pPr marL="1371600" algn="l" rtl="0" eaLnBrk="0" fontAlgn="base" hangingPunct="0">
        <a:spcBef>
          <a:spcPct val="0"/>
        </a:spcBef>
        <a:spcAft>
          <a:spcPct val="0"/>
        </a:spcAft>
        <a:defRPr sz="2400">
          <a:solidFill>
            <a:schemeClr val="tx2"/>
          </a:solidFill>
          <a:latin typeface="Geneva" pitchFamily="-112" charset="0"/>
        </a:defRPr>
      </a:lvl8pPr>
      <a:lvl9pPr marL="1828800" algn="l" rtl="0" eaLnBrk="0" fontAlgn="base" hangingPunct="0">
        <a:spcBef>
          <a:spcPct val="0"/>
        </a:spcBef>
        <a:spcAft>
          <a:spcPct val="0"/>
        </a:spcAft>
        <a:defRPr sz="2400">
          <a:solidFill>
            <a:schemeClr val="tx2"/>
          </a:solidFill>
          <a:latin typeface="Geneva" pitchFamily="-112" charset="0"/>
        </a:defRPr>
      </a:lvl9pPr>
    </p:titleStyle>
    <p:bodyStyle>
      <a:lvl1pPr marL="342900" indent="-342900" algn="l" rtl="0" eaLnBrk="0" fontAlgn="base" hangingPunct="0">
        <a:lnSpc>
          <a:spcPct val="120000"/>
        </a:lnSpc>
        <a:spcBef>
          <a:spcPct val="20000"/>
        </a:spcBef>
        <a:spcAft>
          <a:spcPct val="0"/>
        </a:spcAft>
        <a:buClr>
          <a:schemeClr val="accent2"/>
        </a:buClr>
        <a:buFont typeface="Wingdings" pitchFamily="-112" charset="2"/>
        <a:buChar char="§"/>
        <a:defRPr sz="2400">
          <a:solidFill>
            <a:schemeClr val="tx1"/>
          </a:solidFill>
          <a:latin typeface="+mn-lt"/>
          <a:ea typeface="ＭＳ Ｐゴシック" pitchFamily="-112" charset="-128"/>
          <a:cs typeface="ＭＳ Ｐゴシック" pitchFamily="-112" charset="-128"/>
        </a:defRPr>
      </a:lvl1pPr>
      <a:lvl2pPr marL="742950" indent="-285750" algn="l" rtl="0" eaLnBrk="0" fontAlgn="base" hangingPunct="0">
        <a:spcBef>
          <a:spcPct val="20000"/>
        </a:spcBef>
        <a:spcAft>
          <a:spcPct val="0"/>
        </a:spcAft>
        <a:buChar char="–"/>
        <a:defRPr sz="2000">
          <a:solidFill>
            <a:schemeClr val="tx1"/>
          </a:solidFill>
          <a:latin typeface="+mn-lt"/>
          <a:ea typeface="ＭＳ Ｐゴシック" pitchFamily="-112" charset="-128"/>
        </a:defRPr>
      </a:lvl2pPr>
      <a:lvl3pPr marL="1143000" indent="-228600" algn="l" rtl="0" eaLnBrk="0" fontAlgn="base" hangingPunct="0">
        <a:spcBef>
          <a:spcPct val="20000"/>
        </a:spcBef>
        <a:spcAft>
          <a:spcPct val="0"/>
        </a:spcAft>
        <a:buFont typeface="Wingdings" pitchFamily="-112" charset="2"/>
        <a:buChar char="§"/>
        <a:defRPr>
          <a:solidFill>
            <a:schemeClr val="tx1"/>
          </a:solidFill>
          <a:latin typeface="+mn-lt"/>
          <a:ea typeface="ＭＳ Ｐゴシック" pitchFamily="-112" charset="-128"/>
        </a:defRPr>
      </a:lvl3pPr>
      <a:lvl4pPr marL="1600200" indent="-228600" algn="l" rtl="0" eaLnBrk="0" fontAlgn="base" hangingPunct="0">
        <a:spcBef>
          <a:spcPct val="20000"/>
        </a:spcBef>
        <a:spcAft>
          <a:spcPct val="0"/>
        </a:spcAft>
        <a:buChar char="–"/>
        <a:defRPr sz="1600">
          <a:solidFill>
            <a:schemeClr val="tx1"/>
          </a:solidFill>
          <a:latin typeface="+mn-lt"/>
          <a:ea typeface="ＭＳ Ｐゴシック" pitchFamily="-112" charset="-128"/>
        </a:defRPr>
      </a:lvl4pPr>
      <a:lvl5pPr marL="20574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5pPr>
      <a:lvl6pPr marL="25146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6pPr>
      <a:lvl7pPr marL="29718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7pPr>
      <a:lvl8pPr marL="34290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8pPr>
      <a:lvl9pPr marL="38862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https://courses.cs.washington.edu/courses/csep551/19au/readings/riscv-base.pdf" TargetMode="Externa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HW Support for Shared Memory"/>
          <p:cNvSpPr txBox="1">
            <a:spLocks noGrp="1"/>
          </p:cNvSpPr>
          <p:nvPr>
            <p:ph type="title" idx="4294967295"/>
          </p:nvPr>
        </p:nvSpPr>
        <p:spPr>
          <a:xfrm>
            <a:off x="685800" y="152400"/>
            <a:ext cx="7772400" cy="838200"/>
          </a:xfrm>
          <a:prstGeom prst="rect">
            <a:avLst/>
          </a:prstGeom>
        </p:spPr>
        <p:txBody>
          <a:bodyPr>
            <a:normAutofit fontScale="90000"/>
          </a:bodyPr>
          <a:lstStyle>
            <a:lvl1pPr>
              <a:defRPr sz="4300"/>
            </a:lvl1pPr>
          </a:lstStyle>
          <a:p>
            <a:r>
              <a:t>HW Support for Shared Memory</a:t>
            </a:r>
          </a:p>
        </p:txBody>
      </p:sp>
      <p:sp>
        <p:nvSpPr>
          <p:cNvPr id="34" name="Cache Coherence…"/>
          <p:cNvSpPr txBox="1">
            <a:spLocks noGrp="1"/>
          </p:cNvSpPr>
          <p:nvPr>
            <p:ph type="body" idx="4294967295"/>
          </p:nvPr>
        </p:nvSpPr>
        <p:spPr>
          <a:xfrm>
            <a:off x="685800" y="1295400"/>
            <a:ext cx="7772400" cy="4648200"/>
          </a:xfrm>
          <a:prstGeom prst="rect">
            <a:avLst/>
          </a:prstGeom>
        </p:spPr>
        <p:txBody>
          <a:bodyPr>
            <a:normAutofit lnSpcReduction="10000"/>
          </a:bodyPr>
          <a:lstStyle/>
          <a:p>
            <a:pPr>
              <a:lnSpc>
                <a:spcPct val="80000"/>
              </a:lnSpc>
              <a:spcBef>
                <a:spcPts val="500"/>
              </a:spcBef>
              <a:buChar char="▪"/>
              <a:defRPr sz="2200"/>
            </a:pPr>
            <a:r>
              <a:t>Cache Coherence</a:t>
            </a:r>
          </a:p>
          <a:p>
            <a:pPr marL="742950" lvl="1" indent="-285750">
              <a:lnSpc>
                <a:spcPct val="80000"/>
              </a:lnSpc>
              <a:spcBef>
                <a:spcPts val="0"/>
              </a:spcBef>
              <a:buClrTx/>
              <a:defRPr sz="2000"/>
            </a:pPr>
            <a:r>
              <a:t>Caches + multiprocessers </a:t>
            </a:r>
            <a:r>
              <a:rPr>
                <a:latin typeface="Wingdings"/>
                <a:ea typeface="Wingdings"/>
                <a:cs typeface="Wingdings"/>
                <a:sym typeface="Wingdings"/>
              </a:rPr>
              <a:t> </a:t>
            </a:r>
            <a:r>
              <a:t>stale values</a:t>
            </a:r>
          </a:p>
          <a:p>
            <a:pPr marL="742950" lvl="1" indent="-285750">
              <a:lnSpc>
                <a:spcPct val="80000"/>
              </a:lnSpc>
              <a:spcBef>
                <a:spcPts val="0"/>
              </a:spcBef>
              <a:buClrTx/>
              <a:defRPr sz="2000"/>
            </a:pPr>
            <a:r>
              <a:t>System must behave as if caches are not present</a:t>
            </a:r>
          </a:p>
          <a:p>
            <a:pPr marL="742950" lvl="1" indent="-285750">
              <a:lnSpc>
                <a:spcPct val="80000"/>
              </a:lnSpc>
              <a:spcBef>
                <a:spcPts val="0"/>
              </a:spcBef>
              <a:buClrTx/>
              <a:defRPr sz="2000"/>
            </a:pPr>
            <a:r>
              <a:t>Cache coherence is </a:t>
            </a:r>
            <a:r>
              <a:rPr i="1"/>
              <a:t>implementation</a:t>
            </a:r>
            <a:r>
              <a:t> that ensures this via:</a:t>
            </a:r>
          </a:p>
          <a:p>
            <a:pPr marL="1143000" lvl="2" indent="-228600">
              <a:lnSpc>
                <a:spcPct val="80000"/>
              </a:lnSpc>
              <a:spcBef>
                <a:spcPts val="0"/>
              </a:spcBef>
              <a:buClrTx/>
              <a:defRPr sz="1700"/>
            </a:pPr>
            <a:r>
              <a:t>Write propagation</a:t>
            </a:r>
          </a:p>
          <a:p>
            <a:pPr marL="1143000" lvl="2" indent="-228600">
              <a:lnSpc>
                <a:spcPct val="80000"/>
              </a:lnSpc>
              <a:spcBef>
                <a:spcPts val="0"/>
              </a:spcBef>
              <a:buClrTx/>
              <a:defRPr sz="1700"/>
            </a:pPr>
            <a:r>
              <a:t>Write serialization</a:t>
            </a:r>
          </a:p>
          <a:p>
            <a:pPr marL="1143000" lvl="2" indent="-228600">
              <a:lnSpc>
                <a:spcPct val="80000"/>
              </a:lnSpc>
              <a:spcBef>
                <a:spcPts val="0"/>
              </a:spcBef>
              <a:buClrTx/>
              <a:defRPr sz="1700"/>
            </a:pPr>
            <a:endParaRPr/>
          </a:p>
          <a:p>
            <a:pPr>
              <a:lnSpc>
                <a:spcPct val="80000"/>
              </a:lnSpc>
              <a:spcBef>
                <a:spcPts val="500"/>
              </a:spcBef>
              <a:buChar char="▪"/>
              <a:defRPr sz="2200"/>
            </a:pPr>
            <a:r>
              <a:t>Memory Consistency</a:t>
            </a:r>
          </a:p>
          <a:p>
            <a:pPr marL="742950" lvl="1" indent="-285750">
              <a:lnSpc>
                <a:spcPct val="80000"/>
              </a:lnSpc>
              <a:spcBef>
                <a:spcPts val="0"/>
              </a:spcBef>
              <a:buClrTx/>
              <a:defRPr sz="2000"/>
            </a:pPr>
            <a:r>
              <a:t>When (in what order) should writes propagate?</a:t>
            </a:r>
          </a:p>
          <a:p>
            <a:pPr marL="742950" lvl="1" indent="-285750">
              <a:lnSpc>
                <a:spcPct val="80000"/>
              </a:lnSpc>
              <a:spcBef>
                <a:spcPts val="0"/>
              </a:spcBef>
              <a:buClrTx/>
              <a:defRPr sz="2000"/>
            </a:pPr>
            <a:r>
              <a:t>What value should a read return?</a:t>
            </a:r>
          </a:p>
          <a:p>
            <a:pPr marL="742950" lvl="1" indent="-285750">
              <a:lnSpc>
                <a:spcPct val="80000"/>
              </a:lnSpc>
              <a:spcBef>
                <a:spcPts val="0"/>
              </a:spcBef>
              <a:buClrTx/>
              <a:defRPr sz="2000"/>
            </a:pPr>
            <a:r>
              <a:t>Memory consistency is a </a:t>
            </a:r>
            <a:r>
              <a:rPr i="1"/>
              <a:t>specification</a:t>
            </a:r>
            <a:r>
              <a:t>. </a:t>
            </a:r>
          </a:p>
          <a:p>
            <a:pPr marL="742950" lvl="1" indent="-285750">
              <a:lnSpc>
                <a:spcPct val="80000"/>
              </a:lnSpc>
              <a:spcBef>
                <a:spcPts val="0"/>
              </a:spcBef>
              <a:buClrTx/>
              <a:defRPr sz="2000"/>
            </a:pPr>
            <a:endParaRPr/>
          </a:p>
          <a:p>
            <a:pPr marL="742950" lvl="1" indent="-285750">
              <a:lnSpc>
                <a:spcPct val="80000"/>
              </a:lnSpc>
              <a:spcBef>
                <a:spcPts val="0"/>
              </a:spcBef>
              <a:buClrTx/>
              <a:defRPr sz="2000"/>
            </a:pPr>
            <a:endParaRPr/>
          </a:p>
          <a:p>
            <a:pPr>
              <a:lnSpc>
                <a:spcPct val="80000"/>
              </a:lnSpc>
              <a:spcBef>
                <a:spcPts val="500"/>
              </a:spcBef>
              <a:buChar char="▪"/>
              <a:defRPr sz="2200"/>
            </a:pPr>
            <a:r>
              <a:t>Primitive synchronization instructions</a:t>
            </a:r>
          </a:p>
          <a:p>
            <a:pPr marL="742950" lvl="1" indent="-285750">
              <a:lnSpc>
                <a:spcPct val="80000"/>
              </a:lnSpc>
              <a:spcBef>
                <a:spcPts val="0"/>
              </a:spcBef>
              <a:buClrTx/>
              <a:defRPr sz="2000"/>
            </a:pPr>
            <a:r>
              <a:t>Certain hardware instructions are extremely useful/required for achieving synchronisation</a:t>
            </a:r>
          </a:p>
          <a:p>
            <a:pPr marL="742950" lvl="1" indent="-285750">
              <a:lnSpc>
                <a:spcPct val="80000"/>
              </a:lnSpc>
              <a:spcBef>
                <a:spcPts val="0"/>
              </a:spcBef>
              <a:buClrTx/>
              <a:defRPr sz="2000"/>
            </a:pPr>
            <a:r>
              <a:t>Memory fences: memory ordering on demand</a:t>
            </a:r>
          </a:p>
          <a:p>
            <a:pPr marL="742950" lvl="1" indent="-285750">
              <a:lnSpc>
                <a:spcPct val="80000"/>
              </a:lnSpc>
              <a:spcBef>
                <a:spcPts val="0"/>
              </a:spcBef>
              <a:buClrTx/>
              <a:defRPr sz="2000"/>
            </a:pPr>
            <a:r>
              <a:t>Read-Modify-writes: support for locks (critical sections) </a:t>
            </a:r>
          </a:p>
          <a:p>
            <a:pPr marL="742950" lvl="1" indent="-285750">
              <a:lnSpc>
                <a:spcPct val="80000"/>
              </a:lnSpc>
              <a:spcBef>
                <a:spcPts val="0"/>
              </a:spcBef>
              <a:buClrTx/>
              <a:defRPr sz="2000"/>
            </a:pPr>
            <a:r>
              <a:t>Transactional memory extensions</a:t>
            </a:r>
          </a:p>
        </p:txBody>
      </p:sp>
      <p:sp>
        <p:nvSpPr>
          <p:cNvPr id="35"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36" name="Slide Number"/>
          <p:cNvSpPr txBox="1">
            <a:spLocks noGrp="1"/>
          </p:cNvSpPr>
          <p:nvPr>
            <p:ph type="sldNum" sz="quarter" idx="4294967295"/>
          </p:nvPr>
        </p:nvSpPr>
        <p:spPr>
          <a:xfrm>
            <a:off x="8804116" y="6400800"/>
            <a:ext cx="187484" cy="29464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39" name="Consider the following code:…"/>
          <p:cNvSpPr txBox="1">
            <a:spLocks noGrp="1"/>
          </p:cNvSpPr>
          <p:nvPr>
            <p:ph type="body" idx="4294967295"/>
          </p:nvPr>
        </p:nvSpPr>
        <p:spPr>
          <a:xfrm>
            <a:off x="457200" y="1143000"/>
            <a:ext cx="8686800" cy="4343400"/>
          </a:xfrm>
          <a:prstGeom prst="rect">
            <a:avLst/>
          </a:prstGeom>
        </p:spPr>
        <p:txBody>
          <a:bodyPr>
            <a:normAutofit/>
          </a:bodyPr>
          <a:lstStyle/>
          <a:p>
            <a:pPr>
              <a:spcBef>
                <a:spcPts val="500"/>
              </a:spcBef>
              <a:buChar char="▪"/>
              <a:defRPr sz="2400"/>
            </a:pPr>
            <a:r>
              <a:rPr dirty="0"/>
              <a:t>Consider the following code:</a:t>
            </a:r>
          </a:p>
          <a:p>
            <a:pPr>
              <a:buChar char="▪"/>
              <a:defRPr sz="2400"/>
            </a:pPr>
            <a:endParaRPr dirty="0"/>
          </a:p>
          <a:p>
            <a:pPr>
              <a:buChar char="▪"/>
              <a:defRPr sz="2400"/>
            </a:pPr>
            <a:endParaRPr dirty="0"/>
          </a:p>
          <a:p>
            <a:pPr>
              <a:buChar char="▪"/>
              <a:defRPr sz="2400"/>
            </a:pPr>
            <a:endParaRPr dirty="0"/>
          </a:p>
          <a:p>
            <a:pPr>
              <a:buChar char="▪"/>
              <a:defRPr sz="2400"/>
            </a:pPr>
            <a:endParaRPr dirty="0"/>
          </a:p>
          <a:p>
            <a:pPr>
              <a:buChar char="▪"/>
              <a:defRPr sz="2400"/>
            </a:pPr>
            <a:endParaRPr dirty="0"/>
          </a:p>
          <a:p>
            <a:pPr>
              <a:buChar char="▪"/>
              <a:defRPr sz="2400"/>
            </a:pPr>
            <a:endParaRPr dirty="0"/>
          </a:p>
          <a:p>
            <a:pPr marL="742950" lvl="1" indent="-285750">
              <a:spcBef>
                <a:spcPts val="0"/>
              </a:spcBef>
              <a:buClrTx/>
              <a:defRPr sz="2000"/>
            </a:pPr>
            <a:r>
              <a:rPr dirty="0"/>
              <a:t>What are the possible outcomes?</a:t>
            </a:r>
            <a:r>
              <a:rPr lang="en-US" dirty="0"/>
              <a:t> (assuming caches are coherent)</a:t>
            </a:r>
            <a:endParaRPr dirty="0"/>
          </a:p>
        </p:txBody>
      </p:sp>
      <p:sp>
        <p:nvSpPr>
          <p:cNvPr id="40" name="Lect. 5: Memory Consistency"/>
          <p:cNvSpPr txBox="1">
            <a:spLocks noGrp="1"/>
          </p:cNvSpPr>
          <p:nvPr>
            <p:ph type="title" idx="4294967295"/>
          </p:nvPr>
        </p:nvSpPr>
        <p:spPr>
          <a:xfrm>
            <a:off x="609600" y="152400"/>
            <a:ext cx="8534400" cy="838200"/>
          </a:xfrm>
          <a:prstGeom prst="rect">
            <a:avLst/>
          </a:prstGeom>
        </p:spPr>
        <p:txBody>
          <a:bodyPr>
            <a:normAutofit/>
          </a:bodyPr>
          <a:lstStyle>
            <a:lvl1pPr>
              <a:defRPr sz="3600">
                <a:solidFill>
                  <a:srgbClr val="FF0000"/>
                </a:solidFill>
              </a:defRPr>
            </a:lvl1pPr>
          </a:lstStyle>
          <a:p>
            <a:r>
              <a:t>Lect. 5: Memory Consistency</a:t>
            </a:r>
          </a:p>
        </p:txBody>
      </p:sp>
      <p:sp>
        <p:nvSpPr>
          <p:cNvPr id="41" name="A=0, B=0, C=0;…"/>
          <p:cNvSpPr txBox="1"/>
          <p:nvPr/>
        </p:nvSpPr>
        <p:spPr>
          <a:xfrm>
            <a:off x="838200" y="1905000"/>
            <a:ext cx="1673645" cy="148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A=0, B=0, C=0;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C = 1;</a:t>
            </a:r>
          </a:p>
          <a:p>
            <a:pPr>
              <a:defRPr sz="1800" b="0">
                <a:solidFill>
                  <a:srgbClr val="0000FF"/>
                </a:solidFill>
                <a:latin typeface="Lucida Console"/>
                <a:ea typeface="Lucida Console"/>
                <a:cs typeface="Lucida Console"/>
                <a:sym typeface="Lucida Console"/>
              </a:defRPr>
            </a:pPr>
            <a:r>
              <a:t>A = 1;</a:t>
            </a:r>
          </a:p>
        </p:txBody>
      </p:sp>
      <p:sp>
        <p:nvSpPr>
          <p:cNvPr id="42" name="while (A==0);…"/>
          <p:cNvSpPr txBox="1"/>
          <p:nvPr/>
        </p:nvSpPr>
        <p:spPr>
          <a:xfrm>
            <a:off x="3124200" y="1905000"/>
            <a:ext cx="1450961" cy="176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while (A==0);</a:t>
            </a:r>
          </a:p>
          <a:p>
            <a:pPr>
              <a:defRPr sz="1800" b="0">
                <a:solidFill>
                  <a:srgbClr val="0000FF"/>
                </a:solidFill>
                <a:latin typeface="Lucida Console"/>
                <a:ea typeface="Lucida Console"/>
                <a:cs typeface="Lucida Console"/>
                <a:sym typeface="Lucida Console"/>
              </a:defRPr>
            </a:pPr>
            <a:r>
              <a:t>B = 1;</a:t>
            </a:r>
          </a:p>
        </p:txBody>
      </p:sp>
      <p:sp>
        <p:nvSpPr>
          <p:cNvPr id="43" name="P1"/>
          <p:cNvSpPr txBox="1"/>
          <p:nvPr/>
        </p:nvSpPr>
        <p:spPr>
          <a:xfrm>
            <a:off x="1790620" y="15240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solidFill>
                  <a:srgbClr val="FF0000"/>
                </a:solidFill>
              </a:defRPr>
            </a:lvl1pPr>
          </a:lstStyle>
          <a:p>
            <a:r>
              <a:t>P1</a:t>
            </a:r>
          </a:p>
        </p:txBody>
      </p:sp>
      <p:sp>
        <p:nvSpPr>
          <p:cNvPr id="44" name="P2"/>
          <p:cNvSpPr txBox="1"/>
          <p:nvPr/>
        </p:nvSpPr>
        <p:spPr>
          <a:xfrm>
            <a:off x="4009151" y="15240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solidFill>
                  <a:srgbClr val="FF0000"/>
                </a:solidFill>
              </a:defRPr>
            </a:lvl1pPr>
          </a:lstStyle>
          <a:p>
            <a:r>
              <a:t>P2</a:t>
            </a:r>
          </a:p>
        </p:txBody>
      </p:sp>
      <p:sp>
        <p:nvSpPr>
          <p:cNvPr id="45" name="Line"/>
          <p:cNvSpPr/>
          <p:nvPr/>
        </p:nvSpPr>
        <p:spPr>
          <a:xfrm>
            <a:off x="1905000" y="3225800"/>
            <a:ext cx="1219200" cy="0"/>
          </a:xfrm>
          <a:prstGeom prst="line">
            <a:avLst/>
          </a:prstGeom>
          <a:ln w="25400">
            <a:solidFill>
              <a:srgbClr val="FF0000"/>
            </a:solidFill>
            <a:tailEnd type="triangle"/>
          </a:ln>
        </p:spPr>
        <p:txBody>
          <a:bodyPr lIns="45719" rIns="45719"/>
          <a:lstStyle/>
          <a:p>
            <a:endParaRPr/>
          </a:p>
        </p:txBody>
      </p:sp>
      <p:sp>
        <p:nvSpPr>
          <p:cNvPr id="46" name="Line"/>
          <p:cNvSpPr/>
          <p:nvPr/>
        </p:nvSpPr>
        <p:spPr>
          <a:xfrm>
            <a:off x="609600" y="2590800"/>
            <a:ext cx="7467600" cy="0"/>
          </a:xfrm>
          <a:prstGeom prst="line">
            <a:avLst/>
          </a:prstGeom>
          <a:ln w="12700">
            <a:solidFill>
              <a:srgbClr val="000000"/>
            </a:solidFill>
            <a:prstDash val="dash"/>
          </a:ln>
        </p:spPr>
        <p:txBody>
          <a:bodyPr lIns="45719" rIns="45719"/>
          <a:lstStyle/>
          <a:p>
            <a:endParaRPr/>
          </a:p>
        </p:txBody>
      </p:sp>
      <p:sp>
        <p:nvSpPr>
          <p:cNvPr id="47" name="Line"/>
          <p:cNvSpPr/>
          <p:nvPr/>
        </p:nvSpPr>
        <p:spPr>
          <a:xfrm>
            <a:off x="8426450" y="2590800"/>
            <a:ext cx="304800" cy="0"/>
          </a:xfrm>
          <a:prstGeom prst="line">
            <a:avLst/>
          </a:prstGeom>
          <a:ln w="12700">
            <a:solidFill>
              <a:srgbClr val="000000"/>
            </a:solidFill>
          </a:ln>
        </p:spPr>
        <p:txBody>
          <a:bodyPr lIns="45719" rIns="45719"/>
          <a:lstStyle/>
          <a:p>
            <a:endParaRPr/>
          </a:p>
        </p:txBody>
      </p:sp>
      <p:sp>
        <p:nvSpPr>
          <p:cNvPr id="48" name="Line"/>
          <p:cNvSpPr/>
          <p:nvPr/>
        </p:nvSpPr>
        <p:spPr>
          <a:xfrm flipV="1">
            <a:off x="8731250" y="2209800"/>
            <a:ext cx="0" cy="381000"/>
          </a:xfrm>
          <a:prstGeom prst="line">
            <a:avLst/>
          </a:prstGeom>
          <a:ln w="12700">
            <a:solidFill>
              <a:srgbClr val="000000"/>
            </a:solidFill>
            <a:tailEnd type="triangle"/>
          </a:ln>
        </p:spPr>
        <p:txBody>
          <a:bodyPr lIns="45719" rIns="45719"/>
          <a:lstStyle/>
          <a:p>
            <a:endParaRPr/>
          </a:p>
        </p:txBody>
      </p:sp>
      <p:sp>
        <p:nvSpPr>
          <p:cNvPr id="49" name="Line"/>
          <p:cNvSpPr/>
          <p:nvPr/>
        </p:nvSpPr>
        <p:spPr>
          <a:xfrm>
            <a:off x="8731250" y="2590800"/>
            <a:ext cx="0" cy="381000"/>
          </a:xfrm>
          <a:prstGeom prst="line">
            <a:avLst/>
          </a:prstGeom>
          <a:ln w="12700">
            <a:solidFill>
              <a:srgbClr val="000000"/>
            </a:solidFill>
            <a:tailEnd type="triangle"/>
          </a:ln>
        </p:spPr>
        <p:txBody>
          <a:bodyPr lIns="45719" rIns="45719"/>
          <a:lstStyle/>
          <a:p>
            <a:endParaRPr/>
          </a:p>
        </p:txBody>
      </p:sp>
      <p:sp>
        <p:nvSpPr>
          <p:cNvPr id="50" name="initialization"/>
          <p:cNvSpPr txBox="1"/>
          <p:nvPr/>
        </p:nvSpPr>
        <p:spPr>
          <a:xfrm rot="16200000">
            <a:off x="8435082" y="1720592"/>
            <a:ext cx="106477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initialization</a:t>
            </a:r>
          </a:p>
        </p:txBody>
      </p:sp>
      <p:sp>
        <p:nvSpPr>
          <p:cNvPr id="51" name="parallel"/>
          <p:cNvSpPr txBox="1"/>
          <p:nvPr/>
        </p:nvSpPr>
        <p:spPr>
          <a:xfrm rot="16200000">
            <a:off x="8635007" y="3063517"/>
            <a:ext cx="66492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parallel</a:t>
            </a:r>
          </a:p>
        </p:txBody>
      </p:sp>
      <p:sp>
        <p:nvSpPr>
          <p:cNvPr id="52" name="while (B==0);…"/>
          <p:cNvSpPr txBox="1"/>
          <p:nvPr/>
        </p:nvSpPr>
        <p:spPr>
          <a:xfrm>
            <a:off x="5943600" y="1981200"/>
            <a:ext cx="1450961" cy="2047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while (B==0);</a:t>
            </a:r>
          </a:p>
          <a:p>
            <a:pPr>
              <a:defRPr sz="1800" b="0">
                <a:solidFill>
                  <a:srgbClr val="0000FF"/>
                </a:solidFill>
                <a:latin typeface="Lucida Console"/>
                <a:ea typeface="Lucida Console"/>
                <a:cs typeface="Lucida Console"/>
                <a:sym typeface="Lucida Console"/>
              </a:defRPr>
            </a:pPr>
            <a:r>
              <a:t>print A, C;</a:t>
            </a:r>
          </a:p>
        </p:txBody>
      </p:sp>
      <p:sp>
        <p:nvSpPr>
          <p:cNvPr id="53" name="P3"/>
          <p:cNvSpPr txBox="1"/>
          <p:nvPr/>
        </p:nvSpPr>
        <p:spPr>
          <a:xfrm>
            <a:off x="6828551" y="16002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solidFill>
                  <a:srgbClr val="FF0000"/>
                </a:solidFill>
              </a:defRPr>
            </a:lvl1pPr>
          </a:lstStyle>
          <a:p>
            <a:r>
              <a:t>P3</a:t>
            </a:r>
          </a:p>
        </p:txBody>
      </p:sp>
      <p:sp>
        <p:nvSpPr>
          <p:cNvPr id="54" name="Line"/>
          <p:cNvSpPr/>
          <p:nvPr/>
        </p:nvSpPr>
        <p:spPr>
          <a:xfrm>
            <a:off x="3924300" y="3556000"/>
            <a:ext cx="1905000" cy="0"/>
          </a:xfrm>
          <a:prstGeom prst="line">
            <a:avLst/>
          </a:prstGeom>
          <a:ln w="25400">
            <a:solidFill>
              <a:srgbClr val="FF0000"/>
            </a:solidFill>
            <a:tailEnd type="triangle"/>
          </a:ln>
        </p:spPr>
        <p:txBody>
          <a:bodyPr lIns="45719" rIns="45719"/>
          <a:lstStyle/>
          <a:p>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57" name="Consider the following code:…"/>
          <p:cNvSpPr txBox="1">
            <a:spLocks noGrp="1"/>
          </p:cNvSpPr>
          <p:nvPr>
            <p:ph type="body" idx="4294967295"/>
          </p:nvPr>
        </p:nvSpPr>
        <p:spPr>
          <a:xfrm>
            <a:off x="457200" y="1143000"/>
            <a:ext cx="8686800" cy="4343400"/>
          </a:xfrm>
          <a:prstGeom prst="rect">
            <a:avLst/>
          </a:prstGeom>
        </p:spPr>
        <p:txBody>
          <a:bodyPr>
            <a:normAutofit/>
          </a:bodyPr>
          <a:lstStyle/>
          <a:p>
            <a:pPr>
              <a:spcBef>
                <a:spcPts val="500"/>
              </a:spcBef>
              <a:buChar char="▪"/>
              <a:defRPr sz="2400"/>
            </a:pPr>
            <a:r>
              <a:rPr dirty="0"/>
              <a:t>Consider the following code:</a:t>
            </a:r>
          </a:p>
          <a:p>
            <a:pPr>
              <a:buChar char="▪"/>
              <a:defRPr sz="2400"/>
            </a:pPr>
            <a:endParaRPr dirty="0"/>
          </a:p>
          <a:p>
            <a:pPr>
              <a:buChar char="▪"/>
              <a:defRPr sz="2400"/>
            </a:pPr>
            <a:endParaRPr dirty="0"/>
          </a:p>
          <a:p>
            <a:pPr>
              <a:buChar char="▪"/>
              <a:defRPr sz="2400"/>
            </a:pPr>
            <a:endParaRPr dirty="0"/>
          </a:p>
          <a:p>
            <a:pPr>
              <a:buChar char="▪"/>
              <a:defRPr sz="2400"/>
            </a:pPr>
            <a:endParaRPr dirty="0"/>
          </a:p>
          <a:p>
            <a:pPr>
              <a:buChar char="▪"/>
              <a:defRPr sz="2400"/>
            </a:pPr>
            <a:endParaRPr dirty="0"/>
          </a:p>
          <a:p>
            <a:pPr>
              <a:buChar char="▪"/>
              <a:defRPr sz="2400"/>
            </a:pPr>
            <a:endParaRPr dirty="0"/>
          </a:p>
          <a:p>
            <a:pPr marL="457200" lvl="1" indent="0">
              <a:spcBef>
                <a:spcPts val="0"/>
              </a:spcBef>
              <a:buClrTx/>
              <a:buNone/>
              <a:defRPr sz="2000"/>
            </a:pPr>
            <a:endParaRPr dirty="0"/>
          </a:p>
        </p:txBody>
      </p:sp>
      <p:sp>
        <p:nvSpPr>
          <p:cNvPr id="58" name="Lect. 5: Memory Consistency"/>
          <p:cNvSpPr txBox="1">
            <a:spLocks noGrp="1"/>
          </p:cNvSpPr>
          <p:nvPr>
            <p:ph type="title" idx="4294967295"/>
          </p:nvPr>
        </p:nvSpPr>
        <p:spPr>
          <a:xfrm>
            <a:off x="609600" y="152400"/>
            <a:ext cx="8534400" cy="838200"/>
          </a:xfrm>
          <a:prstGeom prst="rect">
            <a:avLst/>
          </a:prstGeom>
        </p:spPr>
        <p:txBody>
          <a:bodyPr>
            <a:normAutofit/>
          </a:bodyPr>
          <a:lstStyle>
            <a:lvl1pPr>
              <a:defRPr sz="3600">
                <a:solidFill>
                  <a:srgbClr val="FF0000"/>
                </a:solidFill>
              </a:defRPr>
            </a:lvl1pPr>
          </a:lstStyle>
          <a:p>
            <a:r>
              <a:t>Lect. 5: Memory Consistency</a:t>
            </a:r>
          </a:p>
        </p:txBody>
      </p:sp>
      <p:sp>
        <p:nvSpPr>
          <p:cNvPr id="59" name="A=0, B=0, C=0;…"/>
          <p:cNvSpPr txBox="1"/>
          <p:nvPr/>
        </p:nvSpPr>
        <p:spPr>
          <a:xfrm>
            <a:off x="838200" y="1905000"/>
            <a:ext cx="1673645" cy="148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t>A=0, B=0, C=0;</a:t>
            </a:r>
          </a:p>
          <a:p>
            <a:pPr>
              <a:defRPr sz="1800" b="0">
                <a:solidFill>
                  <a:srgbClr val="0000FF"/>
                </a:solidFill>
                <a:latin typeface="Lucida Console"/>
                <a:ea typeface="Lucida Console"/>
                <a:cs typeface="Lucida Console"/>
                <a:sym typeface="Lucida Console"/>
              </a:defRPr>
            </a:pPr>
            <a:r>
              <a:t>…</a:t>
            </a: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C = 1;</a:t>
            </a:r>
          </a:p>
          <a:p>
            <a:pPr>
              <a:defRPr sz="1800" b="0">
                <a:solidFill>
                  <a:srgbClr val="0000FF"/>
                </a:solidFill>
                <a:latin typeface="Lucida Console"/>
                <a:ea typeface="Lucida Console"/>
                <a:cs typeface="Lucida Console"/>
                <a:sym typeface="Lucida Console"/>
              </a:defRPr>
            </a:pPr>
            <a:r>
              <a:t>A = 1;</a:t>
            </a:r>
          </a:p>
        </p:txBody>
      </p:sp>
      <p:sp>
        <p:nvSpPr>
          <p:cNvPr id="60" name="while (A==0);…"/>
          <p:cNvSpPr txBox="1"/>
          <p:nvPr/>
        </p:nvSpPr>
        <p:spPr>
          <a:xfrm>
            <a:off x="3124200" y="1905000"/>
            <a:ext cx="1450961" cy="176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while (A==0);</a:t>
            </a:r>
          </a:p>
          <a:p>
            <a:pPr>
              <a:defRPr sz="1800" b="0">
                <a:solidFill>
                  <a:srgbClr val="0000FF"/>
                </a:solidFill>
                <a:latin typeface="Lucida Console"/>
                <a:ea typeface="Lucida Console"/>
                <a:cs typeface="Lucida Console"/>
                <a:sym typeface="Lucida Console"/>
              </a:defRPr>
            </a:pPr>
            <a:r>
              <a:t>B = 1;</a:t>
            </a:r>
          </a:p>
        </p:txBody>
      </p:sp>
      <p:sp>
        <p:nvSpPr>
          <p:cNvPr id="61" name="P1"/>
          <p:cNvSpPr txBox="1"/>
          <p:nvPr/>
        </p:nvSpPr>
        <p:spPr>
          <a:xfrm>
            <a:off x="1790620" y="15240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solidFill>
                  <a:srgbClr val="FF0000"/>
                </a:solidFill>
              </a:defRPr>
            </a:lvl1pPr>
          </a:lstStyle>
          <a:p>
            <a:r>
              <a:t>P1</a:t>
            </a:r>
          </a:p>
        </p:txBody>
      </p:sp>
      <p:sp>
        <p:nvSpPr>
          <p:cNvPr id="62" name="P2"/>
          <p:cNvSpPr txBox="1"/>
          <p:nvPr/>
        </p:nvSpPr>
        <p:spPr>
          <a:xfrm>
            <a:off x="4009151" y="15240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solidFill>
                  <a:srgbClr val="FF0000"/>
                </a:solidFill>
              </a:defRPr>
            </a:lvl1pPr>
          </a:lstStyle>
          <a:p>
            <a:r>
              <a:t>P2</a:t>
            </a:r>
          </a:p>
        </p:txBody>
      </p:sp>
      <p:sp>
        <p:nvSpPr>
          <p:cNvPr id="63" name="Line"/>
          <p:cNvSpPr/>
          <p:nvPr/>
        </p:nvSpPr>
        <p:spPr>
          <a:xfrm>
            <a:off x="1752600" y="3223537"/>
            <a:ext cx="1219200" cy="1"/>
          </a:xfrm>
          <a:prstGeom prst="line">
            <a:avLst/>
          </a:prstGeom>
          <a:ln w="25400">
            <a:solidFill>
              <a:srgbClr val="FF0000"/>
            </a:solidFill>
            <a:tailEnd type="triangle"/>
          </a:ln>
        </p:spPr>
        <p:txBody>
          <a:bodyPr lIns="45719" rIns="45719"/>
          <a:lstStyle/>
          <a:p>
            <a:endParaRPr/>
          </a:p>
        </p:txBody>
      </p:sp>
      <p:sp>
        <p:nvSpPr>
          <p:cNvPr id="64" name="Line"/>
          <p:cNvSpPr/>
          <p:nvPr/>
        </p:nvSpPr>
        <p:spPr>
          <a:xfrm>
            <a:off x="609600" y="2590800"/>
            <a:ext cx="7467600" cy="0"/>
          </a:xfrm>
          <a:prstGeom prst="line">
            <a:avLst/>
          </a:prstGeom>
          <a:ln w="12700">
            <a:solidFill>
              <a:srgbClr val="000000"/>
            </a:solidFill>
            <a:prstDash val="dash"/>
          </a:ln>
        </p:spPr>
        <p:txBody>
          <a:bodyPr lIns="45719" rIns="45719"/>
          <a:lstStyle/>
          <a:p>
            <a:endParaRPr/>
          </a:p>
        </p:txBody>
      </p:sp>
      <p:sp>
        <p:nvSpPr>
          <p:cNvPr id="65" name="Line"/>
          <p:cNvSpPr/>
          <p:nvPr/>
        </p:nvSpPr>
        <p:spPr>
          <a:xfrm>
            <a:off x="8426450" y="2590800"/>
            <a:ext cx="304800" cy="0"/>
          </a:xfrm>
          <a:prstGeom prst="line">
            <a:avLst/>
          </a:prstGeom>
          <a:ln w="12700">
            <a:solidFill>
              <a:srgbClr val="000000"/>
            </a:solidFill>
          </a:ln>
        </p:spPr>
        <p:txBody>
          <a:bodyPr lIns="45719" rIns="45719"/>
          <a:lstStyle/>
          <a:p>
            <a:endParaRPr/>
          </a:p>
        </p:txBody>
      </p:sp>
      <p:sp>
        <p:nvSpPr>
          <p:cNvPr id="66" name="Line"/>
          <p:cNvSpPr/>
          <p:nvPr/>
        </p:nvSpPr>
        <p:spPr>
          <a:xfrm flipV="1">
            <a:off x="8731250" y="2209800"/>
            <a:ext cx="0" cy="381000"/>
          </a:xfrm>
          <a:prstGeom prst="line">
            <a:avLst/>
          </a:prstGeom>
          <a:ln w="12700">
            <a:solidFill>
              <a:srgbClr val="000000"/>
            </a:solidFill>
            <a:tailEnd type="triangle"/>
          </a:ln>
        </p:spPr>
        <p:txBody>
          <a:bodyPr lIns="45719" rIns="45719"/>
          <a:lstStyle/>
          <a:p>
            <a:endParaRPr/>
          </a:p>
        </p:txBody>
      </p:sp>
      <p:sp>
        <p:nvSpPr>
          <p:cNvPr id="67" name="Line"/>
          <p:cNvSpPr/>
          <p:nvPr/>
        </p:nvSpPr>
        <p:spPr>
          <a:xfrm>
            <a:off x="8731250" y="2590800"/>
            <a:ext cx="0" cy="381000"/>
          </a:xfrm>
          <a:prstGeom prst="line">
            <a:avLst/>
          </a:prstGeom>
          <a:ln w="12700">
            <a:solidFill>
              <a:srgbClr val="000000"/>
            </a:solidFill>
            <a:tailEnd type="triangle"/>
          </a:ln>
        </p:spPr>
        <p:txBody>
          <a:bodyPr lIns="45719" rIns="45719"/>
          <a:lstStyle/>
          <a:p>
            <a:endParaRPr/>
          </a:p>
        </p:txBody>
      </p:sp>
      <p:sp>
        <p:nvSpPr>
          <p:cNvPr id="68" name="initialization"/>
          <p:cNvSpPr txBox="1"/>
          <p:nvPr/>
        </p:nvSpPr>
        <p:spPr>
          <a:xfrm rot="16200000">
            <a:off x="8435082" y="1720592"/>
            <a:ext cx="106477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initialization</a:t>
            </a:r>
          </a:p>
        </p:txBody>
      </p:sp>
      <p:sp>
        <p:nvSpPr>
          <p:cNvPr id="69" name="parallel"/>
          <p:cNvSpPr txBox="1"/>
          <p:nvPr/>
        </p:nvSpPr>
        <p:spPr>
          <a:xfrm rot="16200000">
            <a:off x="8635007" y="3063517"/>
            <a:ext cx="66492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parallel</a:t>
            </a:r>
          </a:p>
        </p:txBody>
      </p:sp>
      <p:sp>
        <p:nvSpPr>
          <p:cNvPr id="70" name="A==1, C==1?…"/>
          <p:cNvSpPr txBox="1"/>
          <p:nvPr/>
        </p:nvSpPr>
        <p:spPr>
          <a:xfrm>
            <a:off x="1355268" y="4678680"/>
            <a:ext cx="1464132" cy="1209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r>
              <a:rPr lang="en-US" dirty="0"/>
              <a:t>A==1, C==1?</a:t>
            </a:r>
          </a:p>
          <a:p>
            <a:pPr>
              <a:defRPr sz="1800" b="0">
                <a:solidFill>
                  <a:srgbClr val="0000FF"/>
                </a:solidFill>
                <a:latin typeface="Lucida Console"/>
                <a:ea typeface="Lucida Console"/>
                <a:cs typeface="Lucida Console"/>
                <a:sym typeface="Lucida Console"/>
              </a:defRPr>
            </a:pPr>
            <a:r>
              <a:rPr dirty="0"/>
              <a:t>A==0, C==1?</a:t>
            </a:r>
          </a:p>
          <a:p>
            <a:pPr>
              <a:defRPr sz="1800" b="0">
                <a:solidFill>
                  <a:srgbClr val="0000FF"/>
                </a:solidFill>
                <a:latin typeface="Lucida Console"/>
                <a:ea typeface="Lucida Console"/>
                <a:cs typeface="Lucida Console"/>
                <a:sym typeface="Lucida Console"/>
              </a:defRPr>
            </a:pPr>
            <a:r>
              <a:rPr dirty="0"/>
              <a:t>A==0, C==0?</a:t>
            </a:r>
          </a:p>
          <a:p>
            <a:pPr>
              <a:defRPr sz="1800" b="0">
                <a:solidFill>
                  <a:srgbClr val="0000FF"/>
                </a:solidFill>
                <a:latin typeface="Lucida Console"/>
                <a:ea typeface="Lucida Console"/>
                <a:cs typeface="Lucida Console"/>
                <a:sym typeface="Lucida Console"/>
              </a:defRPr>
            </a:pPr>
            <a:r>
              <a:rPr dirty="0"/>
              <a:t>A==1, C==0?</a:t>
            </a:r>
          </a:p>
        </p:txBody>
      </p:sp>
      <p:sp>
        <p:nvSpPr>
          <p:cNvPr id="71" name="while (B==0);…"/>
          <p:cNvSpPr txBox="1"/>
          <p:nvPr/>
        </p:nvSpPr>
        <p:spPr>
          <a:xfrm>
            <a:off x="5943600" y="1981200"/>
            <a:ext cx="1450961" cy="2047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endParaRPr/>
          </a:p>
          <a:p>
            <a:pPr>
              <a:defRPr sz="1800" b="0">
                <a:solidFill>
                  <a:srgbClr val="0000FF"/>
                </a:solidFill>
                <a:latin typeface="Lucida Console"/>
                <a:ea typeface="Lucida Console"/>
                <a:cs typeface="Lucida Console"/>
                <a:sym typeface="Lucida Console"/>
              </a:defRPr>
            </a:pPr>
            <a:r>
              <a:t>while (B==0);</a:t>
            </a:r>
          </a:p>
          <a:p>
            <a:pPr>
              <a:defRPr sz="1800" b="0">
                <a:solidFill>
                  <a:srgbClr val="0000FF"/>
                </a:solidFill>
                <a:latin typeface="Lucida Console"/>
                <a:ea typeface="Lucida Console"/>
                <a:cs typeface="Lucida Console"/>
                <a:sym typeface="Lucida Console"/>
              </a:defRPr>
            </a:pPr>
            <a:r>
              <a:t>print A, C;</a:t>
            </a:r>
          </a:p>
        </p:txBody>
      </p:sp>
      <p:sp>
        <p:nvSpPr>
          <p:cNvPr id="72" name="P3"/>
          <p:cNvSpPr txBox="1"/>
          <p:nvPr/>
        </p:nvSpPr>
        <p:spPr>
          <a:xfrm>
            <a:off x="6828551" y="16002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solidFill>
                  <a:srgbClr val="FF0000"/>
                </a:solidFill>
              </a:defRPr>
            </a:lvl1pPr>
          </a:lstStyle>
          <a:p>
            <a:r>
              <a:t>P3</a:t>
            </a:r>
          </a:p>
        </p:txBody>
      </p:sp>
      <p:sp>
        <p:nvSpPr>
          <p:cNvPr id="73" name="Line"/>
          <p:cNvSpPr/>
          <p:nvPr/>
        </p:nvSpPr>
        <p:spPr>
          <a:xfrm>
            <a:off x="3886200" y="3517900"/>
            <a:ext cx="1981200" cy="0"/>
          </a:xfrm>
          <a:prstGeom prst="line">
            <a:avLst/>
          </a:prstGeom>
          <a:ln w="25400">
            <a:solidFill>
              <a:srgbClr val="FF0000"/>
            </a:solidFill>
            <a:tailEnd type="triangle"/>
          </a:ln>
        </p:spPr>
        <p:txBody>
          <a:bodyPr lIns="45719" rIns="45719"/>
          <a:lstStyle/>
          <a:p>
            <a:endParaRPr/>
          </a:p>
        </p:txBody>
      </p:sp>
      <p:sp>
        <p:nvSpPr>
          <p:cNvPr id="74" name="Yes. This is what one would expect.…"/>
          <p:cNvSpPr txBox="1"/>
          <p:nvPr/>
        </p:nvSpPr>
        <p:spPr>
          <a:xfrm>
            <a:off x="3505200" y="4678680"/>
            <a:ext cx="5638800" cy="1488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800" b="0">
                <a:solidFill>
                  <a:srgbClr val="0000FF"/>
                </a:solidFill>
                <a:latin typeface="Lucida Console"/>
                <a:ea typeface="Lucida Console"/>
                <a:cs typeface="Lucida Console"/>
                <a:sym typeface="Lucida Console"/>
              </a:defRPr>
            </a:pPr>
            <a:r>
              <a:rPr lang="en-US" dirty="0"/>
              <a:t>Yes. This is </a:t>
            </a:r>
            <a:r>
              <a:rPr dirty="0"/>
              <a:t>what one would expect.</a:t>
            </a:r>
          </a:p>
          <a:p>
            <a:pPr>
              <a:defRPr sz="1800" b="0">
                <a:solidFill>
                  <a:srgbClr val="0000FF"/>
                </a:solidFill>
                <a:latin typeface="Lucida Console"/>
                <a:ea typeface="Lucida Console"/>
                <a:cs typeface="Lucida Console"/>
                <a:sym typeface="Lucida Console"/>
              </a:defRPr>
            </a:pPr>
            <a:r>
              <a:rPr dirty="0"/>
              <a:t>Yes. If </a:t>
            </a:r>
            <a:r>
              <a:rPr dirty="0" err="1"/>
              <a:t>st</a:t>
            </a:r>
            <a:r>
              <a:rPr dirty="0"/>
              <a:t> to B overtakes the </a:t>
            </a:r>
            <a:r>
              <a:rPr dirty="0" err="1"/>
              <a:t>st</a:t>
            </a:r>
            <a:r>
              <a:rPr dirty="0"/>
              <a:t> to A on the interconnect toward P3.</a:t>
            </a:r>
          </a:p>
          <a:p>
            <a:pPr>
              <a:defRPr sz="1800" b="0">
                <a:solidFill>
                  <a:srgbClr val="0000FF"/>
                </a:solidFill>
                <a:latin typeface="Lucida Console"/>
                <a:ea typeface="Lucida Console"/>
                <a:cs typeface="Lucida Console"/>
                <a:sym typeface="Lucida Console"/>
              </a:defRPr>
            </a:pPr>
            <a:r>
              <a:rPr dirty="0"/>
              <a:t>Yes. If the </a:t>
            </a:r>
            <a:r>
              <a:rPr dirty="0" err="1"/>
              <a:t>st</a:t>
            </a:r>
            <a:r>
              <a:rPr dirty="0"/>
              <a:t> to A overtakes the </a:t>
            </a:r>
            <a:r>
              <a:rPr dirty="0" err="1"/>
              <a:t>st</a:t>
            </a:r>
            <a:r>
              <a:rPr dirty="0"/>
              <a:t> to C from the same processor.</a:t>
            </a:r>
          </a:p>
        </p:txBody>
      </p:sp>
      <p:sp>
        <p:nvSpPr>
          <p:cNvPr id="75" name="Line"/>
          <p:cNvSpPr/>
          <p:nvPr/>
        </p:nvSpPr>
        <p:spPr>
          <a:xfrm>
            <a:off x="3048000" y="4876800"/>
            <a:ext cx="457200" cy="0"/>
          </a:xfrm>
          <a:prstGeom prst="line">
            <a:avLst/>
          </a:prstGeom>
          <a:ln w="38100">
            <a:solidFill>
              <a:srgbClr val="FF0000"/>
            </a:solidFill>
            <a:tailEnd type="triangle"/>
          </a:ln>
        </p:spPr>
        <p:txBody>
          <a:bodyPr lIns="45719" rIns="45719"/>
          <a:lstStyle/>
          <a:p>
            <a:endParaRPr/>
          </a:p>
        </p:txBody>
      </p:sp>
      <p:sp>
        <p:nvSpPr>
          <p:cNvPr id="76" name="Line"/>
          <p:cNvSpPr/>
          <p:nvPr/>
        </p:nvSpPr>
        <p:spPr>
          <a:xfrm>
            <a:off x="3048000" y="5791200"/>
            <a:ext cx="457200" cy="0"/>
          </a:xfrm>
          <a:prstGeom prst="line">
            <a:avLst/>
          </a:prstGeom>
          <a:ln w="38100">
            <a:solidFill>
              <a:srgbClr val="FF0000"/>
            </a:solidFill>
            <a:tailEnd type="triangle"/>
          </a:ln>
        </p:spPr>
        <p:txBody>
          <a:bodyPr lIns="45719" rIns="45719"/>
          <a:lstStyle/>
          <a:p>
            <a:endParaRPr/>
          </a:p>
        </p:txBody>
      </p:sp>
      <p:sp>
        <p:nvSpPr>
          <p:cNvPr id="77" name="Line"/>
          <p:cNvSpPr/>
          <p:nvPr/>
        </p:nvSpPr>
        <p:spPr>
          <a:xfrm>
            <a:off x="3048000" y="5181600"/>
            <a:ext cx="457200" cy="0"/>
          </a:xfrm>
          <a:prstGeom prst="line">
            <a:avLst/>
          </a:prstGeom>
          <a:ln w="38100">
            <a:solidFill>
              <a:srgbClr val="FF0000"/>
            </a:solidFill>
            <a:tailEnd type="triangle"/>
          </a:ln>
        </p:spPr>
        <p:txBody>
          <a:bodyPr lIns="45719" rIns="45719"/>
          <a:lstStyle/>
          <a:p>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80" name="Memory Consistency"/>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Memory Consistency</a:t>
            </a:r>
          </a:p>
        </p:txBody>
      </p:sp>
      <p:sp>
        <p:nvSpPr>
          <p:cNvPr id="81" name="Cache coherence:…"/>
          <p:cNvSpPr txBox="1">
            <a:spLocks noGrp="1"/>
          </p:cNvSpPr>
          <p:nvPr>
            <p:ph type="body" idx="4294967295"/>
          </p:nvPr>
        </p:nvSpPr>
        <p:spPr>
          <a:xfrm>
            <a:off x="457200" y="1143000"/>
            <a:ext cx="8458200" cy="4343400"/>
          </a:xfrm>
          <a:prstGeom prst="rect">
            <a:avLst/>
          </a:prstGeom>
        </p:spPr>
        <p:txBody>
          <a:bodyPr>
            <a:normAutofit fontScale="92500" lnSpcReduction="10000"/>
          </a:bodyPr>
          <a:lstStyle/>
          <a:p>
            <a:pPr marL="305180" indent="-305180" defTabSz="813816">
              <a:spcBef>
                <a:spcPts val="500"/>
              </a:spcBef>
              <a:buChar char="▪"/>
              <a:defRPr sz="2136"/>
            </a:pPr>
            <a:r>
              <a:rPr dirty="0"/>
              <a:t>Cache coherence:</a:t>
            </a:r>
          </a:p>
          <a:p>
            <a:pPr marL="712088" lvl="1" indent="-305180" defTabSz="813816">
              <a:spcBef>
                <a:spcPts val="0"/>
              </a:spcBef>
              <a:buClrTx/>
              <a:defRPr sz="1779"/>
            </a:pPr>
            <a:r>
              <a:rPr sz="2136" dirty="0"/>
              <a:t>Makes caches invisible</a:t>
            </a:r>
          </a:p>
          <a:p>
            <a:pPr marL="712088" lvl="1" indent="-305180" defTabSz="813816">
              <a:spcBef>
                <a:spcPts val="0"/>
              </a:spcBef>
              <a:buClrTx/>
              <a:defRPr sz="1779"/>
            </a:pPr>
            <a:r>
              <a:rPr sz="2136" dirty="0"/>
              <a:t>But does not guarantee ordering of loads and stores to different addresses in general. </a:t>
            </a:r>
          </a:p>
          <a:p>
            <a:pPr marL="661225" lvl="1" indent="-254317" defTabSz="813816">
              <a:spcBef>
                <a:spcPts val="0"/>
              </a:spcBef>
              <a:buClrTx/>
              <a:defRPr sz="1779"/>
            </a:pPr>
            <a:endParaRPr sz="2136" dirty="0"/>
          </a:p>
          <a:p>
            <a:pPr marL="305180" indent="-305180" defTabSz="813816">
              <a:spcBef>
                <a:spcPts val="500"/>
              </a:spcBef>
              <a:buChar char="▪"/>
              <a:defRPr sz="2136"/>
            </a:pPr>
            <a:r>
              <a:rPr dirty="0"/>
              <a:t>Memory consistency:</a:t>
            </a:r>
          </a:p>
          <a:p>
            <a:pPr marL="661225" lvl="1" indent="-254317" defTabSz="813816">
              <a:spcBef>
                <a:spcPts val="0"/>
              </a:spcBef>
              <a:buClrTx/>
              <a:defRPr sz="1779"/>
            </a:pPr>
            <a:r>
              <a:rPr dirty="0"/>
              <a:t>Specifies the ordering of loads and stores to different memory locations</a:t>
            </a:r>
          </a:p>
          <a:p>
            <a:pPr marL="661225" lvl="1" indent="-254317" defTabSz="813816">
              <a:spcBef>
                <a:spcPts val="0"/>
              </a:spcBef>
              <a:buClrTx/>
              <a:defRPr sz="1779"/>
            </a:pPr>
            <a:r>
              <a:rPr dirty="0"/>
              <a:t>Defined in so called </a:t>
            </a:r>
            <a:r>
              <a:rPr dirty="0">
                <a:solidFill>
                  <a:srgbClr val="FF0000"/>
                </a:solidFill>
              </a:rPr>
              <a:t>Memory Consistency Models</a:t>
            </a:r>
          </a:p>
          <a:p>
            <a:pPr marL="661225" lvl="1" indent="-254317" defTabSz="813816">
              <a:spcBef>
                <a:spcPts val="0"/>
              </a:spcBef>
              <a:buClrTx/>
              <a:defRPr sz="1779"/>
            </a:pPr>
            <a:r>
              <a:rPr lang="en-US" dirty="0"/>
              <a:t>Note that the memory consistency model is part of the ISA specification. </a:t>
            </a:r>
          </a:p>
          <a:p>
            <a:pPr marL="661225" lvl="1" indent="-254317" defTabSz="813816">
              <a:spcBef>
                <a:spcPts val="0"/>
              </a:spcBef>
              <a:buClrTx/>
              <a:defRPr sz="1779"/>
            </a:pPr>
            <a:r>
              <a:rPr lang="en-US" dirty="0"/>
              <a:t>Languages also have a memory model. Compiler enforces the language memory model leveraging the ISA consistency model. </a:t>
            </a:r>
            <a:endParaRPr dirty="0"/>
          </a:p>
          <a:p>
            <a:pPr marL="305180" indent="-305180" defTabSz="813816">
              <a:spcBef>
                <a:spcPts val="500"/>
              </a:spcBef>
              <a:buChar char="▪"/>
              <a:defRPr sz="2136"/>
            </a:pPr>
            <a:r>
              <a:rPr dirty="0"/>
              <a:t>Cache coherence is a component of memory consistency enforcement.</a:t>
            </a:r>
            <a:r>
              <a:rPr lang="en-US" dirty="0"/>
              <a:t>  Memory consistency is specification. Cache coherence is part of the implementation. </a:t>
            </a:r>
            <a:endParaRPr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Memory Consistency vs Coherence"/>
          <p:cNvSpPr txBox="1">
            <a:spLocks noGrp="1"/>
          </p:cNvSpPr>
          <p:nvPr>
            <p:ph type="title" idx="4294967295"/>
          </p:nvPr>
        </p:nvSpPr>
        <p:spPr>
          <a:xfrm>
            <a:off x="685800" y="152400"/>
            <a:ext cx="8077200" cy="838200"/>
          </a:xfrm>
          <a:prstGeom prst="rect">
            <a:avLst/>
          </a:prstGeom>
        </p:spPr>
        <p:txBody>
          <a:bodyPr>
            <a:normAutofit fontScale="90000"/>
          </a:bodyPr>
          <a:lstStyle>
            <a:lvl1pPr>
              <a:defRPr sz="4000"/>
            </a:lvl1pPr>
          </a:lstStyle>
          <a:p>
            <a:r>
              <a:t>Memory Consistency vs Coherence</a:t>
            </a:r>
          </a:p>
        </p:txBody>
      </p:sp>
      <p:pic>
        <p:nvPicPr>
          <p:cNvPr id="84" name="ch03-01.pdf" descr="ch03-01.pdf"/>
          <p:cNvPicPr>
            <a:picLocks noChangeAspect="1"/>
          </p:cNvPicPr>
          <p:nvPr/>
        </p:nvPicPr>
        <p:blipFill>
          <a:blip r:embed="rId2"/>
          <a:stretch>
            <a:fillRect/>
          </a:stretch>
        </p:blipFill>
        <p:spPr>
          <a:xfrm>
            <a:off x="843607" y="1483617"/>
            <a:ext cx="7772401" cy="4850728"/>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equential Consistency (SC)"/>
          <p:cNvSpPr txBox="1">
            <a:spLocks noGrp="1"/>
          </p:cNvSpPr>
          <p:nvPr>
            <p:ph type="title" idx="4294967295"/>
          </p:nvPr>
        </p:nvSpPr>
        <p:spPr>
          <a:xfrm>
            <a:off x="685800" y="152400"/>
            <a:ext cx="7772400" cy="838200"/>
          </a:xfrm>
          <a:prstGeom prst="rect">
            <a:avLst/>
          </a:prstGeom>
        </p:spPr>
        <p:txBody>
          <a:bodyPr>
            <a:normAutofit/>
          </a:bodyPr>
          <a:lstStyle/>
          <a:p>
            <a:r>
              <a:t>Sequential Consistency (SC)</a:t>
            </a:r>
          </a:p>
        </p:txBody>
      </p:sp>
      <p:sp>
        <p:nvSpPr>
          <p:cNvPr id="95" name="A multiprocessor system is  sequentially consistent if the result of any execution is…"/>
          <p:cNvSpPr txBox="1">
            <a:spLocks noGrp="1"/>
          </p:cNvSpPr>
          <p:nvPr>
            <p:ph type="body" idx="4294967295"/>
          </p:nvPr>
        </p:nvSpPr>
        <p:spPr>
          <a:xfrm>
            <a:off x="685800" y="1524000"/>
            <a:ext cx="7772400" cy="4343400"/>
          </a:xfrm>
          <a:prstGeom prst="rect">
            <a:avLst/>
          </a:prstGeom>
        </p:spPr>
        <p:txBody>
          <a:bodyPr>
            <a:normAutofit/>
          </a:bodyPr>
          <a:lstStyle/>
          <a:p>
            <a:pPr>
              <a:buSzTx/>
              <a:buFont typeface="Wingdings"/>
              <a:buNone/>
            </a:pPr>
            <a:r>
              <a:t>   A multiprocessor system is  sequentially consistent if the result of any execution is</a:t>
            </a:r>
          </a:p>
          <a:p>
            <a:pPr>
              <a:buSzTx/>
              <a:buFont typeface="Wingdings"/>
              <a:buNone/>
            </a:pPr>
            <a:r>
              <a:t>   the same as if the operations of all the processors were executed in some sequential order, and the operations of each individual processor appear in this sequence in the order specified by its program.</a:t>
            </a:r>
          </a:p>
          <a:p>
            <a:pPr>
              <a:buSzTx/>
              <a:buFont typeface="Wingdings"/>
              <a:buNone/>
            </a:pPr>
            <a:r>
              <a:t>    [Lamport 78]  </a:t>
            </a:r>
          </a:p>
        </p:txBody>
      </p:sp>
      <p:sp>
        <p:nvSpPr>
          <p:cNvPr id="96"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99" name="Sequential Consistency (SC)"/>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Sequential Consistency (SC)</a:t>
            </a:r>
          </a:p>
        </p:txBody>
      </p:sp>
      <p:sp>
        <p:nvSpPr>
          <p:cNvPr id="100" name="Key ideas:…"/>
          <p:cNvSpPr txBox="1">
            <a:spLocks noGrp="1"/>
          </p:cNvSpPr>
          <p:nvPr>
            <p:ph type="body" idx="4294967295"/>
          </p:nvPr>
        </p:nvSpPr>
        <p:spPr>
          <a:xfrm>
            <a:off x="609600" y="1181100"/>
            <a:ext cx="8458200" cy="4762500"/>
          </a:xfrm>
          <a:prstGeom prst="rect">
            <a:avLst/>
          </a:prstGeom>
        </p:spPr>
        <p:txBody>
          <a:bodyPr>
            <a:normAutofit fontScale="92500" lnSpcReduction="20000"/>
          </a:bodyPr>
          <a:lstStyle/>
          <a:p>
            <a:pPr marL="339470" indent="-339470" defTabSz="905255">
              <a:spcBef>
                <a:spcPts val="500"/>
              </a:spcBef>
              <a:buChar char="▪"/>
              <a:defRPr sz="2376"/>
            </a:pPr>
            <a:r>
              <a:t>Key ideas:</a:t>
            </a:r>
          </a:p>
          <a:p>
            <a:pPr marL="735520" lvl="1" indent="-282892" defTabSz="905255">
              <a:spcBef>
                <a:spcPts val="0"/>
              </a:spcBef>
              <a:buClrTx/>
              <a:defRPr sz="1979"/>
            </a:pPr>
            <a:r>
              <a:t>The behaviour should be the same as in a time-shared multiprocessor</a:t>
            </a:r>
          </a:p>
          <a:p>
            <a:pPr marL="735520" lvl="1" indent="-282892" defTabSz="905255">
              <a:spcBef>
                <a:spcPts val="0"/>
              </a:spcBef>
              <a:buClrTx/>
              <a:defRPr sz="1979"/>
            </a:pPr>
            <a:r>
              <a:t>Two aspects:</a:t>
            </a:r>
          </a:p>
          <a:p>
            <a:pPr marL="1131569" lvl="2" indent="-226313" defTabSz="905255">
              <a:spcBef>
                <a:spcPts val="0"/>
              </a:spcBef>
              <a:buClrTx/>
              <a:defRPr sz="1584"/>
            </a:pPr>
            <a:r>
              <a:t>Program order: memory ordering has to follow the individual order in each thread</a:t>
            </a:r>
          </a:p>
          <a:p>
            <a:pPr marL="226313" lvl="2" indent="678941" defTabSz="905255">
              <a:spcBef>
                <a:spcPts val="0"/>
              </a:spcBef>
              <a:buSzTx/>
              <a:buFont typeface="Wingdings"/>
              <a:buNone/>
              <a:defRPr sz="1584"/>
            </a:pPr>
            <a:r>
              <a:t>     (R</a:t>
            </a:r>
            <a:r>
              <a:rPr>
                <a:latin typeface="Wingdings"/>
                <a:ea typeface="Wingdings"/>
                <a:cs typeface="Wingdings"/>
                <a:sym typeface="Wingdings"/>
              </a:rPr>
              <a:t></a:t>
            </a:r>
            <a:r>
              <a:t>R, R</a:t>
            </a:r>
            <a:r>
              <a:rPr>
                <a:latin typeface="Wingdings"/>
                <a:ea typeface="Wingdings"/>
                <a:cs typeface="Wingdings"/>
                <a:sym typeface="Wingdings"/>
              </a:rPr>
              <a:t></a:t>
            </a:r>
            <a:r>
              <a:t>W, W</a:t>
            </a:r>
            <a:r>
              <a:rPr>
                <a:latin typeface="Wingdings"/>
                <a:ea typeface="Wingdings"/>
                <a:cs typeface="Wingdings"/>
                <a:sym typeface="Wingdings"/>
              </a:rPr>
              <a:t></a:t>
            </a:r>
            <a:r>
              <a:t>W, W</a:t>
            </a:r>
            <a:r>
              <a:rPr>
                <a:latin typeface="Wingdings"/>
                <a:ea typeface="Wingdings"/>
                <a:cs typeface="Wingdings"/>
                <a:sym typeface="Wingdings"/>
              </a:rPr>
              <a:t></a:t>
            </a:r>
            <a:r>
              <a:t>R)</a:t>
            </a:r>
          </a:p>
          <a:p>
            <a:pPr marL="1131569" lvl="2" indent="-226313" defTabSz="905255">
              <a:spcBef>
                <a:spcPts val="0"/>
              </a:spcBef>
              <a:buClrTx/>
              <a:defRPr sz="1584"/>
            </a:pPr>
            <a:r>
              <a:t>Write-atomicity: there can be any interleaving of such sequential segments - but a single total order of all memory operations</a:t>
            </a:r>
          </a:p>
          <a:p>
            <a:pPr marL="735520" lvl="1" indent="-282892" defTabSz="905255">
              <a:spcBef>
                <a:spcPts val="0"/>
              </a:spcBef>
              <a:buClrTx/>
              <a:defRPr sz="1979"/>
            </a:pPr>
            <a:endParaRPr/>
          </a:p>
          <a:p>
            <a:pPr marL="735520" lvl="1" indent="-282892" defTabSz="905255">
              <a:spcBef>
                <a:spcPts val="0"/>
              </a:spcBef>
              <a:buClrTx/>
              <a:defRPr sz="1979"/>
            </a:pPr>
            <a:endParaRPr/>
          </a:p>
          <a:p>
            <a:pPr marL="735520" lvl="1" indent="-282892" defTabSz="905255">
              <a:spcBef>
                <a:spcPts val="0"/>
              </a:spcBef>
              <a:buClrTx/>
              <a:defRPr sz="1979"/>
            </a:pPr>
            <a:endParaRPr/>
          </a:p>
          <a:p>
            <a:pPr marL="339470" indent="-339470" defTabSz="905255">
              <a:buChar char="▪"/>
              <a:defRPr sz="2376"/>
            </a:pPr>
            <a:endParaRPr/>
          </a:p>
          <a:p>
            <a:pPr marL="339470" indent="-339470" defTabSz="905255">
              <a:buChar char="▪"/>
              <a:defRPr sz="2376"/>
            </a:pPr>
            <a:endParaRPr/>
          </a:p>
          <a:p>
            <a:pPr marL="339470" indent="-339470" defTabSz="905255">
              <a:buChar char="▪"/>
              <a:defRPr sz="2376"/>
            </a:pPr>
            <a:endParaRPr/>
          </a:p>
          <a:p>
            <a:pPr marL="339470" indent="-339470" defTabSz="905255">
              <a:buSzTx/>
              <a:buFont typeface="Wingdings"/>
              <a:buNone/>
              <a:defRPr sz="2376"/>
            </a:pPr>
            <a:endParaRPr/>
          </a:p>
          <a:p>
            <a:pPr marL="735520" lvl="1" indent="-282892" defTabSz="905255">
              <a:spcBef>
                <a:spcPts val="0"/>
              </a:spcBef>
              <a:buClrTx/>
              <a:defRPr sz="1979"/>
            </a:pPr>
            <a:r>
              <a:t>Notice that in practice many orderings are still valid</a:t>
            </a:r>
          </a:p>
        </p:txBody>
      </p:sp>
      <p:sp>
        <p:nvSpPr>
          <p:cNvPr id="101" name="P0"/>
          <p:cNvSpPr txBox="1"/>
          <p:nvPr/>
        </p:nvSpPr>
        <p:spPr>
          <a:xfrm>
            <a:off x="3094751" y="35814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lvl1pPr>
          </a:lstStyle>
          <a:p>
            <a:r>
              <a:t>P0</a:t>
            </a:r>
          </a:p>
        </p:txBody>
      </p:sp>
      <p:sp>
        <p:nvSpPr>
          <p:cNvPr id="102" name="Oval"/>
          <p:cNvSpPr/>
          <p:nvPr/>
        </p:nvSpPr>
        <p:spPr>
          <a:xfrm>
            <a:off x="2997200" y="3535362"/>
            <a:ext cx="533400" cy="457201"/>
          </a:xfrm>
          <a:prstGeom prst="ellipse">
            <a:avLst/>
          </a:prstGeom>
          <a:ln w="12700">
            <a:solidFill>
              <a:srgbClr val="000000"/>
            </a:solidFill>
          </a:ln>
        </p:spPr>
        <p:txBody>
          <a:bodyPr lIns="45719" rIns="45719" anchor="ctr"/>
          <a:lstStyle/>
          <a:p>
            <a:pPr>
              <a:defRPr sz="1800" b="0"/>
            </a:pPr>
            <a:endParaRPr/>
          </a:p>
        </p:txBody>
      </p:sp>
      <p:sp>
        <p:nvSpPr>
          <p:cNvPr id="103" name="P1"/>
          <p:cNvSpPr txBox="1"/>
          <p:nvPr/>
        </p:nvSpPr>
        <p:spPr>
          <a:xfrm>
            <a:off x="3933745" y="3581400"/>
            <a:ext cx="33988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lvl1pPr>
          </a:lstStyle>
          <a:p>
            <a:r>
              <a:t>P1</a:t>
            </a:r>
          </a:p>
        </p:txBody>
      </p:sp>
      <p:sp>
        <p:nvSpPr>
          <p:cNvPr id="104" name="Oval"/>
          <p:cNvSpPr/>
          <p:nvPr/>
        </p:nvSpPr>
        <p:spPr>
          <a:xfrm>
            <a:off x="3835400" y="3535362"/>
            <a:ext cx="533400" cy="457201"/>
          </a:xfrm>
          <a:prstGeom prst="ellipse">
            <a:avLst/>
          </a:prstGeom>
          <a:ln w="12700">
            <a:solidFill>
              <a:srgbClr val="000000"/>
            </a:solidFill>
          </a:ln>
        </p:spPr>
        <p:txBody>
          <a:bodyPr lIns="45719" rIns="45719" anchor="ctr"/>
          <a:lstStyle/>
          <a:p>
            <a:pPr>
              <a:defRPr sz="1800" b="0"/>
            </a:pPr>
            <a:endParaRPr/>
          </a:p>
        </p:txBody>
      </p:sp>
      <p:sp>
        <p:nvSpPr>
          <p:cNvPr id="105" name="Pn"/>
          <p:cNvSpPr txBox="1"/>
          <p:nvPr/>
        </p:nvSpPr>
        <p:spPr>
          <a:xfrm>
            <a:off x="5461732" y="3581400"/>
            <a:ext cx="349373"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lvl1pPr>
          </a:lstStyle>
          <a:p>
            <a:r>
              <a:t>Pn</a:t>
            </a:r>
          </a:p>
        </p:txBody>
      </p:sp>
      <p:sp>
        <p:nvSpPr>
          <p:cNvPr id="106" name="Oval"/>
          <p:cNvSpPr/>
          <p:nvPr/>
        </p:nvSpPr>
        <p:spPr>
          <a:xfrm>
            <a:off x="5368925" y="3535362"/>
            <a:ext cx="533400" cy="457201"/>
          </a:xfrm>
          <a:prstGeom prst="ellipse">
            <a:avLst/>
          </a:prstGeom>
          <a:ln w="12700">
            <a:solidFill>
              <a:srgbClr val="000000"/>
            </a:solidFill>
          </a:ln>
        </p:spPr>
        <p:txBody>
          <a:bodyPr lIns="45719" rIns="45719" anchor="ctr"/>
          <a:lstStyle/>
          <a:p>
            <a:pPr>
              <a:defRPr sz="1800" b="0"/>
            </a:pPr>
            <a:endParaRPr/>
          </a:p>
        </p:txBody>
      </p:sp>
      <p:sp>
        <p:nvSpPr>
          <p:cNvPr id="107" name="Circle"/>
          <p:cNvSpPr/>
          <p:nvPr/>
        </p:nvSpPr>
        <p:spPr>
          <a:xfrm>
            <a:off x="4572000" y="3733800"/>
            <a:ext cx="76200" cy="76200"/>
          </a:xfrm>
          <a:prstGeom prst="ellipse">
            <a:avLst/>
          </a:prstGeom>
          <a:solidFill>
            <a:srgbClr val="000000"/>
          </a:solidFill>
          <a:ln w="12700">
            <a:solidFill>
              <a:srgbClr val="000000"/>
            </a:solidFill>
          </a:ln>
        </p:spPr>
        <p:txBody>
          <a:bodyPr lIns="45719" rIns="45719" anchor="ctr"/>
          <a:lstStyle/>
          <a:p>
            <a:pPr>
              <a:defRPr sz="1800" b="0"/>
            </a:pPr>
            <a:endParaRPr/>
          </a:p>
        </p:txBody>
      </p:sp>
      <p:sp>
        <p:nvSpPr>
          <p:cNvPr id="108" name="Circle"/>
          <p:cNvSpPr/>
          <p:nvPr/>
        </p:nvSpPr>
        <p:spPr>
          <a:xfrm>
            <a:off x="4800600" y="3733800"/>
            <a:ext cx="76200" cy="76200"/>
          </a:xfrm>
          <a:prstGeom prst="ellipse">
            <a:avLst/>
          </a:prstGeom>
          <a:solidFill>
            <a:srgbClr val="000000"/>
          </a:solidFill>
          <a:ln w="12700">
            <a:solidFill>
              <a:srgbClr val="000000"/>
            </a:solidFill>
          </a:ln>
        </p:spPr>
        <p:txBody>
          <a:bodyPr lIns="45719" rIns="45719" anchor="ctr"/>
          <a:lstStyle/>
          <a:p>
            <a:pPr>
              <a:defRPr sz="1800" b="0"/>
            </a:pPr>
            <a:endParaRPr/>
          </a:p>
        </p:txBody>
      </p:sp>
      <p:sp>
        <p:nvSpPr>
          <p:cNvPr id="109" name="Circle"/>
          <p:cNvSpPr/>
          <p:nvPr/>
        </p:nvSpPr>
        <p:spPr>
          <a:xfrm>
            <a:off x="5029200" y="3733800"/>
            <a:ext cx="76200" cy="76200"/>
          </a:xfrm>
          <a:prstGeom prst="ellipse">
            <a:avLst/>
          </a:prstGeom>
          <a:solidFill>
            <a:srgbClr val="000000"/>
          </a:solidFill>
          <a:ln w="12700">
            <a:solidFill>
              <a:srgbClr val="000000"/>
            </a:solidFill>
          </a:ln>
        </p:spPr>
        <p:txBody>
          <a:bodyPr lIns="45719" rIns="45719" anchor="ctr"/>
          <a:lstStyle/>
          <a:p>
            <a:pPr>
              <a:defRPr sz="1800" b="0"/>
            </a:pPr>
            <a:endParaRPr/>
          </a:p>
        </p:txBody>
      </p:sp>
      <p:sp>
        <p:nvSpPr>
          <p:cNvPr id="110" name="Line"/>
          <p:cNvSpPr/>
          <p:nvPr/>
        </p:nvSpPr>
        <p:spPr>
          <a:xfrm>
            <a:off x="3352799" y="3962400"/>
            <a:ext cx="601524" cy="375952"/>
          </a:xfrm>
          <a:prstGeom prst="line">
            <a:avLst/>
          </a:prstGeom>
          <a:ln w="19050">
            <a:solidFill>
              <a:srgbClr val="000000"/>
            </a:solidFill>
            <a:tailEnd type="oval"/>
          </a:ln>
        </p:spPr>
        <p:txBody>
          <a:bodyPr lIns="45719" rIns="45719"/>
          <a:lstStyle/>
          <a:p>
            <a:endParaRPr/>
          </a:p>
        </p:txBody>
      </p:sp>
      <p:sp>
        <p:nvSpPr>
          <p:cNvPr id="111" name="Line"/>
          <p:cNvSpPr/>
          <p:nvPr/>
        </p:nvSpPr>
        <p:spPr>
          <a:xfrm>
            <a:off x="4114800" y="4038599"/>
            <a:ext cx="1" cy="295276"/>
          </a:xfrm>
          <a:prstGeom prst="line">
            <a:avLst/>
          </a:prstGeom>
          <a:ln w="19050">
            <a:solidFill>
              <a:srgbClr val="000000"/>
            </a:solidFill>
            <a:tailEnd type="oval"/>
          </a:ln>
        </p:spPr>
        <p:txBody>
          <a:bodyPr lIns="45719" rIns="45719"/>
          <a:lstStyle/>
          <a:p>
            <a:endParaRPr/>
          </a:p>
        </p:txBody>
      </p:sp>
      <p:sp>
        <p:nvSpPr>
          <p:cNvPr id="112" name="Line"/>
          <p:cNvSpPr/>
          <p:nvPr/>
        </p:nvSpPr>
        <p:spPr>
          <a:xfrm flipH="1">
            <a:off x="4656871" y="3962400"/>
            <a:ext cx="829530" cy="377059"/>
          </a:xfrm>
          <a:prstGeom prst="line">
            <a:avLst/>
          </a:prstGeom>
          <a:ln w="19050">
            <a:solidFill>
              <a:srgbClr val="000000"/>
            </a:solidFill>
            <a:tailEnd type="oval"/>
          </a:ln>
        </p:spPr>
        <p:txBody>
          <a:bodyPr lIns="45719" rIns="45719"/>
          <a:lstStyle/>
          <a:p>
            <a:endParaRPr/>
          </a:p>
        </p:txBody>
      </p:sp>
      <p:sp>
        <p:nvSpPr>
          <p:cNvPr id="113" name="Line"/>
          <p:cNvSpPr/>
          <p:nvPr/>
        </p:nvSpPr>
        <p:spPr>
          <a:xfrm flipH="1" flipV="1">
            <a:off x="4267200" y="4343400"/>
            <a:ext cx="152401" cy="568325"/>
          </a:xfrm>
          <a:prstGeom prst="line">
            <a:avLst/>
          </a:prstGeom>
          <a:ln w="19050">
            <a:solidFill>
              <a:srgbClr val="000000"/>
            </a:solidFill>
            <a:tailEnd type="triangle"/>
          </a:ln>
        </p:spPr>
        <p:txBody>
          <a:bodyPr lIns="45719" rIns="45719"/>
          <a:lstStyle/>
          <a:p>
            <a:endParaRPr/>
          </a:p>
        </p:txBody>
      </p:sp>
      <p:sp>
        <p:nvSpPr>
          <p:cNvPr id="114" name="Line"/>
          <p:cNvSpPr/>
          <p:nvPr/>
        </p:nvSpPr>
        <p:spPr>
          <a:xfrm>
            <a:off x="3962400" y="4572000"/>
            <a:ext cx="762001" cy="1524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200" y="10800"/>
                  <a:pt x="8400" y="0"/>
                  <a:pt x="12000" y="0"/>
                </a:cubicBezTo>
                <a:cubicBezTo>
                  <a:pt x="15600" y="0"/>
                  <a:pt x="18600" y="10800"/>
                  <a:pt x="21600" y="21600"/>
                </a:cubicBezTo>
              </a:path>
            </a:pathLst>
          </a:custGeom>
          <a:ln w="12700">
            <a:solidFill>
              <a:srgbClr val="000000"/>
            </a:solidFill>
            <a:prstDash val="sysDot"/>
            <a:headEnd type="triangle"/>
            <a:tailEnd type="triangle"/>
          </a:ln>
        </p:spPr>
        <p:txBody>
          <a:bodyPr lIns="45719" rIns="45719"/>
          <a:lstStyle/>
          <a:p>
            <a:pPr>
              <a:defRPr sz="1800" b="0"/>
            </a:pPr>
            <a:endParaRPr/>
          </a:p>
        </p:txBody>
      </p:sp>
      <p:sp>
        <p:nvSpPr>
          <p:cNvPr id="115" name="Rectangle"/>
          <p:cNvSpPr/>
          <p:nvPr/>
        </p:nvSpPr>
        <p:spPr>
          <a:xfrm>
            <a:off x="3733800" y="4953000"/>
            <a:ext cx="1295400" cy="457200"/>
          </a:xfrm>
          <a:prstGeom prst="rect">
            <a:avLst/>
          </a:prstGeom>
          <a:ln w="12700">
            <a:solidFill>
              <a:srgbClr val="000000"/>
            </a:solidFill>
          </a:ln>
        </p:spPr>
        <p:txBody>
          <a:bodyPr lIns="45719" rIns="45719" anchor="ctr"/>
          <a:lstStyle/>
          <a:p>
            <a:pPr>
              <a:defRPr sz="1800" b="0"/>
            </a:pPr>
            <a:endParaRPr/>
          </a:p>
        </p:txBody>
      </p:sp>
      <p:sp>
        <p:nvSpPr>
          <p:cNvPr id="116" name="Memory"/>
          <p:cNvSpPr txBox="1"/>
          <p:nvPr/>
        </p:nvSpPr>
        <p:spPr>
          <a:xfrm>
            <a:off x="3956646" y="5029200"/>
            <a:ext cx="860820"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800" b="0"/>
            </a:lvl1pPr>
          </a:lstStyle>
          <a:p>
            <a:r>
              <a:t>Memory</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119" name="Example: Sequential Consistency"/>
          <p:cNvSpPr txBox="1">
            <a:spLocks noGrp="1"/>
          </p:cNvSpPr>
          <p:nvPr>
            <p:ph type="title" idx="4294967295"/>
          </p:nvPr>
        </p:nvSpPr>
        <p:spPr>
          <a:xfrm>
            <a:off x="685800" y="152400"/>
            <a:ext cx="8077200" cy="838200"/>
          </a:xfrm>
          <a:prstGeom prst="rect">
            <a:avLst/>
          </a:prstGeom>
        </p:spPr>
        <p:txBody>
          <a:bodyPr>
            <a:normAutofit fontScale="90000"/>
          </a:bodyPr>
          <a:lstStyle>
            <a:lvl1pPr>
              <a:defRPr sz="4000"/>
            </a:lvl1pPr>
          </a:lstStyle>
          <a:p>
            <a:r>
              <a:t>Example: Sequential Consistency</a:t>
            </a:r>
          </a:p>
        </p:txBody>
      </p:sp>
      <p:sp>
        <p:nvSpPr>
          <p:cNvPr id="120" name="Some valid SC orderings:"/>
          <p:cNvSpPr txBox="1">
            <a:spLocks noGrp="1"/>
          </p:cNvSpPr>
          <p:nvPr>
            <p:ph type="body" idx="4294967295"/>
          </p:nvPr>
        </p:nvSpPr>
        <p:spPr>
          <a:xfrm>
            <a:off x="457200" y="1143000"/>
            <a:ext cx="8534400" cy="4343400"/>
          </a:xfrm>
          <a:prstGeom prst="rect">
            <a:avLst/>
          </a:prstGeom>
        </p:spPr>
        <p:txBody>
          <a:bodyPr>
            <a:normAutofit/>
          </a:bodyPr>
          <a:lstStyle/>
          <a:p>
            <a:pPr>
              <a:buChar char="▪"/>
              <a:defRPr sz="2400"/>
            </a:pPr>
            <a:endParaRPr dirty="0"/>
          </a:p>
          <a:p>
            <a:pPr>
              <a:buChar char="▪"/>
              <a:defRPr sz="2400"/>
            </a:pPr>
            <a:endParaRPr dirty="0"/>
          </a:p>
          <a:p>
            <a:pPr>
              <a:buChar char="▪"/>
              <a:defRPr sz="2400"/>
            </a:pPr>
            <a:endParaRPr dirty="0"/>
          </a:p>
          <a:p>
            <a:pPr marL="0" indent="0">
              <a:buNone/>
              <a:defRPr sz="1800"/>
            </a:pPr>
            <a:endParaRPr dirty="0"/>
          </a:p>
          <a:p>
            <a:pPr>
              <a:spcBef>
                <a:spcPts val="500"/>
              </a:spcBef>
              <a:buChar char="▪"/>
              <a:defRPr sz="2400"/>
            </a:pPr>
            <a:r>
              <a:rPr dirty="0"/>
              <a:t>Some valid SC orderings:</a:t>
            </a:r>
          </a:p>
        </p:txBody>
      </p:sp>
      <p:sp>
        <p:nvSpPr>
          <p:cNvPr id="121" name="A=0, B=0, C=0;…"/>
          <p:cNvSpPr txBox="1"/>
          <p:nvPr/>
        </p:nvSpPr>
        <p:spPr>
          <a:xfrm>
            <a:off x="838200" y="1447800"/>
            <a:ext cx="1499255" cy="1297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A=0, B=0, C=0;</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C = 1;</a:t>
            </a:r>
          </a:p>
          <a:p>
            <a:pPr>
              <a:defRPr sz="1600" b="0">
                <a:solidFill>
                  <a:srgbClr val="0000FF"/>
                </a:solidFill>
                <a:latin typeface="Lucida Console"/>
                <a:ea typeface="Lucida Console"/>
                <a:cs typeface="Lucida Console"/>
                <a:sym typeface="Lucida Console"/>
              </a:defRPr>
            </a:pPr>
            <a:r>
              <a:t>A = 1;</a:t>
            </a:r>
          </a:p>
        </p:txBody>
      </p:sp>
      <p:sp>
        <p:nvSpPr>
          <p:cNvPr id="122" name="while (A==0);…"/>
          <p:cNvSpPr txBox="1"/>
          <p:nvPr/>
        </p:nvSpPr>
        <p:spPr>
          <a:xfrm>
            <a:off x="3124200" y="1447800"/>
            <a:ext cx="1301314" cy="153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while (A==0);</a:t>
            </a:r>
          </a:p>
          <a:p>
            <a:pPr>
              <a:defRPr sz="1600" b="0">
                <a:solidFill>
                  <a:srgbClr val="0000FF"/>
                </a:solidFill>
                <a:latin typeface="Lucida Console"/>
                <a:ea typeface="Lucida Console"/>
                <a:cs typeface="Lucida Console"/>
                <a:sym typeface="Lucida Console"/>
              </a:defRPr>
            </a:pPr>
            <a:r>
              <a:t>B = 1;</a:t>
            </a:r>
          </a:p>
        </p:txBody>
      </p:sp>
      <p:sp>
        <p:nvSpPr>
          <p:cNvPr id="123" name="P1"/>
          <p:cNvSpPr txBox="1"/>
          <p:nvPr/>
        </p:nvSpPr>
        <p:spPr>
          <a:xfrm>
            <a:off x="1638220" y="10668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124" name="P2"/>
          <p:cNvSpPr txBox="1"/>
          <p:nvPr/>
        </p:nvSpPr>
        <p:spPr>
          <a:xfrm>
            <a:off x="3855164" y="10668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125" name="Line"/>
          <p:cNvSpPr/>
          <p:nvPr/>
        </p:nvSpPr>
        <p:spPr>
          <a:xfrm>
            <a:off x="1828800" y="2590800"/>
            <a:ext cx="1219200" cy="0"/>
          </a:xfrm>
          <a:prstGeom prst="line">
            <a:avLst/>
          </a:prstGeom>
          <a:ln w="25400">
            <a:solidFill>
              <a:srgbClr val="FF0000"/>
            </a:solidFill>
            <a:tailEnd type="triangle"/>
          </a:ln>
        </p:spPr>
        <p:txBody>
          <a:bodyPr lIns="45719" rIns="45719"/>
          <a:lstStyle/>
          <a:p>
            <a:endParaRPr/>
          </a:p>
        </p:txBody>
      </p:sp>
      <p:sp>
        <p:nvSpPr>
          <p:cNvPr id="126" name="Line"/>
          <p:cNvSpPr/>
          <p:nvPr/>
        </p:nvSpPr>
        <p:spPr>
          <a:xfrm>
            <a:off x="609600" y="2011362"/>
            <a:ext cx="7467600" cy="1"/>
          </a:xfrm>
          <a:prstGeom prst="line">
            <a:avLst/>
          </a:prstGeom>
          <a:ln w="12700">
            <a:solidFill>
              <a:srgbClr val="000000"/>
            </a:solidFill>
            <a:prstDash val="dash"/>
          </a:ln>
        </p:spPr>
        <p:txBody>
          <a:bodyPr lIns="45719" rIns="45719"/>
          <a:lstStyle/>
          <a:p>
            <a:endParaRPr/>
          </a:p>
        </p:txBody>
      </p:sp>
      <p:sp>
        <p:nvSpPr>
          <p:cNvPr id="127" name="Line"/>
          <p:cNvSpPr/>
          <p:nvPr/>
        </p:nvSpPr>
        <p:spPr>
          <a:xfrm>
            <a:off x="8426450" y="2011362"/>
            <a:ext cx="304800" cy="1"/>
          </a:xfrm>
          <a:prstGeom prst="line">
            <a:avLst/>
          </a:prstGeom>
          <a:ln w="12700">
            <a:solidFill>
              <a:srgbClr val="000000"/>
            </a:solidFill>
          </a:ln>
        </p:spPr>
        <p:txBody>
          <a:bodyPr lIns="45719" rIns="45719"/>
          <a:lstStyle/>
          <a:p>
            <a:endParaRPr/>
          </a:p>
        </p:txBody>
      </p:sp>
      <p:sp>
        <p:nvSpPr>
          <p:cNvPr id="128" name="Line"/>
          <p:cNvSpPr/>
          <p:nvPr/>
        </p:nvSpPr>
        <p:spPr>
          <a:xfrm flipV="1">
            <a:off x="8731250" y="1630362"/>
            <a:ext cx="0" cy="381001"/>
          </a:xfrm>
          <a:prstGeom prst="line">
            <a:avLst/>
          </a:prstGeom>
          <a:ln w="12700">
            <a:solidFill>
              <a:srgbClr val="000000"/>
            </a:solidFill>
            <a:tailEnd type="triangle"/>
          </a:ln>
        </p:spPr>
        <p:txBody>
          <a:bodyPr lIns="45719" rIns="45719"/>
          <a:lstStyle/>
          <a:p>
            <a:endParaRPr/>
          </a:p>
        </p:txBody>
      </p:sp>
      <p:sp>
        <p:nvSpPr>
          <p:cNvPr id="129" name="Line"/>
          <p:cNvSpPr/>
          <p:nvPr/>
        </p:nvSpPr>
        <p:spPr>
          <a:xfrm>
            <a:off x="8731250" y="2011362"/>
            <a:ext cx="0" cy="381001"/>
          </a:xfrm>
          <a:prstGeom prst="line">
            <a:avLst/>
          </a:prstGeom>
          <a:ln w="12700">
            <a:solidFill>
              <a:srgbClr val="000000"/>
            </a:solidFill>
            <a:tailEnd type="triangle"/>
          </a:ln>
        </p:spPr>
        <p:txBody>
          <a:bodyPr lIns="45719" rIns="45719"/>
          <a:lstStyle/>
          <a:p>
            <a:endParaRPr/>
          </a:p>
        </p:txBody>
      </p:sp>
      <p:sp>
        <p:nvSpPr>
          <p:cNvPr id="130" name="initialization"/>
          <p:cNvSpPr txBox="1"/>
          <p:nvPr/>
        </p:nvSpPr>
        <p:spPr>
          <a:xfrm rot="16200000">
            <a:off x="8435082" y="1141154"/>
            <a:ext cx="106477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initialization</a:t>
            </a:r>
          </a:p>
        </p:txBody>
      </p:sp>
      <p:sp>
        <p:nvSpPr>
          <p:cNvPr id="131" name="parallel"/>
          <p:cNvSpPr txBox="1"/>
          <p:nvPr/>
        </p:nvSpPr>
        <p:spPr>
          <a:xfrm rot="16200000">
            <a:off x="8635007" y="2484080"/>
            <a:ext cx="66492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parallel</a:t>
            </a:r>
          </a:p>
        </p:txBody>
      </p:sp>
      <p:sp>
        <p:nvSpPr>
          <p:cNvPr id="132" name="P1: st C # C=1…"/>
          <p:cNvSpPr txBox="1"/>
          <p:nvPr/>
        </p:nvSpPr>
        <p:spPr>
          <a:xfrm>
            <a:off x="228600" y="3733800"/>
            <a:ext cx="1679784" cy="176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FF0000"/>
                </a:solidFill>
                <a:latin typeface="Lucida Console"/>
                <a:ea typeface="Lucida Console"/>
                <a:cs typeface="Lucida Console"/>
                <a:sym typeface="Lucida Console"/>
              </a:defRPr>
            </a:pPr>
            <a:r>
              <a:rPr dirty="0"/>
              <a:t>P1: </a:t>
            </a:r>
            <a:r>
              <a:rPr dirty="0" err="1"/>
              <a:t>st</a:t>
            </a:r>
            <a:r>
              <a:rPr dirty="0"/>
              <a:t> C # C=1</a:t>
            </a:r>
          </a:p>
          <a:p>
            <a:pPr>
              <a:defRPr sz="1800" b="0">
                <a:solidFill>
                  <a:srgbClr val="FF0000"/>
                </a:solidFill>
                <a:latin typeface="Lucida Console"/>
                <a:ea typeface="Lucida Console"/>
                <a:cs typeface="Lucida Console"/>
                <a:sym typeface="Lucida Console"/>
              </a:defRPr>
            </a:pPr>
            <a:r>
              <a:rPr dirty="0"/>
              <a:t>P1: </a:t>
            </a:r>
            <a:r>
              <a:rPr dirty="0" err="1"/>
              <a:t>st</a:t>
            </a:r>
            <a:r>
              <a:rPr dirty="0"/>
              <a:t> A # A=1</a:t>
            </a:r>
          </a:p>
          <a:p>
            <a:pPr>
              <a:defRPr sz="1800" b="0">
                <a:solidFill>
                  <a:srgbClr val="FF0000"/>
                </a:solidFill>
                <a:latin typeface="Lucida Console"/>
                <a:ea typeface="Lucida Console"/>
                <a:cs typeface="Lucida Console"/>
                <a:sym typeface="Lucida Console"/>
              </a:defRPr>
            </a:pPr>
            <a:r>
              <a:rPr dirty="0"/>
              <a:t>P2: </a:t>
            </a:r>
            <a:r>
              <a:rPr dirty="0" err="1"/>
              <a:t>ld</a:t>
            </a:r>
            <a:r>
              <a:rPr dirty="0"/>
              <a:t> A # while</a:t>
            </a:r>
          </a:p>
          <a:p>
            <a:pPr>
              <a:defRPr sz="1800" b="0">
                <a:solidFill>
                  <a:srgbClr val="FF0000"/>
                </a:solidFill>
                <a:latin typeface="Lucida Console"/>
                <a:ea typeface="Lucida Console"/>
                <a:cs typeface="Lucida Console"/>
                <a:sym typeface="Lucida Console"/>
              </a:defRPr>
            </a:pPr>
            <a:r>
              <a:rPr dirty="0"/>
              <a:t>P2: </a:t>
            </a:r>
            <a:r>
              <a:rPr dirty="0" err="1"/>
              <a:t>st</a:t>
            </a:r>
            <a:r>
              <a:rPr dirty="0"/>
              <a:t> B # B=1</a:t>
            </a:r>
          </a:p>
          <a:p>
            <a:pPr>
              <a:defRPr sz="1800" b="0">
                <a:solidFill>
                  <a:srgbClr val="FF0000"/>
                </a:solidFill>
                <a:latin typeface="Lucida Console"/>
                <a:ea typeface="Lucida Console"/>
                <a:cs typeface="Lucida Console"/>
                <a:sym typeface="Lucida Console"/>
              </a:defRPr>
            </a:pPr>
            <a:r>
              <a:rPr dirty="0"/>
              <a:t>P3: </a:t>
            </a:r>
            <a:r>
              <a:rPr dirty="0" err="1"/>
              <a:t>ld</a:t>
            </a:r>
            <a:r>
              <a:rPr dirty="0"/>
              <a:t> B # while</a:t>
            </a:r>
          </a:p>
          <a:p>
            <a:pPr>
              <a:defRPr sz="1800" b="0">
                <a:solidFill>
                  <a:srgbClr val="FF0000"/>
                </a:solidFill>
                <a:latin typeface="Lucida Console"/>
                <a:ea typeface="Lucida Console"/>
                <a:cs typeface="Lucida Console"/>
                <a:sym typeface="Lucida Console"/>
              </a:defRPr>
            </a:pPr>
            <a:r>
              <a:rPr dirty="0"/>
              <a:t>P3: </a:t>
            </a:r>
            <a:r>
              <a:rPr dirty="0" err="1"/>
              <a:t>ld</a:t>
            </a:r>
            <a:r>
              <a:rPr dirty="0"/>
              <a:t> A # print</a:t>
            </a:r>
          </a:p>
        </p:txBody>
      </p:sp>
      <p:sp>
        <p:nvSpPr>
          <p:cNvPr id="133" name="while (B==0);…"/>
          <p:cNvSpPr txBox="1"/>
          <p:nvPr/>
        </p:nvSpPr>
        <p:spPr>
          <a:xfrm>
            <a:off x="5943600" y="1447800"/>
            <a:ext cx="1301314" cy="1780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while (B==0);</a:t>
            </a:r>
          </a:p>
          <a:p>
            <a:pPr>
              <a:defRPr sz="1600" b="0">
                <a:solidFill>
                  <a:srgbClr val="0000FF"/>
                </a:solidFill>
                <a:latin typeface="Lucida Console"/>
                <a:ea typeface="Lucida Console"/>
                <a:cs typeface="Lucida Console"/>
                <a:sym typeface="Lucida Console"/>
              </a:defRPr>
            </a:pPr>
            <a:r>
              <a:t>print A;</a:t>
            </a:r>
          </a:p>
        </p:txBody>
      </p:sp>
      <p:sp>
        <p:nvSpPr>
          <p:cNvPr id="134" name="P3"/>
          <p:cNvSpPr txBox="1"/>
          <p:nvPr/>
        </p:nvSpPr>
        <p:spPr>
          <a:xfrm>
            <a:off x="6674564" y="11430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P3</a:t>
            </a:r>
          </a:p>
        </p:txBody>
      </p:sp>
      <p:sp>
        <p:nvSpPr>
          <p:cNvPr id="135" name="Line"/>
          <p:cNvSpPr/>
          <p:nvPr/>
        </p:nvSpPr>
        <p:spPr>
          <a:xfrm>
            <a:off x="4267200" y="2819400"/>
            <a:ext cx="1524000" cy="0"/>
          </a:xfrm>
          <a:prstGeom prst="line">
            <a:avLst/>
          </a:prstGeom>
          <a:ln w="25400">
            <a:solidFill>
              <a:srgbClr val="FF0000"/>
            </a:solidFill>
            <a:tailEnd type="triangle"/>
          </a:ln>
        </p:spPr>
        <p:txBody>
          <a:bodyPr lIns="45719" rIns="45719"/>
          <a:lstStyle/>
          <a:p>
            <a:endParaRPr/>
          </a:p>
        </p:txBody>
      </p:sp>
      <p:sp>
        <p:nvSpPr>
          <p:cNvPr id="136" name="P1: st C # C=1…"/>
          <p:cNvSpPr txBox="1"/>
          <p:nvPr/>
        </p:nvSpPr>
        <p:spPr>
          <a:xfrm>
            <a:off x="3352800" y="3733800"/>
            <a:ext cx="1679784" cy="2326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FF0000"/>
                </a:solidFill>
                <a:latin typeface="Lucida Console"/>
                <a:ea typeface="Lucida Console"/>
                <a:cs typeface="Lucida Console"/>
                <a:sym typeface="Lucida Console"/>
              </a:defRPr>
            </a:pPr>
            <a:r>
              <a:t>P1: st C # C=1</a:t>
            </a:r>
          </a:p>
          <a:p>
            <a:pPr>
              <a:defRPr sz="1800" b="0">
                <a:solidFill>
                  <a:srgbClr val="FF0000"/>
                </a:solidFill>
                <a:latin typeface="Lucida Console"/>
                <a:ea typeface="Lucida Console"/>
                <a:cs typeface="Lucida Console"/>
                <a:sym typeface="Lucida Console"/>
              </a:defRPr>
            </a:pPr>
            <a:r>
              <a:t>P2: ld A # while</a:t>
            </a:r>
          </a:p>
          <a:p>
            <a:pPr>
              <a:defRPr sz="1800" b="0">
                <a:solidFill>
                  <a:srgbClr val="FF0000"/>
                </a:solidFill>
                <a:latin typeface="Lucida Console"/>
                <a:ea typeface="Lucida Console"/>
                <a:cs typeface="Lucida Console"/>
                <a:sym typeface="Lucida Console"/>
              </a:defRPr>
            </a:pPr>
            <a:r>
              <a:t>…</a:t>
            </a:r>
          </a:p>
          <a:p>
            <a:pPr>
              <a:defRPr sz="1800" b="0">
                <a:solidFill>
                  <a:srgbClr val="FF0000"/>
                </a:solidFill>
                <a:latin typeface="Lucida Console"/>
                <a:ea typeface="Lucida Console"/>
                <a:cs typeface="Lucida Console"/>
                <a:sym typeface="Lucida Console"/>
              </a:defRPr>
            </a:pPr>
            <a:r>
              <a:t>P1: st A # A=1</a:t>
            </a:r>
          </a:p>
          <a:p>
            <a:pPr>
              <a:defRPr sz="1800" b="0">
                <a:solidFill>
                  <a:srgbClr val="FF0000"/>
                </a:solidFill>
                <a:latin typeface="Lucida Console"/>
                <a:ea typeface="Lucida Console"/>
                <a:cs typeface="Lucida Console"/>
                <a:sym typeface="Lucida Console"/>
              </a:defRPr>
            </a:pPr>
            <a:r>
              <a:t>P2: ld A # while</a:t>
            </a:r>
          </a:p>
          <a:p>
            <a:pPr>
              <a:defRPr sz="1800" b="0">
                <a:solidFill>
                  <a:srgbClr val="FF0000"/>
                </a:solidFill>
                <a:latin typeface="Lucida Console"/>
                <a:ea typeface="Lucida Console"/>
                <a:cs typeface="Lucida Console"/>
                <a:sym typeface="Lucida Console"/>
              </a:defRPr>
            </a:pPr>
            <a:r>
              <a:t>P2: st B # B=1</a:t>
            </a:r>
          </a:p>
          <a:p>
            <a:pPr>
              <a:defRPr sz="1800" b="0">
                <a:solidFill>
                  <a:srgbClr val="FF0000"/>
                </a:solidFill>
                <a:latin typeface="Lucida Console"/>
                <a:ea typeface="Lucida Console"/>
                <a:cs typeface="Lucida Console"/>
                <a:sym typeface="Lucida Console"/>
              </a:defRPr>
            </a:pPr>
            <a:r>
              <a:t>P3: ld B # while</a:t>
            </a:r>
          </a:p>
          <a:p>
            <a:pPr>
              <a:defRPr sz="1800" b="0">
                <a:solidFill>
                  <a:srgbClr val="FF0000"/>
                </a:solidFill>
                <a:latin typeface="Lucida Console"/>
                <a:ea typeface="Lucida Console"/>
                <a:cs typeface="Lucida Console"/>
                <a:sym typeface="Lucida Console"/>
              </a:defRPr>
            </a:pPr>
            <a:r>
              <a:t>P3: ld A # print</a:t>
            </a:r>
          </a:p>
        </p:txBody>
      </p:sp>
      <p:sp>
        <p:nvSpPr>
          <p:cNvPr id="137" name="Rectangle"/>
          <p:cNvSpPr/>
          <p:nvPr/>
        </p:nvSpPr>
        <p:spPr>
          <a:xfrm>
            <a:off x="228600" y="3733800"/>
            <a:ext cx="2438400" cy="1752600"/>
          </a:xfrm>
          <a:prstGeom prst="rect">
            <a:avLst/>
          </a:prstGeom>
          <a:ln w="12700">
            <a:solidFill>
              <a:srgbClr val="000000"/>
            </a:solidFill>
          </a:ln>
        </p:spPr>
        <p:txBody>
          <a:bodyPr lIns="45719" rIns="45719" anchor="ctr"/>
          <a:lstStyle/>
          <a:p>
            <a:pPr>
              <a:defRPr sz="1800" b="0"/>
            </a:pPr>
            <a:endParaRPr/>
          </a:p>
        </p:txBody>
      </p:sp>
      <p:sp>
        <p:nvSpPr>
          <p:cNvPr id="138" name="Rectangle"/>
          <p:cNvSpPr/>
          <p:nvPr/>
        </p:nvSpPr>
        <p:spPr>
          <a:xfrm>
            <a:off x="3352800" y="3733800"/>
            <a:ext cx="2438400" cy="2286001"/>
          </a:xfrm>
          <a:prstGeom prst="rect">
            <a:avLst/>
          </a:prstGeom>
          <a:ln w="12700">
            <a:solidFill>
              <a:srgbClr val="000000"/>
            </a:solidFill>
          </a:ln>
        </p:spPr>
        <p:txBody>
          <a:bodyPr lIns="45719" rIns="45719" anchor="ctr"/>
          <a:lstStyle/>
          <a:p>
            <a:pPr>
              <a:defRPr sz="1800" b="0"/>
            </a:pPr>
            <a:endParaRPr/>
          </a:p>
        </p:txBody>
      </p:sp>
      <p:sp>
        <p:nvSpPr>
          <p:cNvPr id="139" name="P1: st C # C=1…"/>
          <p:cNvSpPr txBox="1"/>
          <p:nvPr/>
        </p:nvSpPr>
        <p:spPr>
          <a:xfrm>
            <a:off x="6400800" y="3733800"/>
            <a:ext cx="1679784" cy="28854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FF0000"/>
                </a:solidFill>
                <a:latin typeface="Lucida Console"/>
                <a:ea typeface="Lucida Console"/>
                <a:cs typeface="Lucida Console"/>
                <a:sym typeface="Lucida Console"/>
              </a:defRPr>
            </a:pPr>
            <a:r>
              <a:t>P1: st C # C=1</a:t>
            </a:r>
          </a:p>
          <a:p>
            <a:pPr>
              <a:defRPr sz="1800" b="0">
                <a:solidFill>
                  <a:srgbClr val="FF0000"/>
                </a:solidFill>
                <a:latin typeface="Lucida Console"/>
                <a:ea typeface="Lucida Console"/>
                <a:cs typeface="Lucida Console"/>
                <a:sym typeface="Lucida Console"/>
              </a:defRPr>
            </a:pPr>
            <a:r>
              <a:t>P2: ld A # while</a:t>
            </a:r>
          </a:p>
          <a:p>
            <a:pPr>
              <a:defRPr sz="1800" b="0">
                <a:solidFill>
                  <a:srgbClr val="FF0000"/>
                </a:solidFill>
                <a:latin typeface="Lucida Console"/>
                <a:ea typeface="Lucida Console"/>
                <a:cs typeface="Lucida Console"/>
                <a:sym typeface="Lucida Console"/>
              </a:defRPr>
            </a:pPr>
            <a:r>
              <a:t>…</a:t>
            </a:r>
          </a:p>
          <a:p>
            <a:pPr>
              <a:defRPr sz="1800" b="0">
                <a:solidFill>
                  <a:srgbClr val="FF0000"/>
                </a:solidFill>
                <a:latin typeface="Lucida Console"/>
                <a:ea typeface="Lucida Console"/>
                <a:cs typeface="Lucida Console"/>
                <a:sym typeface="Lucida Console"/>
              </a:defRPr>
            </a:pPr>
            <a:r>
              <a:t>P1: st A # A=1</a:t>
            </a:r>
          </a:p>
          <a:p>
            <a:pPr>
              <a:defRPr sz="1800" b="0">
                <a:solidFill>
                  <a:srgbClr val="FF0000"/>
                </a:solidFill>
                <a:latin typeface="Lucida Console"/>
                <a:ea typeface="Lucida Console"/>
                <a:cs typeface="Lucida Console"/>
                <a:sym typeface="Lucida Console"/>
              </a:defRPr>
            </a:pPr>
            <a:r>
              <a:t>P2: ld A # while</a:t>
            </a:r>
          </a:p>
          <a:p>
            <a:pPr>
              <a:defRPr sz="1800" b="0">
                <a:solidFill>
                  <a:srgbClr val="FF0000"/>
                </a:solidFill>
                <a:latin typeface="Lucida Console"/>
                <a:ea typeface="Lucida Console"/>
                <a:cs typeface="Lucida Console"/>
                <a:sym typeface="Lucida Console"/>
              </a:defRPr>
            </a:pPr>
            <a:r>
              <a:t>P3: ld B # while</a:t>
            </a:r>
          </a:p>
          <a:p>
            <a:pPr>
              <a:defRPr sz="1800" b="0">
                <a:solidFill>
                  <a:srgbClr val="FF0000"/>
                </a:solidFill>
                <a:latin typeface="Lucida Console"/>
                <a:ea typeface="Lucida Console"/>
                <a:cs typeface="Lucida Console"/>
                <a:sym typeface="Lucida Console"/>
              </a:defRPr>
            </a:pPr>
            <a:r>
              <a:t>…</a:t>
            </a:r>
          </a:p>
          <a:p>
            <a:pPr>
              <a:defRPr sz="1800" b="0">
                <a:solidFill>
                  <a:srgbClr val="FF0000"/>
                </a:solidFill>
                <a:latin typeface="Lucida Console"/>
                <a:ea typeface="Lucida Console"/>
                <a:cs typeface="Lucida Console"/>
                <a:sym typeface="Lucida Console"/>
              </a:defRPr>
            </a:pPr>
            <a:r>
              <a:t>P2: st B # B=1</a:t>
            </a:r>
          </a:p>
          <a:p>
            <a:pPr>
              <a:defRPr sz="1800" b="0">
                <a:solidFill>
                  <a:srgbClr val="FF0000"/>
                </a:solidFill>
                <a:latin typeface="Lucida Console"/>
                <a:ea typeface="Lucida Console"/>
                <a:cs typeface="Lucida Console"/>
                <a:sym typeface="Lucida Console"/>
              </a:defRPr>
            </a:pPr>
            <a:r>
              <a:t>P3: ld B # while</a:t>
            </a:r>
          </a:p>
          <a:p>
            <a:pPr>
              <a:defRPr sz="1800" b="0">
                <a:solidFill>
                  <a:srgbClr val="FF0000"/>
                </a:solidFill>
                <a:latin typeface="Lucida Console"/>
                <a:ea typeface="Lucida Console"/>
                <a:cs typeface="Lucida Console"/>
                <a:sym typeface="Lucida Console"/>
              </a:defRPr>
            </a:pPr>
            <a:r>
              <a:t>P3: ld A # print</a:t>
            </a:r>
          </a:p>
        </p:txBody>
      </p:sp>
      <p:sp>
        <p:nvSpPr>
          <p:cNvPr id="140" name="Rectangle"/>
          <p:cNvSpPr/>
          <p:nvPr/>
        </p:nvSpPr>
        <p:spPr>
          <a:xfrm>
            <a:off x="6400800" y="3733800"/>
            <a:ext cx="2438400" cy="2819400"/>
          </a:xfrm>
          <a:prstGeom prst="rect">
            <a:avLst/>
          </a:prstGeom>
          <a:ln w="12700">
            <a:solidFill>
              <a:srgbClr val="000000"/>
            </a:solidFill>
          </a:ln>
        </p:spPr>
        <p:txBody>
          <a:bodyPr lIns="45719" rIns="45719" anchor="ctr"/>
          <a:lstStyle/>
          <a:p>
            <a:pPr>
              <a:defRPr sz="1800" b="0"/>
            </a:pPr>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143" name="Is this ordering SC?"/>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Is this ordering SC?</a:t>
            </a:r>
          </a:p>
        </p:txBody>
      </p:sp>
      <p:sp>
        <p:nvSpPr>
          <p:cNvPr id="144" name="A=0, B=0, C=0;…"/>
          <p:cNvSpPr txBox="1"/>
          <p:nvPr/>
        </p:nvSpPr>
        <p:spPr>
          <a:xfrm>
            <a:off x="838200" y="1447800"/>
            <a:ext cx="1499255" cy="1297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A=0, B=0, C=0;</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C = 1;</a:t>
            </a:r>
          </a:p>
          <a:p>
            <a:pPr>
              <a:defRPr sz="1600" b="0">
                <a:solidFill>
                  <a:srgbClr val="0000FF"/>
                </a:solidFill>
                <a:latin typeface="Lucida Console"/>
                <a:ea typeface="Lucida Console"/>
                <a:cs typeface="Lucida Console"/>
                <a:sym typeface="Lucida Console"/>
              </a:defRPr>
            </a:pPr>
            <a:r>
              <a:t>A = 1;</a:t>
            </a:r>
          </a:p>
        </p:txBody>
      </p:sp>
      <p:sp>
        <p:nvSpPr>
          <p:cNvPr id="145" name="while (A==0);…"/>
          <p:cNvSpPr txBox="1"/>
          <p:nvPr/>
        </p:nvSpPr>
        <p:spPr>
          <a:xfrm>
            <a:off x="3124200" y="1447800"/>
            <a:ext cx="1301314" cy="153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while (A==0);</a:t>
            </a:r>
          </a:p>
          <a:p>
            <a:pPr>
              <a:defRPr sz="1600" b="0">
                <a:solidFill>
                  <a:srgbClr val="0000FF"/>
                </a:solidFill>
                <a:latin typeface="Lucida Console"/>
                <a:ea typeface="Lucida Console"/>
                <a:cs typeface="Lucida Console"/>
                <a:sym typeface="Lucida Console"/>
              </a:defRPr>
            </a:pPr>
            <a:r>
              <a:t>B = 1;</a:t>
            </a:r>
          </a:p>
        </p:txBody>
      </p:sp>
      <p:sp>
        <p:nvSpPr>
          <p:cNvPr id="146" name="P1"/>
          <p:cNvSpPr txBox="1"/>
          <p:nvPr/>
        </p:nvSpPr>
        <p:spPr>
          <a:xfrm>
            <a:off x="1638220" y="10668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147" name="P2"/>
          <p:cNvSpPr txBox="1"/>
          <p:nvPr/>
        </p:nvSpPr>
        <p:spPr>
          <a:xfrm>
            <a:off x="3855164" y="10668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148" name="Line"/>
          <p:cNvSpPr/>
          <p:nvPr/>
        </p:nvSpPr>
        <p:spPr>
          <a:xfrm>
            <a:off x="1828800" y="2590800"/>
            <a:ext cx="1219200" cy="0"/>
          </a:xfrm>
          <a:prstGeom prst="line">
            <a:avLst/>
          </a:prstGeom>
          <a:ln w="25400">
            <a:solidFill>
              <a:srgbClr val="FF0000"/>
            </a:solidFill>
            <a:tailEnd type="triangle"/>
          </a:ln>
        </p:spPr>
        <p:txBody>
          <a:bodyPr lIns="45719" rIns="45719"/>
          <a:lstStyle/>
          <a:p>
            <a:endParaRPr/>
          </a:p>
        </p:txBody>
      </p:sp>
      <p:sp>
        <p:nvSpPr>
          <p:cNvPr id="149" name="Line"/>
          <p:cNvSpPr/>
          <p:nvPr/>
        </p:nvSpPr>
        <p:spPr>
          <a:xfrm>
            <a:off x="609600" y="2011362"/>
            <a:ext cx="7467600" cy="1"/>
          </a:xfrm>
          <a:prstGeom prst="line">
            <a:avLst/>
          </a:prstGeom>
          <a:ln w="12700">
            <a:solidFill>
              <a:srgbClr val="000000"/>
            </a:solidFill>
            <a:prstDash val="dash"/>
          </a:ln>
        </p:spPr>
        <p:txBody>
          <a:bodyPr lIns="45719" rIns="45719"/>
          <a:lstStyle/>
          <a:p>
            <a:endParaRPr/>
          </a:p>
        </p:txBody>
      </p:sp>
      <p:sp>
        <p:nvSpPr>
          <p:cNvPr id="150" name="Line"/>
          <p:cNvSpPr/>
          <p:nvPr/>
        </p:nvSpPr>
        <p:spPr>
          <a:xfrm>
            <a:off x="8426450" y="2011362"/>
            <a:ext cx="304800" cy="1"/>
          </a:xfrm>
          <a:prstGeom prst="line">
            <a:avLst/>
          </a:prstGeom>
          <a:ln w="12700">
            <a:solidFill>
              <a:srgbClr val="000000"/>
            </a:solidFill>
          </a:ln>
        </p:spPr>
        <p:txBody>
          <a:bodyPr lIns="45719" rIns="45719"/>
          <a:lstStyle/>
          <a:p>
            <a:endParaRPr/>
          </a:p>
        </p:txBody>
      </p:sp>
      <p:sp>
        <p:nvSpPr>
          <p:cNvPr id="151" name="Line"/>
          <p:cNvSpPr/>
          <p:nvPr/>
        </p:nvSpPr>
        <p:spPr>
          <a:xfrm flipV="1">
            <a:off x="8731250" y="1630362"/>
            <a:ext cx="0" cy="381001"/>
          </a:xfrm>
          <a:prstGeom prst="line">
            <a:avLst/>
          </a:prstGeom>
          <a:ln w="12700">
            <a:solidFill>
              <a:srgbClr val="000000"/>
            </a:solidFill>
            <a:tailEnd type="triangle"/>
          </a:ln>
        </p:spPr>
        <p:txBody>
          <a:bodyPr lIns="45719" rIns="45719"/>
          <a:lstStyle/>
          <a:p>
            <a:endParaRPr/>
          </a:p>
        </p:txBody>
      </p:sp>
      <p:sp>
        <p:nvSpPr>
          <p:cNvPr id="152" name="Line"/>
          <p:cNvSpPr/>
          <p:nvPr/>
        </p:nvSpPr>
        <p:spPr>
          <a:xfrm>
            <a:off x="8731250" y="2011362"/>
            <a:ext cx="0" cy="381001"/>
          </a:xfrm>
          <a:prstGeom prst="line">
            <a:avLst/>
          </a:prstGeom>
          <a:ln w="12700">
            <a:solidFill>
              <a:srgbClr val="000000"/>
            </a:solidFill>
            <a:tailEnd type="triangle"/>
          </a:ln>
        </p:spPr>
        <p:txBody>
          <a:bodyPr lIns="45719" rIns="45719"/>
          <a:lstStyle/>
          <a:p>
            <a:endParaRPr/>
          </a:p>
        </p:txBody>
      </p:sp>
      <p:sp>
        <p:nvSpPr>
          <p:cNvPr id="153" name="initialization"/>
          <p:cNvSpPr txBox="1"/>
          <p:nvPr/>
        </p:nvSpPr>
        <p:spPr>
          <a:xfrm rot="16200000">
            <a:off x="8435082" y="1141154"/>
            <a:ext cx="106477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initialization</a:t>
            </a:r>
          </a:p>
        </p:txBody>
      </p:sp>
      <p:sp>
        <p:nvSpPr>
          <p:cNvPr id="154" name="parallel"/>
          <p:cNvSpPr txBox="1"/>
          <p:nvPr/>
        </p:nvSpPr>
        <p:spPr>
          <a:xfrm rot="16200000">
            <a:off x="8635007" y="2484080"/>
            <a:ext cx="66492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parallel</a:t>
            </a:r>
          </a:p>
        </p:txBody>
      </p:sp>
      <p:sp>
        <p:nvSpPr>
          <p:cNvPr id="155" name="P1: st A # A=1…"/>
          <p:cNvSpPr txBox="1"/>
          <p:nvPr/>
        </p:nvSpPr>
        <p:spPr>
          <a:xfrm>
            <a:off x="1524000" y="3886200"/>
            <a:ext cx="1679784" cy="176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FF0000"/>
                </a:solidFill>
                <a:latin typeface="Lucida Console"/>
                <a:ea typeface="Lucida Console"/>
                <a:cs typeface="Lucida Console"/>
                <a:sym typeface="Lucida Console"/>
              </a:defRPr>
            </a:pPr>
            <a:r>
              <a:t>P1: st A # A=1</a:t>
            </a:r>
          </a:p>
          <a:p>
            <a:pPr>
              <a:defRPr sz="1800" b="0">
                <a:solidFill>
                  <a:srgbClr val="FF0000"/>
                </a:solidFill>
                <a:latin typeface="Lucida Console"/>
                <a:ea typeface="Lucida Console"/>
                <a:cs typeface="Lucida Console"/>
                <a:sym typeface="Lucida Console"/>
              </a:defRPr>
            </a:pPr>
            <a:r>
              <a:t>P1: st C # C=1</a:t>
            </a:r>
          </a:p>
          <a:p>
            <a:pPr>
              <a:defRPr sz="1800" b="0">
                <a:solidFill>
                  <a:srgbClr val="FF0000"/>
                </a:solidFill>
                <a:latin typeface="Lucida Console"/>
                <a:ea typeface="Lucida Console"/>
                <a:cs typeface="Lucida Console"/>
                <a:sym typeface="Lucida Console"/>
              </a:defRPr>
            </a:pPr>
            <a:r>
              <a:t>P2: ld A # while</a:t>
            </a:r>
          </a:p>
          <a:p>
            <a:pPr>
              <a:defRPr sz="1800" b="0">
                <a:solidFill>
                  <a:srgbClr val="FF0000"/>
                </a:solidFill>
                <a:latin typeface="Lucida Console"/>
                <a:ea typeface="Lucida Console"/>
                <a:cs typeface="Lucida Console"/>
                <a:sym typeface="Lucida Console"/>
              </a:defRPr>
            </a:pPr>
            <a:r>
              <a:t>P2: st B # B=1</a:t>
            </a:r>
          </a:p>
          <a:p>
            <a:pPr>
              <a:defRPr sz="1800" b="0">
                <a:solidFill>
                  <a:srgbClr val="FF0000"/>
                </a:solidFill>
                <a:latin typeface="Lucida Console"/>
                <a:ea typeface="Lucida Console"/>
                <a:cs typeface="Lucida Console"/>
                <a:sym typeface="Lucida Console"/>
              </a:defRPr>
            </a:pPr>
            <a:r>
              <a:t>P3: ld B # while</a:t>
            </a:r>
          </a:p>
          <a:p>
            <a:pPr>
              <a:defRPr sz="1800" b="0">
                <a:solidFill>
                  <a:srgbClr val="FF0000"/>
                </a:solidFill>
                <a:latin typeface="Lucida Console"/>
                <a:ea typeface="Lucida Console"/>
                <a:cs typeface="Lucida Console"/>
                <a:sym typeface="Lucida Console"/>
              </a:defRPr>
            </a:pPr>
            <a:r>
              <a:t>P3: ld A # print</a:t>
            </a:r>
          </a:p>
        </p:txBody>
      </p:sp>
      <p:sp>
        <p:nvSpPr>
          <p:cNvPr id="156" name="while (B==0);…"/>
          <p:cNvSpPr txBox="1"/>
          <p:nvPr/>
        </p:nvSpPr>
        <p:spPr>
          <a:xfrm>
            <a:off x="5943600" y="1447800"/>
            <a:ext cx="1301314" cy="1780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while (B==0);</a:t>
            </a:r>
          </a:p>
          <a:p>
            <a:pPr>
              <a:defRPr sz="1600" b="0">
                <a:solidFill>
                  <a:srgbClr val="0000FF"/>
                </a:solidFill>
                <a:latin typeface="Lucida Console"/>
                <a:ea typeface="Lucida Console"/>
                <a:cs typeface="Lucida Console"/>
                <a:sym typeface="Lucida Console"/>
              </a:defRPr>
            </a:pPr>
            <a:r>
              <a:t>print A;</a:t>
            </a:r>
          </a:p>
        </p:txBody>
      </p:sp>
      <p:sp>
        <p:nvSpPr>
          <p:cNvPr id="157" name="P3"/>
          <p:cNvSpPr txBox="1"/>
          <p:nvPr/>
        </p:nvSpPr>
        <p:spPr>
          <a:xfrm>
            <a:off x="6674564" y="11430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P3</a:t>
            </a:r>
          </a:p>
        </p:txBody>
      </p:sp>
      <p:sp>
        <p:nvSpPr>
          <p:cNvPr id="158" name="Line"/>
          <p:cNvSpPr/>
          <p:nvPr/>
        </p:nvSpPr>
        <p:spPr>
          <a:xfrm>
            <a:off x="4267200" y="2819400"/>
            <a:ext cx="1524000" cy="0"/>
          </a:xfrm>
          <a:prstGeom prst="line">
            <a:avLst/>
          </a:prstGeom>
          <a:ln w="25400">
            <a:solidFill>
              <a:srgbClr val="FF0000"/>
            </a:solidFill>
            <a:tailEnd type="triangle"/>
          </a:ln>
        </p:spPr>
        <p:txBody>
          <a:bodyPr lIns="45719" rIns="45719"/>
          <a:lstStyle/>
          <a:p>
            <a:endParaRPr/>
          </a:p>
        </p:txBody>
      </p:sp>
      <p:sp>
        <p:nvSpPr>
          <p:cNvPr id="159" name="Rectangle"/>
          <p:cNvSpPr/>
          <p:nvPr/>
        </p:nvSpPr>
        <p:spPr>
          <a:xfrm>
            <a:off x="1524000" y="3886200"/>
            <a:ext cx="2438400" cy="1752600"/>
          </a:xfrm>
          <a:prstGeom prst="rect">
            <a:avLst/>
          </a:prstGeom>
          <a:ln w="12700">
            <a:solidFill>
              <a:srgbClr val="000000"/>
            </a:solidFill>
          </a:ln>
        </p:spPr>
        <p:txBody>
          <a:bodyPr lIns="45719" rIns="45719" anchor="ctr"/>
          <a:lstStyle/>
          <a:p>
            <a:pPr>
              <a:defRPr sz="1800" b="0"/>
            </a:pPr>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162" name="Is this ordering SC? Yes!"/>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Is this ordering SC? Yes! </a:t>
            </a:r>
          </a:p>
        </p:txBody>
      </p:sp>
      <p:sp>
        <p:nvSpPr>
          <p:cNvPr id="163" name="A=0, B=0, C=0;…"/>
          <p:cNvSpPr txBox="1"/>
          <p:nvPr/>
        </p:nvSpPr>
        <p:spPr>
          <a:xfrm>
            <a:off x="838200" y="1447800"/>
            <a:ext cx="1499255" cy="1297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A=0, B=0, C=0;</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C = 1;</a:t>
            </a:r>
          </a:p>
          <a:p>
            <a:pPr>
              <a:defRPr sz="1600" b="0">
                <a:solidFill>
                  <a:srgbClr val="0000FF"/>
                </a:solidFill>
                <a:latin typeface="Lucida Console"/>
                <a:ea typeface="Lucida Console"/>
                <a:cs typeface="Lucida Console"/>
                <a:sym typeface="Lucida Console"/>
              </a:defRPr>
            </a:pPr>
            <a:r>
              <a:t>A = 1;</a:t>
            </a:r>
          </a:p>
        </p:txBody>
      </p:sp>
      <p:sp>
        <p:nvSpPr>
          <p:cNvPr id="164" name="while (A==0);…"/>
          <p:cNvSpPr txBox="1"/>
          <p:nvPr/>
        </p:nvSpPr>
        <p:spPr>
          <a:xfrm>
            <a:off x="3124200" y="1447800"/>
            <a:ext cx="1301314" cy="15392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while (A==0);</a:t>
            </a:r>
          </a:p>
          <a:p>
            <a:pPr>
              <a:defRPr sz="1600" b="0">
                <a:solidFill>
                  <a:srgbClr val="0000FF"/>
                </a:solidFill>
                <a:latin typeface="Lucida Console"/>
                <a:ea typeface="Lucida Console"/>
                <a:cs typeface="Lucida Console"/>
                <a:sym typeface="Lucida Console"/>
              </a:defRPr>
            </a:pPr>
            <a:r>
              <a:t>B = 1;</a:t>
            </a:r>
          </a:p>
        </p:txBody>
      </p:sp>
      <p:sp>
        <p:nvSpPr>
          <p:cNvPr id="165" name="P1"/>
          <p:cNvSpPr txBox="1"/>
          <p:nvPr/>
        </p:nvSpPr>
        <p:spPr>
          <a:xfrm>
            <a:off x="1638220" y="10668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166" name="P2"/>
          <p:cNvSpPr txBox="1"/>
          <p:nvPr/>
        </p:nvSpPr>
        <p:spPr>
          <a:xfrm>
            <a:off x="3855164" y="10668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167" name="Line"/>
          <p:cNvSpPr/>
          <p:nvPr/>
        </p:nvSpPr>
        <p:spPr>
          <a:xfrm>
            <a:off x="1828800" y="2590800"/>
            <a:ext cx="1219200" cy="0"/>
          </a:xfrm>
          <a:prstGeom prst="line">
            <a:avLst/>
          </a:prstGeom>
          <a:ln w="25400">
            <a:solidFill>
              <a:srgbClr val="FF0000"/>
            </a:solidFill>
            <a:tailEnd type="triangle"/>
          </a:ln>
        </p:spPr>
        <p:txBody>
          <a:bodyPr lIns="45719" rIns="45719"/>
          <a:lstStyle/>
          <a:p>
            <a:endParaRPr/>
          </a:p>
        </p:txBody>
      </p:sp>
      <p:sp>
        <p:nvSpPr>
          <p:cNvPr id="168" name="Line"/>
          <p:cNvSpPr/>
          <p:nvPr/>
        </p:nvSpPr>
        <p:spPr>
          <a:xfrm>
            <a:off x="609600" y="2011362"/>
            <a:ext cx="7467600" cy="1"/>
          </a:xfrm>
          <a:prstGeom prst="line">
            <a:avLst/>
          </a:prstGeom>
          <a:ln w="12700">
            <a:solidFill>
              <a:srgbClr val="000000"/>
            </a:solidFill>
            <a:prstDash val="dash"/>
          </a:ln>
        </p:spPr>
        <p:txBody>
          <a:bodyPr lIns="45719" rIns="45719"/>
          <a:lstStyle/>
          <a:p>
            <a:endParaRPr/>
          </a:p>
        </p:txBody>
      </p:sp>
      <p:sp>
        <p:nvSpPr>
          <p:cNvPr id="169" name="Line"/>
          <p:cNvSpPr/>
          <p:nvPr/>
        </p:nvSpPr>
        <p:spPr>
          <a:xfrm>
            <a:off x="8426450" y="2011362"/>
            <a:ext cx="304800" cy="1"/>
          </a:xfrm>
          <a:prstGeom prst="line">
            <a:avLst/>
          </a:prstGeom>
          <a:ln w="12700">
            <a:solidFill>
              <a:srgbClr val="000000"/>
            </a:solidFill>
          </a:ln>
        </p:spPr>
        <p:txBody>
          <a:bodyPr lIns="45719" rIns="45719"/>
          <a:lstStyle/>
          <a:p>
            <a:endParaRPr/>
          </a:p>
        </p:txBody>
      </p:sp>
      <p:sp>
        <p:nvSpPr>
          <p:cNvPr id="170" name="Line"/>
          <p:cNvSpPr/>
          <p:nvPr/>
        </p:nvSpPr>
        <p:spPr>
          <a:xfrm flipV="1">
            <a:off x="8731250" y="1630362"/>
            <a:ext cx="0" cy="381001"/>
          </a:xfrm>
          <a:prstGeom prst="line">
            <a:avLst/>
          </a:prstGeom>
          <a:ln w="12700">
            <a:solidFill>
              <a:srgbClr val="000000"/>
            </a:solidFill>
            <a:tailEnd type="triangle"/>
          </a:ln>
        </p:spPr>
        <p:txBody>
          <a:bodyPr lIns="45719" rIns="45719"/>
          <a:lstStyle/>
          <a:p>
            <a:endParaRPr/>
          </a:p>
        </p:txBody>
      </p:sp>
      <p:sp>
        <p:nvSpPr>
          <p:cNvPr id="171" name="Line"/>
          <p:cNvSpPr/>
          <p:nvPr/>
        </p:nvSpPr>
        <p:spPr>
          <a:xfrm>
            <a:off x="8731250" y="2011362"/>
            <a:ext cx="0" cy="381001"/>
          </a:xfrm>
          <a:prstGeom prst="line">
            <a:avLst/>
          </a:prstGeom>
          <a:ln w="12700">
            <a:solidFill>
              <a:srgbClr val="000000"/>
            </a:solidFill>
            <a:tailEnd type="triangle"/>
          </a:ln>
        </p:spPr>
        <p:txBody>
          <a:bodyPr lIns="45719" rIns="45719"/>
          <a:lstStyle/>
          <a:p>
            <a:endParaRPr/>
          </a:p>
        </p:txBody>
      </p:sp>
      <p:sp>
        <p:nvSpPr>
          <p:cNvPr id="172" name="initialization"/>
          <p:cNvSpPr txBox="1"/>
          <p:nvPr/>
        </p:nvSpPr>
        <p:spPr>
          <a:xfrm rot="16200000">
            <a:off x="8435082" y="1141154"/>
            <a:ext cx="106477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initialization</a:t>
            </a:r>
          </a:p>
        </p:txBody>
      </p:sp>
      <p:sp>
        <p:nvSpPr>
          <p:cNvPr id="173" name="parallel"/>
          <p:cNvSpPr txBox="1"/>
          <p:nvPr/>
        </p:nvSpPr>
        <p:spPr>
          <a:xfrm rot="16200000">
            <a:off x="8635007" y="2484080"/>
            <a:ext cx="664926" cy="3200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lvl1pPr>
          </a:lstStyle>
          <a:p>
            <a:r>
              <a:t>parallel</a:t>
            </a:r>
          </a:p>
        </p:txBody>
      </p:sp>
      <p:sp>
        <p:nvSpPr>
          <p:cNvPr id="174" name="P1: st A # A=1…"/>
          <p:cNvSpPr txBox="1"/>
          <p:nvPr/>
        </p:nvSpPr>
        <p:spPr>
          <a:xfrm>
            <a:off x="1524000" y="3886200"/>
            <a:ext cx="1679784" cy="176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FF0000"/>
                </a:solidFill>
                <a:latin typeface="Lucida Console"/>
                <a:ea typeface="Lucida Console"/>
                <a:cs typeface="Lucida Console"/>
                <a:sym typeface="Lucida Console"/>
              </a:defRPr>
            </a:pPr>
            <a:r>
              <a:t>P1: st A # A=1</a:t>
            </a:r>
          </a:p>
          <a:p>
            <a:pPr>
              <a:defRPr sz="1800" b="0">
                <a:solidFill>
                  <a:srgbClr val="FF0000"/>
                </a:solidFill>
                <a:latin typeface="Lucida Console"/>
                <a:ea typeface="Lucida Console"/>
                <a:cs typeface="Lucida Console"/>
                <a:sym typeface="Lucida Console"/>
              </a:defRPr>
            </a:pPr>
            <a:r>
              <a:t>P1: st C # C=1</a:t>
            </a:r>
          </a:p>
          <a:p>
            <a:pPr>
              <a:defRPr sz="1800" b="0">
                <a:solidFill>
                  <a:srgbClr val="FF0000"/>
                </a:solidFill>
                <a:latin typeface="Lucida Console"/>
                <a:ea typeface="Lucida Console"/>
                <a:cs typeface="Lucida Console"/>
                <a:sym typeface="Lucida Console"/>
              </a:defRPr>
            </a:pPr>
            <a:r>
              <a:t>P2: ld A # while</a:t>
            </a:r>
          </a:p>
          <a:p>
            <a:pPr>
              <a:defRPr sz="1800" b="0">
                <a:solidFill>
                  <a:srgbClr val="FF0000"/>
                </a:solidFill>
                <a:latin typeface="Lucida Console"/>
                <a:ea typeface="Lucida Console"/>
                <a:cs typeface="Lucida Console"/>
                <a:sym typeface="Lucida Console"/>
              </a:defRPr>
            </a:pPr>
            <a:r>
              <a:t>P2: st B # B=1</a:t>
            </a:r>
          </a:p>
          <a:p>
            <a:pPr>
              <a:defRPr sz="1800" b="0">
                <a:solidFill>
                  <a:srgbClr val="FF0000"/>
                </a:solidFill>
                <a:latin typeface="Lucida Console"/>
                <a:ea typeface="Lucida Console"/>
                <a:cs typeface="Lucida Console"/>
                <a:sym typeface="Lucida Console"/>
              </a:defRPr>
            </a:pPr>
            <a:r>
              <a:t>P3: ld B # while</a:t>
            </a:r>
          </a:p>
          <a:p>
            <a:pPr>
              <a:defRPr sz="1800" b="0">
                <a:solidFill>
                  <a:srgbClr val="FF0000"/>
                </a:solidFill>
                <a:latin typeface="Lucida Console"/>
                <a:ea typeface="Lucida Console"/>
                <a:cs typeface="Lucida Console"/>
                <a:sym typeface="Lucida Console"/>
              </a:defRPr>
            </a:pPr>
            <a:r>
              <a:t>P3: ld A # print</a:t>
            </a:r>
          </a:p>
        </p:txBody>
      </p:sp>
      <p:sp>
        <p:nvSpPr>
          <p:cNvPr id="175" name="while (B==0);…"/>
          <p:cNvSpPr txBox="1"/>
          <p:nvPr/>
        </p:nvSpPr>
        <p:spPr>
          <a:xfrm>
            <a:off x="5943600" y="1447800"/>
            <a:ext cx="1301314" cy="1780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while (B==0);</a:t>
            </a:r>
          </a:p>
          <a:p>
            <a:pPr>
              <a:defRPr sz="1600" b="0">
                <a:solidFill>
                  <a:srgbClr val="0000FF"/>
                </a:solidFill>
                <a:latin typeface="Lucida Console"/>
                <a:ea typeface="Lucida Console"/>
                <a:cs typeface="Lucida Console"/>
                <a:sym typeface="Lucida Console"/>
              </a:defRPr>
            </a:pPr>
            <a:r>
              <a:t>print A;</a:t>
            </a:r>
          </a:p>
        </p:txBody>
      </p:sp>
      <p:sp>
        <p:nvSpPr>
          <p:cNvPr id="176" name="P3"/>
          <p:cNvSpPr txBox="1"/>
          <p:nvPr/>
        </p:nvSpPr>
        <p:spPr>
          <a:xfrm>
            <a:off x="6674564" y="11430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P3</a:t>
            </a:r>
          </a:p>
        </p:txBody>
      </p:sp>
      <p:sp>
        <p:nvSpPr>
          <p:cNvPr id="177" name="Line"/>
          <p:cNvSpPr/>
          <p:nvPr/>
        </p:nvSpPr>
        <p:spPr>
          <a:xfrm>
            <a:off x="4267200" y="2819400"/>
            <a:ext cx="1524000" cy="0"/>
          </a:xfrm>
          <a:prstGeom prst="line">
            <a:avLst/>
          </a:prstGeom>
          <a:ln w="25400">
            <a:solidFill>
              <a:srgbClr val="FF0000"/>
            </a:solidFill>
            <a:tailEnd type="triangle"/>
          </a:ln>
        </p:spPr>
        <p:txBody>
          <a:bodyPr lIns="45719" rIns="45719"/>
          <a:lstStyle/>
          <a:p>
            <a:endParaRPr/>
          </a:p>
        </p:txBody>
      </p:sp>
      <p:sp>
        <p:nvSpPr>
          <p:cNvPr id="178" name="Rectangle"/>
          <p:cNvSpPr/>
          <p:nvPr/>
        </p:nvSpPr>
        <p:spPr>
          <a:xfrm>
            <a:off x="1524000" y="3886200"/>
            <a:ext cx="2438400" cy="1752600"/>
          </a:xfrm>
          <a:prstGeom prst="rect">
            <a:avLst/>
          </a:prstGeom>
          <a:ln w="12700">
            <a:solidFill>
              <a:srgbClr val="000000"/>
            </a:solidFill>
          </a:ln>
        </p:spPr>
        <p:txBody>
          <a:bodyPr lIns="45719" rIns="45719" anchor="ctr"/>
          <a:lstStyle/>
          <a:p>
            <a:pPr>
              <a:defRPr sz="1800" b="0"/>
            </a:pPr>
            <a:endParaRPr/>
          </a:p>
        </p:txBody>
      </p:sp>
      <p:sp>
        <p:nvSpPr>
          <p:cNvPr id="179" name="P1: st C # C=1…"/>
          <p:cNvSpPr txBox="1"/>
          <p:nvPr/>
        </p:nvSpPr>
        <p:spPr>
          <a:xfrm>
            <a:off x="4876800" y="3962400"/>
            <a:ext cx="1679784" cy="1767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solidFill>
                  <a:srgbClr val="FF0000"/>
                </a:solidFill>
                <a:latin typeface="Lucida Console"/>
                <a:ea typeface="Lucida Console"/>
                <a:cs typeface="Lucida Console"/>
                <a:sym typeface="Lucida Console"/>
              </a:defRPr>
            </a:pPr>
            <a:r>
              <a:t>P1: st C # C=1</a:t>
            </a:r>
          </a:p>
          <a:p>
            <a:pPr>
              <a:defRPr sz="1800" b="0">
                <a:solidFill>
                  <a:srgbClr val="FF0000"/>
                </a:solidFill>
                <a:latin typeface="Lucida Console"/>
                <a:ea typeface="Lucida Console"/>
                <a:cs typeface="Lucida Console"/>
                <a:sym typeface="Lucida Console"/>
              </a:defRPr>
            </a:pPr>
            <a:r>
              <a:t>P1: st A # A=1</a:t>
            </a:r>
          </a:p>
          <a:p>
            <a:pPr>
              <a:defRPr sz="1800" b="0">
                <a:solidFill>
                  <a:srgbClr val="FF0000"/>
                </a:solidFill>
                <a:latin typeface="Lucida Console"/>
                <a:ea typeface="Lucida Console"/>
                <a:cs typeface="Lucida Console"/>
                <a:sym typeface="Lucida Console"/>
              </a:defRPr>
            </a:pPr>
            <a:r>
              <a:t>P2: ld A # while</a:t>
            </a:r>
          </a:p>
          <a:p>
            <a:pPr>
              <a:defRPr sz="1800" b="0">
                <a:solidFill>
                  <a:srgbClr val="FF0000"/>
                </a:solidFill>
                <a:latin typeface="Lucida Console"/>
                <a:ea typeface="Lucida Console"/>
                <a:cs typeface="Lucida Console"/>
                <a:sym typeface="Lucida Console"/>
              </a:defRPr>
            </a:pPr>
            <a:r>
              <a:t>P2: st B # B=1</a:t>
            </a:r>
          </a:p>
          <a:p>
            <a:pPr>
              <a:defRPr sz="1800" b="0">
                <a:solidFill>
                  <a:srgbClr val="FF0000"/>
                </a:solidFill>
                <a:latin typeface="Lucida Console"/>
                <a:ea typeface="Lucida Console"/>
                <a:cs typeface="Lucida Console"/>
                <a:sym typeface="Lucida Console"/>
              </a:defRPr>
            </a:pPr>
            <a:r>
              <a:t>P3: ld B # while</a:t>
            </a:r>
          </a:p>
          <a:p>
            <a:pPr>
              <a:defRPr sz="1800" b="0">
                <a:solidFill>
                  <a:srgbClr val="FF0000"/>
                </a:solidFill>
                <a:latin typeface="Lucida Console"/>
                <a:ea typeface="Lucida Console"/>
                <a:cs typeface="Lucida Console"/>
                <a:sym typeface="Lucida Console"/>
              </a:defRPr>
            </a:pPr>
            <a:r>
              <a:t>P3: ld A # print</a:t>
            </a:r>
          </a:p>
        </p:txBody>
      </p:sp>
      <p:sp>
        <p:nvSpPr>
          <p:cNvPr id="180" name="Rectangle"/>
          <p:cNvSpPr/>
          <p:nvPr/>
        </p:nvSpPr>
        <p:spPr>
          <a:xfrm>
            <a:off x="4876800" y="3962400"/>
            <a:ext cx="2438400" cy="1752600"/>
          </a:xfrm>
          <a:prstGeom prst="rect">
            <a:avLst/>
          </a:prstGeom>
          <a:ln w="12700">
            <a:solidFill>
              <a:srgbClr val="000000"/>
            </a:solidFill>
          </a:ln>
        </p:spPr>
        <p:txBody>
          <a:bodyPr lIns="45719" rIns="45719" anchor="ctr"/>
          <a:lstStyle/>
          <a:p>
            <a:pPr>
              <a:defRPr sz="1800" b="0"/>
            </a:pPr>
            <a:endParaRPr/>
          </a:p>
        </p:txBody>
      </p:sp>
      <p:sp>
        <p:nvSpPr>
          <p:cNvPr id="181" name="The values returned by the reads of the execution on the left matches that of the SC execution on the right!"/>
          <p:cNvSpPr txBox="1"/>
          <p:nvPr/>
        </p:nvSpPr>
        <p:spPr>
          <a:xfrm>
            <a:off x="1445046" y="3202939"/>
            <a:ext cx="5999908" cy="624841"/>
          </a:xfrm>
          <a:prstGeom prst="rect">
            <a:avLst/>
          </a:prstGeom>
          <a:solidFill>
            <a:srgbClr val="FF0000">
              <a:alpha val="43136"/>
            </a:srgb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0"/>
            </a:lvl1pPr>
          </a:lstStyle>
          <a:p>
            <a:r>
              <a:t>The values returned by the reads of the execution on the left matches that of the SC execution on the right!</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184" name="Terminology"/>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Terminology</a:t>
            </a:r>
          </a:p>
        </p:txBody>
      </p:sp>
      <p:sp>
        <p:nvSpPr>
          <p:cNvPr id="185" name="Issue: memory operation leaves the processor and becomes visible to the memory subsystem…"/>
          <p:cNvSpPr txBox="1">
            <a:spLocks noGrp="1"/>
          </p:cNvSpPr>
          <p:nvPr>
            <p:ph type="body" idx="4294967295"/>
          </p:nvPr>
        </p:nvSpPr>
        <p:spPr>
          <a:xfrm>
            <a:off x="457200" y="1143000"/>
            <a:ext cx="8534400" cy="4343400"/>
          </a:xfrm>
          <a:prstGeom prst="rect">
            <a:avLst/>
          </a:prstGeom>
        </p:spPr>
        <p:txBody>
          <a:bodyPr>
            <a:normAutofit fontScale="92500" lnSpcReduction="20000"/>
          </a:bodyPr>
          <a:lstStyle/>
          <a:p>
            <a:pPr marL="322325" indent="-322325" defTabSz="859536">
              <a:spcBef>
                <a:spcPts val="500"/>
              </a:spcBef>
              <a:buChar char="▪"/>
              <a:defRPr sz="2256"/>
            </a:pPr>
            <a:r>
              <a:rPr dirty="0"/>
              <a:t>Issue: memory operation leaves the processor and becomes visible to the memory subsystem</a:t>
            </a:r>
          </a:p>
          <a:p>
            <a:pPr marL="322325" indent="-322325" defTabSz="859536">
              <a:spcBef>
                <a:spcPts val="500"/>
              </a:spcBef>
              <a:buChar char="▪"/>
              <a:defRPr sz="2256"/>
            </a:pPr>
            <a:r>
              <a:rPr dirty="0"/>
              <a:t>Performed: memory operation appears to have taken place</a:t>
            </a:r>
          </a:p>
          <a:p>
            <a:pPr marL="698373" lvl="1" indent="-268604" defTabSz="859536">
              <a:spcBef>
                <a:spcPts val="0"/>
              </a:spcBef>
              <a:buClrTx/>
              <a:defRPr sz="1879"/>
            </a:pPr>
            <a:r>
              <a:rPr dirty="0"/>
              <a:t>Performed </a:t>
            </a:r>
            <a:r>
              <a:rPr dirty="0" err="1"/>
              <a:t>w.r.t.</a:t>
            </a:r>
            <a:r>
              <a:rPr dirty="0"/>
              <a:t> processor X: as far as processor X can tell</a:t>
            </a:r>
          </a:p>
          <a:p>
            <a:pPr marL="1074419" lvl="2" indent="-214884" defTabSz="859536">
              <a:spcBef>
                <a:spcPts val="0"/>
              </a:spcBef>
              <a:buClrTx/>
              <a:defRPr sz="1692"/>
            </a:pPr>
            <a:r>
              <a:rPr dirty="0"/>
              <a:t>E.g., a store S by processor Y to variable A is performed </a:t>
            </a:r>
            <a:r>
              <a:rPr dirty="0" err="1"/>
              <a:t>w.r.t.</a:t>
            </a:r>
            <a:r>
              <a:rPr dirty="0"/>
              <a:t> processor X if a subsequent load by X to A returns the value of S (or the value of a store later than S, but never a value older than that of S)</a:t>
            </a:r>
          </a:p>
          <a:p>
            <a:pPr marL="1074419" lvl="2" indent="-214884" defTabSz="859536">
              <a:spcBef>
                <a:spcPts val="0"/>
              </a:spcBef>
              <a:buClrTx/>
              <a:defRPr sz="1692"/>
            </a:pPr>
            <a:r>
              <a:rPr dirty="0"/>
              <a:t>E.g., a load L is performed </a:t>
            </a:r>
            <a:r>
              <a:rPr dirty="0" err="1"/>
              <a:t>w.r.t.</a:t>
            </a:r>
            <a:r>
              <a:rPr dirty="0"/>
              <a:t> processor X if all subsequent stores </a:t>
            </a:r>
            <a:r>
              <a:rPr lang="en-US" dirty="0"/>
              <a:t>from processor X </a:t>
            </a:r>
            <a:r>
              <a:rPr dirty="0"/>
              <a:t>cannot affect the value returned by L</a:t>
            </a:r>
          </a:p>
          <a:p>
            <a:pPr marL="698373" lvl="1" indent="-268604" defTabSz="859536">
              <a:spcBef>
                <a:spcPts val="0"/>
              </a:spcBef>
              <a:buClrTx/>
              <a:defRPr sz="1879"/>
            </a:pPr>
            <a:r>
              <a:rPr dirty="0"/>
              <a:t>Globally performed or complete: performed </a:t>
            </a:r>
            <a:r>
              <a:rPr dirty="0" err="1"/>
              <a:t>w.r.t.</a:t>
            </a:r>
            <a:r>
              <a:rPr dirty="0"/>
              <a:t> to all processors</a:t>
            </a:r>
          </a:p>
          <a:p>
            <a:pPr marL="1074419" lvl="2" indent="-214884" defTabSz="859536">
              <a:spcBef>
                <a:spcPts val="0"/>
              </a:spcBef>
              <a:buClrTx/>
              <a:defRPr sz="1692"/>
            </a:pPr>
            <a:r>
              <a:rPr dirty="0"/>
              <a:t>E.g., a store S by processor Y to variable A is globally performed if any subsequent load by any processor to A returns the value of S</a:t>
            </a:r>
          </a:p>
          <a:p>
            <a:pPr marL="322325" indent="-322325" defTabSz="859536">
              <a:spcBef>
                <a:spcPts val="500"/>
              </a:spcBef>
              <a:buChar char="▪"/>
              <a:defRPr sz="2256"/>
            </a:pPr>
            <a:r>
              <a:rPr dirty="0"/>
              <a:t>X consistent execution: result of </a:t>
            </a:r>
            <a:r>
              <a:rPr u="sng" dirty="0"/>
              <a:t>any</a:t>
            </a:r>
            <a:r>
              <a:rPr dirty="0"/>
              <a:t> execution that matches </a:t>
            </a:r>
            <a:r>
              <a:rPr u="sng" dirty="0"/>
              <a:t>one of</a:t>
            </a:r>
            <a:r>
              <a:rPr dirty="0"/>
              <a:t> the possible total orders (</a:t>
            </a:r>
            <a:r>
              <a:rPr dirty="0" err="1"/>
              <a:t>interleavings</a:t>
            </a:r>
            <a:r>
              <a:rPr dirty="0"/>
              <a:t>) as defined by model X</a:t>
            </a:r>
          </a:p>
          <a:p>
            <a:pPr marL="698373" lvl="1" indent="-268604" defTabSz="859536">
              <a:spcBef>
                <a:spcPts val="0"/>
              </a:spcBef>
              <a:buClrTx/>
              <a:defRPr sz="1879"/>
            </a:pPr>
            <a:r>
              <a:rPr dirty="0"/>
              <a:t>“Result of an execution”: Values returned by the reads</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188" name="Sequential Consistency (SC)"/>
          <p:cNvSpPr txBox="1">
            <a:spLocks noGrp="1"/>
          </p:cNvSpPr>
          <p:nvPr>
            <p:ph type="title" idx="4294967295"/>
          </p:nvPr>
        </p:nvSpPr>
        <p:spPr>
          <a:xfrm>
            <a:off x="685800" y="152400"/>
            <a:ext cx="8077200" cy="838200"/>
          </a:xfrm>
          <a:prstGeom prst="rect">
            <a:avLst/>
          </a:prstGeom>
        </p:spPr>
        <p:txBody>
          <a:bodyPr>
            <a:normAutofit/>
          </a:bodyPr>
          <a:lstStyle>
            <a:lvl1pPr>
              <a:defRPr sz="4000"/>
            </a:lvl1pPr>
          </a:lstStyle>
          <a:p>
            <a:r>
              <a:t>Sequential Consistency (SC)</a:t>
            </a:r>
          </a:p>
        </p:txBody>
      </p:sp>
      <p:sp>
        <p:nvSpPr>
          <p:cNvPr id="189" name="Sufficient conditions…"/>
          <p:cNvSpPr txBox="1">
            <a:spLocks noGrp="1"/>
          </p:cNvSpPr>
          <p:nvPr>
            <p:ph type="body" idx="4294967295"/>
          </p:nvPr>
        </p:nvSpPr>
        <p:spPr>
          <a:xfrm>
            <a:off x="457200" y="1143000"/>
            <a:ext cx="8458200" cy="4343400"/>
          </a:xfrm>
          <a:prstGeom prst="rect">
            <a:avLst/>
          </a:prstGeom>
        </p:spPr>
        <p:txBody>
          <a:bodyPr>
            <a:normAutofit fontScale="92500" lnSpcReduction="10000"/>
          </a:bodyPr>
          <a:lstStyle/>
          <a:p>
            <a:pPr>
              <a:spcBef>
                <a:spcPts val="500"/>
              </a:spcBef>
              <a:buChar char="▪"/>
              <a:defRPr sz="2400" u="sng"/>
            </a:pPr>
            <a:r>
              <a:t>Sufficient</a:t>
            </a:r>
            <a:r>
              <a:rPr u="none"/>
              <a:t> conditions</a:t>
            </a:r>
          </a:p>
          <a:p>
            <a:pPr marL="285750" lvl="1" indent="171450">
              <a:spcBef>
                <a:spcPts val="0"/>
              </a:spcBef>
              <a:buSzTx/>
              <a:buFont typeface="Wingdings"/>
              <a:buNone/>
              <a:defRPr sz="2000"/>
            </a:pPr>
            <a:r>
              <a:t>1.  Threads issue memory operations in program order</a:t>
            </a:r>
          </a:p>
          <a:p>
            <a:pPr marL="285750" lvl="1" indent="171450">
              <a:spcBef>
                <a:spcPts val="0"/>
              </a:spcBef>
              <a:buSzTx/>
              <a:buFont typeface="Wingdings"/>
              <a:buNone/>
              <a:defRPr sz="2000"/>
            </a:pPr>
            <a:r>
              <a:t>2.  Before issuing next memory operation threads wait until last issued memory operation completes (i.e., performs w.r.t. all other processors)</a:t>
            </a:r>
          </a:p>
          <a:p>
            <a:pPr marL="285750" lvl="1" indent="171450">
              <a:spcBef>
                <a:spcPts val="0"/>
              </a:spcBef>
              <a:buSzTx/>
              <a:buFont typeface="Wingdings"/>
              <a:buNone/>
              <a:defRPr sz="2000"/>
            </a:pPr>
            <a:r>
              <a:t>3.  A read is allowed to complete only if the matching write (i.e., the one whose value is returned to the read) also completes</a:t>
            </a:r>
          </a:p>
          <a:p>
            <a:pPr>
              <a:spcBef>
                <a:spcPts val="500"/>
              </a:spcBef>
              <a:buChar char="▪"/>
              <a:defRPr sz="2400"/>
            </a:pPr>
            <a:r>
              <a:t>Notes:</a:t>
            </a:r>
          </a:p>
          <a:p>
            <a:pPr marL="742950" lvl="1" indent="-285750">
              <a:spcBef>
                <a:spcPts val="0"/>
              </a:spcBef>
              <a:buClrTx/>
              <a:defRPr sz="2000"/>
            </a:pPr>
            <a:r>
              <a:t>Condition 2 guarantees program ordering</a:t>
            </a:r>
          </a:p>
          <a:p>
            <a:pPr marL="742950" lvl="1" indent="-285750">
              <a:spcBef>
                <a:spcPts val="0"/>
              </a:spcBef>
              <a:buClrTx/>
              <a:defRPr sz="2000"/>
            </a:pPr>
            <a:r>
              <a:t>Condition 3 guarantees write atomicity</a:t>
            </a:r>
          </a:p>
          <a:p>
            <a:pPr marL="742950" lvl="1" indent="-285750">
              <a:spcBef>
                <a:spcPts val="0"/>
              </a:spcBef>
              <a:buClrTx/>
              <a:defRPr sz="2000"/>
            </a:pPr>
            <a:r>
              <a:t>These conditions are easily violated in real hardware and compilers (e.g., write buffers in hdw. and ld-st scheduling in compiler)</a:t>
            </a:r>
          </a:p>
          <a:p>
            <a:pPr marL="742950" lvl="1" indent="-285750">
              <a:spcBef>
                <a:spcPts val="0"/>
              </a:spcBef>
              <a:buClrTx/>
              <a:defRPr sz="2000"/>
            </a:pPr>
            <a:r>
              <a:t>In practice </a:t>
            </a:r>
            <a:r>
              <a:rPr u="sng"/>
              <a:t>necessary</a:t>
            </a:r>
            <a:r>
              <a:t> conditions may be more relaxed</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Write-Serialization vs Write-Atomicity"/>
          <p:cNvSpPr txBox="1">
            <a:spLocks noGrp="1"/>
          </p:cNvSpPr>
          <p:nvPr>
            <p:ph type="title" idx="4294967295"/>
          </p:nvPr>
        </p:nvSpPr>
        <p:spPr>
          <a:xfrm>
            <a:off x="152400" y="152400"/>
            <a:ext cx="8305800" cy="838200"/>
          </a:xfrm>
          <a:prstGeom prst="rect">
            <a:avLst/>
          </a:prstGeom>
        </p:spPr>
        <p:txBody>
          <a:bodyPr>
            <a:normAutofit fontScale="90000"/>
          </a:bodyPr>
          <a:lstStyle>
            <a:lvl1pPr>
              <a:defRPr sz="3900"/>
            </a:lvl1pPr>
          </a:lstStyle>
          <a:p>
            <a:r>
              <a:rPr dirty="0"/>
              <a:t>Write-Serialization vs Write-Atomicity</a:t>
            </a:r>
          </a:p>
        </p:txBody>
      </p:sp>
      <p:sp>
        <p:nvSpPr>
          <p:cNvPr id="192" name="// Initially all values are 0.…"/>
          <p:cNvSpPr txBox="1">
            <a:spLocks noGrp="1"/>
          </p:cNvSpPr>
          <p:nvPr>
            <p:ph type="body" idx="4294967295"/>
          </p:nvPr>
        </p:nvSpPr>
        <p:spPr>
          <a:xfrm>
            <a:off x="685800" y="1524000"/>
            <a:ext cx="7772400" cy="4343400"/>
          </a:xfrm>
          <a:prstGeom prst="rect">
            <a:avLst/>
          </a:prstGeom>
        </p:spPr>
        <p:txBody>
          <a:bodyPr>
            <a:normAutofit fontScale="92500" lnSpcReduction="20000"/>
          </a:bodyPr>
          <a:lstStyle/>
          <a:p>
            <a:pPr marL="322325" indent="-322325" defTabSz="859536">
              <a:spcBef>
                <a:spcPts val="500"/>
              </a:spcBef>
              <a:buSzTx/>
              <a:buFont typeface="Wingdings"/>
              <a:buNone/>
              <a:defRPr sz="2256"/>
            </a:pPr>
            <a:r>
              <a:rPr dirty="0"/>
              <a:t>// Initially all values are 0.</a:t>
            </a:r>
          </a:p>
          <a:p>
            <a:pPr marL="322325" indent="-322325" defTabSz="859536">
              <a:spcBef>
                <a:spcPts val="500"/>
              </a:spcBef>
              <a:buSzTx/>
              <a:buFont typeface="Wingdings"/>
              <a:buNone/>
              <a:defRPr sz="2256">
                <a:solidFill>
                  <a:srgbClr val="FF0000"/>
                </a:solidFill>
              </a:defRPr>
            </a:pPr>
            <a:r>
              <a:rPr dirty="0"/>
              <a:t>P1             P2                  P3              P4</a:t>
            </a:r>
          </a:p>
          <a:p>
            <a:pPr marL="322325" indent="-322325" defTabSz="859536">
              <a:spcBef>
                <a:spcPts val="500"/>
              </a:spcBef>
              <a:buSzTx/>
              <a:buFont typeface="Wingdings"/>
              <a:buNone/>
              <a:defRPr sz="2256">
                <a:solidFill>
                  <a:srgbClr val="0000FF"/>
                </a:solidFill>
              </a:defRPr>
            </a:pPr>
            <a:r>
              <a:rPr dirty="0"/>
              <a:t>X= 1                                                  X=2</a:t>
            </a:r>
          </a:p>
          <a:p>
            <a:pPr marL="322325" indent="-322325" defTabSz="859536">
              <a:spcBef>
                <a:spcPts val="500"/>
              </a:spcBef>
              <a:buSzTx/>
              <a:buFont typeface="Wingdings"/>
              <a:buNone/>
              <a:defRPr sz="2256">
                <a:solidFill>
                  <a:srgbClr val="0000FF"/>
                </a:solidFill>
              </a:defRPr>
            </a:pPr>
            <a:r>
              <a:rPr dirty="0"/>
              <a:t>                  =X(1)             =X(2)</a:t>
            </a:r>
          </a:p>
          <a:p>
            <a:pPr marL="322325" indent="-322325" defTabSz="859536">
              <a:spcBef>
                <a:spcPts val="500"/>
              </a:spcBef>
              <a:buSzTx/>
              <a:buFont typeface="Wingdings"/>
              <a:buNone/>
              <a:defRPr sz="2256">
                <a:solidFill>
                  <a:srgbClr val="0000FF"/>
                </a:solidFill>
              </a:defRPr>
            </a:pPr>
            <a:r>
              <a:rPr dirty="0"/>
              <a:t>                  =X(2)             =X(1)</a:t>
            </a:r>
          </a:p>
          <a:p>
            <a:pPr marL="322325" indent="-322325" defTabSz="859536">
              <a:buSzTx/>
              <a:buFont typeface="Wingdings"/>
              <a:buNone/>
              <a:defRPr sz="2256"/>
            </a:pPr>
            <a:endParaRPr dirty="0"/>
          </a:p>
          <a:p>
            <a:pPr marL="322325" indent="-322325" defTabSz="859536">
              <a:buSzTx/>
              <a:buFont typeface="Wingdings"/>
              <a:buNone/>
              <a:defRPr sz="2256"/>
            </a:pPr>
            <a:endParaRPr dirty="0"/>
          </a:p>
          <a:p>
            <a:pPr marL="322325" indent="-322325" defTabSz="859536">
              <a:spcBef>
                <a:spcPts val="500"/>
              </a:spcBef>
              <a:buSzTx/>
              <a:buFont typeface="Wingdings"/>
              <a:buNone/>
              <a:defRPr sz="2256">
                <a:solidFill>
                  <a:srgbClr val="FF0000"/>
                </a:solidFill>
              </a:defRPr>
            </a:pPr>
            <a:r>
              <a:rPr dirty="0"/>
              <a:t>P1             P2                  P3              P4</a:t>
            </a:r>
          </a:p>
          <a:p>
            <a:pPr marL="322325" indent="-322325" defTabSz="859536">
              <a:spcBef>
                <a:spcPts val="500"/>
              </a:spcBef>
              <a:buSzTx/>
              <a:buFont typeface="Wingdings"/>
              <a:buNone/>
              <a:defRPr sz="2256">
                <a:solidFill>
                  <a:srgbClr val="0000FF"/>
                </a:solidFill>
              </a:defRPr>
            </a:pPr>
            <a:r>
              <a:rPr dirty="0"/>
              <a:t>X= 1                                                  Y=1</a:t>
            </a:r>
          </a:p>
          <a:p>
            <a:pPr marL="322325" indent="-322325" defTabSz="859536">
              <a:spcBef>
                <a:spcPts val="500"/>
              </a:spcBef>
              <a:buSzTx/>
              <a:buFont typeface="Wingdings"/>
              <a:buNone/>
              <a:defRPr sz="2256">
                <a:solidFill>
                  <a:srgbClr val="0000FF"/>
                </a:solidFill>
              </a:defRPr>
            </a:pPr>
            <a:r>
              <a:rPr dirty="0"/>
              <a:t>                  =X(1)             =Y(1)</a:t>
            </a:r>
          </a:p>
          <a:p>
            <a:pPr marL="322325" indent="-322325" defTabSz="859536">
              <a:spcBef>
                <a:spcPts val="500"/>
              </a:spcBef>
              <a:buSzTx/>
              <a:buFont typeface="Wingdings"/>
              <a:buNone/>
              <a:defRPr sz="2256">
                <a:solidFill>
                  <a:srgbClr val="0000FF"/>
                </a:solidFill>
              </a:defRPr>
            </a:pPr>
            <a:r>
              <a:rPr dirty="0"/>
              <a:t>                  =Y(0)             =X(0)</a:t>
            </a:r>
          </a:p>
        </p:txBody>
      </p:sp>
      <p:sp>
        <p:nvSpPr>
          <p:cNvPr id="193"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194" name="Violation of…"/>
          <p:cNvSpPr txBox="1"/>
          <p:nvPr/>
        </p:nvSpPr>
        <p:spPr>
          <a:xfrm>
            <a:off x="6400800" y="2743200"/>
            <a:ext cx="1705903" cy="624840"/>
          </a:xfrm>
          <a:prstGeom prst="rect">
            <a:avLst/>
          </a:prstGeom>
          <a:solidFill>
            <a:srgbClr val="FF0000">
              <a:alpha val="43136"/>
            </a:srgb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pPr>
            <a:r>
              <a:t>Violation of </a:t>
            </a:r>
          </a:p>
          <a:p>
            <a:pPr>
              <a:defRPr sz="1800" b="0"/>
            </a:pPr>
            <a:r>
              <a:t>Write-serialization</a:t>
            </a:r>
          </a:p>
        </p:txBody>
      </p:sp>
      <p:sp>
        <p:nvSpPr>
          <p:cNvPr id="195" name="Violation of…"/>
          <p:cNvSpPr txBox="1"/>
          <p:nvPr/>
        </p:nvSpPr>
        <p:spPr>
          <a:xfrm>
            <a:off x="6400800" y="5410200"/>
            <a:ext cx="1472503" cy="624840"/>
          </a:xfrm>
          <a:prstGeom prst="rect">
            <a:avLst/>
          </a:prstGeom>
          <a:solidFill>
            <a:srgbClr val="FF0000">
              <a:alpha val="50195"/>
            </a:srgb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800" b="0"/>
            </a:pPr>
            <a:r>
              <a:t>Violation of </a:t>
            </a:r>
          </a:p>
          <a:p>
            <a:pPr>
              <a:defRPr sz="1800" b="0"/>
            </a:pPr>
            <a:r>
              <a:t>Write-atomicity</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How SC can be violated"/>
          <p:cNvSpPr txBox="1">
            <a:spLocks noGrp="1"/>
          </p:cNvSpPr>
          <p:nvPr>
            <p:ph type="title" idx="4294967295"/>
          </p:nvPr>
        </p:nvSpPr>
        <p:spPr>
          <a:xfrm>
            <a:off x="685800" y="152400"/>
            <a:ext cx="7772400" cy="838200"/>
          </a:xfrm>
          <a:prstGeom prst="rect">
            <a:avLst/>
          </a:prstGeom>
        </p:spPr>
        <p:txBody>
          <a:bodyPr>
            <a:normAutofit/>
          </a:bodyPr>
          <a:lstStyle/>
          <a:p>
            <a:r>
              <a:t>How SC can be violated</a:t>
            </a:r>
          </a:p>
        </p:txBody>
      </p:sp>
      <p:sp>
        <p:nvSpPr>
          <p:cNvPr id="198"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199" name="P1"/>
          <p:cNvSpPr txBox="1"/>
          <p:nvPr/>
        </p:nvSpPr>
        <p:spPr>
          <a:xfrm>
            <a:off x="2552620" y="19050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200" name="P2"/>
          <p:cNvSpPr txBox="1"/>
          <p:nvPr/>
        </p:nvSpPr>
        <p:spPr>
          <a:xfrm>
            <a:off x="5379958" y="19050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201" name="flag1 = 1…"/>
          <p:cNvSpPr txBox="1"/>
          <p:nvPr/>
        </p:nvSpPr>
        <p:spPr>
          <a:xfrm>
            <a:off x="1905000" y="2438400"/>
            <a:ext cx="1244958" cy="1780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flag1 = 1</a:t>
            </a: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if(flag2 == 0)</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   /* critical*/</a:t>
            </a:r>
          </a:p>
          <a:p>
            <a:pPr>
              <a:defRPr sz="1600" b="0">
                <a:solidFill>
                  <a:srgbClr val="0000FF"/>
                </a:solidFill>
                <a:latin typeface="Lucida Console"/>
                <a:ea typeface="Lucida Console"/>
                <a:cs typeface="Lucida Console"/>
                <a:sym typeface="Lucida Console"/>
              </a:defRPr>
            </a:pPr>
            <a:r>
              <a:t>}</a:t>
            </a:r>
          </a:p>
        </p:txBody>
      </p:sp>
      <p:sp>
        <p:nvSpPr>
          <p:cNvPr id="202" name="flag2 = 1…"/>
          <p:cNvSpPr txBox="1"/>
          <p:nvPr/>
        </p:nvSpPr>
        <p:spPr>
          <a:xfrm>
            <a:off x="4495800" y="2438400"/>
            <a:ext cx="1244958" cy="17805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flag2 = 1</a:t>
            </a: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if(flag1 == 0)</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   /* critical*/</a:t>
            </a:r>
          </a:p>
          <a:p>
            <a:pPr>
              <a:defRPr sz="1600" b="0">
                <a:solidFill>
                  <a:srgbClr val="0000FF"/>
                </a:solidFill>
                <a:latin typeface="Lucida Console"/>
                <a:ea typeface="Lucida Console"/>
                <a:cs typeface="Lucida Console"/>
                <a:sym typeface="Lucida Console"/>
              </a:defRPr>
            </a:pPr>
            <a:r>
              <a:t>}</a:t>
            </a:r>
          </a:p>
        </p:txBody>
      </p:sp>
      <p:sp>
        <p:nvSpPr>
          <p:cNvPr id="203" name="Initially flag1 = flag2 = 0"/>
          <p:cNvSpPr txBox="1"/>
          <p:nvPr/>
        </p:nvSpPr>
        <p:spPr>
          <a:xfrm>
            <a:off x="2590800" y="1371600"/>
            <a:ext cx="2329195" cy="358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b="0">
                <a:solidFill>
                  <a:srgbClr val="0000FF"/>
                </a:solidFill>
              </a:defRPr>
            </a:lvl1pPr>
          </a:lstStyle>
          <a:p>
            <a:r>
              <a:t>Initially flag1 = flag2 = 0</a:t>
            </a:r>
          </a:p>
        </p:txBody>
      </p:sp>
      <p:sp>
        <p:nvSpPr>
          <p:cNvPr id="204" name="If write-buffering is used each processor can buffer the writes…"/>
          <p:cNvSpPr txBox="1"/>
          <p:nvPr/>
        </p:nvSpPr>
        <p:spPr>
          <a:xfrm>
            <a:off x="609600" y="4648200"/>
            <a:ext cx="8077200" cy="1158240"/>
          </a:xfrm>
          <a:prstGeom prst="rect">
            <a:avLst/>
          </a:prstGeom>
          <a:solidFill>
            <a:srgbClr val="FF0000">
              <a:alpha val="43136"/>
            </a:srgb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defRPr sz="1800" b="0"/>
            </a:pPr>
            <a:r>
              <a:t>If write-buffering is used each processor can buffer the writes </a:t>
            </a:r>
          </a:p>
          <a:p>
            <a:pPr>
              <a:defRPr sz="1800" b="0"/>
            </a:pPr>
            <a:r>
              <a:t>(to flag1 and flag2 resp.) and go ahead with the reads. This will </a:t>
            </a:r>
          </a:p>
          <a:p>
            <a:pPr>
              <a:defRPr sz="1800" b="0"/>
            </a:pPr>
            <a:r>
              <a:t>cause both reads (flag1 and flag2) to return 0, causing both P1 and P2 to enter critical section. </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Efficient SC: In-window Speculation"/>
          <p:cNvSpPr txBox="1">
            <a:spLocks noGrp="1"/>
          </p:cNvSpPr>
          <p:nvPr>
            <p:ph type="title" idx="4294967295"/>
          </p:nvPr>
        </p:nvSpPr>
        <p:spPr>
          <a:xfrm>
            <a:off x="0" y="152400"/>
            <a:ext cx="8686800" cy="838200"/>
          </a:xfrm>
          <a:prstGeom prst="rect">
            <a:avLst/>
          </a:prstGeom>
        </p:spPr>
        <p:txBody>
          <a:bodyPr>
            <a:normAutofit fontScale="90000"/>
          </a:bodyPr>
          <a:lstStyle>
            <a:lvl1pPr>
              <a:defRPr sz="4300"/>
            </a:lvl1pPr>
          </a:lstStyle>
          <a:p>
            <a:r>
              <a:rPr dirty="0"/>
              <a:t>Efficient SC: In-window Speculation</a:t>
            </a:r>
          </a:p>
        </p:txBody>
      </p:sp>
      <p:sp>
        <p:nvSpPr>
          <p:cNvPr id="207" name="Using speculation (for optimizing WR, RR)…"/>
          <p:cNvSpPr txBox="1">
            <a:spLocks noGrp="1"/>
          </p:cNvSpPr>
          <p:nvPr>
            <p:ph type="body" idx="4294967295"/>
          </p:nvPr>
        </p:nvSpPr>
        <p:spPr>
          <a:xfrm>
            <a:off x="685800" y="1524000"/>
            <a:ext cx="7772400" cy="4495800"/>
          </a:xfrm>
          <a:prstGeom prst="rect">
            <a:avLst/>
          </a:prstGeom>
        </p:spPr>
        <p:txBody>
          <a:bodyPr>
            <a:normAutofit lnSpcReduction="10000"/>
          </a:bodyPr>
          <a:lstStyle/>
          <a:p>
            <a:pPr>
              <a:lnSpc>
                <a:spcPct val="90000"/>
              </a:lnSpc>
              <a:spcBef>
                <a:spcPts val="600"/>
              </a:spcBef>
              <a:buChar char="▪"/>
              <a:defRPr sz="2700"/>
            </a:pPr>
            <a:r>
              <a:rPr dirty="0"/>
              <a:t>Using speculation (for optimizing W</a:t>
            </a:r>
            <a:r>
              <a:rPr dirty="0">
                <a:latin typeface="Wingdings"/>
                <a:ea typeface="Wingdings"/>
                <a:cs typeface="Wingdings"/>
                <a:sym typeface="Wingdings"/>
              </a:rPr>
              <a:t></a:t>
            </a:r>
            <a:r>
              <a:rPr dirty="0"/>
              <a:t>R, R</a:t>
            </a:r>
            <a:r>
              <a:rPr dirty="0">
                <a:latin typeface="Wingdings"/>
                <a:ea typeface="Wingdings"/>
                <a:cs typeface="Wingdings"/>
                <a:sym typeface="Wingdings"/>
              </a:rPr>
              <a:t></a:t>
            </a:r>
            <a:r>
              <a:rPr dirty="0"/>
              <a:t>R)</a:t>
            </a:r>
          </a:p>
          <a:p>
            <a:pPr marL="742950" lvl="1" indent="-285750">
              <a:lnSpc>
                <a:spcPct val="90000"/>
              </a:lnSpc>
              <a:spcBef>
                <a:spcPts val="0"/>
              </a:spcBef>
              <a:buClrTx/>
              <a:defRPr sz="2400"/>
            </a:pPr>
            <a:r>
              <a:rPr dirty="0"/>
              <a:t>The later read can be issued earlier</a:t>
            </a:r>
          </a:p>
          <a:p>
            <a:pPr marL="742950" lvl="1" indent="-285750">
              <a:lnSpc>
                <a:spcPct val="90000"/>
              </a:lnSpc>
              <a:spcBef>
                <a:spcPts val="0"/>
              </a:spcBef>
              <a:buClrTx/>
              <a:defRPr sz="2400"/>
            </a:pPr>
            <a:r>
              <a:rPr dirty="0"/>
              <a:t>But memory operations complete in program order</a:t>
            </a:r>
          </a:p>
          <a:p>
            <a:pPr marL="742950" lvl="1" indent="-285750">
              <a:lnSpc>
                <a:spcPct val="90000"/>
              </a:lnSpc>
              <a:spcBef>
                <a:spcPts val="0"/>
              </a:spcBef>
              <a:buClrTx/>
              <a:defRPr sz="2400"/>
            </a:pPr>
            <a:r>
              <a:rPr dirty="0"/>
              <a:t>If an invalidate is received, speculation squashed and replayed starting from the (later) load</a:t>
            </a:r>
          </a:p>
          <a:p>
            <a:pPr marL="742950" lvl="1" indent="-285750">
              <a:lnSpc>
                <a:spcPct val="90000"/>
              </a:lnSpc>
              <a:spcBef>
                <a:spcPts val="0"/>
              </a:spcBef>
              <a:buClrTx/>
              <a:defRPr sz="2400"/>
            </a:pPr>
            <a:endParaRPr dirty="0"/>
          </a:p>
          <a:p>
            <a:pPr>
              <a:lnSpc>
                <a:spcPct val="90000"/>
              </a:lnSpc>
              <a:spcBef>
                <a:spcPts val="600"/>
              </a:spcBef>
              <a:buChar char="▪"/>
              <a:defRPr sz="2700"/>
            </a:pPr>
            <a:r>
              <a:rPr dirty="0"/>
              <a:t>Write-prefetching (for optimizing W</a:t>
            </a:r>
            <a:r>
              <a:rPr dirty="0">
                <a:latin typeface="Wingdings"/>
                <a:ea typeface="Wingdings"/>
                <a:cs typeface="Wingdings"/>
                <a:sym typeface="Wingdings"/>
              </a:rPr>
              <a:t></a:t>
            </a:r>
            <a:r>
              <a:rPr dirty="0"/>
              <a:t>W)</a:t>
            </a:r>
          </a:p>
          <a:p>
            <a:pPr marL="742950" lvl="1" indent="-285750">
              <a:lnSpc>
                <a:spcPct val="90000"/>
              </a:lnSpc>
              <a:spcBef>
                <a:spcPts val="0"/>
              </a:spcBef>
              <a:buClrTx/>
              <a:defRPr sz="2400"/>
            </a:pPr>
            <a:r>
              <a:rPr dirty="0"/>
              <a:t>Obtain read-exclusive out-of-order (or in parallel)</a:t>
            </a:r>
          </a:p>
          <a:p>
            <a:pPr marL="742950" lvl="1" indent="-285750">
              <a:lnSpc>
                <a:spcPct val="90000"/>
              </a:lnSpc>
              <a:spcBef>
                <a:spcPts val="0"/>
              </a:spcBef>
              <a:buClrTx/>
              <a:defRPr sz="2400"/>
            </a:pPr>
            <a:r>
              <a:rPr dirty="0"/>
              <a:t>Complete writes in program order. </a:t>
            </a:r>
          </a:p>
        </p:txBody>
      </p:sp>
      <p:sp>
        <p:nvSpPr>
          <p:cNvPr id="208"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E659F-B144-73FF-2EDF-3059AAE6CCCA}"/>
            </a:ext>
          </a:extLst>
        </p:cNvPr>
        <p:cNvGrpSpPr/>
        <p:nvPr/>
      </p:nvGrpSpPr>
      <p:grpSpPr>
        <a:xfrm>
          <a:off x="0" y="0"/>
          <a:ext cx="0" cy="0"/>
          <a:chOff x="0" y="0"/>
          <a:chExt cx="0" cy="0"/>
        </a:xfrm>
      </p:grpSpPr>
      <p:sp>
        <p:nvSpPr>
          <p:cNvPr id="206" name="Efficient SC: In-window Speculation">
            <a:extLst>
              <a:ext uri="{FF2B5EF4-FFF2-40B4-BE49-F238E27FC236}">
                <a16:creationId xmlns:a16="http://schemas.microsoft.com/office/drawing/2014/main" id="{9C37CEBB-66D4-DEDE-7039-E5B01F5C90B3}"/>
              </a:ext>
            </a:extLst>
          </p:cNvPr>
          <p:cNvSpPr txBox="1">
            <a:spLocks noGrp="1"/>
          </p:cNvSpPr>
          <p:nvPr>
            <p:ph type="title" idx="4294967295"/>
          </p:nvPr>
        </p:nvSpPr>
        <p:spPr>
          <a:xfrm>
            <a:off x="0" y="152400"/>
            <a:ext cx="8686800" cy="838200"/>
          </a:xfrm>
          <a:prstGeom prst="rect">
            <a:avLst/>
          </a:prstGeom>
        </p:spPr>
        <p:txBody>
          <a:bodyPr>
            <a:normAutofit fontScale="90000"/>
          </a:bodyPr>
          <a:lstStyle>
            <a:lvl1pPr>
              <a:defRPr sz="4300"/>
            </a:lvl1pPr>
          </a:lstStyle>
          <a:p>
            <a:r>
              <a:rPr dirty="0"/>
              <a:t>Efficient SC: In-window Speculation</a:t>
            </a:r>
          </a:p>
        </p:txBody>
      </p:sp>
      <p:sp>
        <p:nvSpPr>
          <p:cNvPr id="207" name="Using speculation (for optimizing WR, RR)…">
            <a:extLst>
              <a:ext uri="{FF2B5EF4-FFF2-40B4-BE49-F238E27FC236}">
                <a16:creationId xmlns:a16="http://schemas.microsoft.com/office/drawing/2014/main" id="{21740517-ED3C-7FF8-7196-14D7EA610172}"/>
              </a:ext>
            </a:extLst>
          </p:cNvPr>
          <p:cNvSpPr txBox="1">
            <a:spLocks noGrp="1"/>
          </p:cNvSpPr>
          <p:nvPr>
            <p:ph type="body" idx="4294967295"/>
          </p:nvPr>
        </p:nvSpPr>
        <p:spPr>
          <a:xfrm>
            <a:off x="685800" y="1524000"/>
            <a:ext cx="7772400" cy="4495800"/>
          </a:xfrm>
          <a:prstGeom prst="rect">
            <a:avLst/>
          </a:prstGeom>
        </p:spPr>
        <p:txBody>
          <a:bodyPr>
            <a:normAutofit/>
          </a:bodyPr>
          <a:lstStyle/>
          <a:p>
            <a:pPr marL="0" indent="0">
              <a:lnSpc>
                <a:spcPct val="90000"/>
              </a:lnSpc>
              <a:spcBef>
                <a:spcPts val="600"/>
              </a:spcBef>
              <a:buNone/>
              <a:defRPr sz="2700"/>
            </a:pPr>
            <a:r>
              <a:rPr lang="en-US" dirty="0"/>
              <a:t>P1</a:t>
            </a:r>
          </a:p>
          <a:p>
            <a:pPr>
              <a:lnSpc>
                <a:spcPct val="90000"/>
              </a:lnSpc>
              <a:spcBef>
                <a:spcPts val="600"/>
              </a:spcBef>
              <a:buChar char="▪"/>
              <a:defRPr sz="2700"/>
            </a:pPr>
            <a:endParaRPr lang="en-US" dirty="0"/>
          </a:p>
          <a:p>
            <a:pPr marL="0" indent="0">
              <a:lnSpc>
                <a:spcPct val="90000"/>
              </a:lnSpc>
              <a:spcBef>
                <a:spcPts val="600"/>
              </a:spcBef>
              <a:buNone/>
              <a:defRPr sz="2700"/>
            </a:pPr>
            <a:r>
              <a:rPr lang="en-US" dirty="0" err="1"/>
              <a:t>ld</a:t>
            </a:r>
            <a:r>
              <a:rPr lang="en-US" dirty="0"/>
              <a:t> x</a:t>
            </a:r>
          </a:p>
          <a:p>
            <a:pPr marL="0" indent="0">
              <a:lnSpc>
                <a:spcPct val="90000"/>
              </a:lnSpc>
              <a:spcBef>
                <a:spcPts val="600"/>
              </a:spcBef>
              <a:buNone/>
              <a:defRPr sz="2700"/>
            </a:pPr>
            <a:r>
              <a:rPr lang="en-US" dirty="0" err="1"/>
              <a:t>ld</a:t>
            </a:r>
            <a:r>
              <a:rPr lang="en-US" dirty="0"/>
              <a:t> y </a:t>
            </a:r>
          </a:p>
          <a:p>
            <a:pPr marL="0" indent="0">
              <a:lnSpc>
                <a:spcPct val="90000"/>
              </a:lnSpc>
              <a:spcBef>
                <a:spcPts val="600"/>
              </a:spcBef>
              <a:buNone/>
              <a:defRPr sz="2700"/>
            </a:pPr>
            <a:endParaRPr lang="en-US" dirty="0"/>
          </a:p>
          <a:p>
            <a:pPr marL="0" indent="0">
              <a:lnSpc>
                <a:spcPct val="90000"/>
              </a:lnSpc>
              <a:spcBef>
                <a:spcPts val="600"/>
              </a:spcBef>
              <a:buNone/>
              <a:defRPr sz="2700"/>
            </a:pPr>
            <a:r>
              <a:rPr lang="en-US" dirty="0"/>
              <a:t>- Load y allowed to execute before load x</a:t>
            </a:r>
          </a:p>
          <a:p>
            <a:pPr marL="0" indent="0">
              <a:lnSpc>
                <a:spcPct val="90000"/>
              </a:lnSpc>
              <a:spcBef>
                <a:spcPts val="600"/>
              </a:spcBef>
              <a:buNone/>
              <a:defRPr sz="2700"/>
            </a:pPr>
            <a:r>
              <a:rPr lang="en-US" dirty="0"/>
              <a:t>- But they commit in order</a:t>
            </a:r>
          </a:p>
          <a:p>
            <a:pPr marL="0" indent="0">
              <a:lnSpc>
                <a:spcPct val="90000"/>
              </a:lnSpc>
              <a:spcBef>
                <a:spcPts val="600"/>
              </a:spcBef>
              <a:buNone/>
              <a:defRPr sz="2700"/>
            </a:pPr>
            <a:r>
              <a:rPr lang="en-US" dirty="0"/>
              <a:t>- Before load y commits, if address y receives an invalidation message, speculation squashed starting from load y and retried.  </a:t>
            </a:r>
            <a:endParaRPr dirty="0"/>
          </a:p>
        </p:txBody>
      </p:sp>
      <p:sp>
        <p:nvSpPr>
          <p:cNvPr id="208" name="Parallel Architectures - 2021-22">
            <a:extLst>
              <a:ext uri="{FF2B5EF4-FFF2-40B4-BE49-F238E27FC236}">
                <a16:creationId xmlns:a16="http://schemas.microsoft.com/office/drawing/2014/main" id="{A5BCEAF5-9D9D-FDC8-2B0E-0627656CD199}"/>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extLst>
      <p:ext uri="{BB962C8B-B14F-4D97-AF65-F5344CB8AC3E}">
        <p14:creationId xmlns:p14="http://schemas.microsoft.com/office/powerpoint/2010/main" val="1299296801"/>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5B3FB-5C96-F57E-BAD9-EBF491A1E268}"/>
            </a:ext>
          </a:extLst>
        </p:cNvPr>
        <p:cNvGrpSpPr/>
        <p:nvPr/>
      </p:nvGrpSpPr>
      <p:grpSpPr>
        <a:xfrm>
          <a:off x="0" y="0"/>
          <a:ext cx="0" cy="0"/>
          <a:chOff x="0" y="0"/>
          <a:chExt cx="0" cy="0"/>
        </a:xfrm>
      </p:grpSpPr>
      <p:sp>
        <p:nvSpPr>
          <p:cNvPr id="206" name="Efficient SC: In-window Speculation">
            <a:extLst>
              <a:ext uri="{FF2B5EF4-FFF2-40B4-BE49-F238E27FC236}">
                <a16:creationId xmlns:a16="http://schemas.microsoft.com/office/drawing/2014/main" id="{FC446460-EA34-4B9C-7FF4-32D9289E42E0}"/>
              </a:ext>
            </a:extLst>
          </p:cNvPr>
          <p:cNvSpPr txBox="1">
            <a:spLocks noGrp="1"/>
          </p:cNvSpPr>
          <p:nvPr>
            <p:ph type="title" idx="4294967295"/>
          </p:nvPr>
        </p:nvSpPr>
        <p:spPr>
          <a:xfrm>
            <a:off x="0" y="152400"/>
            <a:ext cx="8686800" cy="838200"/>
          </a:xfrm>
          <a:prstGeom prst="rect">
            <a:avLst/>
          </a:prstGeom>
        </p:spPr>
        <p:txBody>
          <a:bodyPr>
            <a:normAutofit fontScale="90000"/>
          </a:bodyPr>
          <a:lstStyle>
            <a:lvl1pPr>
              <a:defRPr sz="4300"/>
            </a:lvl1pPr>
          </a:lstStyle>
          <a:p>
            <a:r>
              <a:rPr dirty="0"/>
              <a:t>Efficient SC: In-window Speculation</a:t>
            </a:r>
          </a:p>
        </p:txBody>
      </p:sp>
      <p:sp>
        <p:nvSpPr>
          <p:cNvPr id="207" name="Using speculation (for optimizing WR, RR)…">
            <a:extLst>
              <a:ext uri="{FF2B5EF4-FFF2-40B4-BE49-F238E27FC236}">
                <a16:creationId xmlns:a16="http://schemas.microsoft.com/office/drawing/2014/main" id="{50E62200-309D-F5CF-4D91-9353DC095E29}"/>
              </a:ext>
            </a:extLst>
          </p:cNvPr>
          <p:cNvSpPr txBox="1">
            <a:spLocks noGrp="1"/>
          </p:cNvSpPr>
          <p:nvPr>
            <p:ph type="body" idx="4294967295"/>
          </p:nvPr>
        </p:nvSpPr>
        <p:spPr>
          <a:xfrm>
            <a:off x="685800" y="1524000"/>
            <a:ext cx="7772400" cy="4495800"/>
          </a:xfrm>
          <a:prstGeom prst="rect">
            <a:avLst/>
          </a:prstGeom>
        </p:spPr>
        <p:txBody>
          <a:bodyPr>
            <a:normAutofit fontScale="92500"/>
          </a:bodyPr>
          <a:lstStyle/>
          <a:p>
            <a:pPr marL="0" indent="0">
              <a:lnSpc>
                <a:spcPct val="90000"/>
              </a:lnSpc>
              <a:spcBef>
                <a:spcPts val="600"/>
              </a:spcBef>
              <a:buNone/>
              <a:defRPr sz="2700"/>
            </a:pPr>
            <a:r>
              <a:rPr lang="en-US" dirty="0"/>
              <a:t>P1</a:t>
            </a:r>
          </a:p>
          <a:p>
            <a:pPr>
              <a:lnSpc>
                <a:spcPct val="90000"/>
              </a:lnSpc>
              <a:spcBef>
                <a:spcPts val="600"/>
              </a:spcBef>
              <a:buChar char="▪"/>
              <a:defRPr sz="2700"/>
            </a:pPr>
            <a:endParaRPr lang="en-US" dirty="0"/>
          </a:p>
          <a:p>
            <a:pPr marL="0" indent="0">
              <a:lnSpc>
                <a:spcPct val="90000"/>
              </a:lnSpc>
              <a:spcBef>
                <a:spcPts val="600"/>
              </a:spcBef>
              <a:buNone/>
              <a:defRPr sz="2700"/>
            </a:pPr>
            <a:r>
              <a:rPr lang="en-US" dirty="0"/>
              <a:t>St x</a:t>
            </a:r>
          </a:p>
          <a:p>
            <a:pPr marL="0" indent="0">
              <a:lnSpc>
                <a:spcPct val="90000"/>
              </a:lnSpc>
              <a:spcBef>
                <a:spcPts val="600"/>
              </a:spcBef>
              <a:buNone/>
              <a:defRPr sz="2700"/>
            </a:pPr>
            <a:r>
              <a:rPr lang="en-US" dirty="0"/>
              <a:t>St y </a:t>
            </a:r>
          </a:p>
          <a:p>
            <a:pPr marL="0" indent="0">
              <a:lnSpc>
                <a:spcPct val="90000"/>
              </a:lnSpc>
              <a:spcBef>
                <a:spcPts val="600"/>
              </a:spcBef>
              <a:buNone/>
              <a:defRPr sz="2700"/>
            </a:pPr>
            <a:endParaRPr lang="en-US" dirty="0"/>
          </a:p>
          <a:p>
            <a:pPr>
              <a:lnSpc>
                <a:spcPct val="90000"/>
              </a:lnSpc>
              <a:spcBef>
                <a:spcPts val="600"/>
              </a:spcBef>
              <a:buFontTx/>
              <a:buChar char="-"/>
              <a:defRPr sz="2700"/>
            </a:pPr>
            <a:r>
              <a:rPr lang="en-US" dirty="0"/>
              <a:t>Store x and Store y issued to the directory in parallel, where they execute in parallel (i.e., send invalidations, gather acknowledgements)</a:t>
            </a:r>
          </a:p>
          <a:p>
            <a:pPr>
              <a:lnSpc>
                <a:spcPct val="90000"/>
              </a:lnSpc>
              <a:spcBef>
                <a:spcPts val="600"/>
              </a:spcBef>
              <a:buFontTx/>
              <a:buChar char="-"/>
              <a:defRPr sz="2700"/>
            </a:pPr>
            <a:r>
              <a:rPr lang="en-US" dirty="0"/>
              <a:t>But in the cache, the value of x is written and made </a:t>
            </a:r>
            <a:r>
              <a:rPr lang="en-US" dirty="0" err="1"/>
              <a:t>visisble</a:t>
            </a:r>
            <a:r>
              <a:rPr lang="en-US" dirty="0"/>
              <a:t> to other processors before the write to y</a:t>
            </a:r>
            <a:endParaRPr dirty="0"/>
          </a:p>
        </p:txBody>
      </p:sp>
      <p:sp>
        <p:nvSpPr>
          <p:cNvPr id="208" name="Parallel Architectures - 2021-22">
            <a:extLst>
              <a:ext uri="{FF2B5EF4-FFF2-40B4-BE49-F238E27FC236}">
                <a16:creationId xmlns:a16="http://schemas.microsoft.com/office/drawing/2014/main" id="{F006F193-3B67-030D-CD44-4BDD84B986AB}"/>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extLst>
      <p:ext uri="{BB962C8B-B14F-4D97-AF65-F5344CB8AC3E}">
        <p14:creationId xmlns:p14="http://schemas.microsoft.com/office/powerpoint/2010/main" val="1546424495"/>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Relaxed Memory Consistency Models"/>
          <p:cNvSpPr txBox="1">
            <a:spLocks noGrp="1"/>
          </p:cNvSpPr>
          <p:nvPr>
            <p:ph type="title" idx="4294967295"/>
          </p:nvPr>
        </p:nvSpPr>
        <p:spPr>
          <a:xfrm>
            <a:off x="152400" y="152400"/>
            <a:ext cx="8458200" cy="838200"/>
          </a:xfrm>
          <a:prstGeom prst="rect">
            <a:avLst/>
          </a:prstGeom>
        </p:spPr>
        <p:txBody>
          <a:bodyPr>
            <a:normAutofit fontScale="90000"/>
          </a:bodyPr>
          <a:lstStyle>
            <a:lvl1pPr>
              <a:defRPr sz="4000"/>
            </a:lvl1pPr>
          </a:lstStyle>
          <a:p>
            <a:r>
              <a:rPr dirty="0"/>
              <a:t>Relaxed Memory Consistency Models</a:t>
            </a:r>
          </a:p>
        </p:txBody>
      </p:sp>
      <p:sp>
        <p:nvSpPr>
          <p:cNvPr id="240" name="At a high level they relax ordering constraints between pairs of reads, writes, and read-write (e.g., reads are allowed to bypass writes, writes are allowed to bypass each other)…"/>
          <p:cNvSpPr txBox="1">
            <a:spLocks noGrp="1"/>
          </p:cNvSpPr>
          <p:nvPr>
            <p:ph type="body" idx="4294967295"/>
          </p:nvPr>
        </p:nvSpPr>
        <p:spPr>
          <a:xfrm>
            <a:off x="457200" y="1143000"/>
            <a:ext cx="8458200" cy="5562600"/>
          </a:xfrm>
          <a:prstGeom prst="rect">
            <a:avLst/>
          </a:prstGeom>
        </p:spPr>
        <p:txBody>
          <a:bodyPr>
            <a:normAutofit lnSpcReduction="10000"/>
          </a:bodyPr>
          <a:lstStyle/>
          <a:p>
            <a:pPr marL="305180" indent="-305180" defTabSz="813816">
              <a:lnSpc>
                <a:spcPct val="90000"/>
              </a:lnSpc>
              <a:spcBef>
                <a:spcPts val="500"/>
              </a:spcBef>
              <a:buChar char="▪"/>
              <a:defRPr sz="2136"/>
            </a:pPr>
            <a:r>
              <a:rPr dirty="0"/>
              <a:t>At a high level they relax ordering constraints between pairs of reads, writes, and read-write (e.g., reads are allowed to bypass writes, writes are allowed to bypass each other)</a:t>
            </a:r>
          </a:p>
          <a:p>
            <a:pPr marL="305180" indent="-305180" defTabSz="813816">
              <a:lnSpc>
                <a:spcPct val="90000"/>
              </a:lnSpc>
              <a:spcBef>
                <a:spcPts val="500"/>
              </a:spcBef>
              <a:buChar char="▪"/>
              <a:defRPr sz="2136"/>
            </a:pPr>
            <a:r>
              <a:rPr dirty="0"/>
              <a:t>Some of the models also don’t guarantee write atomicity</a:t>
            </a:r>
          </a:p>
          <a:p>
            <a:pPr marL="305180" indent="-305180" defTabSz="813816">
              <a:lnSpc>
                <a:spcPct val="90000"/>
              </a:lnSpc>
              <a:spcBef>
                <a:spcPts val="500"/>
              </a:spcBef>
              <a:buChar char="▪"/>
              <a:defRPr sz="2136"/>
            </a:pPr>
            <a:r>
              <a:rPr dirty="0"/>
              <a:t>Some models make synchronization explicit and different from normal loads and stores</a:t>
            </a:r>
          </a:p>
          <a:p>
            <a:pPr marL="305180" indent="-305180" defTabSz="813816">
              <a:lnSpc>
                <a:spcPct val="90000"/>
              </a:lnSpc>
              <a:spcBef>
                <a:spcPts val="500"/>
              </a:spcBef>
              <a:buChar char="▪"/>
              <a:defRPr sz="2136"/>
            </a:pPr>
            <a:r>
              <a:rPr dirty="0"/>
              <a:t>Many models have been proposed and implemented</a:t>
            </a:r>
          </a:p>
          <a:p>
            <a:pPr marL="661225" lvl="1" indent="-254317" defTabSz="813816">
              <a:lnSpc>
                <a:spcPct val="90000"/>
              </a:lnSpc>
              <a:spcBef>
                <a:spcPts val="0"/>
              </a:spcBef>
              <a:buClrTx/>
              <a:defRPr sz="1779"/>
            </a:pPr>
            <a:r>
              <a:rPr dirty="0"/>
              <a:t>Total Store Ordering (TSO) (e.g., Sparc, intel): relaxes W—&gt;R ordering</a:t>
            </a:r>
          </a:p>
          <a:p>
            <a:pPr marL="661225" lvl="1" indent="-254317" defTabSz="813816">
              <a:lnSpc>
                <a:spcPct val="90000"/>
              </a:lnSpc>
              <a:spcBef>
                <a:spcPts val="0"/>
              </a:spcBef>
              <a:buClrTx/>
              <a:defRPr sz="1779"/>
            </a:pPr>
            <a:r>
              <a:rPr dirty="0"/>
              <a:t>Partial Store Ordering (PSO) (e.g., Sparc): relaxes W—&gt;R and W —&gt;W</a:t>
            </a:r>
          </a:p>
          <a:p>
            <a:pPr marL="661225" lvl="1" indent="-254317" defTabSz="813816">
              <a:lnSpc>
                <a:spcPct val="90000"/>
              </a:lnSpc>
              <a:spcBef>
                <a:spcPts val="0"/>
              </a:spcBef>
              <a:buClrTx/>
              <a:defRPr sz="1779"/>
            </a:pPr>
            <a:r>
              <a:rPr dirty="0"/>
              <a:t>Relaxed Memory Ordering (RMO) (e.g., Sparc): relaxes all 4 memory orders</a:t>
            </a:r>
          </a:p>
          <a:p>
            <a:pPr marL="661225" lvl="1" indent="-254317" defTabSz="813816">
              <a:lnSpc>
                <a:spcPct val="90000"/>
              </a:lnSpc>
              <a:spcBef>
                <a:spcPts val="0"/>
              </a:spcBef>
              <a:buClrTx/>
              <a:defRPr sz="1779"/>
            </a:pPr>
            <a:r>
              <a:rPr dirty="0"/>
              <a:t>Release Consistency (RC) (</a:t>
            </a:r>
            <a:r>
              <a:rPr dirty="0" err="1"/>
              <a:t>e.g</a:t>
            </a:r>
            <a:r>
              <a:rPr dirty="0"/>
              <a:t> RISC-V): relaxes all 4 memory orders but provides </a:t>
            </a:r>
            <a:r>
              <a:rPr i="1" dirty="0"/>
              <a:t>release store</a:t>
            </a:r>
            <a:r>
              <a:rPr dirty="0"/>
              <a:t> and </a:t>
            </a:r>
            <a:r>
              <a:rPr i="1" dirty="0"/>
              <a:t>acquire load</a:t>
            </a:r>
            <a:r>
              <a:rPr dirty="0"/>
              <a:t> (ARM v8 has a similar model). </a:t>
            </a:r>
            <a:endParaRPr i="1" dirty="0"/>
          </a:p>
          <a:p>
            <a:pPr marL="661225" lvl="1" indent="-254317" defTabSz="813816">
              <a:lnSpc>
                <a:spcPct val="90000"/>
              </a:lnSpc>
              <a:spcBef>
                <a:spcPts val="0"/>
              </a:spcBef>
              <a:buClrTx/>
              <a:defRPr sz="1779"/>
            </a:pPr>
            <a:r>
              <a:rPr dirty="0"/>
              <a:t>IBM Power</a:t>
            </a:r>
            <a:r>
              <a:rPr lang="en-US" dirty="0"/>
              <a:t>/NVIDIA PTX</a:t>
            </a:r>
            <a:r>
              <a:rPr dirty="0"/>
              <a:t>: relaxes all 4 memory orderings; also relaxes write atomicity; provides 2 types of barriers.</a:t>
            </a:r>
          </a:p>
          <a:p>
            <a:pPr marL="1068133" lvl="2" indent="-254317" defTabSz="813816">
              <a:lnSpc>
                <a:spcPct val="90000"/>
              </a:lnSpc>
              <a:spcBef>
                <a:spcPts val="0"/>
              </a:spcBef>
              <a:buClrTx/>
              <a:buChar char="–"/>
              <a:defRPr sz="1779"/>
            </a:pPr>
            <a:r>
              <a:rPr dirty="0" err="1"/>
              <a:t>lwsync</a:t>
            </a:r>
            <a:r>
              <a:rPr dirty="0"/>
              <a:t>: ensures R—&gt;R , R—&gt;W,  and W—&gt;W; write-atomicity still not ensured</a:t>
            </a:r>
          </a:p>
          <a:p>
            <a:pPr marL="1068133" lvl="2" indent="-254317" defTabSz="813816">
              <a:lnSpc>
                <a:spcPct val="90000"/>
              </a:lnSpc>
              <a:spcBef>
                <a:spcPts val="0"/>
              </a:spcBef>
              <a:buClrTx/>
              <a:buChar char="–"/>
              <a:defRPr sz="1779"/>
            </a:pPr>
            <a:r>
              <a:rPr dirty="0"/>
              <a:t>sync: ensures all 4 memory ordering; write atomicity also ensured.</a:t>
            </a:r>
            <a:endParaRPr lang="en-US"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3A594-6BE3-AD16-4449-E4E5D12B603B}"/>
            </a:ext>
          </a:extLst>
        </p:cNvPr>
        <p:cNvGrpSpPr/>
        <p:nvPr/>
      </p:nvGrpSpPr>
      <p:grpSpPr>
        <a:xfrm>
          <a:off x="0" y="0"/>
          <a:ext cx="0" cy="0"/>
          <a:chOff x="0" y="0"/>
          <a:chExt cx="0" cy="0"/>
        </a:xfrm>
      </p:grpSpPr>
      <p:sp>
        <p:nvSpPr>
          <p:cNvPr id="242" name="Parallel Architectures - 2021-22">
            <a:extLst>
              <a:ext uri="{FF2B5EF4-FFF2-40B4-BE49-F238E27FC236}">
                <a16:creationId xmlns:a16="http://schemas.microsoft.com/office/drawing/2014/main" id="{899BED0F-3849-256C-0EB5-86E1C3832010}"/>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43" name="Relaxed Memory Consistency Models">
            <a:extLst>
              <a:ext uri="{FF2B5EF4-FFF2-40B4-BE49-F238E27FC236}">
                <a16:creationId xmlns:a16="http://schemas.microsoft.com/office/drawing/2014/main" id="{1ED02E45-58B5-E7C2-D7B4-49BEA3CD4EF2}"/>
              </a:ext>
            </a:extLst>
          </p:cNvPr>
          <p:cNvSpPr txBox="1">
            <a:spLocks noGrp="1"/>
          </p:cNvSpPr>
          <p:nvPr>
            <p:ph type="title" idx="4294967295"/>
          </p:nvPr>
        </p:nvSpPr>
        <p:spPr>
          <a:xfrm>
            <a:off x="304800" y="152400"/>
            <a:ext cx="8458200" cy="838200"/>
          </a:xfrm>
          <a:prstGeom prst="rect">
            <a:avLst/>
          </a:prstGeom>
        </p:spPr>
        <p:txBody>
          <a:bodyPr>
            <a:normAutofit fontScale="90000"/>
          </a:bodyPr>
          <a:lstStyle>
            <a:lvl1pPr>
              <a:defRPr sz="4000"/>
            </a:lvl1pPr>
          </a:lstStyle>
          <a:p>
            <a:r>
              <a:rPr dirty="0"/>
              <a:t>Relaxed Memory Consistency Models</a:t>
            </a:r>
          </a:p>
        </p:txBody>
      </p:sp>
      <p:sp>
        <p:nvSpPr>
          <p:cNvPr id="244" name="Note that control flow and data flow dependences within a thread must still be honoured regardless of the consistency model…">
            <a:extLst>
              <a:ext uri="{FF2B5EF4-FFF2-40B4-BE49-F238E27FC236}">
                <a16:creationId xmlns:a16="http://schemas.microsoft.com/office/drawing/2014/main" id="{BDABEFFB-04E6-DBEC-50C2-DBA65052FC12}"/>
              </a:ext>
            </a:extLst>
          </p:cNvPr>
          <p:cNvSpPr txBox="1">
            <a:spLocks noGrp="1"/>
          </p:cNvSpPr>
          <p:nvPr>
            <p:ph type="body" idx="4294967295"/>
          </p:nvPr>
        </p:nvSpPr>
        <p:spPr>
          <a:xfrm>
            <a:off x="457200" y="1143000"/>
            <a:ext cx="8458200" cy="4572000"/>
          </a:xfrm>
          <a:prstGeom prst="rect">
            <a:avLst/>
          </a:prstGeom>
        </p:spPr>
        <p:txBody>
          <a:bodyPr>
            <a:normAutofit/>
          </a:bodyPr>
          <a:lstStyle/>
          <a:p>
            <a:pPr>
              <a:lnSpc>
                <a:spcPct val="90000"/>
              </a:lnSpc>
              <a:spcBef>
                <a:spcPts val="500"/>
              </a:spcBef>
              <a:buChar char="▪"/>
              <a:defRPr sz="2400"/>
            </a:pPr>
            <a:r>
              <a:rPr dirty="0"/>
              <a:t>Note</a:t>
            </a:r>
            <a:r>
              <a:rPr lang="en-US" dirty="0"/>
              <a:t> that every relaxed consistency model ensure single-thread dependencies. </a:t>
            </a:r>
            <a:endParaRPr dirty="0"/>
          </a:p>
          <a:p>
            <a:pPr marL="742950" lvl="1" indent="-285750">
              <a:lnSpc>
                <a:spcPct val="90000"/>
              </a:lnSpc>
              <a:spcBef>
                <a:spcPts val="0"/>
              </a:spcBef>
              <a:buClrTx/>
              <a:defRPr sz="2000"/>
            </a:pPr>
            <a:endParaRPr lang="en-US" dirty="0"/>
          </a:p>
          <a:p>
            <a:pPr marL="742950" lvl="1" indent="-285750">
              <a:lnSpc>
                <a:spcPct val="90000"/>
              </a:lnSpc>
              <a:spcBef>
                <a:spcPts val="0"/>
              </a:spcBef>
              <a:buClrTx/>
              <a:defRPr sz="2000"/>
            </a:pPr>
            <a:endParaRPr lang="en-US" dirty="0"/>
          </a:p>
          <a:p>
            <a:pPr marL="457200" lvl="1" indent="0">
              <a:lnSpc>
                <a:spcPct val="90000"/>
              </a:lnSpc>
              <a:spcBef>
                <a:spcPts val="0"/>
              </a:spcBef>
              <a:buClrTx/>
              <a:buNone/>
              <a:defRPr sz="2000"/>
            </a:pPr>
            <a:r>
              <a:rPr lang="en-US" dirty="0"/>
              <a:t>P1</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X = 2</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r1 = X </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(r1 always reads 1 irrespective of the memory model)</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p:txBody>
      </p:sp>
    </p:spTree>
    <p:extLst>
      <p:ext uri="{BB962C8B-B14F-4D97-AF65-F5344CB8AC3E}">
        <p14:creationId xmlns:p14="http://schemas.microsoft.com/office/powerpoint/2010/main" val="2206229657"/>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43" name="Relaxed Memory Consistency Models"/>
          <p:cNvSpPr txBox="1">
            <a:spLocks noGrp="1"/>
          </p:cNvSpPr>
          <p:nvPr>
            <p:ph type="title" idx="4294967295"/>
          </p:nvPr>
        </p:nvSpPr>
        <p:spPr>
          <a:xfrm>
            <a:off x="304800" y="152400"/>
            <a:ext cx="8458200" cy="838200"/>
          </a:xfrm>
          <a:prstGeom prst="rect">
            <a:avLst/>
          </a:prstGeom>
        </p:spPr>
        <p:txBody>
          <a:bodyPr>
            <a:normAutofit fontScale="90000"/>
          </a:bodyPr>
          <a:lstStyle>
            <a:lvl1pPr>
              <a:defRPr sz="4000"/>
            </a:lvl1pPr>
          </a:lstStyle>
          <a:p>
            <a:r>
              <a:rPr dirty="0"/>
              <a:t>Relaxed Memory Consistency Models</a:t>
            </a:r>
          </a:p>
        </p:txBody>
      </p:sp>
      <p:sp>
        <p:nvSpPr>
          <p:cNvPr id="244" name="Note that control flow and data flow dependences within a thread must still be honoured regardless of the consistency model…"/>
          <p:cNvSpPr txBox="1">
            <a:spLocks noGrp="1"/>
          </p:cNvSpPr>
          <p:nvPr>
            <p:ph type="body" idx="4294967295"/>
          </p:nvPr>
        </p:nvSpPr>
        <p:spPr>
          <a:xfrm>
            <a:off x="457200" y="1143000"/>
            <a:ext cx="8458200" cy="4953000"/>
          </a:xfrm>
          <a:prstGeom prst="rect">
            <a:avLst/>
          </a:prstGeom>
        </p:spPr>
        <p:txBody>
          <a:bodyPr>
            <a:normAutofit/>
          </a:bodyPr>
          <a:lstStyle/>
          <a:p>
            <a:pPr marL="742950" lvl="1" indent="-285750">
              <a:lnSpc>
                <a:spcPct val="90000"/>
              </a:lnSpc>
              <a:spcBef>
                <a:spcPts val="0"/>
              </a:spcBef>
              <a:buClrTx/>
              <a:defRPr sz="2000"/>
            </a:pPr>
            <a:r>
              <a:rPr lang="en-US" dirty="0"/>
              <a:t>Whether these single threaded dependencies induce a global ordering is a different matter!!!</a:t>
            </a:r>
          </a:p>
          <a:p>
            <a:pPr marL="742950" lvl="1" indent="-285750">
              <a:lnSpc>
                <a:spcPct val="90000"/>
              </a:lnSpc>
              <a:spcBef>
                <a:spcPts val="0"/>
              </a:spcBef>
              <a:buClrTx/>
              <a:defRPr sz="2000"/>
            </a:pPr>
            <a:endParaRPr lang="en-US" dirty="0"/>
          </a:p>
          <a:p>
            <a:pPr marL="742950" lvl="1" indent="-285750">
              <a:lnSpc>
                <a:spcPct val="90000"/>
              </a:lnSpc>
              <a:spcBef>
                <a:spcPts val="0"/>
              </a:spcBef>
              <a:buClrTx/>
              <a:defRPr sz="2000"/>
            </a:pPr>
            <a:endParaRPr lang="en-US" dirty="0"/>
          </a:p>
          <a:p>
            <a:pPr marL="742950" lvl="1" indent="-285750">
              <a:lnSpc>
                <a:spcPct val="90000"/>
              </a:lnSpc>
              <a:spcBef>
                <a:spcPts val="0"/>
              </a:spcBef>
              <a:buClrTx/>
              <a:defRPr sz="2000"/>
            </a:pPr>
            <a:r>
              <a:rPr lang="en-US" dirty="0"/>
              <a:t>Relaxed memory models have complex rules regarding that!</a:t>
            </a:r>
          </a:p>
          <a:p>
            <a:pPr marL="742950" lvl="1" indent="-285750">
              <a:lnSpc>
                <a:spcPct val="90000"/>
              </a:lnSpc>
              <a:spcBef>
                <a:spcPts val="0"/>
              </a:spcBef>
              <a:buClrTx/>
              <a:defRPr sz="2000"/>
            </a:pPr>
            <a:endParaRPr lang="en-US" dirty="0"/>
          </a:p>
          <a:p>
            <a:pPr marL="742950" lvl="1" indent="-285750">
              <a:lnSpc>
                <a:spcPct val="90000"/>
              </a:lnSpc>
              <a:spcBef>
                <a:spcPts val="0"/>
              </a:spcBef>
              <a:buClrTx/>
              <a:defRPr sz="2000"/>
            </a:pPr>
            <a:endParaRPr lang="en-US" dirty="0"/>
          </a:p>
          <a:p>
            <a:pPr marL="742950" lvl="1" indent="-285750">
              <a:lnSpc>
                <a:spcPct val="90000"/>
              </a:lnSpc>
              <a:spcBef>
                <a:spcPts val="0"/>
              </a:spcBef>
              <a:buClrTx/>
              <a:defRPr sz="2000"/>
            </a:pPr>
            <a:r>
              <a:rPr lang="en-US" dirty="0"/>
              <a:t>We will come back to this in a couple of slides </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60" name="Example: Total Store Ordering (TSO)"/>
          <p:cNvSpPr txBox="1">
            <a:spLocks noGrp="1"/>
          </p:cNvSpPr>
          <p:nvPr>
            <p:ph type="title" idx="4294967295"/>
          </p:nvPr>
        </p:nvSpPr>
        <p:spPr>
          <a:xfrm>
            <a:off x="457200" y="152400"/>
            <a:ext cx="8305800" cy="838200"/>
          </a:xfrm>
          <a:prstGeom prst="rect">
            <a:avLst/>
          </a:prstGeom>
        </p:spPr>
        <p:txBody>
          <a:bodyPr>
            <a:normAutofit fontScale="90000"/>
          </a:bodyPr>
          <a:lstStyle>
            <a:lvl1pPr>
              <a:defRPr sz="4000"/>
            </a:lvl1pPr>
          </a:lstStyle>
          <a:p>
            <a:r>
              <a:rPr dirty="0"/>
              <a:t>Example: Total Store Ordering (TSO)</a:t>
            </a:r>
          </a:p>
        </p:txBody>
      </p:sp>
      <p:sp>
        <p:nvSpPr>
          <p:cNvPr id="261" name="Reads are allowed to bypass writes (can hide write latency)…"/>
          <p:cNvSpPr txBox="1">
            <a:spLocks noGrp="1"/>
          </p:cNvSpPr>
          <p:nvPr>
            <p:ph type="body" idx="4294967295"/>
          </p:nvPr>
        </p:nvSpPr>
        <p:spPr>
          <a:xfrm>
            <a:off x="457200" y="1143000"/>
            <a:ext cx="8458200" cy="4343400"/>
          </a:xfrm>
          <a:prstGeom prst="rect">
            <a:avLst/>
          </a:prstGeom>
        </p:spPr>
        <p:txBody>
          <a:bodyPr>
            <a:normAutofit/>
          </a:bodyPr>
          <a:lstStyle/>
          <a:p>
            <a:pPr>
              <a:spcBef>
                <a:spcPts val="500"/>
              </a:spcBef>
              <a:buChar char="▪"/>
              <a:defRPr sz="2400"/>
            </a:pPr>
            <a:r>
              <a:rPr dirty="0"/>
              <a:t>Reads are allowed to bypass writes (can hide write latency)</a:t>
            </a:r>
          </a:p>
          <a:p>
            <a:pPr>
              <a:buChar char="▪"/>
              <a:defRPr sz="2400"/>
            </a:pPr>
            <a:endParaRPr dirty="0"/>
          </a:p>
          <a:p>
            <a:pPr>
              <a:spcBef>
                <a:spcPts val="500"/>
              </a:spcBef>
              <a:buChar char="▪"/>
              <a:defRPr sz="2400"/>
            </a:pPr>
            <a:r>
              <a:rPr dirty="0"/>
              <a:t>Still makes prior example work as expected,</a:t>
            </a:r>
          </a:p>
          <a:p>
            <a:pPr>
              <a:buChar char="▪"/>
              <a:defRPr sz="2400"/>
            </a:pPr>
            <a:endParaRPr dirty="0"/>
          </a:p>
          <a:p>
            <a:pPr>
              <a:spcBef>
                <a:spcPts val="500"/>
              </a:spcBef>
              <a:buSzTx/>
              <a:buFont typeface="Wingdings"/>
              <a:buNone/>
              <a:defRPr sz="2400"/>
            </a:pPr>
            <a:r>
              <a:rPr dirty="0"/>
              <a:t>but breaks some intuitive assumptions,</a:t>
            </a:r>
          </a:p>
        </p:txBody>
      </p:sp>
      <p:sp>
        <p:nvSpPr>
          <p:cNvPr id="262" name="……"/>
          <p:cNvSpPr txBox="1"/>
          <p:nvPr/>
        </p:nvSpPr>
        <p:spPr>
          <a:xfrm>
            <a:off x="2209800" y="2743200"/>
            <a:ext cx="900669"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data = 1;</a:t>
            </a:r>
          </a:p>
          <a:p>
            <a:pPr>
              <a:defRPr sz="1600" b="0">
                <a:solidFill>
                  <a:srgbClr val="0000FF"/>
                </a:solidFill>
                <a:latin typeface="Lucida Console"/>
                <a:ea typeface="Lucida Console"/>
                <a:cs typeface="Lucida Console"/>
                <a:sym typeface="Lucida Console"/>
              </a:defRPr>
            </a:pPr>
            <a:r>
              <a:t>flag = 1;</a:t>
            </a:r>
          </a:p>
        </p:txBody>
      </p:sp>
      <p:sp>
        <p:nvSpPr>
          <p:cNvPr id="263" name="while (flag==0);…"/>
          <p:cNvSpPr txBox="1"/>
          <p:nvPr/>
        </p:nvSpPr>
        <p:spPr>
          <a:xfrm>
            <a:off x="4495800" y="2743200"/>
            <a:ext cx="1493401" cy="1056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while (flag==0);</a:t>
            </a:r>
          </a:p>
          <a:p>
            <a:pPr>
              <a:defRPr sz="1600" b="0">
                <a:solidFill>
                  <a:srgbClr val="0000FF"/>
                </a:solidFill>
                <a:latin typeface="Lucida Console"/>
                <a:ea typeface="Lucida Console"/>
                <a:cs typeface="Lucida Console"/>
                <a:sym typeface="Lucida Console"/>
              </a:defRPr>
            </a:pPr>
            <a:r>
              <a:t>Print data;</a:t>
            </a:r>
          </a:p>
        </p:txBody>
      </p:sp>
      <p:sp>
        <p:nvSpPr>
          <p:cNvPr id="264" name="P1"/>
          <p:cNvSpPr txBox="1"/>
          <p:nvPr/>
        </p:nvSpPr>
        <p:spPr>
          <a:xfrm>
            <a:off x="2552620" y="23622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265" name="P2"/>
          <p:cNvSpPr txBox="1"/>
          <p:nvPr/>
        </p:nvSpPr>
        <p:spPr>
          <a:xfrm>
            <a:off x="5226764" y="23622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266" name="Line"/>
          <p:cNvSpPr/>
          <p:nvPr/>
        </p:nvSpPr>
        <p:spPr>
          <a:xfrm>
            <a:off x="3086100" y="3429000"/>
            <a:ext cx="1219200" cy="0"/>
          </a:xfrm>
          <a:prstGeom prst="line">
            <a:avLst/>
          </a:prstGeom>
          <a:ln w="25400">
            <a:solidFill>
              <a:srgbClr val="000000"/>
            </a:solidFill>
            <a:prstDash val="dash"/>
            <a:tailEnd type="triangle"/>
          </a:ln>
        </p:spPr>
        <p:txBody>
          <a:bodyPr lIns="45719" rIns="45719"/>
          <a:lstStyle/>
          <a:p>
            <a:endParaRPr/>
          </a:p>
        </p:txBody>
      </p:sp>
      <p:sp>
        <p:nvSpPr>
          <p:cNvPr id="267" name="Line"/>
          <p:cNvSpPr/>
          <p:nvPr/>
        </p:nvSpPr>
        <p:spPr>
          <a:xfrm>
            <a:off x="2057400" y="3124200"/>
            <a:ext cx="152400" cy="2286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1800"/>
                  <a:pt x="0" y="3600"/>
                  <a:pt x="0" y="7200"/>
                </a:cubicBezTo>
                <a:cubicBezTo>
                  <a:pt x="0" y="10800"/>
                  <a:pt x="10800" y="16200"/>
                  <a:pt x="21600" y="21600"/>
                </a:cubicBezTo>
              </a:path>
            </a:pathLst>
          </a:custGeom>
          <a:ln w="25400">
            <a:solidFill>
              <a:srgbClr val="FF0000"/>
            </a:solidFill>
            <a:tailEnd type="triangle"/>
          </a:ln>
        </p:spPr>
        <p:txBody>
          <a:bodyPr lIns="45719" rIns="45719"/>
          <a:lstStyle/>
          <a:p>
            <a:pPr>
              <a:defRPr sz="1800" b="0"/>
            </a:pPr>
            <a:endParaRPr/>
          </a:p>
        </p:txBody>
      </p:sp>
      <p:sp>
        <p:nvSpPr>
          <p:cNvPr id="268" name="……"/>
          <p:cNvSpPr txBox="1"/>
          <p:nvPr/>
        </p:nvSpPr>
        <p:spPr>
          <a:xfrm>
            <a:off x="1219200" y="4648200"/>
            <a:ext cx="770394"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A = 1;</a:t>
            </a:r>
          </a:p>
          <a:p>
            <a:pPr>
              <a:defRPr sz="1600" b="0">
                <a:solidFill>
                  <a:srgbClr val="0000FF"/>
                </a:solidFill>
                <a:latin typeface="Lucida Console"/>
                <a:ea typeface="Lucida Console"/>
                <a:cs typeface="Lucida Console"/>
                <a:sym typeface="Lucida Console"/>
              </a:defRPr>
            </a:pPr>
            <a:r>
              <a:t>Print B;</a:t>
            </a:r>
          </a:p>
        </p:txBody>
      </p:sp>
      <p:sp>
        <p:nvSpPr>
          <p:cNvPr id="269" name="B = 1;…"/>
          <p:cNvSpPr txBox="1"/>
          <p:nvPr/>
        </p:nvSpPr>
        <p:spPr>
          <a:xfrm>
            <a:off x="3124200" y="4648200"/>
            <a:ext cx="759282"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B = 1;</a:t>
            </a:r>
          </a:p>
          <a:p>
            <a:pPr>
              <a:defRPr sz="1600" b="0">
                <a:solidFill>
                  <a:srgbClr val="0000FF"/>
                </a:solidFill>
                <a:latin typeface="Lucida Console"/>
                <a:ea typeface="Lucida Console"/>
                <a:cs typeface="Lucida Console"/>
                <a:sym typeface="Lucida Console"/>
              </a:defRPr>
            </a:pPr>
            <a:r>
              <a:t>Print A;</a:t>
            </a:r>
          </a:p>
        </p:txBody>
      </p:sp>
      <p:sp>
        <p:nvSpPr>
          <p:cNvPr id="270" name="P1"/>
          <p:cNvSpPr txBox="1"/>
          <p:nvPr/>
        </p:nvSpPr>
        <p:spPr>
          <a:xfrm>
            <a:off x="1638220" y="42672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271" name="P2"/>
          <p:cNvSpPr txBox="1"/>
          <p:nvPr/>
        </p:nvSpPr>
        <p:spPr>
          <a:xfrm>
            <a:off x="3550364" y="42672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272" name="Line"/>
          <p:cNvSpPr/>
          <p:nvPr/>
        </p:nvSpPr>
        <p:spPr>
          <a:xfrm>
            <a:off x="4572000" y="4343400"/>
            <a:ext cx="152400" cy="12954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ln w="38100">
            <a:solidFill>
              <a:srgbClr val="FF0000"/>
            </a:solidFill>
          </a:ln>
        </p:spPr>
        <p:txBody>
          <a:bodyPr lIns="45719" rIns="45719" anchor="ctr"/>
          <a:lstStyle/>
          <a:p>
            <a:pPr>
              <a:defRPr sz="1800" b="0"/>
            </a:pPr>
            <a:endParaRPr/>
          </a:p>
        </p:txBody>
      </p:sp>
      <p:sp>
        <p:nvSpPr>
          <p:cNvPr id="273" name="SC guarantees that A==0 and B==0 will never be printed"/>
          <p:cNvSpPr txBox="1"/>
          <p:nvPr/>
        </p:nvSpPr>
        <p:spPr>
          <a:xfrm>
            <a:off x="4953000" y="4191000"/>
            <a:ext cx="4054475" cy="624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0">
                <a:solidFill>
                  <a:srgbClr val="FF0000"/>
                </a:solidFill>
              </a:defRPr>
            </a:lvl1pPr>
          </a:lstStyle>
          <a:p>
            <a:r>
              <a:t>SC guarantees that A==0 and B==0 will never be printed</a:t>
            </a:r>
          </a:p>
        </p:txBody>
      </p:sp>
      <p:sp>
        <p:nvSpPr>
          <p:cNvPr id="274" name="TSO allows it if ld B (P1) overtakes st A (P1) and ld A (P2) overtakes st B (P2)"/>
          <p:cNvSpPr txBox="1"/>
          <p:nvPr/>
        </p:nvSpPr>
        <p:spPr>
          <a:xfrm>
            <a:off x="4953000" y="4953000"/>
            <a:ext cx="4054475" cy="6248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0">
                <a:solidFill>
                  <a:srgbClr val="FF0000"/>
                </a:solidFill>
              </a:defRPr>
            </a:lvl1pPr>
          </a:lstStyle>
          <a:p>
            <a:r>
              <a:t>TSO allows it if ld B (P1) overtakes st A (P1) and ld A (P2) overtakes st B (P2)</a:t>
            </a:r>
          </a:p>
        </p:txBody>
      </p:sp>
      <p:sp>
        <p:nvSpPr>
          <p:cNvPr id="275" name="Line"/>
          <p:cNvSpPr/>
          <p:nvPr/>
        </p:nvSpPr>
        <p:spPr>
          <a:xfrm>
            <a:off x="4368800" y="3378200"/>
            <a:ext cx="177800" cy="2286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1800"/>
                  <a:pt x="0" y="3600"/>
                  <a:pt x="0" y="7200"/>
                </a:cubicBezTo>
                <a:cubicBezTo>
                  <a:pt x="0" y="10800"/>
                  <a:pt x="10800" y="16200"/>
                  <a:pt x="21600" y="21600"/>
                </a:cubicBezTo>
              </a:path>
            </a:pathLst>
          </a:custGeom>
          <a:ln w="25400">
            <a:solidFill>
              <a:srgbClr val="FF0000"/>
            </a:solidFill>
            <a:tailEnd type="triangle"/>
          </a:ln>
        </p:spPr>
        <p:txBody>
          <a:bodyPr lIns="45719" rIns="45719"/>
          <a:lstStyle/>
          <a:p>
            <a:pPr>
              <a:defRPr sz="1800" b="0"/>
            </a:pPr>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F92ED-E2DD-B0AB-8ABC-319451E9BD0B}"/>
            </a:ext>
          </a:extLst>
        </p:cNvPr>
        <p:cNvGrpSpPr/>
        <p:nvPr/>
      </p:nvGrpSpPr>
      <p:grpSpPr>
        <a:xfrm>
          <a:off x="0" y="0"/>
          <a:ext cx="0" cy="0"/>
          <a:chOff x="0" y="0"/>
          <a:chExt cx="0" cy="0"/>
        </a:xfrm>
      </p:grpSpPr>
      <p:sp>
        <p:nvSpPr>
          <p:cNvPr id="242" name="Parallel Architectures - 2021-22">
            <a:extLst>
              <a:ext uri="{FF2B5EF4-FFF2-40B4-BE49-F238E27FC236}">
                <a16:creationId xmlns:a16="http://schemas.microsoft.com/office/drawing/2014/main" id="{E5B0183F-7954-2FCF-8770-3FC46BF86AAA}"/>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43" name="Relaxed Memory Consistency Models">
            <a:extLst>
              <a:ext uri="{FF2B5EF4-FFF2-40B4-BE49-F238E27FC236}">
                <a16:creationId xmlns:a16="http://schemas.microsoft.com/office/drawing/2014/main" id="{3351BA54-1E41-661F-3C16-B968EC8DA093}"/>
              </a:ext>
            </a:extLst>
          </p:cNvPr>
          <p:cNvSpPr txBox="1">
            <a:spLocks noGrp="1"/>
          </p:cNvSpPr>
          <p:nvPr>
            <p:ph type="title" idx="4294967295"/>
          </p:nvPr>
        </p:nvSpPr>
        <p:spPr>
          <a:xfrm>
            <a:off x="304800" y="152400"/>
            <a:ext cx="8458200" cy="838200"/>
          </a:xfrm>
          <a:prstGeom prst="rect">
            <a:avLst/>
          </a:prstGeom>
        </p:spPr>
        <p:txBody>
          <a:bodyPr>
            <a:normAutofit/>
          </a:bodyPr>
          <a:lstStyle>
            <a:lvl1pPr>
              <a:defRPr sz="4000"/>
            </a:lvl1pPr>
          </a:lstStyle>
          <a:p>
            <a:r>
              <a:rPr lang="en-US" dirty="0"/>
              <a:t>TSO Examples</a:t>
            </a:r>
            <a:endParaRPr dirty="0"/>
          </a:p>
        </p:txBody>
      </p:sp>
      <p:sp>
        <p:nvSpPr>
          <p:cNvPr id="244" name="Note that control flow and data flow dependences within a thread must still be honoured regardless of the consistency model…">
            <a:extLst>
              <a:ext uri="{FF2B5EF4-FFF2-40B4-BE49-F238E27FC236}">
                <a16:creationId xmlns:a16="http://schemas.microsoft.com/office/drawing/2014/main" id="{11DF6204-85F6-36AA-7E1F-15B6E21CA025}"/>
              </a:ext>
            </a:extLst>
          </p:cNvPr>
          <p:cNvSpPr txBox="1">
            <a:spLocks noGrp="1"/>
          </p:cNvSpPr>
          <p:nvPr>
            <p:ph type="body" idx="4294967295"/>
          </p:nvPr>
        </p:nvSpPr>
        <p:spPr>
          <a:xfrm>
            <a:off x="457200" y="1143000"/>
            <a:ext cx="8458200" cy="4953000"/>
          </a:xfrm>
          <a:prstGeom prst="rect">
            <a:avLst/>
          </a:prstGeom>
        </p:spPr>
        <p:txBody>
          <a:bodyPr>
            <a:normAutofit fontScale="92500" lnSpcReduction="10000"/>
          </a:bodyPr>
          <a:lstStyle/>
          <a:p>
            <a:pPr marL="457200" lvl="1" indent="0">
              <a:lnSpc>
                <a:spcPct val="90000"/>
              </a:lnSpc>
              <a:spcBef>
                <a:spcPts val="0"/>
              </a:spcBef>
              <a:buClrTx/>
              <a:buNone/>
              <a:defRPr sz="2000"/>
            </a:pPr>
            <a:r>
              <a:rPr lang="en-US" dirty="0"/>
              <a:t>//Initially x = 0</a:t>
            </a:r>
          </a:p>
          <a:p>
            <a:pPr marL="457200" lvl="1" indent="0">
              <a:lnSpc>
                <a:spcPct val="90000"/>
              </a:lnSpc>
              <a:spcBef>
                <a:spcPts val="0"/>
              </a:spcBef>
              <a:buClrTx/>
              <a:buNone/>
              <a:defRPr sz="2000"/>
            </a:pPr>
            <a:r>
              <a:rPr lang="en-US" dirty="0"/>
              <a:t>P1.   </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X = 1</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r1 = X</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Can r1 ever be 0?   No!</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//Initially X = Y =0</a:t>
            </a:r>
          </a:p>
          <a:p>
            <a:pPr marL="457200" lvl="1" indent="0">
              <a:lnSpc>
                <a:spcPct val="90000"/>
              </a:lnSpc>
              <a:spcBef>
                <a:spcPts val="0"/>
              </a:spcBef>
              <a:buClrTx/>
              <a:buNone/>
              <a:defRPr sz="2000"/>
            </a:pPr>
            <a:r>
              <a:rPr lang="en-US" dirty="0"/>
              <a:t>P1.                 P2</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X =1.             Y = 1 </a:t>
            </a:r>
          </a:p>
          <a:p>
            <a:pPr marL="457200" lvl="1" indent="0">
              <a:lnSpc>
                <a:spcPct val="90000"/>
              </a:lnSpc>
              <a:spcBef>
                <a:spcPts val="0"/>
              </a:spcBef>
              <a:buClrTx/>
              <a:buNone/>
              <a:defRPr sz="2000"/>
            </a:pPr>
            <a:r>
              <a:rPr lang="en-US" dirty="0"/>
              <a:t>r1 = X            r3 = Y</a:t>
            </a:r>
          </a:p>
          <a:p>
            <a:pPr marL="457200" lvl="1" indent="0">
              <a:lnSpc>
                <a:spcPct val="90000"/>
              </a:lnSpc>
              <a:spcBef>
                <a:spcPts val="0"/>
              </a:spcBef>
              <a:buClrTx/>
              <a:buNone/>
              <a:defRPr sz="2000"/>
            </a:pPr>
            <a:r>
              <a:rPr lang="en-US" dirty="0"/>
              <a:t>r2 = Y.           r4 = X</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What values do r1 and r3 read? (they have to read 1)</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Can both r2 and r4 = 0? (Yes, according to TSO)</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p:txBody>
      </p:sp>
    </p:spTree>
    <p:extLst>
      <p:ext uri="{BB962C8B-B14F-4D97-AF65-F5344CB8AC3E}">
        <p14:creationId xmlns:p14="http://schemas.microsoft.com/office/powerpoint/2010/main" val="1911760447"/>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78" name="Example: Release Consistency (RC)"/>
          <p:cNvSpPr txBox="1">
            <a:spLocks noGrp="1"/>
          </p:cNvSpPr>
          <p:nvPr>
            <p:ph type="title" idx="4294967295"/>
          </p:nvPr>
        </p:nvSpPr>
        <p:spPr>
          <a:xfrm>
            <a:off x="685800" y="152400"/>
            <a:ext cx="8077200" cy="838200"/>
          </a:xfrm>
          <a:prstGeom prst="rect">
            <a:avLst/>
          </a:prstGeom>
        </p:spPr>
        <p:txBody>
          <a:bodyPr>
            <a:normAutofit fontScale="90000"/>
          </a:bodyPr>
          <a:lstStyle>
            <a:lvl1pPr>
              <a:defRPr sz="4000"/>
            </a:lvl1pPr>
          </a:lstStyle>
          <a:p>
            <a:r>
              <a:t>Example: Release Consistency (RC)</a:t>
            </a:r>
          </a:p>
        </p:txBody>
      </p:sp>
      <p:sp>
        <p:nvSpPr>
          <p:cNvPr id="279" name="Reads and writes are allowed to bypass both reads and writes (i.e., any order that satisfies control flow and data flow is allowed)…"/>
          <p:cNvSpPr txBox="1">
            <a:spLocks noGrp="1"/>
          </p:cNvSpPr>
          <p:nvPr>
            <p:ph type="body" idx="4294967295"/>
          </p:nvPr>
        </p:nvSpPr>
        <p:spPr>
          <a:xfrm>
            <a:off x="685800" y="1600200"/>
            <a:ext cx="8458200" cy="4343400"/>
          </a:xfrm>
          <a:prstGeom prst="rect">
            <a:avLst/>
          </a:prstGeom>
        </p:spPr>
        <p:txBody>
          <a:bodyPr>
            <a:normAutofit fontScale="85000" lnSpcReduction="10000"/>
          </a:bodyPr>
          <a:lstStyle/>
          <a:p>
            <a:pPr marL="305180" indent="-305180" defTabSz="813816">
              <a:spcBef>
                <a:spcPts val="500"/>
              </a:spcBef>
              <a:buChar char="▪"/>
              <a:defRPr sz="2136"/>
            </a:pPr>
            <a:r>
              <a:rPr dirty="0"/>
              <a:t>Reads and writes are allowed to bypass both reads and writes (i.e., any order that satisfies control flow and data flow is allowed)</a:t>
            </a:r>
          </a:p>
          <a:p>
            <a:pPr marL="305180" indent="-305180" defTabSz="813816">
              <a:spcBef>
                <a:spcPts val="500"/>
              </a:spcBef>
              <a:buChar char="▪"/>
              <a:defRPr sz="2136"/>
            </a:pPr>
            <a:r>
              <a:rPr dirty="0"/>
              <a:t>Assumes explicit synchronization operations: </a:t>
            </a:r>
            <a:r>
              <a:rPr u="sng" dirty="0"/>
              <a:t>acquire and release</a:t>
            </a:r>
            <a:r>
              <a:rPr dirty="0"/>
              <a:t> So, for correct operation, our example must become:</a:t>
            </a:r>
          </a:p>
          <a:p>
            <a:pPr marL="305180" indent="-305180" defTabSz="813816">
              <a:spcBef>
                <a:spcPts val="600"/>
              </a:spcBef>
              <a:buChar char="▪"/>
              <a:defRPr sz="2136"/>
            </a:pPr>
            <a:endParaRPr dirty="0"/>
          </a:p>
          <a:p>
            <a:pPr marL="305180" indent="-305180" defTabSz="813816">
              <a:spcBef>
                <a:spcPts val="600"/>
              </a:spcBef>
              <a:buChar char="▪"/>
              <a:defRPr sz="2136"/>
            </a:pPr>
            <a:endParaRPr dirty="0"/>
          </a:p>
          <a:p>
            <a:pPr marL="305180" indent="-305180" defTabSz="813816">
              <a:spcBef>
                <a:spcPts val="600"/>
              </a:spcBef>
              <a:buChar char="▪"/>
              <a:defRPr sz="2136"/>
            </a:pPr>
            <a:endParaRPr dirty="0"/>
          </a:p>
          <a:p>
            <a:pPr marL="305180" indent="-305180" defTabSz="813816">
              <a:spcBef>
                <a:spcPts val="500"/>
              </a:spcBef>
              <a:buChar char="▪"/>
              <a:defRPr sz="2136"/>
            </a:pPr>
            <a:r>
              <a:rPr dirty="0"/>
              <a:t>Constraints</a:t>
            </a:r>
          </a:p>
          <a:p>
            <a:pPr marL="661225" lvl="1" indent="-254317" defTabSz="813816">
              <a:spcBef>
                <a:spcPts val="0"/>
              </a:spcBef>
              <a:buClrTx/>
              <a:defRPr sz="1779"/>
            </a:pPr>
            <a:r>
              <a:rPr dirty="0"/>
              <a:t>All previous writes (and previous reads) must complete before a release can complete</a:t>
            </a:r>
          </a:p>
          <a:p>
            <a:pPr marL="661225" lvl="1" indent="-254317" defTabSz="813816">
              <a:spcBef>
                <a:spcPts val="0"/>
              </a:spcBef>
              <a:buClrTx/>
              <a:defRPr sz="1779"/>
            </a:pPr>
            <a:r>
              <a:rPr dirty="0"/>
              <a:t>No subsequent reads (and subsequent writes) can complete before a previous acquire completes</a:t>
            </a:r>
          </a:p>
          <a:p>
            <a:pPr marL="661225" lvl="1" indent="-254317" defTabSz="813816">
              <a:spcBef>
                <a:spcPts val="0"/>
              </a:spcBef>
              <a:buClrTx/>
              <a:defRPr sz="1779"/>
            </a:pPr>
            <a:r>
              <a:rPr dirty="0"/>
              <a:t>All synchronization operations must be sequentially consistent (i.e., follow the rules for SC, where an acquire is equivalent to a read and a release is equivalent to a write)</a:t>
            </a:r>
          </a:p>
        </p:txBody>
      </p:sp>
      <p:sp>
        <p:nvSpPr>
          <p:cNvPr id="280" name="……"/>
          <p:cNvSpPr txBox="1"/>
          <p:nvPr/>
        </p:nvSpPr>
        <p:spPr>
          <a:xfrm>
            <a:off x="2209800" y="3124200"/>
            <a:ext cx="1521877"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data = 1;</a:t>
            </a:r>
          </a:p>
          <a:p>
            <a:pPr>
              <a:defRPr sz="1600" b="0">
                <a:solidFill>
                  <a:srgbClr val="0000FF"/>
                </a:solidFill>
                <a:latin typeface="Lucida Console"/>
                <a:ea typeface="Lucida Console"/>
                <a:cs typeface="Lucida Console"/>
                <a:sym typeface="Lucida Console"/>
              </a:defRPr>
            </a:pPr>
            <a:r>
              <a:t>Release:flag=1;</a:t>
            </a:r>
          </a:p>
        </p:txBody>
      </p:sp>
      <p:sp>
        <p:nvSpPr>
          <p:cNvPr id="281" name="Acquire:while (!flag);…"/>
          <p:cNvSpPr txBox="1"/>
          <p:nvPr/>
        </p:nvSpPr>
        <p:spPr>
          <a:xfrm>
            <a:off x="4495800" y="3124200"/>
            <a:ext cx="1944946" cy="1056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Acquire:while (!flag);</a:t>
            </a:r>
          </a:p>
          <a:p>
            <a:pPr>
              <a:defRPr sz="1600" b="0">
                <a:solidFill>
                  <a:srgbClr val="0000FF"/>
                </a:solidFill>
                <a:latin typeface="Lucida Console"/>
                <a:ea typeface="Lucida Console"/>
                <a:cs typeface="Lucida Console"/>
                <a:sym typeface="Lucida Console"/>
              </a:defRPr>
            </a:pPr>
            <a:r>
              <a:t>Print data;</a:t>
            </a:r>
          </a:p>
        </p:txBody>
      </p:sp>
      <p:sp>
        <p:nvSpPr>
          <p:cNvPr id="282" name="P1"/>
          <p:cNvSpPr txBox="1"/>
          <p:nvPr/>
        </p:nvSpPr>
        <p:spPr>
          <a:xfrm>
            <a:off x="2781220" y="29464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283" name="P2"/>
          <p:cNvSpPr txBox="1"/>
          <p:nvPr/>
        </p:nvSpPr>
        <p:spPr>
          <a:xfrm>
            <a:off x="5455364" y="29591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284" name="Line"/>
          <p:cNvSpPr/>
          <p:nvPr/>
        </p:nvSpPr>
        <p:spPr>
          <a:xfrm>
            <a:off x="4083484" y="3731632"/>
            <a:ext cx="457201" cy="46038"/>
          </a:xfrm>
          <a:prstGeom prst="line">
            <a:avLst/>
          </a:prstGeom>
          <a:ln w="25400">
            <a:solidFill>
              <a:srgbClr val="000000"/>
            </a:solidFill>
            <a:prstDash val="dash"/>
            <a:tailEnd type="triangle"/>
          </a:ln>
        </p:spPr>
        <p:txBody>
          <a:bodyPr lIns="45719" rIns="45719"/>
          <a:lstStyle/>
          <a:p>
            <a:endParaRPr/>
          </a:p>
        </p:txBody>
      </p:sp>
      <p:sp>
        <p:nvSpPr>
          <p:cNvPr id="285" name="Line"/>
          <p:cNvSpPr/>
          <p:nvPr/>
        </p:nvSpPr>
        <p:spPr>
          <a:xfrm>
            <a:off x="2057400" y="3505200"/>
            <a:ext cx="152400" cy="2286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1800"/>
                  <a:pt x="0" y="3600"/>
                  <a:pt x="0" y="7200"/>
                </a:cubicBezTo>
                <a:cubicBezTo>
                  <a:pt x="0" y="10800"/>
                  <a:pt x="10800" y="16200"/>
                  <a:pt x="21600" y="21600"/>
                </a:cubicBezTo>
              </a:path>
            </a:pathLst>
          </a:custGeom>
          <a:ln w="25400">
            <a:solidFill>
              <a:srgbClr val="FF0000"/>
            </a:solidFill>
            <a:tailEnd type="triangle"/>
          </a:ln>
        </p:spPr>
        <p:txBody>
          <a:bodyPr lIns="45719" rIns="45719"/>
          <a:lstStyle/>
          <a:p>
            <a:pPr>
              <a:defRPr sz="1800" b="0"/>
            </a:pPr>
            <a:endParaRPr/>
          </a:p>
        </p:txBody>
      </p:sp>
      <p:sp>
        <p:nvSpPr>
          <p:cNvPr id="286" name="Line"/>
          <p:cNvSpPr/>
          <p:nvPr/>
        </p:nvSpPr>
        <p:spPr>
          <a:xfrm flipH="1">
            <a:off x="7204869" y="3825239"/>
            <a:ext cx="152400" cy="2286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1800"/>
                  <a:pt x="0" y="3600"/>
                  <a:pt x="0" y="7200"/>
                </a:cubicBezTo>
                <a:cubicBezTo>
                  <a:pt x="0" y="10800"/>
                  <a:pt x="10800" y="16200"/>
                  <a:pt x="21600" y="21600"/>
                </a:cubicBezTo>
              </a:path>
            </a:pathLst>
          </a:custGeom>
          <a:ln w="25400">
            <a:solidFill>
              <a:srgbClr val="FF0000"/>
            </a:solidFill>
            <a:tailEnd type="triangle"/>
          </a:ln>
        </p:spPr>
        <p:txBody>
          <a:bodyPr lIns="45719" rIns="45719"/>
          <a:lstStyle/>
          <a:p>
            <a:pPr>
              <a:defRPr sz="1800" b="0"/>
            </a:pPr>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89" name="Example: Release Consistency (RC)"/>
          <p:cNvSpPr txBox="1">
            <a:spLocks noGrp="1"/>
          </p:cNvSpPr>
          <p:nvPr>
            <p:ph type="title" idx="4294967295"/>
          </p:nvPr>
        </p:nvSpPr>
        <p:spPr>
          <a:xfrm>
            <a:off x="685800" y="152400"/>
            <a:ext cx="8077200" cy="838200"/>
          </a:xfrm>
          <a:prstGeom prst="rect">
            <a:avLst/>
          </a:prstGeom>
        </p:spPr>
        <p:txBody>
          <a:bodyPr>
            <a:normAutofit fontScale="90000"/>
          </a:bodyPr>
          <a:lstStyle>
            <a:lvl1pPr>
              <a:defRPr sz="4000"/>
            </a:lvl1pPr>
          </a:lstStyle>
          <a:p>
            <a:r>
              <a:t>Example: Release Consistency (RC)</a:t>
            </a:r>
          </a:p>
        </p:txBody>
      </p:sp>
      <p:sp>
        <p:nvSpPr>
          <p:cNvPr id="290" name="Example: original program order"/>
          <p:cNvSpPr txBox="1">
            <a:spLocks noGrp="1"/>
          </p:cNvSpPr>
          <p:nvPr>
            <p:ph type="body" sz="half" idx="4294967295"/>
          </p:nvPr>
        </p:nvSpPr>
        <p:spPr>
          <a:xfrm>
            <a:off x="152400" y="1143000"/>
            <a:ext cx="3276600" cy="4343400"/>
          </a:xfrm>
          <a:prstGeom prst="rect">
            <a:avLst/>
          </a:prstGeom>
        </p:spPr>
        <p:txBody>
          <a:bodyPr>
            <a:normAutofit/>
          </a:bodyPr>
          <a:lstStyle>
            <a:lvl1pPr>
              <a:spcBef>
                <a:spcPts val="500"/>
              </a:spcBef>
              <a:buChar char="▪"/>
              <a:defRPr sz="2400"/>
            </a:lvl1pPr>
          </a:lstStyle>
          <a:p>
            <a:r>
              <a:rPr dirty="0"/>
              <a:t>Example: original program order</a:t>
            </a:r>
          </a:p>
        </p:txBody>
      </p:sp>
      <p:sp>
        <p:nvSpPr>
          <p:cNvPr id="291" name="Read/write…"/>
          <p:cNvSpPr txBox="1"/>
          <p:nvPr/>
        </p:nvSpPr>
        <p:spPr>
          <a:xfrm>
            <a:off x="838200" y="2438400"/>
            <a:ext cx="1075393"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Read/write</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Read/write</a:t>
            </a:r>
          </a:p>
        </p:txBody>
      </p:sp>
      <p:sp>
        <p:nvSpPr>
          <p:cNvPr id="292" name="P1"/>
          <p:cNvSpPr txBox="1"/>
          <p:nvPr/>
        </p:nvSpPr>
        <p:spPr>
          <a:xfrm>
            <a:off x="1409620" y="20574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293" name="Acquire"/>
          <p:cNvSpPr txBox="1"/>
          <p:nvPr/>
        </p:nvSpPr>
        <p:spPr>
          <a:xfrm>
            <a:off x="838200" y="3276600"/>
            <a:ext cx="793115"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solidFill>
                  <a:srgbClr val="0000FF"/>
                </a:solidFill>
                <a:latin typeface="Lucida Console"/>
                <a:ea typeface="Lucida Console"/>
                <a:cs typeface="Lucida Console"/>
                <a:sym typeface="Lucida Console"/>
              </a:defRPr>
            </a:lvl1pPr>
          </a:lstStyle>
          <a:p>
            <a:r>
              <a:t>Acquire</a:t>
            </a:r>
          </a:p>
        </p:txBody>
      </p:sp>
      <p:sp>
        <p:nvSpPr>
          <p:cNvPr id="294" name="Read/write…"/>
          <p:cNvSpPr txBox="1"/>
          <p:nvPr/>
        </p:nvSpPr>
        <p:spPr>
          <a:xfrm>
            <a:off x="838200" y="3657600"/>
            <a:ext cx="1075393"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Read/write</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Read/write</a:t>
            </a:r>
          </a:p>
        </p:txBody>
      </p:sp>
      <p:sp>
        <p:nvSpPr>
          <p:cNvPr id="295" name="Release"/>
          <p:cNvSpPr txBox="1"/>
          <p:nvPr/>
        </p:nvSpPr>
        <p:spPr>
          <a:xfrm>
            <a:off x="838200" y="4495800"/>
            <a:ext cx="849670"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solidFill>
                  <a:srgbClr val="0000FF"/>
                </a:solidFill>
                <a:latin typeface="Lucida Console"/>
                <a:ea typeface="Lucida Console"/>
                <a:cs typeface="Lucida Console"/>
                <a:sym typeface="Lucida Console"/>
              </a:defRPr>
            </a:lvl1pPr>
          </a:lstStyle>
          <a:p>
            <a:r>
              <a:t>Release</a:t>
            </a:r>
          </a:p>
        </p:txBody>
      </p:sp>
      <p:sp>
        <p:nvSpPr>
          <p:cNvPr id="296" name="Read/write…"/>
          <p:cNvSpPr txBox="1"/>
          <p:nvPr/>
        </p:nvSpPr>
        <p:spPr>
          <a:xfrm>
            <a:off x="838200" y="4876800"/>
            <a:ext cx="1075393"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Read/write</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Read/write</a:t>
            </a:r>
          </a:p>
        </p:txBody>
      </p:sp>
      <p:sp>
        <p:nvSpPr>
          <p:cNvPr id="297" name="Rectangle"/>
          <p:cNvSpPr/>
          <p:nvPr/>
        </p:nvSpPr>
        <p:spPr>
          <a:xfrm>
            <a:off x="838200" y="2438400"/>
            <a:ext cx="1447800" cy="838200"/>
          </a:xfrm>
          <a:prstGeom prst="rect">
            <a:avLst/>
          </a:prstGeom>
          <a:ln w="12700">
            <a:solidFill>
              <a:srgbClr val="000000"/>
            </a:solidFill>
            <a:prstDash val="dash"/>
          </a:ln>
        </p:spPr>
        <p:txBody>
          <a:bodyPr lIns="45719" rIns="45719" anchor="ctr"/>
          <a:lstStyle/>
          <a:p>
            <a:pPr>
              <a:defRPr sz="1800" b="0"/>
            </a:pPr>
            <a:endParaRPr/>
          </a:p>
        </p:txBody>
      </p:sp>
      <p:sp>
        <p:nvSpPr>
          <p:cNvPr id="298" name="Rectangle"/>
          <p:cNvSpPr/>
          <p:nvPr/>
        </p:nvSpPr>
        <p:spPr>
          <a:xfrm>
            <a:off x="838200" y="3276600"/>
            <a:ext cx="1447800" cy="304800"/>
          </a:xfrm>
          <a:prstGeom prst="rect">
            <a:avLst/>
          </a:prstGeom>
          <a:ln w="12700">
            <a:solidFill>
              <a:srgbClr val="000000"/>
            </a:solidFill>
            <a:prstDash val="dash"/>
          </a:ln>
        </p:spPr>
        <p:txBody>
          <a:bodyPr lIns="45719" rIns="45719" anchor="ctr"/>
          <a:lstStyle/>
          <a:p>
            <a:pPr>
              <a:defRPr sz="1800" b="0"/>
            </a:pPr>
            <a:endParaRPr/>
          </a:p>
        </p:txBody>
      </p:sp>
      <p:sp>
        <p:nvSpPr>
          <p:cNvPr id="299" name="Rectangle"/>
          <p:cNvSpPr/>
          <p:nvPr/>
        </p:nvSpPr>
        <p:spPr>
          <a:xfrm>
            <a:off x="838200" y="3581400"/>
            <a:ext cx="1447800" cy="914400"/>
          </a:xfrm>
          <a:prstGeom prst="rect">
            <a:avLst/>
          </a:prstGeom>
          <a:ln w="12700">
            <a:solidFill>
              <a:srgbClr val="000000"/>
            </a:solidFill>
            <a:prstDash val="dash"/>
          </a:ln>
        </p:spPr>
        <p:txBody>
          <a:bodyPr lIns="45719" rIns="45719" anchor="ctr"/>
          <a:lstStyle/>
          <a:p>
            <a:pPr>
              <a:defRPr sz="1800" b="0"/>
            </a:pPr>
            <a:endParaRPr/>
          </a:p>
        </p:txBody>
      </p:sp>
      <p:sp>
        <p:nvSpPr>
          <p:cNvPr id="300" name="Rectangle"/>
          <p:cNvSpPr/>
          <p:nvPr/>
        </p:nvSpPr>
        <p:spPr>
          <a:xfrm>
            <a:off x="838200" y="4495800"/>
            <a:ext cx="1447800" cy="304800"/>
          </a:xfrm>
          <a:prstGeom prst="rect">
            <a:avLst/>
          </a:prstGeom>
          <a:ln w="12700">
            <a:solidFill>
              <a:srgbClr val="000000"/>
            </a:solidFill>
            <a:prstDash val="dash"/>
          </a:ln>
        </p:spPr>
        <p:txBody>
          <a:bodyPr lIns="45719" rIns="45719" anchor="ctr"/>
          <a:lstStyle/>
          <a:p>
            <a:pPr>
              <a:defRPr sz="1800" b="0"/>
            </a:pPr>
            <a:endParaRPr/>
          </a:p>
        </p:txBody>
      </p:sp>
      <p:sp>
        <p:nvSpPr>
          <p:cNvPr id="301" name="Rectangle"/>
          <p:cNvSpPr/>
          <p:nvPr/>
        </p:nvSpPr>
        <p:spPr>
          <a:xfrm>
            <a:off x="838200" y="4800600"/>
            <a:ext cx="1447800" cy="914400"/>
          </a:xfrm>
          <a:prstGeom prst="rect">
            <a:avLst/>
          </a:prstGeom>
          <a:ln w="12700">
            <a:solidFill>
              <a:srgbClr val="000000"/>
            </a:solidFill>
            <a:prstDash val="dash"/>
          </a:ln>
        </p:spPr>
        <p:txBody>
          <a:bodyPr lIns="45719" rIns="45719" anchor="ctr"/>
          <a:lstStyle/>
          <a:p>
            <a:pPr>
              <a:defRPr sz="1800" b="0"/>
            </a:pPr>
            <a:endParaRPr/>
          </a:p>
        </p:txBody>
      </p:sp>
      <p:sp>
        <p:nvSpPr>
          <p:cNvPr id="302" name="Allowable overlaps…"/>
          <p:cNvSpPr txBox="1"/>
          <p:nvPr/>
        </p:nvSpPr>
        <p:spPr>
          <a:xfrm>
            <a:off x="3276600" y="1143000"/>
            <a:ext cx="5867400" cy="45491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342900" indent="-342900">
              <a:spcBef>
                <a:spcPts val="500"/>
              </a:spcBef>
              <a:buClr>
                <a:schemeClr val="accent2"/>
              </a:buClr>
              <a:buSzPct val="100000"/>
              <a:buChar char="▪"/>
              <a:defRPr sz="2400" b="0"/>
            </a:pPr>
            <a:r>
              <a:t>Allowable overlaps</a:t>
            </a:r>
          </a:p>
          <a:p>
            <a:pPr marL="342900" indent="-342900">
              <a:spcBef>
                <a:spcPts val="400"/>
              </a:spcBef>
              <a:buClr>
                <a:schemeClr val="accent2"/>
              </a:buClr>
              <a:buSzPct val="100000"/>
              <a:buChar char="▪"/>
              <a:defRPr sz="2400" b="0"/>
            </a:pPr>
            <a:endParaRPr/>
          </a:p>
          <a:p>
            <a:pPr marL="342900" indent="-342900">
              <a:spcBef>
                <a:spcPts val="400"/>
              </a:spcBef>
              <a:buClr>
                <a:schemeClr val="accent2"/>
              </a:buClr>
              <a:buSzPct val="100000"/>
              <a:buChar char="▪"/>
              <a:defRPr sz="2400" b="0"/>
            </a:pPr>
            <a:endParaRPr/>
          </a:p>
          <a:p>
            <a:pPr marL="342900" indent="-342900">
              <a:spcBef>
                <a:spcPts val="400"/>
              </a:spcBef>
              <a:buClr>
                <a:schemeClr val="accent2"/>
              </a:buClr>
              <a:buSzPct val="100000"/>
              <a:buChar char="▪"/>
              <a:defRPr sz="2400" b="0"/>
            </a:pPr>
            <a:endParaRPr/>
          </a:p>
          <a:p>
            <a:pPr marL="342900" indent="-342900">
              <a:spcBef>
                <a:spcPts val="400"/>
              </a:spcBef>
              <a:buClr>
                <a:schemeClr val="accent2"/>
              </a:buClr>
              <a:buSzPct val="100000"/>
              <a:buChar char="▪"/>
              <a:defRPr sz="2400" b="0"/>
            </a:pPr>
            <a:endParaRPr/>
          </a:p>
          <a:p>
            <a:pPr marL="742950" lvl="1" indent="-285750">
              <a:spcBef>
                <a:spcPts val="400"/>
              </a:spcBef>
              <a:buSzPct val="100000"/>
              <a:buChar char="–"/>
              <a:defRPr sz="1800" b="0"/>
            </a:pPr>
            <a:r>
              <a:t>Reads and writes from block 1 can appear after the acquire </a:t>
            </a:r>
          </a:p>
          <a:p>
            <a:pPr marL="742950" lvl="1" indent="-285750">
              <a:spcBef>
                <a:spcPts val="400"/>
              </a:spcBef>
              <a:buSzPct val="100000"/>
              <a:buChar char="–"/>
              <a:defRPr sz="1800" b="0"/>
            </a:pPr>
            <a:r>
              <a:t>Reads and writes from block 3 can appear before the release</a:t>
            </a:r>
          </a:p>
          <a:p>
            <a:pPr marL="742950" lvl="1" indent="-285750">
              <a:spcBef>
                <a:spcPts val="400"/>
              </a:spcBef>
              <a:buSzPct val="100000"/>
              <a:buChar char="–"/>
              <a:defRPr sz="1800" b="0"/>
            </a:pPr>
            <a:r>
              <a:t>Between acquire and release any order is valid in block 2 (and also 1 and 3)</a:t>
            </a:r>
          </a:p>
          <a:p>
            <a:pPr marL="342900" indent="-342900">
              <a:spcBef>
                <a:spcPts val="500"/>
              </a:spcBef>
              <a:buClr>
                <a:schemeClr val="accent2"/>
              </a:buClr>
              <a:buSzPct val="100000"/>
              <a:buChar char="▪"/>
              <a:defRPr sz="2400" b="0"/>
            </a:pPr>
            <a:r>
              <a:t>Note that despite the many reorderings, this still matches our intuition of critical sections</a:t>
            </a:r>
          </a:p>
        </p:txBody>
      </p:sp>
      <p:sp>
        <p:nvSpPr>
          <p:cNvPr id="303" name="1"/>
          <p:cNvSpPr txBox="1"/>
          <p:nvPr/>
        </p:nvSpPr>
        <p:spPr>
          <a:xfrm>
            <a:off x="544433" y="2667000"/>
            <a:ext cx="187484"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1</a:t>
            </a:r>
          </a:p>
        </p:txBody>
      </p:sp>
      <p:sp>
        <p:nvSpPr>
          <p:cNvPr id="304" name="Oval"/>
          <p:cNvSpPr/>
          <p:nvPr/>
        </p:nvSpPr>
        <p:spPr>
          <a:xfrm>
            <a:off x="533400" y="2667000"/>
            <a:ext cx="228600" cy="304800"/>
          </a:xfrm>
          <a:prstGeom prst="ellipse">
            <a:avLst/>
          </a:prstGeom>
          <a:ln w="12700">
            <a:solidFill>
              <a:srgbClr val="FF0000"/>
            </a:solidFill>
          </a:ln>
        </p:spPr>
        <p:txBody>
          <a:bodyPr lIns="45719" rIns="45719" anchor="ctr"/>
          <a:lstStyle/>
          <a:p>
            <a:pPr>
              <a:defRPr sz="1800" b="0"/>
            </a:pPr>
            <a:endParaRPr/>
          </a:p>
        </p:txBody>
      </p:sp>
      <p:sp>
        <p:nvSpPr>
          <p:cNvPr id="305" name="2"/>
          <p:cNvSpPr txBox="1"/>
          <p:nvPr/>
        </p:nvSpPr>
        <p:spPr>
          <a:xfrm>
            <a:off x="567451" y="3810000"/>
            <a:ext cx="187485"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2</a:t>
            </a:r>
          </a:p>
        </p:txBody>
      </p:sp>
      <p:sp>
        <p:nvSpPr>
          <p:cNvPr id="306" name="Oval"/>
          <p:cNvSpPr/>
          <p:nvPr/>
        </p:nvSpPr>
        <p:spPr>
          <a:xfrm>
            <a:off x="555625" y="3810000"/>
            <a:ext cx="228600" cy="304800"/>
          </a:xfrm>
          <a:prstGeom prst="ellipse">
            <a:avLst/>
          </a:prstGeom>
          <a:ln w="12700">
            <a:solidFill>
              <a:srgbClr val="FF0000"/>
            </a:solidFill>
          </a:ln>
        </p:spPr>
        <p:txBody>
          <a:bodyPr lIns="45719" rIns="45719" anchor="ctr"/>
          <a:lstStyle/>
          <a:p>
            <a:pPr>
              <a:defRPr sz="1800" b="0"/>
            </a:pPr>
            <a:endParaRPr/>
          </a:p>
        </p:txBody>
      </p:sp>
      <p:sp>
        <p:nvSpPr>
          <p:cNvPr id="307" name="3"/>
          <p:cNvSpPr txBox="1"/>
          <p:nvPr/>
        </p:nvSpPr>
        <p:spPr>
          <a:xfrm>
            <a:off x="573801" y="5029200"/>
            <a:ext cx="187485"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3</a:t>
            </a:r>
          </a:p>
        </p:txBody>
      </p:sp>
      <p:sp>
        <p:nvSpPr>
          <p:cNvPr id="308" name="Oval"/>
          <p:cNvSpPr/>
          <p:nvPr/>
        </p:nvSpPr>
        <p:spPr>
          <a:xfrm>
            <a:off x="561975" y="5029200"/>
            <a:ext cx="228600" cy="304800"/>
          </a:xfrm>
          <a:prstGeom prst="ellipse">
            <a:avLst/>
          </a:prstGeom>
          <a:ln w="12700">
            <a:solidFill>
              <a:srgbClr val="FF0000"/>
            </a:solidFill>
          </a:ln>
        </p:spPr>
        <p:txBody>
          <a:bodyPr lIns="45719" rIns="45719" anchor="ctr"/>
          <a:lstStyle/>
          <a:p>
            <a:pPr>
              <a:defRPr sz="1800" b="0"/>
            </a:pPr>
            <a:endParaRPr/>
          </a:p>
        </p:txBody>
      </p:sp>
      <p:sp>
        <p:nvSpPr>
          <p:cNvPr id="309" name="Read/write…"/>
          <p:cNvSpPr txBox="1"/>
          <p:nvPr/>
        </p:nvSpPr>
        <p:spPr>
          <a:xfrm>
            <a:off x="3581400" y="2057400"/>
            <a:ext cx="1075393"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Read/write</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Read/write</a:t>
            </a:r>
          </a:p>
        </p:txBody>
      </p:sp>
      <p:sp>
        <p:nvSpPr>
          <p:cNvPr id="310" name="Rectangle"/>
          <p:cNvSpPr/>
          <p:nvPr/>
        </p:nvSpPr>
        <p:spPr>
          <a:xfrm>
            <a:off x="3581400" y="2057400"/>
            <a:ext cx="1447800" cy="838200"/>
          </a:xfrm>
          <a:prstGeom prst="rect">
            <a:avLst/>
          </a:prstGeom>
          <a:ln w="12700">
            <a:solidFill>
              <a:srgbClr val="000000"/>
            </a:solidFill>
            <a:prstDash val="dash"/>
          </a:ln>
        </p:spPr>
        <p:txBody>
          <a:bodyPr lIns="45719" rIns="45719" anchor="ctr"/>
          <a:lstStyle/>
          <a:p>
            <a:pPr>
              <a:defRPr sz="1800" b="0"/>
            </a:pPr>
            <a:endParaRPr/>
          </a:p>
        </p:txBody>
      </p:sp>
      <p:sp>
        <p:nvSpPr>
          <p:cNvPr id="311" name="1"/>
          <p:cNvSpPr txBox="1"/>
          <p:nvPr/>
        </p:nvSpPr>
        <p:spPr>
          <a:xfrm>
            <a:off x="3287633" y="2286000"/>
            <a:ext cx="187484"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1</a:t>
            </a:r>
          </a:p>
        </p:txBody>
      </p:sp>
      <p:sp>
        <p:nvSpPr>
          <p:cNvPr id="312" name="Oval"/>
          <p:cNvSpPr/>
          <p:nvPr/>
        </p:nvSpPr>
        <p:spPr>
          <a:xfrm>
            <a:off x="3276600" y="2286000"/>
            <a:ext cx="228600" cy="304800"/>
          </a:xfrm>
          <a:prstGeom prst="ellipse">
            <a:avLst/>
          </a:prstGeom>
          <a:ln w="12700">
            <a:solidFill>
              <a:srgbClr val="FF0000"/>
            </a:solidFill>
          </a:ln>
        </p:spPr>
        <p:txBody>
          <a:bodyPr lIns="45719" rIns="45719" anchor="ctr"/>
          <a:lstStyle/>
          <a:p>
            <a:pPr>
              <a:defRPr sz="1800" b="0"/>
            </a:pPr>
            <a:endParaRPr/>
          </a:p>
        </p:txBody>
      </p:sp>
      <p:sp>
        <p:nvSpPr>
          <p:cNvPr id="313" name="Acquire"/>
          <p:cNvSpPr txBox="1"/>
          <p:nvPr/>
        </p:nvSpPr>
        <p:spPr>
          <a:xfrm>
            <a:off x="5562600" y="1676400"/>
            <a:ext cx="793115"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solidFill>
                  <a:srgbClr val="0000FF"/>
                </a:solidFill>
                <a:latin typeface="Lucida Console"/>
                <a:ea typeface="Lucida Console"/>
                <a:cs typeface="Lucida Console"/>
                <a:sym typeface="Lucida Console"/>
              </a:defRPr>
            </a:lvl1pPr>
          </a:lstStyle>
          <a:p>
            <a:r>
              <a:t>Acquire</a:t>
            </a:r>
          </a:p>
        </p:txBody>
      </p:sp>
      <p:sp>
        <p:nvSpPr>
          <p:cNvPr id="314" name="Read/write…"/>
          <p:cNvSpPr txBox="1"/>
          <p:nvPr/>
        </p:nvSpPr>
        <p:spPr>
          <a:xfrm>
            <a:off x="5562600" y="2057400"/>
            <a:ext cx="1075393"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Read/write</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Read/write</a:t>
            </a:r>
          </a:p>
        </p:txBody>
      </p:sp>
      <p:sp>
        <p:nvSpPr>
          <p:cNvPr id="315" name="Release"/>
          <p:cNvSpPr txBox="1"/>
          <p:nvPr/>
        </p:nvSpPr>
        <p:spPr>
          <a:xfrm>
            <a:off x="5562600" y="2895600"/>
            <a:ext cx="849670" cy="3327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600" b="0">
                <a:solidFill>
                  <a:srgbClr val="0000FF"/>
                </a:solidFill>
                <a:latin typeface="Lucida Console"/>
                <a:ea typeface="Lucida Console"/>
                <a:cs typeface="Lucida Console"/>
                <a:sym typeface="Lucida Console"/>
              </a:defRPr>
            </a:lvl1pPr>
          </a:lstStyle>
          <a:p>
            <a:r>
              <a:t>Release</a:t>
            </a:r>
          </a:p>
        </p:txBody>
      </p:sp>
      <p:sp>
        <p:nvSpPr>
          <p:cNvPr id="316" name="Rectangle"/>
          <p:cNvSpPr/>
          <p:nvPr/>
        </p:nvSpPr>
        <p:spPr>
          <a:xfrm>
            <a:off x="5562600" y="1676400"/>
            <a:ext cx="1447800" cy="304800"/>
          </a:xfrm>
          <a:prstGeom prst="rect">
            <a:avLst/>
          </a:prstGeom>
          <a:ln w="12700">
            <a:solidFill>
              <a:srgbClr val="000000"/>
            </a:solidFill>
            <a:prstDash val="dash"/>
          </a:ln>
        </p:spPr>
        <p:txBody>
          <a:bodyPr lIns="45719" rIns="45719" anchor="ctr"/>
          <a:lstStyle/>
          <a:p>
            <a:pPr>
              <a:defRPr sz="1800" b="0"/>
            </a:pPr>
            <a:endParaRPr/>
          </a:p>
        </p:txBody>
      </p:sp>
      <p:sp>
        <p:nvSpPr>
          <p:cNvPr id="317" name="Rectangle"/>
          <p:cNvSpPr/>
          <p:nvPr/>
        </p:nvSpPr>
        <p:spPr>
          <a:xfrm>
            <a:off x="5562600" y="1981200"/>
            <a:ext cx="1447800" cy="914400"/>
          </a:xfrm>
          <a:prstGeom prst="rect">
            <a:avLst/>
          </a:prstGeom>
          <a:ln w="12700">
            <a:solidFill>
              <a:srgbClr val="000000"/>
            </a:solidFill>
            <a:prstDash val="dash"/>
          </a:ln>
        </p:spPr>
        <p:txBody>
          <a:bodyPr lIns="45719" rIns="45719" anchor="ctr"/>
          <a:lstStyle/>
          <a:p>
            <a:pPr>
              <a:defRPr sz="1800" b="0"/>
            </a:pPr>
            <a:endParaRPr/>
          </a:p>
        </p:txBody>
      </p:sp>
      <p:sp>
        <p:nvSpPr>
          <p:cNvPr id="318" name="Rectangle"/>
          <p:cNvSpPr/>
          <p:nvPr/>
        </p:nvSpPr>
        <p:spPr>
          <a:xfrm>
            <a:off x="5562600" y="2895600"/>
            <a:ext cx="1447800" cy="304800"/>
          </a:xfrm>
          <a:prstGeom prst="rect">
            <a:avLst/>
          </a:prstGeom>
          <a:ln w="12700">
            <a:solidFill>
              <a:srgbClr val="000000"/>
            </a:solidFill>
            <a:prstDash val="dash"/>
          </a:ln>
        </p:spPr>
        <p:txBody>
          <a:bodyPr lIns="45719" rIns="45719" anchor="ctr"/>
          <a:lstStyle/>
          <a:p>
            <a:pPr>
              <a:defRPr sz="1800" b="0"/>
            </a:pPr>
            <a:endParaRPr/>
          </a:p>
        </p:txBody>
      </p:sp>
      <p:sp>
        <p:nvSpPr>
          <p:cNvPr id="319" name="2"/>
          <p:cNvSpPr txBox="1"/>
          <p:nvPr/>
        </p:nvSpPr>
        <p:spPr>
          <a:xfrm>
            <a:off x="5291851" y="2209800"/>
            <a:ext cx="187485"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2</a:t>
            </a:r>
          </a:p>
        </p:txBody>
      </p:sp>
      <p:sp>
        <p:nvSpPr>
          <p:cNvPr id="320" name="Oval"/>
          <p:cNvSpPr/>
          <p:nvPr/>
        </p:nvSpPr>
        <p:spPr>
          <a:xfrm>
            <a:off x="5280025" y="2209800"/>
            <a:ext cx="228600" cy="304800"/>
          </a:xfrm>
          <a:prstGeom prst="ellipse">
            <a:avLst/>
          </a:prstGeom>
          <a:ln w="12700">
            <a:solidFill>
              <a:srgbClr val="FF0000"/>
            </a:solidFill>
          </a:ln>
        </p:spPr>
        <p:txBody>
          <a:bodyPr lIns="45719" rIns="45719" anchor="ctr"/>
          <a:lstStyle/>
          <a:p>
            <a:pPr>
              <a:defRPr sz="1800" b="0"/>
            </a:pPr>
            <a:endParaRPr/>
          </a:p>
        </p:txBody>
      </p:sp>
      <p:sp>
        <p:nvSpPr>
          <p:cNvPr id="321" name="Read/write…"/>
          <p:cNvSpPr txBox="1"/>
          <p:nvPr/>
        </p:nvSpPr>
        <p:spPr>
          <a:xfrm>
            <a:off x="7543800" y="2057400"/>
            <a:ext cx="1075393" cy="8153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Read/write</a:t>
            </a:r>
          </a:p>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Read/write</a:t>
            </a:r>
          </a:p>
        </p:txBody>
      </p:sp>
      <p:sp>
        <p:nvSpPr>
          <p:cNvPr id="322" name="Rectangle"/>
          <p:cNvSpPr/>
          <p:nvPr/>
        </p:nvSpPr>
        <p:spPr>
          <a:xfrm>
            <a:off x="7543800" y="1981200"/>
            <a:ext cx="1447800" cy="914400"/>
          </a:xfrm>
          <a:prstGeom prst="rect">
            <a:avLst/>
          </a:prstGeom>
          <a:ln w="12700">
            <a:solidFill>
              <a:srgbClr val="000000"/>
            </a:solidFill>
            <a:prstDash val="dash"/>
          </a:ln>
        </p:spPr>
        <p:txBody>
          <a:bodyPr lIns="45719" rIns="45719" anchor="ctr"/>
          <a:lstStyle/>
          <a:p>
            <a:pPr>
              <a:defRPr sz="1800" b="0"/>
            </a:pPr>
            <a:endParaRPr/>
          </a:p>
        </p:txBody>
      </p:sp>
      <p:sp>
        <p:nvSpPr>
          <p:cNvPr id="323" name="3"/>
          <p:cNvSpPr txBox="1"/>
          <p:nvPr/>
        </p:nvSpPr>
        <p:spPr>
          <a:xfrm>
            <a:off x="7279401" y="2209800"/>
            <a:ext cx="187485"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3</a:t>
            </a:r>
          </a:p>
        </p:txBody>
      </p:sp>
      <p:sp>
        <p:nvSpPr>
          <p:cNvPr id="324" name="Oval"/>
          <p:cNvSpPr/>
          <p:nvPr/>
        </p:nvSpPr>
        <p:spPr>
          <a:xfrm>
            <a:off x="7267575" y="2209800"/>
            <a:ext cx="228600" cy="304800"/>
          </a:xfrm>
          <a:prstGeom prst="ellipse">
            <a:avLst/>
          </a:prstGeom>
          <a:ln w="12700">
            <a:solidFill>
              <a:srgbClr val="FF0000"/>
            </a:solidFill>
          </a:ln>
        </p:spPr>
        <p:txBody>
          <a:bodyPr lIns="45719" rIns="45719" anchor="ctr"/>
          <a:lstStyle/>
          <a:p>
            <a:pPr>
              <a:defRPr sz="1800" b="0"/>
            </a:pPr>
            <a:endParaRPr/>
          </a:p>
        </p:txBody>
      </p:sp>
      <p:sp>
        <p:nvSpPr>
          <p:cNvPr id="325" name="Line"/>
          <p:cNvSpPr/>
          <p:nvPr/>
        </p:nvSpPr>
        <p:spPr>
          <a:xfrm>
            <a:off x="5029200" y="2895600"/>
            <a:ext cx="533400" cy="0"/>
          </a:xfrm>
          <a:prstGeom prst="line">
            <a:avLst/>
          </a:prstGeom>
          <a:ln w="38100">
            <a:solidFill>
              <a:srgbClr val="FF0000"/>
            </a:solidFill>
            <a:tailEnd type="triangle"/>
          </a:ln>
        </p:spPr>
        <p:txBody>
          <a:bodyPr lIns="45719" rIns="45719"/>
          <a:lstStyle/>
          <a:p>
            <a:endParaRPr/>
          </a:p>
        </p:txBody>
      </p:sp>
      <p:sp>
        <p:nvSpPr>
          <p:cNvPr id="326" name="Line"/>
          <p:cNvSpPr/>
          <p:nvPr/>
        </p:nvSpPr>
        <p:spPr>
          <a:xfrm>
            <a:off x="7010400" y="1981200"/>
            <a:ext cx="533400" cy="0"/>
          </a:xfrm>
          <a:prstGeom prst="line">
            <a:avLst/>
          </a:prstGeom>
          <a:ln w="38100">
            <a:solidFill>
              <a:srgbClr val="FF0000"/>
            </a:solidFill>
            <a:tailEnd type="triangle"/>
          </a:ln>
        </p:spPr>
        <p:txBody>
          <a:bodyPr lIns="45719" rIns="45719"/>
          <a:lstStyle/>
          <a:p>
            <a:endParaRP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63B0F-38F9-260C-6829-A00A351CE7BB}"/>
            </a:ext>
          </a:extLst>
        </p:cNvPr>
        <p:cNvGrpSpPr/>
        <p:nvPr/>
      </p:nvGrpSpPr>
      <p:grpSpPr>
        <a:xfrm>
          <a:off x="0" y="0"/>
          <a:ext cx="0" cy="0"/>
          <a:chOff x="0" y="0"/>
          <a:chExt cx="0" cy="0"/>
        </a:xfrm>
      </p:grpSpPr>
      <p:sp>
        <p:nvSpPr>
          <p:cNvPr id="242" name="Parallel Architectures - 2021-22">
            <a:extLst>
              <a:ext uri="{FF2B5EF4-FFF2-40B4-BE49-F238E27FC236}">
                <a16:creationId xmlns:a16="http://schemas.microsoft.com/office/drawing/2014/main" id="{75525466-8D53-C251-D3FC-37F4AC0B1B29}"/>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43" name="Relaxed Memory Consistency Models">
            <a:extLst>
              <a:ext uri="{FF2B5EF4-FFF2-40B4-BE49-F238E27FC236}">
                <a16:creationId xmlns:a16="http://schemas.microsoft.com/office/drawing/2014/main" id="{60643472-8AE5-124F-544D-D16F71D88630}"/>
              </a:ext>
            </a:extLst>
          </p:cNvPr>
          <p:cNvSpPr txBox="1">
            <a:spLocks noGrp="1"/>
          </p:cNvSpPr>
          <p:nvPr>
            <p:ph type="title" idx="4294967295"/>
          </p:nvPr>
        </p:nvSpPr>
        <p:spPr>
          <a:xfrm>
            <a:off x="304800" y="152400"/>
            <a:ext cx="8458200" cy="838200"/>
          </a:xfrm>
          <a:prstGeom prst="rect">
            <a:avLst/>
          </a:prstGeom>
        </p:spPr>
        <p:txBody>
          <a:bodyPr>
            <a:normAutofit/>
          </a:bodyPr>
          <a:lstStyle>
            <a:lvl1pPr>
              <a:defRPr sz="4000"/>
            </a:lvl1pPr>
          </a:lstStyle>
          <a:p>
            <a:r>
              <a:rPr lang="en-US" dirty="0"/>
              <a:t>RC example: control dependency.</a:t>
            </a:r>
            <a:endParaRPr dirty="0"/>
          </a:p>
        </p:txBody>
      </p:sp>
      <p:sp>
        <p:nvSpPr>
          <p:cNvPr id="244" name="Note that control flow and data flow dependences within a thread must still be honoured regardless of the consistency model…">
            <a:extLst>
              <a:ext uri="{FF2B5EF4-FFF2-40B4-BE49-F238E27FC236}">
                <a16:creationId xmlns:a16="http://schemas.microsoft.com/office/drawing/2014/main" id="{86AA587B-2EB2-C899-D0E9-DAE8F2611B0E}"/>
              </a:ext>
            </a:extLst>
          </p:cNvPr>
          <p:cNvSpPr txBox="1">
            <a:spLocks noGrp="1"/>
          </p:cNvSpPr>
          <p:nvPr>
            <p:ph type="body" idx="4294967295"/>
          </p:nvPr>
        </p:nvSpPr>
        <p:spPr>
          <a:xfrm>
            <a:off x="457200" y="1143000"/>
            <a:ext cx="8458200" cy="4953000"/>
          </a:xfrm>
          <a:prstGeom prst="rect">
            <a:avLst/>
          </a:prstGeom>
        </p:spPr>
        <p:txBody>
          <a:bodyPr>
            <a:normAutofit/>
          </a:bodyPr>
          <a:lstStyle/>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//Initially X = Y =0</a:t>
            </a:r>
          </a:p>
          <a:p>
            <a:pPr marL="457200" lvl="1" indent="0">
              <a:lnSpc>
                <a:spcPct val="90000"/>
              </a:lnSpc>
              <a:spcBef>
                <a:spcPts val="0"/>
              </a:spcBef>
              <a:buClrTx/>
              <a:buNone/>
              <a:defRPr sz="2000"/>
            </a:pPr>
            <a:r>
              <a:rPr lang="en-US" dirty="0"/>
              <a:t>P1.                 P2</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X =1.               r1 = Y//reads 1</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Rel Y = 1          if(r1 ==1)</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                             r2 = X //reads 0?</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p:txBody>
      </p:sp>
    </p:spTree>
    <p:extLst>
      <p:ext uri="{BB962C8B-B14F-4D97-AF65-F5344CB8AC3E}">
        <p14:creationId xmlns:p14="http://schemas.microsoft.com/office/powerpoint/2010/main" val="2413974947"/>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1E77F-18B9-CD00-C636-265A415DDD79}"/>
            </a:ext>
          </a:extLst>
        </p:cNvPr>
        <p:cNvGrpSpPr/>
        <p:nvPr/>
      </p:nvGrpSpPr>
      <p:grpSpPr>
        <a:xfrm>
          <a:off x="0" y="0"/>
          <a:ext cx="0" cy="0"/>
          <a:chOff x="0" y="0"/>
          <a:chExt cx="0" cy="0"/>
        </a:xfrm>
      </p:grpSpPr>
      <p:sp>
        <p:nvSpPr>
          <p:cNvPr id="242" name="Parallel Architectures - 2021-22">
            <a:extLst>
              <a:ext uri="{FF2B5EF4-FFF2-40B4-BE49-F238E27FC236}">
                <a16:creationId xmlns:a16="http://schemas.microsoft.com/office/drawing/2014/main" id="{E92624AF-4179-C201-28FD-B133B0F9FC84}"/>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43" name="Relaxed Memory Consistency Models">
            <a:extLst>
              <a:ext uri="{FF2B5EF4-FFF2-40B4-BE49-F238E27FC236}">
                <a16:creationId xmlns:a16="http://schemas.microsoft.com/office/drawing/2014/main" id="{B63CC56D-01E8-7820-187D-D7B291B107E5}"/>
              </a:ext>
            </a:extLst>
          </p:cNvPr>
          <p:cNvSpPr txBox="1">
            <a:spLocks noGrp="1"/>
          </p:cNvSpPr>
          <p:nvPr>
            <p:ph type="title" idx="4294967295"/>
          </p:nvPr>
        </p:nvSpPr>
        <p:spPr>
          <a:xfrm>
            <a:off x="304800" y="152400"/>
            <a:ext cx="8458200" cy="838200"/>
          </a:xfrm>
          <a:prstGeom prst="rect">
            <a:avLst/>
          </a:prstGeom>
        </p:spPr>
        <p:txBody>
          <a:bodyPr>
            <a:normAutofit/>
          </a:bodyPr>
          <a:lstStyle>
            <a:lvl1pPr>
              <a:defRPr sz="4000"/>
            </a:lvl1pPr>
          </a:lstStyle>
          <a:p>
            <a:r>
              <a:rPr lang="en-US" dirty="0"/>
              <a:t>RC example: control dependency.</a:t>
            </a:r>
            <a:endParaRPr dirty="0"/>
          </a:p>
        </p:txBody>
      </p:sp>
      <p:sp>
        <p:nvSpPr>
          <p:cNvPr id="244" name="Note that control flow and data flow dependences within a thread must still be honoured regardless of the consistency model…">
            <a:extLst>
              <a:ext uri="{FF2B5EF4-FFF2-40B4-BE49-F238E27FC236}">
                <a16:creationId xmlns:a16="http://schemas.microsoft.com/office/drawing/2014/main" id="{DD1997AF-8AA7-0167-9260-F285895CC0AA}"/>
              </a:ext>
            </a:extLst>
          </p:cNvPr>
          <p:cNvSpPr txBox="1">
            <a:spLocks noGrp="1"/>
          </p:cNvSpPr>
          <p:nvPr>
            <p:ph type="body" idx="4294967295"/>
          </p:nvPr>
        </p:nvSpPr>
        <p:spPr>
          <a:xfrm>
            <a:off x="457200" y="1143000"/>
            <a:ext cx="8458200" cy="4953000"/>
          </a:xfrm>
          <a:prstGeom prst="rect">
            <a:avLst/>
          </a:prstGeom>
        </p:spPr>
        <p:txBody>
          <a:bodyPr>
            <a:normAutofit/>
          </a:bodyPr>
          <a:lstStyle/>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//Initially X = Y =0</a:t>
            </a:r>
          </a:p>
          <a:p>
            <a:pPr marL="457200" lvl="1" indent="0">
              <a:lnSpc>
                <a:spcPct val="90000"/>
              </a:lnSpc>
              <a:spcBef>
                <a:spcPts val="0"/>
              </a:spcBef>
              <a:buClrTx/>
              <a:buNone/>
              <a:defRPr sz="2000"/>
            </a:pPr>
            <a:r>
              <a:rPr lang="en-US" dirty="0"/>
              <a:t>P1.                 P2</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X =1.               r1 = Y//reads 1</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Rel Y = 1          if(r1 ==1)</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                             r2 = X //reads 0?</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Possible with RISC-V and ARM!!!</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p:txBody>
      </p:sp>
    </p:spTree>
    <p:extLst>
      <p:ext uri="{BB962C8B-B14F-4D97-AF65-F5344CB8AC3E}">
        <p14:creationId xmlns:p14="http://schemas.microsoft.com/office/powerpoint/2010/main" val="1024184250"/>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CA4DD-BF07-9173-2059-5A1C4E177F26}"/>
            </a:ext>
          </a:extLst>
        </p:cNvPr>
        <p:cNvGrpSpPr/>
        <p:nvPr/>
      </p:nvGrpSpPr>
      <p:grpSpPr>
        <a:xfrm>
          <a:off x="0" y="0"/>
          <a:ext cx="0" cy="0"/>
          <a:chOff x="0" y="0"/>
          <a:chExt cx="0" cy="0"/>
        </a:xfrm>
      </p:grpSpPr>
      <p:sp>
        <p:nvSpPr>
          <p:cNvPr id="242" name="Parallel Architectures - 2021-22">
            <a:extLst>
              <a:ext uri="{FF2B5EF4-FFF2-40B4-BE49-F238E27FC236}">
                <a16:creationId xmlns:a16="http://schemas.microsoft.com/office/drawing/2014/main" id="{24DB7728-54BA-8AB1-27C7-94808842F807}"/>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43" name="Relaxed Memory Consistency Models">
            <a:extLst>
              <a:ext uri="{FF2B5EF4-FFF2-40B4-BE49-F238E27FC236}">
                <a16:creationId xmlns:a16="http://schemas.microsoft.com/office/drawing/2014/main" id="{D2FDB8EF-6449-06AA-E10F-C10ACA10DB13}"/>
              </a:ext>
            </a:extLst>
          </p:cNvPr>
          <p:cNvSpPr txBox="1">
            <a:spLocks noGrp="1"/>
          </p:cNvSpPr>
          <p:nvPr>
            <p:ph type="title" idx="4294967295"/>
          </p:nvPr>
        </p:nvSpPr>
        <p:spPr>
          <a:xfrm>
            <a:off x="304800" y="152400"/>
            <a:ext cx="8458200" cy="838200"/>
          </a:xfrm>
          <a:prstGeom prst="rect">
            <a:avLst/>
          </a:prstGeom>
        </p:spPr>
        <p:txBody>
          <a:bodyPr>
            <a:normAutofit fontScale="90000"/>
          </a:bodyPr>
          <a:lstStyle>
            <a:lvl1pPr>
              <a:defRPr sz="4000"/>
            </a:lvl1pPr>
          </a:lstStyle>
          <a:p>
            <a:r>
              <a:rPr lang="en-US" dirty="0"/>
              <a:t>RC example: address dependency.</a:t>
            </a:r>
            <a:endParaRPr dirty="0"/>
          </a:p>
        </p:txBody>
      </p:sp>
      <p:sp>
        <p:nvSpPr>
          <p:cNvPr id="244" name="Note that control flow and data flow dependences within a thread must still be honoured regardless of the consistency model…">
            <a:extLst>
              <a:ext uri="{FF2B5EF4-FFF2-40B4-BE49-F238E27FC236}">
                <a16:creationId xmlns:a16="http://schemas.microsoft.com/office/drawing/2014/main" id="{7017D8E8-32B3-ABF1-1483-1C77F474B597}"/>
              </a:ext>
            </a:extLst>
          </p:cNvPr>
          <p:cNvSpPr txBox="1">
            <a:spLocks noGrp="1"/>
          </p:cNvSpPr>
          <p:nvPr>
            <p:ph type="body" idx="4294967295"/>
          </p:nvPr>
        </p:nvSpPr>
        <p:spPr>
          <a:xfrm>
            <a:off x="457200" y="1143000"/>
            <a:ext cx="8458200" cy="4953000"/>
          </a:xfrm>
          <a:prstGeom prst="rect">
            <a:avLst/>
          </a:prstGeom>
        </p:spPr>
        <p:txBody>
          <a:bodyPr>
            <a:normAutofit/>
          </a:bodyPr>
          <a:lstStyle/>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//Initially X = Y =0, assume address of X = 0xffff</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P1.                         P2</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X =1.                      r1 = Y.   //</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Rel Y = 0xffff          r2 = *(r1) // reads 0?</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                             </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p:txBody>
      </p:sp>
    </p:spTree>
    <p:extLst>
      <p:ext uri="{BB962C8B-B14F-4D97-AF65-F5344CB8AC3E}">
        <p14:creationId xmlns:p14="http://schemas.microsoft.com/office/powerpoint/2010/main" val="1213656334"/>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0932D-DEC1-351E-0CF9-E132FC32C598}"/>
            </a:ext>
          </a:extLst>
        </p:cNvPr>
        <p:cNvGrpSpPr/>
        <p:nvPr/>
      </p:nvGrpSpPr>
      <p:grpSpPr>
        <a:xfrm>
          <a:off x="0" y="0"/>
          <a:ext cx="0" cy="0"/>
          <a:chOff x="0" y="0"/>
          <a:chExt cx="0" cy="0"/>
        </a:xfrm>
      </p:grpSpPr>
      <p:sp>
        <p:nvSpPr>
          <p:cNvPr id="242" name="Parallel Architectures - 2021-22">
            <a:extLst>
              <a:ext uri="{FF2B5EF4-FFF2-40B4-BE49-F238E27FC236}">
                <a16:creationId xmlns:a16="http://schemas.microsoft.com/office/drawing/2014/main" id="{1758DD43-1AFB-1477-9867-19B6E4817A87}"/>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243" name="Relaxed Memory Consistency Models">
            <a:extLst>
              <a:ext uri="{FF2B5EF4-FFF2-40B4-BE49-F238E27FC236}">
                <a16:creationId xmlns:a16="http://schemas.microsoft.com/office/drawing/2014/main" id="{123D865A-4057-D8D6-C3B1-7C3DAFD8AA24}"/>
              </a:ext>
            </a:extLst>
          </p:cNvPr>
          <p:cNvSpPr txBox="1">
            <a:spLocks noGrp="1"/>
          </p:cNvSpPr>
          <p:nvPr>
            <p:ph type="title" idx="4294967295"/>
          </p:nvPr>
        </p:nvSpPr>
        <p:spPr>
          <a:xfrm>
            <a:off x="304800" y="152400"/>
            <a:ext cx="8458200" cy="838200"/>
          </a:xfrm>
          <a:prstGeom prst="rect">
            <a:avLst/>
          </a:prstGeom>
        </p:spPr>
        <p:txBody>
          <a:bodyPr>
            <a:normAutofit fontScale="90000"/>
          </a:bodyPr>
          <a:lstStyle>
            <a:lvl1pPr>
              <a:defRPr sz="4000"/>
            </a:lvl1pPr>
          </a:lstStyle>
          <a:p>
            <a:r>
              <a:rPr lang="en-US" dirty="0"/>
              <a:t>RC example: address dependency.</a:t>
            </a:r>
            <a:endParaRPr dirty="0"/>
          </a:p>
        </p:txBody>
      </p:sp>
      <p:sp>
        <p:nvSpPr>
          <p:cNvPr id="244" name="Note that control flow and data flow dependences within a thread must still be honoured regardless of the consistency model…">
            <a:extLst>
              <a:ext uri="{FF2B5EF4-FFF2-40B4-BE49-F238E27FC236}">
                <a16:creationId xmlns:a16="http://schemas.microsoft.com/office/drawing/2014/main" id="{BC305C92-0398-9439-A554-E0DBFD41523F}"/>
              </a:ext>
            </a:extLst>
          </p:cNvPr>
          <p:cNvSpPr txBox="1">
            <a:spLocks noGrp="1"/>
          </p:cNvSpPr>
          <p:nvPr>
            <p:ph type="body" idx="4294967295"/>
          </p:nvPr>
        </p:nvSpPr>
        <p:spPr>
          <a:xfrm>
            <a:off x="457200" y="1143000"/>
            <a:ext cx="8458200" cy="4953000"/>
          </a:xfrm>
          <a:prstGeom prst="rect">
            <a:avLst/>
          </a:prstGeom>
        </p:spPr>
        <p:txBody>
          <a:bodyPr>
            <a:normAutofit/>
          </a:bodyPr>
          <a:lstStyle/>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//Initially X = Y =0, assume address of X = 0xffff</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P1.                         P2</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X =1.                      r1 = Y.   //</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Rel Y = 0xffff          r2 = *(r1) // reads 0?</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No, according to RISC-V and ARM!</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r>
              <a:rPr lang="en-US" dirty="0"/>
              <a:t>                             </a:t>
            </a:r>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a:p>
            <a:pPr marL="457200" lvl="1" indent="0">
              <a:lnSpc>
                <a:spcPct val="90000"/>
              </a:lnSpc>
              <a:spcBef>
                <a:spcPts val="0"/>
              </a:spcBef>
              <a:buClrTx/>
              <a:buNone/>
              <a:defRPr sz="2000"/>
            </a:pPr>
            <a:endParaRPr lang="en-US" dirty="0"/>
          </a:p>
        </p:txBody>
      </p:sp>
    </p:spTree>
    <p:extLst>
      <p:ext uri="{BB962C8B-B14F-4D97-AF65-F5344CB8AC3E}">
        <p14:creationId xmlns:p14="http://schemas.microsoft.com/office/powerpoint/2010/main" val="2278208740"/>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Implementing RC"/>
          <p:cNvSpPr txBox="1">
            <a:spLocks noGrp="1"/>
          </p:cNvSpPr>
          <p:nvPr>
            <p:ph type="title" idx="4294967295"/>
          </p:nvPr>
        </p:nvSpPr>
        <p:spPr>
          <a:xfrm>
            <a:off x="685800" y="152400"/>
            <a:ext cx="7772400" cy="838200"/>
          </a:xfrm>
          <a:prstGeom prst="rect">
            <a:avLst/>
          </a:prstGeom>
        </p:spPr>
        <p:txBody>
          <a:bodyPr>
            <a:normAutofit/>
          </a:bodyPr>
          <a:lstStyle/>
          <a:p>
            <a:r>
              <a:t>Implementing RC</a:t>
            </a:r>
          </a:p>
        </p:txBody>
      </p:sp>
      <p:sp>
        <p:nvSpPr>
          <p:cNvPr id="329" name="RC with writer-initiated invalidations:…"/>
          <p:cNvSpPr txBox="1">
            <a:spLocks noGrp="1"/>
          </p:cNvSpPr>
          <p:nvPr>
            <p:ph type="body" idx="4294967295"/>
          </p:nvPr>
        </p:nvSpPr>
        <p:spPr>
          <a:xfrm>
            <a:off x="685800" y="1524000"/>
            <a:ext cx="7772400" cy="4038600"/>
          </a:xfrm>
          <a:prstGeom prst="rect">
            <a:avLst/>
          </a:prstGeom>
        </p:spPr>
        <p:txBody>
          <a:bodyPr>
            <a:normAutofit/>
          </a:bodyPr>
          <a:lstStyle/>
          <a:p>
            <a:pPr>
              <a:lnSpc>
                <a:spcPct val="80000"/>
              </a:lnSpc>
              <a:spcBef>
                <a:spcPts val="500"/>
              </a:spcBef>
              <a:buChar char="▪"/>
              <a:defRPr sz="2200"/>
            </a:pPr>
            <a:r>
              <a:t>RC with writer-initiated invalidations:</a:t>
            </a:r>
          </a:p>
          <a:p>
            <a:pPr marL="742950" lvl="1" indent="-285750">
              <a:lnSpc>
                <a:spcPct val="80000"/>
              </a:lnSpc>
              <a:spcBef>
                <a:spcPts val="0"/>
              </a:spcBef>
              <a:buClrTx/>
              <a:defRPr sz="2000"/>
            </a:pPr>
            <a:r>
              <a:t>Writes retire into write buffer (and could complete out of order)</a:t>
            </a:r>
          </a:p>
          <a:p>
            <a:pPr marL="742950" lvl="1" indent="-285750">
              <a:lnSpc>
                <a:spcPct val="80000"/>
              </a:lnSpc>
              <a:spcBef>
                <a:spcPts val="0"/>
              </a:spcBef>
              <a:buClrTx/>
              <a:defRPr sz="2000"/>
            </a:pPr>
            <a:r>
              <a:t>Reads maybe be issued out-of-order (and may complete out of order, although in practice they processors commit in order.)</a:t>
            </a:r>
            <a:r>
              <a:rPr>
                <a:solidFill>
                  <a:srgbClr val="FF0000"/>
                </a:solidFill>
              </a:rPr>
              <a:t> </a:t>
            </a:r>
          </a:p>
          <a:p>
            <a:pPr marL="742950" lvl="1" indent="-285750">
              <a:lnSpc>
                <a:spcPct val="80000"/>
              </a:lnSpc>
              <a:spcBef>
                <a:spcPts val="0"/>
              </a:spcBef>
              <a:buClrTx/>
              <a:defRPr sz="2000"/>
            </a:pPr>
            <a:r>
              <a:rPr>
                <a:solidFill>
                  <a:srgbClr val="FF0000"/>
                </a:solidFill>
              </a:rPr>
              <a:t>Note: Invalidates need not snoop LSQ</a:t>
            </a:r>
          </a:p>
          <a:p>
            <a:pPr marL="742950" lvl="1" indent="-285750">
              <a:lnSpc>
                <a:spcPct val="80000"/>
              </a:lnSpc>
              <a:spcBef>
                <a:spcPts val="0"/>
              </a:spcBef>
              <a:buClrTx/>
              <a:defRPr sz="2000"/>
            </a:pPr>
            <a:r>
              <a:t>A </a:t>
            </a:r>
            <a:r>
              <a:rPr>
                <a:solidFill>
                  <a:srgbClr val="0000FF"/>
                </a:solidFill>
              </a:rPr>
              <a:t>release </a:t>
            </a:r>
            <a:r>
              <a:t>drains the write-buffer</a:t>
            </a:r>
          </a:p>
          <a:p>
            <a:pPr marL="742950" lvl="1" indent="-285750">
              <a:lnSpc>
                <a:spcPct val="80000"/>
              </a:lnSpc>
              <a:spcBef>
                <a:spcPts val="0"/>
              </a:spcBef>
              <a:buClrTx/>
              <a:defRPr sz="2000"/>
            </a:pPr>
            <a:r>
              <a:t>All loads following an </a:t>
            </a:r>
            <a:r>
              <a:rPr>
                <a:solidFill>
                  <a:srgbClr val="0000FF"/>
                </a:solidFill>
              </a:rPr>
              <a:t>acquire </a:t>
            </a:r>
            <a:r>
              <a:t>are issued after the acquire.</a:t>
            </a:r>
          </a:p>
          <a:p>
            <a:pPr>
              <a:lnSpc>
                <a:spcPct val="80000"/>
              </a:lnSpc>
              <a:buSzTx/>
              <a:buFont typeface="Wingdings"/>
              <a:buNone/>
              <a:defRPr sz="2200"/>
            </a:pPr>
            <a:endParaRPr/>
          </a:p>
          <a:p>
            <a:pPr>
              <a:lnSpc>
                <a:spcPct val="80000"/>
              </a:lnSpc>
              <a:buSzTx/>
              <a:buFont typeface="Wingdings"/>
              <a:buNone/>
              <a:defRPr sz="2200"/>
            </a:pPr>
            <a:endParaRPr/>
          </a:p>
          <a:p>
            <a:pPr>
              <a:lnSpc>
                <a:spcPct val="80000"/>
              </a:lnSpc>
              <a:spcBef>
                <a:spcPts val="500"/>
              </a:spcBef>
              <a:buChar char="▪"/>
              <a:defRPr sz="2200"/>
            </a:pPr>
            <a:r>
              <a:t>Question: </a:t>
            </a:r>
            <a:r>
              <a:rPr i="1"/>
              <a:t>Must </a:t>
            </a:r>
            <a:r>
              <a:t>writes invalidate shared copies?</a:t>
            </a:r>
          </a:p>
        </p:txBody>
      </p:sp>
      <p:sp>
        <p:nvSpPr>
          <p:cNvPr id="330"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Implementing RC"/>
          <p:cNvSpPr txBox="1">
            <a:spLocks noGrp="1"/>
          </p:cNvSpPr>
          <p:nvPr>
            <p:ph type="title" idx="4294967295"/>
          </p:nvPr>
        </p:nvSpPr>
        <p:spPr>
          <a:xfrm>
            <a:off x="685800" y="152400"/>
            <a:ext cx="7772400" cy="838200"/>
          </a:xfrm>
          <a:prstGeom prst="rect">
            <a:avLst/>
          </a:prstGeom>
        </p:spPr>
        <p:txBody>
          <a:bodyPr>
            <a:normAutofit/>
          </a:bodyPr>
          <a:lstStyle/>
          <a:p>
            <a:r>
              <a:t>Implementing RC</a:t>
            </a:r>
          </a:p>
        </p:txBody>
      </p:sp>
      <p:sp>
        <p:nvSpPr>
          <p:cNvPr id="333" name="Writes without writer-initiated invalidations…"/>
          <p:cNvSpPr txBox="1">
            <a:spLocks noGrp="1"/>
          </p:cNvSpPr>
          <p:nvPr>
            <p:ph type="body" idx="4294967295"/>
          </p:nvPr>
        </p:nvSpPr>
        <p:spPr>
          <a:xfrm>
            <a:off x="685800" y="1371600"/>
            <a:ext cx="7772400" cy="4267200"/>
          </a:xfrm>
          <a:prstGeom prst="rect">
            <a:avLst/>
          </a:prstGeom>
        </p:spPr>
        <p:txBody>
          <a:bodyPr>
            <a:normAutofit/>
          </a:bodyPr>
          <a:lstStyle/>
          <a:p>
            <a:pPr>
              <a:lnSpc>
                <a:spcPct val="90000"/>
              </a:lnSpc>
              <a:spcBef>
                <a:spcPts val="600"/>
              </a:spcBef>
              <a:buChar char="▪"/>
              <a:defRPr sz="2700"/>
            </a:pPr>
            <a:r>
              <a:t>Writes without writer-initiated invalidations</a:t>
            </a:r>
          </a:p>
          <a:p>
            <a:pPr marL="742950" lvl="1" indent="-285750">
              <a:lnSpc>
                <a:spcPct val="90000"/>
              </a:lnSpc>
              <a:spcBef>
                <a:spcPts val="0"/>
              </a:spcBef>
              <a:buClrTx/>
              <a:defRPr sz="2400"/>
            </a:pPr>
            <a:r>
              <a:t>Writes retire into write buffer </a:t>
            </a:r>
          </a:p>
          <a:p>
            <a:pPr marL="1143000" lvl="2" indent="-228600">
              <a:lnSpc>
                <a:spcPct val="90000"/>
              </a:lnSpc>
              <a:spcBef>
                <a:spcPts val="0"/>
              </a:spcBef>
              <a:buClrTx/>
              <a:defRPr sz="2000"/>
            </a:pPr>
            <a:r>
              <a:t>(and complete out of order)</a:t>
            </a:r>
          </a:p>
          <a:p>
            <a:pPr marL="1143000" lvl="2" indent="-228600">
              <a:lnSpc>
                <a:spcPct val="90000"/>
              </a:lnSpc>
              <a:spcBef>
                <a:spcPts val="0"/>
              </a:spcBef>
              <a:buClrTx/>
              <a:defRPr sz="2000"/>
            </a:pPr>
            <a:r>
              <a:t>But only written to the local cache – no eager invalidates.</a:t>
            </a:r>
          </a:p>
          <a:p>
            <a:pPr marL="742950" lvl="1" indent="-285750">
              <a:lnSpc>
                <a:spcPct val="90000"/>
              </a:lnSpc>
              <a:spcBef>
                <a:spcPts val="0"/>
              </a:spcBef>
              <a:buClrTx/>
              <a:defRPr sz="2400">
                <a:solidFill>
                  <a:srgbClr val="FF0000"/>
                </a:solidFill>
              </a:defRPr>
            </a:pPr>
            <a:r>
              <a:t>A release writes all dirty blocks (including the release write)  in the local cache into coherent lower-level cache (memory)</a:t>
            </a:r>
          </a:p>
          <a:p>
            <a:pPr marL="742950" lvl="1" indent="-285750">
              <a:lnSpc>
                <a:spcPct val="90000"/>
              </a:lnSpc>
              <a:spcBef>
                <a:spcPts val="0"/>
              </a:spcBef>
              <a:buClrTx/>
              <a:defRPr sz="2400"/>
            </a:pPr>
            <a:r>
              <a:t>Reads maybe be issued out-of-order (but completed in inorder)</a:t>
            </a:r>
          </a:p>
          <a:p>
            <a:pPr marL="742950" lvl="1" indent="-285750">
              <a:lnSpc>
                <a:spcPct val="90000"/>
              </a:lnSpc>
              <a:spcBef>
                <a:spcPts val="0"/>
              </a:spcBef>
              <a:buClrTx/>
              <a:defRPr sz="2400">
                <a:solidFill>
                  <a:srgbClr val="FF0000"/>
                </a:solidFill>
              </a:defRPr>
            </a:pPr>
            <a:r>
              <a:t>Upon an acquire the acquire load is forced to miss the local cache and then all valid blocks self-invalidated</a:t>
            </a:r>
          </a:p>
        </p:txBody>
      </p:sp>
      <p:sp>
        <p:nvSpPr>
          <p:cNvPr id="334"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Implementing RC"/>
          <p:cNvSpPr txBox="1">
            <a:spLocks noGrp="1"/>
          </p:cNvSpPr>
          <p:nvPr>
            <p:ph type="title" idx="4294967295"/>
          </p:nvPr>
        </p:nvSpPr>
        <p:spPr>
          <a:xfrm>
            <a:off x="685800" y="152400"/>
            <a:ext cx="7772400" cy="838200"/>
          </a:xfrm>
          <a:prstGeom prst="rect">
            <a:avLst/>
          </a:prstGeom>
        </p:spPr>
        <p:txBody>
          <a:bodyPr>
            <a:normAutofit/>
          </a:bodyPr>
          <a:lstStyle/>
          <a:p>
            <a:r>
              <a:t>Implementing RC</a:t>
            </a:r>
          </a:p>
        </p:txBody>
      </p:sp>
      <p:sp>
        <p:nvSpPr>
          <p:cNvPr id="337"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
        <p:nvSpPr>
          <p:cNvPr id="338" name="……"/>
          <p:cNvSpPr txBox="1"/>
          <p:nvPr/>
        </p:nvSpPr>
        <p:spPr>
          <a:xfrm>
            <a:off x="2209800" y="2057400"/>
            <a:ext cx="1521877" cy="12979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r>
              <a:t>…</a:t>
            </a:r>
          </a:p>
          <a:p>
            <a:pPr>
              <a:defRPr sz="1600" b="0">
                <a:solidFill>
                  <a:srgbClr val="0000FF"/>
                </a:solidFill>
                <a:latin typeface="Lucida Console"/>
                <a:ea typeface="Lucida Console"/>
                <a:cs typeface="Lucida Console"/>
                <a:sym typeface="Lucida Console"/>
              </a:defRPr>
            </a:pPr>
            <a:r>
              <a:t>data = 1;</a:t>
            </a: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Release:flag=1;</a:t>
            </a:r>
          </a:p>
        </p:txBody>
      </p:sp>
      <p:sp>
        <p:nvSpPr>
          <p:cNvPr id="339" name="Acquire:while (!flag);…"/>
          <p:cNvSpPr txBox="1"/>
          <p:nvPr/>
        </p:nvSpPr>
        <p:spPr>
          <a:xfrm>
            <a:off x="4495800" y="2057400"/>
            <a:ext cx="1944946" cy="22631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Acquire:while (!flag);</a:t>
            </a: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endParaRPr/>
          </a:p>
          <a:p>
            <a:pPr>
              <a:defRPr sz="1600" b="0">
                <a:solidFill>
                  <a:srgbClr val="0000FF"/>
                </a:solidFill>
                <a:latin typeface="Lucida Console"/>
                <a:ea typeface="Lucida Console"/>
                <a:cs typeface="Lucida Console"/>
                <a:sym typeface="Lucida Console"/>
              </a:defRPr>
            </a:pPr>
            <a:r>
              <a:t>Print data;</a:t>
            </a:r>
          </a:p>
        </p:txBody>
      </p:sp>
      <p:sp>
        <p:nvSpPr>
          <p:cNvPr id="340" name="P1"/>
          <p:cNvSpPr txBox="1"/>
          <p:nvPr/>
        </p:nvSpPr>
        <p:spPr>
          <a:xfrm>
            <a:off x="2781220" y="16764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P1</a:t>
            </a:r>
          </a:p>
        </p:txBody>
      </p:sp>
      <p:sp>
        <p:nvSpPr>
          <p:cNvPr id="341" name="P2"/>
          <p:cNvSpPr txBox="1"/>
          <p:nvPr/>
        </p:nvSpPr>
        <p:spPr>
          <a:xfrm>
            <a:off x="5455364" y="1676400"/>
            <a:ext cx="287497" cy="2946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lgn="ctr">
              <a:defRPr sz="1400" b="0">
                <a:solidFill>
                  <a:srgbClr val="FF0000"/>
                </a:solidFill>
              </a:defRPr>
            </a:lvl1pPr>
          </a:lstStyle>
          <a:p>
            <a:r>
              <a:t>P2</a:t>
            </a:r>
          </a:p>
        </p:txBody>
      </p:sp>
      <p:sp>
        <p:nvSpPr>
          <p:cNvPr id="342" name="Line"/>
          <p:cNvSpPr/>
          <p:nvPr/>
        </p:nvSpPr>
        <p:spPr>
          <a:xfrm>
            <a:off x="3962399" y="3352799"/>
            <a:ext cx="457201" cy="46039"/>
          </a:xfrm>
          <a:prstGeom prst="line">
            <a:avLst/>
          </a:prstGeom>
          <a:ln w="25400">
            <a:solidFill>
              <a:srgbClr val="000000"/>
            </a:solidFill>
            <a:prstDash val="dash"/>
            <a:tailEnd type="triangle"/>
          </a:ln>
        </p:spPr>
        <p:txBody>
          <a:bodyPr lIns="45719" rIns="45719"/>
          <a:lstStyle/>
          <a:p>
            <a:endParaRPr/>
          </a:p>
        </p:txBody>
      </p:sp>
      <p:sp>
        <p:nvSpPr>
          <p:cNvPr id="343" name="Upon release, write buffer flushed to lower level cache"/>
          <p:cNvSpPr txBox="1"/>
          <p:nvPr/>
        </p:nvSpPr>
        <p:spPr>
          <a:xfrm>
            <a:off x="-1" y="2667000"/>
            <a:ext cx="2286002" cy="548640"/>
          </a:xfrm>
          <a:prstGeom prst="rect">
            <a:avLst/>
          </a:prstGeom>
          <a:solidFill>
            <a:srgbClr val="FF0000">
              <a:alpha val="43136"/>
            </a:srgb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0"/>
            </a:lvl1pPr>
          </a:lstStyle>
          <a:p>
            <a:r>
              <a:t>Upon release, write buffer flushed to lower level cache</a:t>
            </a:r>
          </a:p>
        </p:txBody>
      </p:sp>
      <p:sp>
        <p:nvSpPr>
          <p:cNvPr id="344" name="Upon acquire, local cache invalidated"/>
          <p:cNvSpPr txBox="1"/>
          <p:nvPr/>
        </p:nvSpPr>
        <p:spPr>
          <a:xfrm>
            <a:off x="6857999" y="3657600"/>
            <a:ext cx="2286001" cy="548640"/>
          </a:xfrm>
          <a:prstGeom prst="rect">
            <a:avLst/>
          </a:prstGeom>
          <a:solidFill>
            <a:srgbClr val="FF0000">
              <a:alpha val="43136"/>
            </a:srgb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0"/>
            </a:lvl1pPr>
          </a:lstStyle>
          <a:p>
            <a:r>
              <a:rPr dirty="0"/>
              <a:t>Upon acquire, local cache invalidated</a:t>
            </a:r>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RC using self-invalidations:"/>
          <p:cNvSpPr txBox="1">
            <a:spLocks noGrp="1"/>
          </p:cNvSpPr>
          <p:nvPr>
            <p:ph type="title" idx="4294967295"/>
          </p:nvPr>
        </p:nvSpPr>
        <p:spPr>
          <a:xfrm>
            <a:off x="685800" y="152400"/>
            <a:ext cx="7772400" cy="838200"/>
          </a:xfrm>
          <a:prstGeom prst="rect">
            <a:avLst/>
          </a:prstGeom>
        </p:spPr>
        <p:txBody>
          <a:bodyPr>
            <a:normAutofit/>
          </a:bodyPr>
          <a:lstStyle/>
          <a:p>
            <a:r>
              <a:t>RC using self-invalidations:</a:t>
            </a:r>
          </a:p>
        </p:txBody>
      </p:sp>
      <p:sp>
        <p:nvSpPr>
          <p:cNvPr id="347" name="Does not require a sharer vector…"/>
          <p:cNvSpPr txBox="1">
            <a:spLocks noGrp="1"/>
          </p:cNvSpPr>
          <p:nvPr>
            <p:ph type="body" idx="4294967295"/>
          </p:nvPr>
        </p:nvSpPr>
        <p:spPr>
          <a:xfrm>
            <a:off x="685800" y="1524000"/>
            <a:ext cx="7772400" cy="4343400"/>
          </a:xfrm>
          <a:prstGeom prst="rect">
            <a:avLst/>
          </a:prstGeom>
        </p:spPr>
        <p:txBody>
          <a:bodyPr>
            <a:normAutofit lnSpcReduction="10000"/>
          </a:bodyPr>
          <a:lstStyle/>
          <a:p>
            <a:pPr>
              <a:lnSpc>
                <a:spcPct val="80000"/>
              </a:lnSpc>
              <a:buChar char="▪"/>
              <a:defRPr sz="3000"/>
            </a:pPr>
            <a:r>
              <a:rPr dirty="0"/>
              <a:t>Does not require a sharer vector</a:t>
            </a:r>
          </a:p>
          <a:p>
            <a:pPr>
              <a:lnSpc>
                <a:spcPct val="80000"/>
              </a:lnSpc>
              <a:buChar char="▪"/>
              <a:defRPr sz="3000"/>
            </a:pPr>
            <a:endParaRPr dirty="0"/>
          </a:p>
          <a:p>
            <a:pPr>
              <a:lnSpc>
                <a:spcPct val="80000"/>
              </a:lnSpc>
              <a:buChar char="▪"/>
              <a:defRPr sz="3000"/>
            </a:pPr>
            <a:r>
              <a:rPr dirty="0"/>
              <a:t>Would still benefit from local/shared tracking</a:t>
            </a:r>
          </a:p>
          <a:p>
            <a:pPr marL="742950" lvl="1" indent="-285750">
              <a:lnSpc>
                <a:spcPct val="80000"/>
              </a:lnSpc>
              <a:spcBef>
                <a:spcPts val="0"/>
              </a:spcBef>
              <a:buClrTx/>
              <a:defRPr sz="2600"/>
            </a:pPr>
            <a:r>
              <a:rPr dirty="0"/>
              <a:t>Local data need not be written to the lower-level upon a release</a:t>
            </a:r>
          </a:p>
          <a:p>
            <a:pPr marL="742950" lvl="1" indent="-285750">
              <a:lnSpc>
                <a:spcPct val="80000"/>
              </a:lnSpc>
              <a:spcBef>
                <a:spcPts val="0"/>
              </a:spcBef>
              <a:buClrTx/>
              <a:defRPr sz="2600"/>
            </a:pPr>
            <a:r>
              <a:rPr dirty="0"/>
              <a:t>Local data need not be self-invalidated upon an acquire</a:t>
            </a:r>
          </a:p>
          <a:p>
            <a:pPr marL="742950" lvl="1" indent="-285750">
              <a:lnSpc>
                <a:spcPct val="80000"/>
              </a:lnSpc>
              <a:spcBef>
                <a:spcPts val="0"/>
              </a:spcBef>
              <a:buClrTx/>
              <a:defRPr sz="2600"/>
            </a:pPr>
            <a:r>
              <a:rPr dirty="0"/>
              <a:t>Could use the directory to track this or even the TLB. (How)? </a:t>
            </a:r>
          </a:p>
          <a:p>
            <a:pPr>
              <a:lnSpc>
                <a:spcPct val="80000"/>
              </a:lnSpc>
              <a:buChar char="▪"/>
              <a:defRPr sz="3000"/>
            </a:pPr>
            <a:endParaRPr dirty="0"/>
          </a:p>
          <a:p>
            <a:pPr>
              <a:lnSpc>
                <a:spcPct val="80000"/>
              </a:lnSpc>
              <a:buChar char="▪"/>
              <a:defRPr sz="3000"/>
            </a:pPr>
            <a:r>
              <a:rPr dirty="0"/>
              <a:t>Aside: </a:t>
            </a:r>
            <a:r>
              <a:rPr dirty="0">
                <a:solidFill>
                  <a:srgbClr val="FF0000"/>
                </a:solidFill>
              </a:rPr>
              <a:t>Is the cache still coherent?</a:t>
            </a:r>
            <a:endParaRPr lang="en-US" dirty="0">
              <a:solidFill>
                <a:srgbClr val="FF0000"/>
              </a:solidFill>
            </a:endParaRPr>
          </a:p>
          <a:p>
            <a:pPr>
              <a:lnSpc>
                <a:spcPct val="80000"/>
              </a:lnSpc>
              <a:buChar char="▪"/>
              <a:defRPr sz="3000"/>
            </a:pPr>
            <a:endParaRPr dirty="0">
              <a:solidFill>
                <a:srgbClr val="FF0000"/>
              </a:solidFill>
            </a:endParaRPr>
          </a:p>
        </p:txBody>
      </p:sp>
      <p:sp>
        <p:nvSpPr>
          <p:cNvPr id="348" name="Parallel Architectures - 2021-22"/>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90A07-1B03-431D-9AB7-FA1E2E0FC80A}"/>
            </a:ext>
          </a:extLst>
        </p:cNvPr>
        <p:cNvGrpSpPr/>
        <p:nvPr/>
      </p:nvGrpSpPr>
      <p:grpSpPr>
        <a:xfrm>
          <a:off x="0" y="0"/>
          <a:ext cx="0" cy="0"/>
          <a:chOff x="0" y="0"/>
          <a:chExt cx="0" cy="0"/>
        </a:xfrm>
      </p:grpSpPr>
      <p:sp>
        <p:nvSpPr>
          <p:cNvPr id="346" name="RC using self-invalidations:">
            <a:extLst>
              <a:ext uri="{FF2B5EF4-FFF2-40B4-BE49-F238E27FC236}">
                <a16:creationId xmlns:a16="http://schemas.microsoft.com/office/drawing/2014/main" id="{A4EC39B3-29A1-D6CA-56BF-FFF3289598CF}"/>
              </a:ext>
            </a:extLst>
          </p:cNvPr>
          <p:cNvSpPr txBox="1">
            <a:spLocks noGrp="1"/>
          </p:cNvSpPr>
          <p:nvPr>
            <p:ph type="title" idx="4294967295"/>
          </p:nvPr>
        </p:nvSpPr>
        <p:spPr>
          <a:xfrm>
            <a:off x="685800" y="152400"/>
            <a:ext cx="7772400" cy="838200"/>
          </a:xfrm>
          <a:prstGeom prst="rect">
            <a:avLst/>
          </a:prstGeom>
        </p:spPr>
        <p:txBody>
          <a:bodyPr>
            <a:normAutofit/>
          </a:bodyPr>
          <a:lstStyle/>
          <a:p>
            <a:r>
              <a:t>RC using self-invalidations:</a:t>
            </a:r>
          </a:p>
        </p:txBody>
      </p:sp>
      <p:sp>
        <p:nvSpPr>
          <p:cNvPr id="347" name="Does not require a sharer vector…">
            <a:extLst>
              <a:ext uri="{FF2B5EF4-FFF2-40B4-BE49-F238E27FC236}">
                <a16:creationId xmlns:a16="http://schemas.microsoft.com/office/drawing/2014/main" id="{ABE668D9-0B71-C761-92A2-C6EBABF3140F}"/>
              </a:ext>
            </a:extLst>
          </p:cNvPr>
          <p:cNvSpPr txBox="1">
            <a:spLocks noGrp="1"/>
          </p:cNvSpPr>
          <p:nvPr>
            <p:ph type="body" idx="4294967295"/>
          </p:nvPr>
        </p:nvSpPr>
        <p:spPr>
          <a:xfrm>
            <a:off x="685800" y="1524000"/>
            <a:ext cx="7772400" cy="4343400"/>
          </a:xfrm>
          <a:prstGeom prst="rect">
            <a:avLst/>
          </a:prstGeom>
        </p:spPr>
        <p:txBody>
          <a:bodyPr>
            <a:normAutofit fontScale="92500" lnSpcReduction="20000"/>
          </a:bodyPr>
          <a:lstStyle/>
          <a:p>
            <a:pPr>
              <a:lnSpc>
                <a:spcPct val="80000"/>
              </a:lnSpc>
              <a:buChar char="▪"/>
              <a:defRPr sz="3000"/>
            </a:pPr>
            <a:r>
              <a:rPr dirty="0"/>
              <a:t>Does not require a sharer vector</a:t>
            </a:r>
          </a:p>
          <a:p>
            <a:pPr>
              <a:lnSpc>
                <a:spcPct val="80000"/>
              </a:lnSpc>
              <a:buChar char="▪"/>
              <a:defRPr sz="3000"/>
            </a:pPr>
            <a:endParaRPr dirty="0"/>
          </a:p>
          <a:p>
            <a:pPr>
              <a:lnSpc>
                <a:spcPct val="80000"/>
              </a:lnSpc>
              <a:buChar char="▪"/>
              <a:defRPr sz="3000"/>
            </a:pPr>
            <a:r>
              <a:rPr dirty="0"/>
              <a:t>Would still benefit from local/shared tracking</a:t>
            </a:r>
          </a:p>
          <a:p>
            <a:pPr marL="742950" lvl="1" indent="-285750">
              <a:lnSpc>
                <a:spcPct val="80000"/>
              </a:lnSpc>
              <a:spcBef>
                <a:spcPts val="0"/>
              </a:spcBef>
              <a:buClrTx/>
              <a:defRPr sz="2600"/>
            </a:pPr>
            <a:r>
              <a:rPr dirty="0"/>
              <a:t>Local data need not be written to the lower-level upon a release</a:t>
            </a:r>
          </a:p>
          <a:p>
            <a:pPr marL="742950" lvl="1" indent="-285750">
              <a:lnSpc>
                <a:spcPct val="80000"/>
              </a:lnSpc>
              <a:spcBef>
                <a:spcPts val="0"/>
              </a:spcBef>
              <a:buClrTx/>
              <a:defRPr sz="2600"/>
            </a:pPr>
            <a:r>
              <a:rPr dirty="0"/>
              <a:t>Local data need not be self-invalidated upon an acquire</a:t>
            </a:r>
          </a:p>
          <a:p>
            <a:pPr marL="742950" lvl="1" indent="-285750">
              <a:lnSpc>
                <a:spcPct val="80000"/>
              </a:lnSpc>
              <a:spcBef>
                <a:spcPts val="0"/>
              </a:spcBef>
              <a:buClrTx/>
              <a:defRPr sz="2600"/>
            </a:pPr>
            <a:r>
              <a:rPr dirty="0"/>
              <a:t>Could use the directory to track this or even the TLB. (How)? </a:t>
            </a:r>
          </a:p>
          <a:p>
            <a:pPr>
              <a:lnSpc>
                <a:spcPct val="80000"/>
              </a:lnSpc>
              <a:buChar char="▪"/>
              <a:defRPr sz="3000"/>
            </a:pPr>
            <a:endParaRPr dirty="0"/>
          </a:p>
          <a:p>
            <a:pPr>
              <a:lnSpc>
                <a:spcPct val="80000"/>
              </a:lnSpc>
              <a:buChar char="▪"/>
              <a:defRPr sz="3000"/>
            </a:pPr>
            <a:r>
              <a:rPr dirty="0"/>
              <a:t>Aside: </a:t>
            </a:r>
            <a:r>
              <a:rPr dirty="0">
                <a:solidFill>
                  <a:srgbClr val="FF0000"/>
                </a:solidFill>
              </a:rPr>
              <a:t>Is the cache still coherent?</a:t>
            </a:r>
            <a:endParaRPr lang="en-US" dirty="0">
              <a:solidFill>
                <a:srgbClr val="FF0000"/>
              </a:solidFill>
            </a:endParaRPr>
          </a:p>
          <a:p>
            <a:pPr lvl="1">
              <a:lnSpc>
                <a:spcPct val="80000"/>
              </a:lnSpc>
              <a:buChar char="▪"/>
              <a:defRPr sz="3000"/>
            </a:pPr>
            <a:r>
              <a:rPr lang="en-US" dirty="0"/>
              <a:t>Yes: guarantees write serialization and write propagation</a:t>
            </a:r>
          </a:p>
          <a:p>
            <a:pPr>
              <a:lnSpc>
                <a:spcPct val="80000"/>
              </a:lnSpc>
              <a:buChar char="▪"/>
              <a:defRPr sz="3000"/>
            </a:pPr>
            <a:endParaRPr dirty="0">
              <a:solidFill>
                <a:srgbClr val="FF0000"/>
              </a:solidFill>
            </a:endParaRPr>
          </a:p>
        </p:txBody>
      </p:sp>
      <p:sp>
        <p:nvSpPr>
          <p:cNvPr id="348" name="Parallel Architectures - 2021-22">
            <a:extLst>
              <a:ext uri="{FF2B5EF4-FFF2-40B4-BE49-F238E27FC236}">
                <a16:creationId xmlns:a16="http://schemas.microsoft.com/office/drawing/2014/main" id="{584B1454-97C2-7659-9EAC-6820917249A4}"/>
              </a:ext>
            </a:extLst>
          </p:cNvPr>
          <p:cNvSpPr txBox="1"/>
          <p:nvPr/>
        </p:nvSpPr>
        <p:spPr>
          <a:xfrm>
            <a:off x="2895600" y="6400800"/>
            <a:ext cx="3352800" cy="3077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1400" b="0"/>
            </a:lvl1pPr>
          </a:lstStyle>
          <a:p>
            <a:r>
              <a:rPr lang="en-US" dirty="0"/>
              <a:t>CS/ECE 6810 Computer Architecture</a:t>
            </a:r>
            <a:endParaRPr dirty="0"/>
          </a:p>
        </p:txBody>
      </p:sp>
    </p:spTree>
    <p:extLst>
      <p:ext uri="{BB962C8B-B14F-4D97-AF65-F5344CB8AC3E}">
        <p14:creationId xmlns:p14="http://schemas.microsoft.com/office/powerpoint/2010/main" val="1434797265"/>
      </p:ext>
    </p:extLst>
  </p:cSld>
  <p:clrMapOvr>
    <a:masterClrMapping/>
  </p:clrMapOvr>
  <mc:AlternateContent xmlns:mc="http://schemas.openxmlformats.org/markup-compatibility/2006" xmlns:p14="http://schemas.microsoft.com/office/powerpoint/2010/main">
    <mc:Choice Requires="p14">
      <p:transition>
        <p:fade/>
      </p:transition>
    </mc:Choice>
    <mc:Fallback xmlns="" xmlns:m="http://schemas.openxmlformats.org/officeDocument/2006/math" xmlns:a14="http://schemas.microsoft.com/office/drawing/2010/main">
      <p:transition spd="fast">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F581C-49D7-BC6D-7306-C42482D34B2E}"/>
              </a:ext>
            </a:extLst>
          </p:cNvPr>
          <p:cNvSpPr>
            <a:spLocks noGrp="1"/>
          </p:cNvSpPr>
          <p:nvPr>
            <p:ph type="title"/>
          </p:nvPr>
        </p:nvSpPr>
        <p:spPr/>
        <p:txBody>
          <a:bodyPr/>
          <a:lstStyle/>
          <a:p>
            <a:r>
              <a:rPr lang="en-US" dirty="0"/>
              <a:t>Do consistency models matter?</a:t>
            </a:r>
          </a:p>
        </p:txBody>
      </p:sp>
      <p:sp>
        <p:nvSpPr>
          <p:cNvPr id="3" name="Content Placeholder 2">
            <a:extLst>
              <a:ext uri="{FF2B5EF4-FFF2-40B4-BE49-F238E27FC236}">
                <a16:creationId xmlns:a16="http://schemas.microsoft.com/office/drawing/2014/main" id="{8CD3A078-FD83-21A8-0BE8-E3CE0E79FED8}"/>
              </a:ext>
            </a:extLst>
          </p:cNvPr>
          <p:cNvSpPr>
            <a:spLocks noGrp="1"/>
          </p:cNvSpPr>
          <p:nvPr>
            <p:ph idx="1"/>
          </p:nvPr>
        </p:nvSpPr>
        <p:spPr/>
        <p:txBody>
          <a:bodyPr/>
          <a:lstStyle/>
          <a:p>
            <a:r>
              <a:rPr lang="en-US" dirty="0"/>
              <a:t>Not a lot of people write parallel programs using assembly!</a:t>
            </a:r>
          </a:p>
          <a:p>
            <a:pPr lvl="1"/>
            <a:r>
              <a:rPr lang="en-US" dirty="0"/>
              <a:t>Use synchronization libraries mainly: locks, barriers etc.</a:t>
            </a:r>
          </a:p>
          <a:p>
            <a:pPr lvl="1"/>
            <a:endParaRPr lang="en-US" dirty="0"/>
          </a:p>
          <a:p>
            <a:r>
              <a:rPr lang="en-US" dirty="0"/>
              <a:t>Matters to expert programmers though who want performance</a:t>
            </a:r>
          </a:p>
          <a:p>
            <a:pPr lvl="1"/>
            <a:r>
              <a:rPr lang="en-US" dirty="0"/>
              <a:t>Systems programmers (OS writers, compiler writers)</a:t>
            </a:r>
          </a:p>
          <a:p>
            <a:pPr lvl="1"/>
            <a:r>
              <a:rPr lang="en-US" dirty="0"/>
              <a:t>Certain application programmers</a:t>
            </a:r>
          </a:p>
          <a:p>
            <a:pPr lvl="1"/>
            <a:endParaRPr lang="en-US" dirty="0"/>
          </a:p>
          <a:p>
            <a:r>
              <a:rPr lang="en-US" dirty="0"/>
              <a:t>Even they don’t program in assembly – Languages have consistency models</a:t>
            </a:r>
          </a:p>
        </p:txBody>
      </p:sp>
      <p:sp>
        <p:nvSpPr>
          <p:cNvPr id="4" name="Footer Placeholder 3">
            <a:extLst>
              <a:ext uri="{FF2B5EF4-FFF2-40B4-BE49-F238E27FC236}">
                <a16:creationId xmlns:a16="http://schemas.microsoft.com/office/drawing/2014/main" id="{19753F0E-5F8F-5294-726A-DB257A4954F2}"/>
              </a:ext>
            </a:extLst>
          </p:cNvPr>
          <p:cNvSpPr>
            <a:spLocks noGrp="1"/>
          </p:cNvSpPr>
          <p:nvPr>
            <p:ph type="ftr" sz="quarter" idx="10"/>
          </p:nvPr>
        </p:nvSpPr>
        <p:spPr/>
        <p:txBody>
          <a:bodyPr/>
          <a:lstStyle/>
          <a:p>
            <a:pPr>
              <a:defRPr/>
            </a:pPr>
            <a:r>
              <a:rPr lang="en-US" dirty="0"/>
              <a:t>CS 6810</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996906FB-2AB9-6FD7-F27E-4841F347DFFA}"/>
              </a:ext>
            </a:extLst>
          </p:cNvPr>
          <p:cNvSpPr>
            <a:spLocks noGrp="1"/>
          </p:cNvSpPr>
          <p:nvPr>
            <p:ph type="sldNum" sz="quarter" idx="11"/>
          </p:nvPr>
        </p:nvSpPr>
        <p:spPr/>
        <p:txBody>
          <a:bodyPr/>
          <a:lstStyle/>
          <a:p>
            <a:pPr>
              <a:defRPr/>
            </a:pPr>
            <a:fld id="{FF10D8AA-72FC-054E-A724-04FB34D4ED2D}" type="slidenum">
              <a:rPr lang="en-US" smtClean="0"/>
              <a:pPr>
                <a:defRPr/>
              </a:pPr>
              <a:t>34</a:t>
            </a:fld>
            <a:endParaRPr lang="en-US">
              <a:latin typeface="Garamond" pitchFamily="-112" charset="0"/>
            </a:endParaRPr>
          </a:p>
        </p:txBody>
      </p:sp>
    </p:spTree>
    <p:extLst>
      <p:ext uri="{BB962C8B-B14F-4D97-AF65-F5344CB8AC3E}">
        <p14:creationId xmlns:p14="http://schemas.microsoft.com/office/powerpoint/2010/main" val="66997277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3E10B-D5E1-88D4-4A44-87A7D4B24C4D}"/>
              </a:ext>
            </a:extLst>
          </p:cNvPr>
          <p:cNvSpPr>
            <a:spLocks noGrp="1"/>
          </p:cNvSpPr>
          <p:nvPr>
            <p:ph type="title"/>
          </p:nvPr>
        </p:nvSpPr>
        <p:spPr/>
        <p:txBody>
          <a:bodyPr/>
          <a:lstStyle/>
          <a:p>
            <a:r>
              <a:rPr lang="en-US" dirty="0"/>
              <a:t>Language based consistency models</a:t>
            </a:r>
          </a:p>
        </p:txBody>
      </p:sp>
      <p:sp>
        <p:nvSpPr>
          <p:cNvPr id="3" name="Content Placeholder 2">
            <a:extLst>
              <a:ext uri="{FF2B5EF4-FFF2-40B4-BE49-F238E27FC236}">
                <a16:creationId xmlns:a16="http://schemas.microsoft.com/office/drawing/2014/main" id="{26CA0D07-9551-F24B-8A74-1516AD03A5CE}"/>
              </a:ext>
            </a:extLst>
          </p:cNvPr>
          <p:cNvSpPr>
            <a:spLocks noGrp="1"/>
          </p:cNvSpPr>
          <p:nvPr>
            <p:ph idx="1"/>
          </p:nvPr>
        </p:nvSpPr>
        <p:spPr/>
        <p:txBody>
          <a:bodyPr/>
          <a:lstStyle/>
          <a:p>
            <a:r>
              <a:rPr lang="en-US" dirty="0"/>
              <a:t>Abstraction over the ISA</a:t>
            </a:r>
          </a:p>
          <a:p>
            <a:endParaRPr lang="en-US" dirty="0"/>
          </a:p>
          <a:p>
            <a:r>
              <a:rPr lang="en-US" dirty="0"/>
              <a:t>Typically, a relaxed consistency model – a variant of release consistency</a:t>
            </a:r>
          </a:p>
          <a:p>
            <a:pPr lvl="1"/>
            <a:r>
              <a:rPr lang="en-US" dirty="0"/>
              <a:t>Release, acquire, different types of fences and RMWs</a:t>
            </a:r>
          </a:p>
          <a:p>
            <a:pPr lvl="1"/>
            <a:r>
              <a:rPr lang="en-US" dirty="0"/>
              <a:t>Lack store atomicity</a:t>
            </a:r>
          </a:p>
          <a:p>
            <a:pPr lvl="1"/>
            <a:endParaRPr lang="en-US" dirty="0"/>
          </a:p>
          <a:p>
            <a:r>
              <a:rPr lang="en-US" dirty="0"/>
              <a:t>Compiler implements the language model</a:t>
            </a:r>
          </a:p>
          <a:p>
            <a:pPr lvl="1"/>
            <a:endParaRPr lang="en-US" dirty="0"/>
          </a:p>
          <a:p>
            <a:r>
              <a:rPr lang="en-US" dirty="0"/>
              <a:t>One problem: the “out of thin air problem”</a:t>
            </a:r>
          </a:p>
          <a:p>
            <a:pPr lvl="1"/>
            <a:endParaRPr lang="en-US" dirty="0"/>
          </a:p>
          <a:p>
            <a:pPr lvl="1"/>
            <a:endParaRPr lang="en-US" dirty="0"/>
          </a:p>
          <a:p>
            <a:pPr lvl="1"/>
            <a:endParaRPr lang="en-US" dirty="0"/>
          </a:p>
          <a:p>
            <a:pPr lvl="1"/>
            <a:endParaRPr lang="en-US" dirty="0"/>
          </a:p>
          <a:p>
            <a:pPr lvl="1"/>
            <a:endParaRPr lang="en-US" dirty="0"/>
          </a:p>
        </p:txBody>
      </p:sp>
      <p:sp>
        <p:nvSpPr>
          <p:cNvPr id="4" name="Footer Placeholder 3">
            <a:extLst>
              <a:ext uri="{FF2B5EF4-FFF2-40B4-BE49-F238E27FC236}">
                <a16:creationId xmlns:a16="http://schemas.microsoft.com/office/drawing/2014/main" id="{E623171D-03D0-283B-B462-1D3B79657B99}"/>
              </a:ext>
            </a:extLst>
          </p:cNvPr>
          <p:cNvSpPr>
            <a:spLocks noGrp="1"/>
          </p:cNvSpPr>
          <p:nvPr>
            <p:ph type="ftr" sz="quarter" idx="10"/>
          </p:nvPr>
        </p:nvSpPr>
        <p:spPr/>
        <p:txBody>
          <a:bodyPr/>
          <a:lstStyle/>
          <a:p>
            <a:pPr>
              <a:defRPr/>
            </a:pPr>
            <a:r>
              <a:rPr lang="en-US" dirty="0"/>
              <a:t>CS6810</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929A8759-1046-E2CC-0C72-989B15785680}"/>
              </a:ext>
            </a:extLst>
          </p:cNvPr>
          <p:cNvSpPr>
            <a:spLocks noGrp="1"/>
          </p:cNvSpPr>
          <p:nvPr>
            <p:ph type="sldNum" sz="quarter" idx="11"/>
          </p:nvPr>
        </p:nvSpPr>
        <p:spPr/>
        <p:txBody>
          <a:bodyPr/>
          <a:lstStyle/>
          <a:p>
            <a:pPr>
              <a:defRPr/>
            </a:pPr>
            <a:fld id="{FF10D8AA-72FC-054E-A724-04FB34D4ED2D}" type="slidenum">
              <a:rPr lang="en-US" smtClean="0"/>
              <a:pPr>
                <a:defRPr/>
              </a:pPr>
              <a:t>35</a:t>
            </a:fld>
            <a:endParaRPr lang="en-US">
              <a:latin typeface="Garamond" pitchFamily="-112" charset="0"/>
            </a:endParaRPr>
          </a:p>
        </p:txBody>
      </p:sp>
    </p:spTree>
    <p:extLst>
      <p:ext uri="{BB962C8B-B14F-4D97-AF65-F5344CB8AC3E}">
        <p14:creationId xmlns:p14="http://schemas.microsoft.com/office/powerpoint/2010/main" val="338819935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DF7B4-1E31-2BA5-72BA-A653B5F22BDE}"/>
              </a:ext>
            </a:extLst>
          </p:cNvPr>
          <p:cNvSpPr>
            <a:spLocks noGrp="1"/>
          </p:cNvSpPr>
          <p:nvPr>
            <p:ph type="title"/>
          </p:nvPr>
        </p:nvSpPr>
        <p:spPr/>
        <p:txBody>
          <a:bodyPr/>
          <a:lstStyle/>
          <a:p>
            <a:r>
              <a:rPr lang="en-US" dirty="0"/>
              <a:t>Out of Thin Air</a:t>
            </a:r>
          </a:p>
        </p:txBody>
      </p:sp>
      <p:sp>
        <p:nvSpPr>
          <p:cNvPr id="3" name="Content Placeholder 2">
            <a:extLst>
              <a:ext uri="{FF2B5EF4-FFF2-40B4-BE49-F238E27FC236}">
                <a16:creationId xmlns:a16="http://schemas.microsoft.com/office/drawing/2014/main" id="{DED7F5DC-5C3E-CD51-1EEB-B7FF573118FF}"/>
              </a:ext>
            </a:extLst>
          </p:cNvPr>
          <p:cNvSpPr>
            <a:spLocks noGrp="1"/>
          </p:cNvSpPr>
          <p:nvPr>
            <p:ph idx="1"/>
          </p:nvPr>
        </p:nvSpPr>
        <p:spPr>
          <a:xfrm>
            <a:off x="2133600" y="990600"/>
            <a:ext cx="7772400" cy="4876800"/>
          </a:xfrm>
        </p:spPr>
        <p:txBody>
          <a:bodyPr/>
          <a:lstStyle/>
          <a:p>
            <a:pPr marL="0" indent="0">
              <a:buNone/>
            </a:pPr>
            <a:r>
              <a:rPr lang="en-US" dirty="0"/>
              <a:t>     Initially X = Y = 0</a:t>
            </a:r>
          </a:p>
          <a:p>
            <a:pPr marL="0" indent="0">
              <a:buNone/>
            </a:pPr>
            <a:r>
              <a:rPr lang="en-US" dirty="0"/>
              <a:t>P1                              P2</a:t>
            </a:r>
          </a:p>
          <a:p>
            <a:pPr marL="0" indent="0">
              <a:buNone/>
            </a:pPr>
            <a:endParaRPr lang="en-US" dirty="0"/>
          </a:p>
          <a:p>
            <a:pPr marL="0" indent="0">
              <a:buNone/>
            </a:pPr>
            <a:r>
              <a:rPr lang="en-US" dirty="0"/>
              <a:t>r1 = X                     r2 = Y</a:t>
            </a:r>
          </a:p>
          <a:p>
            <a:pPr marL="0" indent="0">
              <a:buNone/>
            </a:pPr>
            <a:endParaRPr lang="en-US" dirty="0"/>
          </a:p>
          <a:p>
            <a:pPr marL="0" indent="0">
              <a:buNone/>
            </a:pPr>
            <a:r>
              <a:rPr lang="en-US" dirty="0"/>
              <a:t>Y = r1                    X = r2</a:t>
            </a:r>
          </a:p>
          <a:p>
            <a:pPr marL="0" indent="0">
              <a:buNone/>
            </a:pPr>
            <a:endParaRPr lang="en-US" dirty="0"/>
          </a:p>
          <a:p>
            <a:pPr marL="0" indent="0">
              <a:buNone/>
            </a:pPr>
            <a:r>
              <a:rPr lang="en-US" dirty="0"/>
              <a:t>    Can r1 = r2 = 42? </a:t>
            </a:r>
          </a:p>
        </p:txBody>
      </p:sp>
      <p:sp>
        <p:nvSpPr>
          <p:cNvPr id="4" name="Footer Placeholder 3">
            <a:extLst>
              <a:ext uri="{FF2B5EF4-FFF2-40B4-BE49-F238E27FC236}">
                <a16:creationId xmlns:a16="http://schemas.microsoft.com/office/drawing/2014/main" id="{D7DA6310-ECBF-1648-6C66-DA3638E84F1E}"/>
              </a:ext>
            </a:extLst>
          </p:cNvPr>
          <p:cNvSpPr>
            <a:spLocks noGrp="1"/>
          </p:cNvSpPr>
          <p:nvPr>
            <p:ph type="ftr" sz="quarter" idx="10"/>
          </p:nvPr>
        </p:nvSpPr>
        <p:spPr/>
        <p:txBody>
          <a:bodyPr/>
          <a:lstStyle/>
          <a:p>
            <a:pPr>
              <a:defRPr/>
            </a:pPr>
            <a:r>
              <a:rPr lang="en-US" dirty="0"/>
              <a:t>CS 6810</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501890C7-4EAB-B5BD-2B72-3C62C5DCC30B}"/>
              </a:ext>
            </a:extLst>
          </p:cNvPr>
          <p:cNvSpPr>
            <a:spLocks noGrp="1"/>
          </p:cNvSpPr>
          <p:nvPr>
            <p:ph type="sldNum" sz="quarter" idx="11"/>
          </p:nvPr>
        </p:nvSpPr>
        <p:spPr/>
        <p:txBody>
          <a:bodyPr/>
          <a:lstStyle/>
          <a:p>
            <a:pPr>
              <a:defRPr/>
            </a:pPr>
            <a:fld id="{FF10D8AA-72FC-054E-A724-04FB34D4ED2D}" type="slidenum">
              <a:rPr lang="en-US" smtClean="0"/>
              <a:pPr>
                <a:defRPr/>
              </a:pPr>
              <a:t>36</a:t>
            </a:fld>
            <a:endParaRPr lang="en-US">
              <a:latin typeface="Garamond" pitchFamily="-112" charset="0"/>
            </a:endParaRPr>
          </a:p>
        </p:txBody>
      </p:sp>
    </p:spTree>
    <p:extLst>
      <p:ext uri="{BB962C8B-B14F-4D97-AF65-F5344CB8AC3E}">
        <p14:creationId xmlns:p14="http://schemas.microsoft.com/office/powerpoint/2010/main" val="308590899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DF7B4-1E31-2BA5-72BA-A653B5F22BDE}"/>
              </a:ext>
            </a:extLst>
          </p:cNvPr>
          <p:cNvSpPr>
            <a:spLocks noGrp="1"/>
          </p:cNvSpPr>
          <p:nvPr>
            <p:ph type="title"/>
          </p:nvPr>
        </p:nvSpPr>
        <p:spPr/>
        <p:txBody>
          <a:bodyPr/>
          <a:lstStyle/>
          <a:p>
            <a:r>
              <a:rPr lang="en-US" dirty="0"/>
              <a:t>Out of Thin Air</a:t>
            </a:r>
          </a:p>
        </p:txBody>
      </p:sp>
      <p:sp>
        <p:nvSpPr>
          <p:cNvPr id="3" name="Content Placeholder 2">
            <a:extLst>
              <a:ext uri="{FF2B5EF4-FFF2-40B4-BE49-F238E27FC236}">
                <a16:creationId xmlns:a16="http://schemas.microsoft.com/office/drawing/2014/main" id="{DED7F5DC-5C3E-CD51-1EEB-B7FF573118FF}"/>
              </a:ext>
            </a:extLst>
          </p:cNvPr>
          <p:cNvSpPr>
            <a:spLocks noGrp="1"/>
          </p:cNvSpPr>
          <p:nvPr>
            <p:ph idx="1"/>
          </p:nvPr>
        </p:nvSpPr>
        <p:spPr>
          <a:xfrm>
            <a:off x="2133600" y="990600"/>
            <a:ext cx="7772400" cy="4876800"/>
          </a:xfrm>
        </p:spPr>
        <p:txBody>
          <a:bodyPr/>
          <a:lstStyle/>
          <a:p>
            <a:pPr marL="0" indent="0">
              <a:buNone/>
            </a:pPr>
            <a:r>
              <a:rPr lang="en-US" dirty="0"/>
              <a:t>     Initially X = Y = 0</a:t>
            </a:r>
          </a:p>
          <a:p>
            <a:pPr marL="0" indent="0">
              <a:buNone/>
            </a:pPr>
            <a:r>
              <a:rPr lang="en-US" dirty="0"/>
              <a:t>P1                              P2</a:t>
            </a:r>
          </a:p>
          <a:p>
            <a:pPr marL="0" indent="0">
              <a:buNone/>
            </a:pPr>
            <a:endParaRPr lang="en-US" dirty="0"/>
          </a:p>
          <a:p>
            <a:pPr marL="0" indent="0">
              <a:buNone/>
            </a:pPr>
            <a:r>
              <a:rPr lang="en-US" dirty="0"/>
              <a:t>r1 = X                     r2 = Y</a:t>
            </a:r>
          </a:p>
          <a:p>
            <a:pPr marL="0" indent="0">
              <a:buNone/>
            </a:pPr>
            <a:endParaRPr lang="en-US" dirty="0"/>
          </a:p>
          <a:p>
            <a:pPr marL="0" indent="0">
              <a:buNone/>
            </a:pPr>
            <a:r>
              <a:rPr lang="en-US" dirty="0"/>
              <a:t>Y = r1                    X = r2</a:t>
            </a:r>
          </a:p>
          <a:p>
            <a:pPr marL="0" indent="0">
              <a:buNone/>
            </a:pPr>
            <a:endParaRPr lang="en-US" dirty="0"/>
          </a:p>
          <a:p>
            <a:pPr marL="0" indent="0">
              <a:buNone/>
            </a:pPr>
            <a:r>
              <a:rPr lang="en-US" dirty="0"/>
              <a:t>    Can r1 = r2 = 42? </a:t>
            </a:r>
          </a:p>
        </p:txBody>
      </p:sp>
      <p:sp>
        <p:nvSpPr>
          <p:cNvPr id="4" name="Footer Placeholder 3">
            <a:extLst>
              <a:ext uri="{FF2B5EF4-FFF2-40B4-BE49-F238E27FC236}">
                <a16:creationId xmlns:a16="http://schemas.microsoft.com/office/drawing/2014/main" id="{D7DA6310-ECBF-1648-6C66-DA3638E84F1E}"/>
              </a:ext>
            </a:extLst>
          </p:cNvPr>
          <p:cNvSpPr>
            <a:spLocks noGrp="1"/>
          </p:cNvSpPr>
          <p:nvPr>
            <p:ph type="ftr" sz="quarter" idx="10"/>
          </p:nvPr>
        </p:nvSpPr>
        <p:spPr/>
        <p:txBody>
          <a:bodyPr/>
          <a:lstStyle/>
          <a:p>
            <a:pPr>
              <a:defRPr/>
            </a:pPr>
            <a:r>
              <a:rPr lang="en-US" dirty="0"/>
              <a:t>CS 6810</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501890C7-4EAB-B5BD-2B72-3C62C5DCC30B}"/>
              </a:ext>
            </a:extLst>
          </p:cNvPr>
          <p:cNvSpPr>
            <a:spLocks noGrp="1"/>
          </p:cNvSpPr>
          <p:nvPr>
            <p:ph type="sldNum" sz="quarter" idx="11"/>
          </p:nvPr>
        </p:nvSpPr>
        <p:spPr/>
        <p:txBody>
          <a:bodyPr/>
          <a:lstStyle/>
          <a:p>
            <a:pPr>
              <a:defRPr/>
            </a:pPr>
            <a:fld id="{FF10D8AA-72FC-054E-A724-04FB34D4ED2D}" type="slidenum">
              <a:rPr lang="en-US" smtClean="0"/>
              <a:pPr>
                <a:defRPr/>
              </a:pPr>
              <a:t>37</a:t>
            </a:fld>
            <a:endParaRPr lang="en-US">
              <a:latin typeface="Garamond" pitchFamily="-112" charset="0"/>
            </a:endParaRPr>
          </a:p>
        </p:txBody>
      </p:sp>
    </p:spTree>
    <p:extLst>
      <p:ext uri="{BB962C8B-B14F-4D97-AF65-F5344CB8AC3E}">
        <p14:creationId xmlns:p14="http://schemas.microsoft.com/office/powerpoint/2010/main" val="176335688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FC05-6DB4-DB9D-B902-2737926765A2}"/>
              </a:ext>
            </a:extLst>
          </p:cNvPr>
          <p:cNvSpPr>
            <a:spLocks noGrp="1"/>
          </p:cNvSpPr>
          <p:nvPr>
            <p:ph type="title"/>
          </p:nvPr>
        </p:nvSpPr>
        <p:spPr/>
        <p:txBody>
          <a:bodyPr/>
          <a:lstStyle/>
          <a:p>
            <a:r>
              <a:rPr lang="en-US" dirty="0"/>
              <a:t>But wait…why don’t ISA memory model have this problem?</a:t>
            </a:r>
          </a:p>
        </p:txBody>
      </p:sp>
      <p:sp>
        <p:nvSpPr>
          <p:cNvPr id="3" name="Content Placeholder 2">
            <a:extLst>
              <a:ext uri="{FF2B5EF4-FFF2-40B4-BE49-F238E27FC236}">
                <a16:creationId xmlns:a16="http://schemas.microsoft.com/office/drawing/2014/main" id="{7E7482DC-9E6D-97D0-6788-4132EEBEC4FD}"/>
              </a:ext>
            </a:extLst>
          </p:cNvPr>
          <p:cNvSpPr>
            <a:spLocks noGrp="1"/>
          </p:cNvSpPr>
          <p:nvPr>
            <p:ph idx="1"/>
          </p:nvPr>
        </p:nvSpPr>
        <p:spPr/>
        <p:txBody>
          <a:bodyPr/>
          <a:lstStyle/>
          <a:p>
            <a:r>
              <a:rPr lang="en-US" dirty="0"/>
              <a:t>Because none of the hardware models allow this</a:t>
            </a:r>
          </a:p>
        </p:txBody>
      </p:sp>
      <p:sp>
        <p:nvSpPr>
          <p:cNvPr id="4" name="Footer Placeholder 3">
            <a:extLst>
              <a:ext uri="{FF2B5EF4-FFF2-40B4-BE49-F238E27FC236}">
                <a16:creationId xmlns:a16="http://schemas.microsoft.com/office/drawing/2014/main" id="{6B8C0F91-739E-9D3E-35BE-DEF7BC152E57}"/>
              </a:ext>
            </a:extLst>
          </p:cNvPr>
          <p:cNvSpPr>
            <a:spLocks noGrp="1"/>
          </p:cNvSpPr>
          <p:nvPr>
            <p:ph type="ftr" sz="quarter" idx="10"/>
          </p:nvPr>
        </p:nvSpPr>
        <p:spPr/>
        <p:txBody>
          <a:bodyPr/>
          <a:lstStyle/>
          <a:p>
            <a:pPr>
              <a:defRPr/>
            </a:pPr>
            <a:r>
              <a:rPr lang="en-US" dirty="0"/>
              <a:t>CS 7810 Spring'24</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43888C9A-37D3-07D4-0A8B-5E21AA5556AA}"/>
              </a:ext>
            </a:extLst>
          </p:cNvPr>
          <p:cNvSpPr>
            <a:spLocks noGrp="1"/>
          </p:cNvSpPr>
          <p:nvPr>
            <p:ph type="sldNum" sz="quarter" idx="11"/>
          </p:nvPr>
        </p:nvSpPr>
        <p:spPr/>
        <p:txBody>
          <a:bodyPr/>
          <a:lstStyle/>
          <a:p>
            <a:pPr>
              <a:defRPr/>
            </a:pPr>
            <a:fld id="{FF10D8AA-72FC-054E-A724-04FB34D4ED2D}" type="slidenum">
              <a:rPr lang="en-US" smtClean="0"/>
              <a:pPr>
                <a:defRPr/>
              </a:pPr>
              <a:t>38</a:t>
            </a:fld>
            <a:endParaRPr lang="en-US">
              <a:latin typeface="Garamond" pitchFamily="-112" charset="0"/>
            </a:endParaRPr>
          </a:p>
        </p:txBody>
      </p:sp>
      <p:sp>
        <p:nvSpPr>
          <p:cNvPr id="6" name="Content Placeholder 2">
            <a:extLst>
              <a:ext uri="{FF2B5EF4-FFF2-40B4-BE49-F238E27FC236}">
                <a16:creationId xmlns:a16="http://schemas.microsoft.com/office/drawing/2014/main" id="{B9832877-39C3-67AE-1601-B1ECCC6AA2A6}"/>
              </a:ext>
            </a:extLst>
          </p:cNvPr>
          <p:cNvSpPr txBox="1">
            <a:spLocks/>
          </p:cNvSpPr>
          <p:nvPr/>
        </p:nvSpPr>
        <p:spPr bwMode="auto">
          <a:xfrm>
            <a:off x="2438400" y="2438400"/>
            <a:ext cx="7772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20000"/>
              </a:lnSpc>
              <a:spcBef>
                <a:spcPct val="20000"/>
              </a:spcBef>
              <a:spcAft>
                <a:spcPct val="0"/>
              </a:spcAft>
              <a:buClr>
                <a:schemeClr val="accent2"/>
              </a:buClr>
              <a:buFont typeface="Wingdings" pitchFamily="-112" charset="2"/>
              <a:buChar char="§"/>
              <a:defRPr sz="2400">
                <a:solidFill>
                  <a:schemeClr val="tx1"/>
                </a:solidFill>
                <a:latin typeface="+mn-lt"/>
                <a:ea typeface="ＭＳ Ｐゴシック" pitchFamily="-112" charset="-128"/>
                <a:cs typeface="ＭＳ Ｐゴシック" pitchFamily="-112" charset="-128"/>
              </a:defRPr>
            </a:lvl1pPr>
            <a:lvl2pPr marL="742950" indent="-285750" algn="l" rtl="0" eaLnBrk="0" fontAlgn="base" hangingPunct="0">
              <a:spcBef>
                <a:spcPct val="20000"/>
              </a:spcBef>
              <a:spcAft>
                <a:spcPct val="0"/>
              </a:spcAft>
              <a:buChar char="–"/>
              <a:defRPr sz="2000">
                <a:solidFill>
                  <a:schemeClr val="tx1"/>
                </a:solidFill>
                <a:latin typeface="+mn-lt"/>
                <a:ea typeface="ＭＳ Ｐゴシック" pitchFamily="-112" charset="-128"/>
              </a:defRPr>
            </a:lvl2pPr>
            <a:lvl3pPr marL="1143000" indent="-228600" algn="l" rtl="0" eaLnBrk="0" fontAlgn="base" hangingPunct="0">
              <a:spcBef>
                <a:spcPct val="20000"/>
              </a:spcBef>
              <a:spcAft>
                <a:spcPct val="0"/>
              </a:spcAft>
              <a:buFont typeface="Wingdings" pitchFamily="-112" charset="2"/>
              <a:buChar char="§"/>
              <a:defRPr>
                <a:solidFill>
                  <a:schemeClr val="tx1"/>
                </a:solidFill>
                <a:latin typeface="+mn-lt"/>
                <a:ea typeface="ＭＳ Ｐゴシック" pitchFamily="-112" charset="-128"/>
              </a:defRPr>
            </a:lvl3pPr>
            <a:lvl4pPr marL="1600200" indent="-228600" algn="l" rtl="0" eaLnBrk="0" fontAlgn="base" hangingPunct="0">
              <a:spcBef>
                <a:spcPct val="20000"/>
              </a:spcBef>
              <a:spcAft>
                <a:spcPct val="0"/>
              </a:spcAft>
              <a:buChar char="–"/>
              <a:defRPr sz="1600">
                <a:solidFill>
                  <a:schemeClr val="tx1"/>
                </a:solidFill>
                <a:latin typeface="+mn-lt"/>
                <a:ea typeface="ＭＳ Ｐゴシック" pitchFamily="-112" charset="-128"/>
              </a:defRPr>
            </a:lvl4pPr>
            <a:lvl5pPr marL="20574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5pPr>
            <a:lvl6pPr marL="25146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6pPr>
            <a:lvl7pPr marL="29718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7pPr>
            <a:lvl8pPr marL="34290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8pPr>
            <a:lvl9pPr marL="38862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9pPr>
          </a:lstStyle>
          <a:p>
            <a:pPr marL="0" indent="0">
              <a:buFont typeface="Wingdings" pitchFamily="-112" charset="2"/>
              <a:buNone/>
            </a:pPr>
            <a:r>
              <a:rPr lang="en-US" b="0" kern="0" dirty="0"/>
              <a:t>     Initially X = Y = 0</a:t>
            </a:r>
          </a:p>
          <a:p>
            <a:pPr marL="0" indent="0">
              <a:buFont typeface="Wingdings" pitchFamily="-112" charset="2"/>
              <a:buNone/>
            </a:pPr>
            <a:r>
              <a:rPr lang="en-US" b="0" kern="0" dirty="0"/>
              <a:t>P1                              P2</a:t>
            </a:r>
          </a:p>
          <a:p>
            <a:pPr marL="0" indent="0">
              <a:buFont typeface="Wingdings" pitchFamily="-112" charset="2"/>
              <a:buNone/>
            </a:pPr>
            <a:endParaRPr lang="en-US" b="0" kern="0" dirty="0"/>
          </a:p>
          <a:p>
            <a:pPr marL="0" indent="0">
              <a:buFont typeface="Wingdings" pitchFamily="-112" charset="2"/>
              <a:buNone/>
            </a:pPr>
            <a:r>
              <a:rPr lang="en-US" b="0" kern="0" dirty="0"/>
              <a:t>r1 = X                     r2 = Y</a:t>
            </a:r>
          </a:p>
          <a:p>
            <a:pPr marL="0" indent="0">
              <a:buFont typeface="Wingdings" pitchFamily="-112" charset="2"/>
              <a:buNone/>
            </a:pPr>
            <a:endParaRPr lang="en-US" b="0" kern="0" dirty="0"/>
          </a:p>
          <a:p>
            <a:pPr marL="0" indent="0">
              <a:buFont typeface="Wingdings" pitchFamily="-112" charset="2"/>
              <a:buNone/>
            </a:pPr>
            <a:r>
              <a:rPr lang="en-US" b="0" kern="0" dirty="0"/>
              <a:t>Y = r1                    X = r2</a:t>
            </a:r>
          </a:p>
          <a:p>
            <a:pPr marL="0" indent="0">
              <a:buFont typeface="Wingdings" pitchFamily="-112" charset="2"/>
              <a:buNone/>
            </a:pPr>
            <a:endParaRPr lang="en-US" b="0" kern="0" dirty="0"/>
          </a:p>
          <a:p>
            <a:pPr marL="0" indent="0">
              <a:buFont typeface="Wingdings" pitchFamily="-112" charset="2"/>
              <a:buNone/>
            </a:pPr>
            <a:r>
              <a:rPr lang="en-US" b="0" kern="0" dirty="0"/>
              <a:t>    Can r1 = r2 = 42?  No!</a:t>
            </a:r>
          </a:p>
        </p:txBody>
      </p:sp>
    </p:spTree>
    <p:extLst>
      <p:ext uri="{BB962C8B-B14F-4D97-AF65-F5344CB8AC3E}">
        <p14:creationId xmlns:p14="http://schemas.microsoft.com/office/powerpoint/2010/main" val="145579627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854C0-6DD6-AFC4-9355-899C4BF1F730}"/>
              </a:ext>
            </a:extLst>
          </p:cNvPr>
          <p:cNvSpPr>
            <a:spLocks noGrp="1"/>
          </p:cNvSpPr>
          <p:nvPr>
            <p:ph type="title"/>
          </p:nvPr>
        </p:nvSpPr>
        <p:spPr/>
        <p:txBody>
          <a:bodyPr/>
          <a:lstStyle/>
          <a:p>
            <a:r>
              <a:rPr lang="en-US" dirty="0"/>
              <a:t>Case study: RISC-V memory model</a:t>
            </a:r>
          </a:p>
        </p:txBody>
      </p:sp>
      <p:sp>
        <p:nvSpPr>
          <p:cNvPr id="3" name="Content Placeholder 2">
            <a:extLst>
              <a:ext uri="{FF2B5EF4-FFF2-40B4-BE49-F238E27FC236}">
                <a16:creationId xmlns:a16="http://schemas.microsoft.com/office/drawing/2014/main" id="{56FAED7D-CD7E-A3C3-9450-84ECBCD9232A}"/>
              </a:ext>
            </a:extLst>
          </p:cNvPr>
          <p:cNvSpPr>
            <a:spLocks noGrp="1"/>
          </p:cNvSpPr>
          <p:nvPr>
            <p:ph idx="1"/>
          </p:nvPr>
        </p:nvSpPr>
        <p:spPr/>
        <p:txBody>
          <a:bodyPr/>
          <a:lstStyle/>
          <a:p>
            <a:r>
              <a:rPr lang="en-US" dirty="0">
                <a:hlinkClick r:id="rId2"/>
              </a:rPr>
              <a:t>https://courses.cs.washington.edu/courses/csep551/19au/readings/riscv-base.pdf</a:t>
            </a:r>
            <a:endParaRPr lang="en-US" dirty="0"/>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64DDE37D-57A7-EF3A-1693-3931818E8F6C}"/>
              </a:ext>
            </a:extLst>
          </p:cNvPr>
          <p:cNvSpPr>
            <a:spLocks noGrp="1"/>
          </p:cNvSpPr>
          <p:nvPr>
            <p:ph type="ftr" sz="quarter" idx="10"/>
          </p:nvPr>
        </p:nvSpPr>
        <p:spPr/>
        <p:txBody>
          <a:bodyPr/>
          <a:lstStyle/>
          <a:p>
            <a:pPr>
              <a:defRPr/>
            </a:pPr>
            <a:r>
              <a:rPr lang="en-US"/>
              <a:t>CS/ECE  Computer Architecture – Fall’23</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31FDAC1E-4352-1DB5-0329-C4C328F1A60C}"/>
              </a:ext>
            </a:extLst>
          </p:cNvPr>
          <p:cNvSpPr>
            <a:spLocks noGrp="1"/>
          </p:cNvSpPr>
          <p:nvPr>
            <p:ph type="sldNum" sz="quarter" idx="11"/>
          </p:nvPr>
        </p:nvSpPr>
        <p:spPr/>
        <p:txBody>
          <a:bodyPr/>
          <a:lstStyle/>
          <a:p>
            <a:pPr>
              <a:defRPr/>
            </a:pPr>
            <a:fld id="{FF10D8AA-72FC-054E-A724-04FB34D4ED2D}" type="slidenum">
              <a:rPr lang="en-US" smtClean="0"/>
              <a:pPr>
                <a:defRPr/>
              </a:pPr>
              <a:t>39</a:t>
            </a:fld>
            <a:endParaRPr lang="en-US">
              <a:latin typeface="Garamond" pitchFamily="-112" charset="0"/>
            </a:endParaRPr>
          </a:p>
        </p:txBody>
      </p:sp>
      <p:pic>
        <p:nvPicPr>
          <p:cNvPr id="6" name="Picture 5">
            <a:extLst>
              <a:ext uri="{FF2B5EF4-FFF2-40B4-BE49-F238E27FC236}">
                <a16:creationId xmlns:a16="http://schemas.microsoft.com/office/drawing/2014/main" id="{95682F6D-0FE1-3BF7-14B4-8249FD681E86}"/>
              </a:ext>
            </a:extLst>
          </p:cNvPr>
          <p:cNvPicPr>
            <a:picLocks noChangeAspect="1"/>
          </p:cNvPicPr>
          <p:nvPr/>
        </p:nvPicPr>
        <p:blipFill>
          <a:blip r:embed="rId3"/>
          <a:stretch>
            <a:fillRect/>
          </a:stretch>
        </p:blipFill>
        <p:spPr>
          <a:xfrm>
            <a:off x="1485900" y="2882900"/>
            <a:ext cx="6019800" cy="546100"/>
          </a:xfrm>
          <a:prstGeom prst="rect">
            <a:avLst/>
          </a:prstGeom>
        </p:spPr>
      </p:pic>
      <p:pic>
        <p:nvPicPr>
          <p:cNvPr id="7" name="Picture 6">
            <a:extLst>
              <a:ext uri="{FF2B5EF4-FFF2-40B4-BE49-F238E27FC236}">
                <a16:creationId xmlns:a16="http://schemas.microsoft.com/office/drawing/2014/main" id="{930EB5F9-E6CD-48A0-6703-E69E83816FAC}"/>
              </a:ext>
            </a:extLst>
          </p:cNvPr>
          <p:cNvPicPr>
            <a:picLocks noChangeAspect="1"/>
          </p:cNvPicPr>
          <p:nvPr/>
        </p:nvPicPr>
        <p:blipFill>
          <a:blip r:embed="rId4"/>
          <a:stretch>
            <a:fillRect/>
          </a:stretch>
        </p:blipFill>
        <p:spPr>
          <a:xfrm>
            <a:off x="1485900" y="3671455"/>
            <a:ext cx="6007100" cy="596900"/>
          </a:xfrm>
          <a:prstGeom prst="rect">
            <a:avLst/>
          </a:prstGeom>
        </p:spPr>
      </p:pic>
      <p:pic>
        <p:nvPicPr>
          <p:cNvPr id="8" name="Picture 7">
            <a:extLst>
              <a:ext uri="{FF2B5EF4-FFF2-40B4-BE49-F238E27FC236}">
                <a16:creationId xmlns:a16="http://schemas.microsoft.com/office/drawing/2014/main" id="{F855D9C6-8DC2-FA82-8517-14D236F3710D}"/>
              </a:ext>
            </a:extLst>
          </p:cNvPr>
          <p:cNvPicPr>
            <a:picLocks noChangeAspect="1"/>
          </p:cNvPicPr>
          <p:nvPr/>
        </p:nvPicPr>
        <p:blipFill>
          <a:blip r:embed="rId5"/>
          <a:stretch>
            <a:fillRect/>
          </a:stretch>
        </p:blipFill>
        <p:spPr>
          <a:xfrm>
            <a:off x="1394691" y="4521777"/>
            <a:ext cx="6235700" cy="812800"/>
          </a:xfrm>
          <a:prstGeom prst="rect">
            <a:avLst/>
          </a:prstGeom>
        </p:spPr>
      </p:pic>
    </p:spTree>
    <p:extLst>
      <p:ext uri="{BB962C8B-B14F-4D97-AF65-F5344CB8AC3E}">
        <p14:creationId xmlns:p14="http://schemas.microsoft.com/office/powerpoint/2010/main" val="136579399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59552-B03C-C4AF-A70E-37F36EC2749D}"/>
              </a:ext>
            </a:extLst>
          </p:cNvPr>
          <p:cNvSpPr>
            <a:spLocks noGrp="1"/>
          </p:cNvSpPr>
          <p:nvPr>
            <p:ph type="title"/>
          </p:nvPr>
        </p:nvSpPr>
        <p:spPr/>
        <p:txBody>
          <a:bodyPr/>
          <a:lstStyle/>
          <a:p>
            <a:r>
              <a:rPr lang="en-US" dirty="0"/>
              <a:t>Case-study: RISC-V memory model</a:t>
            </a:r>
          </a:p>
        </p:txBody>
      </p:sp>
      <p:sp>
        <p:nvSpPr>
          <p:cNvPr id="5" name="Slide Number Placeholder 4">
            <a:extLst>
              <a:ext uri="{FF2B5EF4-FFF2-40B4-BE49-F238E27FC236}">
                <a16:creationId xmlns:a16="http://schemas.microsoft.com/office/drawing/2014/main" id="{8C849E91-FE0D-3F9A-E655-3317E034CCD3}"/>
              </a:ext>
            </a:extLst>
          </p:cNvPr>
          <p:cNvSpPr>
            <a:spLocks noGrp="1"/>
          </p:cNvSpPr>
          <p:nvPr>
            <p:ph type="sldNum" sz="quarter" idx="11"/>
          </p:nvPr>
        </p:nvSpPr>
        <p:spPr/>
        <p:txBody>
          <a:bodyPr/>
          <a:lstStyle/>
          <a:p>
            <a:pPr>
              <a:defRPr/>
            </a:pPr>
            <a:fld id="{FF10D8AA-72FC-054E-A724-04FB34D4ED2D}" type="slidenum">
              <a:rPr lang="en-US" smtClean="0"/>
              <a:pPr>
                <a:defRPr/>
              </a:pPr>
              <a:t>40</a:t>
            </a:fld>
            <a:endParaRPr lang="en-US">
              <a:latin typeface="Garamond" pitchFamily="-112" charset="0"/>
            </a:endParaRPr>
          </a:p>
        </p:txBody>
      </p:sp>
      <p:pic>
        <p:nvPicPr>
          <p:cNvPr id="7" name="Picture 6">
            <a:extLst>
              <a:ext uri="{FF2B5EF4-FFF2-40B4-BE49-F238E27FC236}">
                <a16:creationId xmlns:a16="http://schemas.microsoft.com/office/drawing/2014/main" id="{F4BA6D4B-3ABF-987D-20B8-A156C1082F42}"/>
              </a:ext>
            </a:extLst>
          </p:cNvPr>
          <p:cNvPicPr>
            <a:picLocks noChangeAspect="1"/>
          </p:cNvPicPr>
          <p:nvPr/>
        </p:nvPicPr>
        <p:blipFill>
          <a:blip r:embed="rId3"/>
          <a:stretch>
            <a:fillRect/>
          </a:stretch>
        </p:blipFill>
        <p:spPr>
          <a:xfrm>
            <a:off x="962024" y="985836"/>
            <a:ext cx="6734175" cy="5953401"/>
          </a:xfrm>
          <a:prstGeom prst="rect">
            <a:avLst/>
          </a:prstGeom>
        </p:spPr>
      </p:pic>
    </p:spTree>
    <p:extLst>
      <p:ext uri="{BB962C8B-B14F-4D97-AF65-F5344CB8AC3E}">
        <p14:creationId xmlns:p14="http://schemas.microsoft.com/office/powerpoint/2010/main" val="13106670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AC869-5A17-4EE4-6104-6F4E5D6F5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83747-2AC7-74AD-2941-A9BB1E907B75}"/>
              </a:ext>
            </a:extLst>
          </p:cNvPr>
          <p:cNvSpPr>
            <a:spLocks noGrp="1"/>
          </p:cNvSpPr>
          <p:nvPr>
            <p:ph type="title"/>
          </p:nvPr>
        </p:nvSpPr>
        <p:spPr/>
        <p:txBody>
          <a:bodyPr/>
          <a:lstStyle/>
          <a:p>
            <a:r>
              <a:rPr lang="en-US" dirty="0"/>
              <a:t>Case-study: RISC-V memory model</a:t>
            </a:r>
          </a:p>
        </p:txBody>
      </p:sp>
      <p:sp>
        <p:nvSpPr>
          <p:cNvPr id="5" name="Slide Number Placeholder 4">
            <a:extLst>
              <a:ext uri="{FF2B5EF4-FFF2-40B4-BE49-F238E27FC236}">
                <a16:creationId xmlns:a16="http://schemas.microsoft.com/office/drawing/2014/main" id="{43385C11-BB0E-1EF8-04AF-9EB3734975D8}"/>
              </a:ext>
            </a:extLst>
          </p:cNvPr>
          <p:cNvSpPr>
            <a:spLocks noGrp="1"/>
          </p:cNvSpPr>
          <p:nvPr>
            <p:ph type="sldNum" sz="quarter" idx="11"/>
          </p:nvPr>
        </p:nvSpPr>
        <p:spPr/>
        <p:txBody>
          <a:bodyPr/>
          <a:lstStyle/>
          <a:p>
            <a:pPr>
              <a:defRPr/>
            </a:pPr>
            <a:fld id="{FF10D8AA-72FC-054E-A724-04FB34D4ED2D}" type="slidenum">
              <a:rPr lang="en-US" smtClean="0"/>
              <a:pPr>
                <a:defRPr/>
              </a:pPr>
              <a:t>41</a:t>
            </a:fld>
            <a:endParaRPr lang="en-US">
              <a:latin typeface="Garamond" pitchFamily="-112" charset="0"/>
            </a:endParaRPr>
          </a:p>
        </p:txBody>
      </p:sp>
      <p:pic>
        <p:nvPicPr>
          <p:cNvPr id="3" name="Picture 2">
            <a:extLst>
              <a:ext uri="{FF2B5EF4-FFF2-40B4-BE49-F238E27FC236}">
                <a16:creationId xmlns:a16="http://schemas.microsoft.com/office/drawing/2014/main" id="{5DF39514-C446-2408-18BB-0094BDB9D8CC}"/>
              </a:ext>
            </a:extLst>
          </p:cNvPr>
          <p:cNvPicPr>
            <a:picLocks noChangeAspect="1"/>
          </p:cNvPicPr>
          <p:nvPr/>
        </p:nvPicPr>
        <p:blipFill>
          <a:blip r:embed="rId3"/>
          <a:stretch>
            <a:fillRect/>
          </a:stretch>
        </p:blipFill>
        <p:spPr>
          <a:xfrm>
            <a:off x="1485900" y="2368550"/>
            <a:ext cx="6172200" cy="2120900"/>
          </a:xfrm>
          <a:prstGeom prst="rect">
            <a:avLst/>
          </a:prstGeom>
        </p:spPr>
      </p:pic>
      <p:pic>
        <p:nvPicPr>
          <p:cNvPr id="4" name="Picture 3">
            <a:extLst>
              <a:ext uri="{FF2B5EF4-FFF2-40B4-BE49-F238E27FC236}">
                <a16:creationId xmlns:a16="http://schemas.microsoft.com/office/drawing/2014/main" id="{8B0D43CB-C886-3375-09AD-B0FD7C9357CE}"/>
              </a:ext>
            </a:extLst>
          </p:cNvPr>
          <p:cNvPicPr>
            <a:picLocks noChangeAspect="1"/>
          </p:cNvPicPr>
          <p:nvPr/>
        </p:nvPicPr>
        <p:blipFill>
          <a:blip r:embed="rId4"/>
          <a:stretch>
            <a:fillRect/>
          </a:stretch>
        </p:blipFill>
        <p:spPr>
          <a:xfrm>
            <a:off x="1536700" y="4975225"/>
            <a:ext cx="6070600" cy="546100"/>
          </a:xfrm>
          <a:prstGeom prst="rect">
            <a:avLst/>
          </a:prstGeom>
        </p:spPr>
      </p:pic>
    </p:spTree>
    <p:extLst>
      <p:ext uri="{BB962C8B-B14F-4D97-AF65-F5344CB8AC3E}">
        <p14:creationId xmlns:p14="http://schemas.microsoft.com/office/powerpoint/2010/main" val="1905029461"/>
      </p:ext>
    </p:extLst>
  </p:cSld>
  <p:clrMapOvr>
    <a:masterClrMapping/>
  </p:clrMapOvr>
  <p:transition/>
</p:sld>
</file>

<file path=ppt/theme/theme1.xml><?xml version="1.0" encoding="utf-8"?>
<a:theme xmlns:a="http://schemas.openxmlformats.org/drawingml/2006/main" name="isca00_transp">
  <a:themeElements>
    <a:clrScheme name="isca00_transp 10">
      <a:dk1>
        <a:srgbClr val="000000"/>
      </a:dk1>
      <a:lt1>
        <a:srgbClr val="FFFFFF"/>
      </a:lt1>
      <a:dk2>
        <a:srgbClr val="000000"/>
      </a:dk2>
      <a:lt2>
        <a:srgbClr val="ABABAB"/>
      </a:lt2>
      <a:accent1>
        <a:srgbClr val="CC3300"/>
      </a:accent1>
      <a:accent2>
        <a:srgbClr val="D70000"/>
      </a:accent2>
      <a:accent3>
        <a:srgbClr val="FFFFFF"/>
      </a:accent3>
      <a:accent4>
        <a:srgbClr val="000000"/>
      </a:accent4>
      <a:accent5>
        <a:srgbClr val="E2ADAA"/>
      </a:accent5>
      <a:accent6>
        <a:srgbClr val="C30000"/>
      </a:accent6>
      <a:hlink>
        <a:srgbClr val="D70000"/>
      </a:hlink>
      <a:folHlink>
        <a:srgbClr val="D70000"/>
      </a:folHlink>
    </a:clrScheme>
    <a:fontScheme name="isca00_transp">
      <a:majorFont>
        <a:latin typeface="Geneva"/>
        <a:ea typeface=""/>
        <a:cs typeface=""/>
      </a:majorFont>
      <a:minorFont>
        <a:latin typeface="Gene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Garamond" pitchFamily="-112"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Garamond" pitchFamily="-112" charset="0"/>
          </a:defRPr>
        </a:defPPr>
      </a:lstStyle>
    </a:lnDef>
  </a:objectDefaults>
  <a:extraClrSchemeLst>
    <a:extraClrScheme>
      <a:clrScheme name="isca00_transp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sca00_transp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sca00_transp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sca00_transp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sca00_trans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sca00_trans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sca00_trans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isca00_transp 8">
        <a:dk1>
          <a:srgbClr val="ABABAB"/>
        </a:dk1>
        <a:lt1>
          <a:srgbClr val="FFFFFF"/>
        </a:lt1>
        <a:dk2>
          <a:srgbClr val="212142"/>
        </a:dk2>
        <a:lt2>
          <a:srgbClr val="FFFFFF"/>
        </a:lt2>
        <a:accent1>
          <a:srgbClr val="CC6600"/>
        </a:accent1>
        <a:accent2>
          <a:srgbClr val="FF6600"/>
        </a:accent2>
        <a:accent3>
          <a:srgbClr val="ABABB0"/>
        </a:accent3>
        <a:accent4>
          <a:srgbClr val="DADADA"/>
        </a:accent4>
        <a:accent5>
          <a:srgbClr val="E2B8AA"/>
        </a:accent5>
        <a:accent6>
          <a:srgbClr val="E75C00"/>
        </a:accent6>
        <a:hlink>
          <a:srgbClr val="FF6600"/>
        </a:hlink>
        <a:folHlink>
          <a:srgbClr val="FF6600"/>
        </a:folHlink>
      </a:clrScheme>
      <a:clrMap bg1="dk2" tx1="lt1" bg2="dk1" tx2="lt2" accent1="accent1" accent2="accent2" accent3="accent3" accent4="accent4" accent5="accent5" accent6="accent6" hlink="hlink" folHlink="folHlink"/>
    </a:extraClrScheme>
    <a:extraClrScheme>
      <a:clrScheme name="isca00_transp 9">
        <a:dk1>
          <a:srgbClr val="ABABAB"/>
        </a:dk1>
        <a:lt1>
          <a:srgbClr val="FFFFFF"/>
        </a:lt1>
        <a:dk2>
          <a:srgbClr val="333366"/>
        </a:dk2>
        <a:lt2>
          <a:srgbClr val="FFFFFF"/>
        </a:lt2>
        <a:accent1>
          <a:srgbClr val="CC6600"/>
        </a:accent1>
        <a:accent2>
          <a:srgbClr val="FF6600"/>
        </a:accent2>
        <a:accent3>
          <a:srgbClr val="ADADB8"/>
        </a:accent3>
        <a:accent4>
          <a:srgbClr val="DADADA"/>
        </a:accent4>
        <a:accent5>
          <a:srgbClr val="E2B8AA"/>
        </a:accent5>
        <a:accent6>
          <a:srgbClr val="E75C00"/>
        </a:accent6>
        <a:hlink>
          <a:srgbClr val="FF6600"/>
        </a:hlink>
        <a:folHlink>
          <a:srgbClr val="FF6600"/>
        </a:folHlink>
      </a:clrScheme>
      <a:clrMap bg1="dk2" tx1="lt1" bg2="dk1" tx2="lt2" accent1="accent1" accent2="accent2" accent3="accent3" accent4="accent4" accent5="accent5" accent6="accent6" hlink="hlink" folHlink="folHlink"/>
    </a:extraClrScheme>
    <a:extraClrScheme>
      <a:clrScheme name="isca00_transp 10">
        <a:dk1>
          <a:srgbClr val="000000"/>
        </a:dk1>
        <a:lt1>
          <a:srgbClr val="FFFFFF"/>
        </a:lt1>
        <a:dk2>
          <a:srgbClr val="000000"/>
        </a:dk2>
        <a:lt2>
          <a:srgbClr val="ABABAB"/>
        </a:lt2>
        <a:accent1>
          <a:srgbClr val="CC3300"/>
        </a:accent1>
        <a:accent2>
          <a:srgbClr val="D70000"/>
        </a:accent2>
        <a:accent3>
          <a:srgbClr val="FFFFFF"/>
        </a:accent3>
        <a:accent4>
          <a:srgbClr val="000000"/>
        </a:accent4>
        <a:accent5>
          <a:srgbClr val="E2ADAA"/>
        </a:accent5>
        <a:accent6>
          <a:srgbClr val="C30000"/>
        </a:accent6>
        <a:hlink>
          <a:srgbClr val="D70000"/>
        </a:hlink>
        <a:folHlink>
          <a:srgbClr val="D7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C:\users\cintra\isca00_transp.ppt</Template>
  <TotalTime>302542</TotalTime>
  <Words>3611</Words>
  <Application>Microsoft Macintosh PowerPoint</Application>
  <PresentationFormat>On-screen Show (4:3)</PresentationFormat>
  <Paragraphs>725</Paragraphs>
  <Slides>41</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Garamond</vt:lpstr>
      <vt:lpstr>Geneva</vt:lpstr>
      <vt:lpstr>Times New Roman</vt:lpstr>
      <vt:lpstr>Wingdings</vt:lpstr>
      <vt:lpstr>isca00_transp</vt:lpstr>
      <vt:lpstr>HW Support for Shared Memory</vt:lpstr>
      <vt:lpstr>Lect. 5: Memory Consistency</vt:lpstr>
      <vt:lpstr>Lect. 5: Memory Consistency</vt:lpstr>
      <vt:lpstr>Memory Consistency</vt:lpstr>
      <vt:lpstr>Memory Consistency vs Coherence</vt:lpstr>
      <vt:lpstr>Sequential Consistency (SC)</vt:lpstr>
      <vt:lpstr>Sequential Consistency (SC)</vt:lpstr>
      <vt:lpstr>Example: Sequential Consistency</vt:lpstr>
      <vt:lpstr>Is this ordering SC?</vt:lpstr>
      <vt:lpstr>Is this ordering SC? Yes! </vt:lpstr>
      <vt:lpstr>Terminology</vt:lpstr>
      <vt:lpstr>Sequential Consistency (SC)</vt:lpstr>
      <vt:lpstr>Write-Serialization vs Write-Atomicity</vt:lpstr>
      <vt:lpstr>How SC can be violated</vt:lpstr>
      <vt:lpstr>Efficient SC: In-window Speculation</vt:lpstr>
      <vt:lpstr>Efficient SC: In-window Speculation</vt:lpstr>
      <vt:lpstr>Efficient SC: In-window Speculation</vt:lpstr>
      <vt:lpstr>Relaxed Memory Consistency Models</vt:lpstr>
      <vt:lpstr>Relaxed Memory Consistency Models</vt:lpstr>
      <vt:lpstr>Relaxed Memory Consistency Models</vt:lpstr>
      <vt:lpstr>Example: Total Store Ordering (TSO)</vt:lpstr>
      <vt:lpstr>TSO Examples</vt:lpstr>
      <vt:lpstr>Example: Release Consistency (RC)</vt:lpstr>
      <vt:lpstr>Example: Release Consistency (RC)</vt:lpstr>
      <vt:lpstr>RC example: control dependency.</vt:lpstr>
      <vt:lpstr>RC example: control dependency.</vt:lpstr>
      <vt:lpstr>RC example: address dependency.</vt:lpstr>
      <vt:lpstr>RC example: address dependency.</vt:lpstr>
      <vt:lpstr>Implementing RC</vt:lpstr>
      <vt:lpstr>Implementing RC</vt:lpstr>
      <vt:lpstr>Implementing RC</vt:lpstr>
      <vt:lpstr>RC using self-invalidations:</vt:lpstr>
      <vt:lpstr>RC using self-invalidations:</vt:lpstr>
      <vt:lpstr>Do consistency models matter?</vt:lpstr>
      <vt:lpstr>Language based consistency models</vt:lpstr>
      <vt:lpstr>Out of Thin Air</vt:lpstr>
      <vt:lpstr>Out of Thin Air</vt:lpstr>
      <vt:lpstr>But wait…why don’t ISA memory model have this problem?</vt:lpstr>
      <vt:lpstr>Case study: RISC-V memory model</vt:lpstr>
      <vt:lpstr>Case-study: RISC-V memory model</vt:lpstr>
      <vt:lpstr>Case-study: RISC-V memory model</vt:lpstr>
    </vt:vector>
  </TitlesOfParts>
  <Manager/>
  <Company>Office 2004 Test Drive User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Informatics 3  Computer Architecture</dc:title>
  <dc:subject/>
  <dc:creator>Office 2004 Test Drive User</dc:creator>
  <cp:keywords/>
  <dc:description/>
  <cp:lastModifiedBy>Vijay Nagarajan</cp:lastModifiedBy>
  <cp:revision>649</cp:revision>
  <cp:lastPrinted>2015-01-12T09:43:55Z</cp:lastPrinted>
  <dcterms:created xsi:type="dcterms:W3CDTF">2018-01-13T22:21:21Z</dcterms:created>
  <dcterms:modified xsi:type="dcterms:W3CDTF">2025-11-19T19:56:36Z</dcterms:modified>
  <cp:category/>
</cp:coreProperties>
</file>